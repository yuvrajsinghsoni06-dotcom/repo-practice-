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497" r:id="rId2"/>
    <p:sldId id="740" r:id="rId3"/>
    <p:sldId id="1058" r:id="rId4"/>
    <p:sldId id="1056" r:id="rId5"/>
    <p:sldId id="468" r:id="rId6"/>
    <p:sldId id="479" r:id="rId7"/>
    <p:sldId id="470" r:id="rId8"/>
    <p:sldId id="477" r:id="rId9"/>
    <p:sldId id="481" r:id="rId10"/>
    <p:sldId id="484" r:id="rId11"/>
    <p:sldId id="482" r:id="rId12"/>
    <p:sldId id="476" r:id="rId13"/>
    <p:sldId id="487" r:id="rId14"/>
    <p:sldId id="505" r:id="rId15"/>
    <p:sldId id="473" r:id="rId16"/>
    <p:sldId id="506" r:id="rId17"/>
    <p:sldId id="486" r:id="rId18"/>
    <p:sldId id="485" r:id="rId19"/>
    <p:sldId id="491" r:id="rId20"/>
    <p:sldId id="495" r:id="rId21"/>
    <p:sldId id="496" r:id="rId22"/>
    <p:sldId id="49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E6AD03-ADD6-BBA9-3EDF-341CAF9C1457}" v="1" dt="2026-01-16T07:06:34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jad israil" userId="765442391d65c39a" providerId="LiveId" clId="{AD403976-A7C0-4C75-AA9D-6F93FECD3E33}"/>
    <pc:docChg chg="undo custSel addSld delSld modSld">
      <pc:chgData name="shahjad israil" userId="765442391d65c39a" providerId="LiveId" clId="{AD403976-A7C0-4C75-AA9D-6F93FECD3E33}" dt="2026-01-11T14:43:00.369" v="518" actId="478"/>
      <pc:docMkLst>
        <pc:docMk/>
      </pc:docMkLst>
      <pc:sldChg chg="delSp modSp add del mod modTransition modAnim">
        <pc:chgData name="shahjad israil" userId="765442391d65c39a" providerId="LiveId" clId="{AD403976-A7C0-4C75-AA9D-6F93FECD3E33}" dt="2026-01-11T14:34:20.801" v="458" actId="1076"/>
        <pc:sldMkLst>
          <pc:docMk/>
          <pc:sldMk cId="0" sldId="468"/>
        </pc:sldMkLst>
        <pc:spChg chg="mod">
          <ac:chgData name="shahjad israil" userId="765442391d65c39a" providerId="LiveId" clId="{AD403976-A7C0-4C75-AA9D-6F93FECD3E33}" dt="2026-01-11T14:34:13.469" v="457" actId="255"/>
          <ac:spMkLst>
            <pc:docMk/>
            <pc:sldMk cId="0" sldId="468"/>
            <ac:spMk id="3" creationId="{2CFEC780-AB94-6174-B010-3597D0B00CD3}"/>
          </ac:spMkLst>
        </pc:spChg>
        <pc:spChg chg="mod">
          <ac:chgData name="shahjad israil" userId="765442391d65c39a" providerId="LiveId" clId="{AD403976-A7C0-4C75-AA9D-6F93FECD3E33}" dt="2026-01-11T14:34:20.801" v="458" actId="1076"/>
          <ac:spMkLst>
            <pc:docMk/>
            <pc:sldMk cId="0" sldId="468"/>
            <ac:spMk id="6" creationId="{CE10119F-DB79-5620-28CC-66E5385B4EE7}"/>
          </ac:spMkLst>
        </pc:spChg>
      </pc:sldChg>
      <pc:sldChg chg="delSp modSp add del mod modTransition">
        <pc:chgData name="shahjad israil" userId="765442391d65c39a" providerId="LiveId" clId="{AD403976-A7C0-4C75-AA9D-6F93FECD3E33}" dt="2026-01-11T14:36:20.510" v="469" actId="478"/>
        <pc:sldMkLst>
          <pc:docMk/>
          <pc:sldMk cId="0" sldId="470"/>
        </pc:sldMkLst>
        <pc:spChg chg="mod">
          <ac:chgData name="shahjad israil" userId="765442391d65c39a" providerId="LiveId" clId="{AD403976-A7C0-4C75-AA9D-6F93FECD3E33}" dt="2026-01-11T14:36:17.076" v="468" actId="1076"/>
          <ac:spMkLst>
            <pc:docMk/>
            <pc:sldMk cId="0" sldId="470"/>
            <ac:spMk id="11" creationId="{FB38981D-868D-3EB5-D106-914D6C414DA4}"/>
          </ac:spMkLst>
        </pc:spChg>
      </pc:sldChg>
      <pc:sldChg chg="delSp add del mod modTransition">
        <pc:chgData name="shahjad israil" userId="765442391d65c39a" providerId="LiveId" clId="{AD403976-A7C0-4C75-AA9D-6F93FECD3E33}" dt="2026-01-11T14:37:39.236" v="485" actId="478"/>
        <pc:sldMkLst>
          <pc:docMk/>
          <pc:sldMk cId="0" sldId="473"/>
        </pc:sldMkLst>
      </pc:sldChg>
      <pc:sldChg chg="delSp add del mod modTransition">
        <pc:chgData name="shahjad israil" userId="765442391d65c39a" providerId="LiveId" clId="{AD403976-A7C0-4C75-AA9D-6F93FECD3E33}" dt="2026-01-11T14:37:14.096" v="479" actId="478"/>
        <pc:sldMkLst>
          <pc:docMk/>
          <pc:sldMk cId="0" sldId="476"/>
        </pc:sldMkLst>
      </pc:sldChg>
      <pc:sldChg chg="delSp modSp add del mod modTransition">
        <pc:chgData name="shahjad israil" userId="765442391d65c39a" providerId="LiveId" clId="{AD403976-A7C0-4C75-AA9D-6F93FECD3E33}" dt="2026-01-11T14:36:41.871" v="472" actId="478"/>
        <pc:sldMkLst>
          <pc:docMk/>
          <pc:sldMk cId="0" sldId="477"/>
        </pc:sldMkLst>
        <pc:spChg chg="mod">
          <ac:chgData name="shahjad israil" userId="765442391d65c39a" providerId="LiveId" clId="{AD403976-A7C0-4C75-AA9D-6F93FECD3E33}" dt="2026-01-11T14:36:38.719" v="471" actId="1076"/>
          <ac:spMkLst>
            <pc:docMk/>
            <pc:sldMk cId="0" sldId="477"/>
            <ac:spMk id="11271" creationId="{47CD5E16-DEDF-0EFA-2EB4-E9BE9EF346E9}"/>
          </ac:spMkLst>
        </pc:spChg>
      </pc:sldChg>
      <pc:sldChg chg="delSp modSp add del mod modTransition">
        <pc:chgData name="shahjad israil" userId="765442391d65c39a" providerId="LiveId" clId="{AD403976-A7C0-4C75-AA9D-6F93FECD3E33}" dt="2026-01-11T14:35:33.940" v="464" actId="478"/>
        <pc:sldMkLst>
          <pc:docMk/>
          <pc:sldMk cId="0" sldId="479"/>
        </pc:sldMkLst>
        <pc:spChg chg="mod">
          <ac:chgData name="shahjad israil" userId="765442391d65c39a" providerId="LiveId" clId="{AD403976-A7C0-4C75-AA9D-6F93FECD3E33}" dt="2026-01-11T14:35:29.919" v="463" actId="14100"/>
          <ac:spMkLst>
            <pc:docMk/>
            <pc:sldMk cId="0" sldId="479"/>
            <ac:spMk id="3" creationId="{583517EF-E780-A7F3-5895-4A1C715D1E54}"/>
          </ac:spMkLst>
        </pc:spChg>
      </pc:sldChg>
      <pc:sldChg chg="delSp modSp add del mod modTransition">
        <pc:chgData name="shahjad israil" userId="765442391d65c39a" providerId="LiveId" clId="{AD403976-A7C0-4C75-AA9D-6F93FECD3E33}" dt="2026-01-11T14:36:51.530" v="474" actId="478"/>
        <pc:sldMkLst>
          <pc:docMk/>
          <pc:sldMk cId="0" sldId="481"/>
        </pc:sldMkLst>
        <pc:spChg chg="mod">
          <ac:chgData name="shahjad israil" userId="765442391d65c39a" providerId="LiveId" clId="{AD403976-A7C0-4C75-AA9D-6F93FECD3E33}" dt="2026-01-11T14:32:09.016" v="428" actId="27636"/>
          <ac:spMkLst>
            <pc:docMk/>
            <pc:sldMk cId="0" sldId="481"/>
            <ac:spMk id="10" creationId="{A64BAF30-C98E-E2AD-58AB-1DE380AAFC06}"/>
          </ac:spMkLst>
        </pc:spChg>
      </pc:sldChg>
      <pc:sldChg chg="delSp add del modTransition">
        <pc:chgData name="shahjad israil" userId="765442391d65c39a" providerId="LiveId" clId="{AD403976-A7C0-4C75-AA9D-6F93FECD3E33}" dt="2026-01-11T14:37:05.897" v="477" actId="478"/>
        <pc:sldMkLst>
          <pc:docMk/>
          <pc:sldMk cId="0" sldId="482"/>
        </pc:sldMkLst>
      </pc:sldChg>
      <pc:sldChg chg="delSp add del mod modTransition">
        <pc:chgData name="shahjad israil" userId="765442391d65c39a" providerId="LiveId" clId="{AD403976-A7C0-4C75-AA9D-6F93FECD3E33}" dt="2026-01-11T14:37:00.169" v="476" actId="478"/>
        <pc:sldMkLst>
          <pc:docMk/>
          <pc:sldMk cId="0" sldId="484"/>
        </pc:sldMkLst>
      </pc:sldChg>
      <pc:sldChg chg="delSp add del modTransition">
        <pc:chgData name="shahjad israil" userId="765442391d65c39a" providerId="LiveId" clId="{AD403976-A7C0-4C75-AA9D-6F93FECD3E33}" dt="2026-01-11T14:38:05.859" v="490" actId="478"/>
        <pc:sldMkLst>
          <pc:docMk/>
          <pc:sldMk cId="0" sldId="485"/>
        </pc:sldMkLst>
      </pc:sldChg>
      <pc:sldChg chg="delSp add del mod modTransition">
        <pc:chgData name="shahjad israil" userId="765442391d65c39a" providerId="LiveId" clId="{AD403976-A7C0-4C75-AA9D-6F93FECD3E33}" dt="2026-01-11T14:38:01.707" v="489" actId="478"/>
        <pc:sldMkLst>
          <pc:docMk/>
          <pc:sldMk cId="0" sldId="486"/>
        </pc:sldMkLst>
      </pc:sldChg>
      <pc:sldChg chg="delSp add del mod modTransition">
        <pc:chgData name="shahjad israil" userId="765442391d65c39a" providerId="LiveId" clId="{AD403976-A7C0-4C75-AA9D-6F93FECD3E33}" dt="2026-01-11T14:37:22.857" v="481" actId="478"/>
        <pc:sldMkLst>
          <pc:docMk/>
          <pc:sldMk cId="0" sldId="487"/>
        </pc:sldMkLst>
      </pc:sldChg>
      <pc:sldChg chg="delSp modSp add del mod modTransition">
        <pc:chgData name="shahjad israil" userId="765442391d65c39a" providerId="LiveId" clId="{AD403976-A7C0-4C75-AA9D-6F93FECD3E33}" dt="2026-01-11T14:38:44.383" v="494" actId="478"/>
        <pc:sldMkLst>
          <pc:docMk/>
          <pc:sldMk cId="0" sldId="491"/>
        </pc:sldMkLst>
        <pc:spChg chg="mod">
          <ac:chgData name="shahjad israil" userId="765442391d65c39a" providerId="LiveId" clId="{AD403976-A7C0-4C75-AA9D-6F93FECD3E33}" dt="2026-01-11T14:32:09.033" v="429" actId="27636"/>
          <ac:spMkLst>
            <pc:docMk/>
            <pc:sldMk cId="0" sldId="491"/>
            <ac:spMk id="17413" creationId="{3DAF7517-9239-7F94-74E2-2D78A34EFF96}"/>
          </ac:spMkLst>
        </pc:spChg>
      </pc:sldChg>
      <pc:sldChg chg="delSp modSp add del mod modTransition">
        <pc:chgData name="shahjad israil" userId="765442391d65c39a" providerId="LiveId" clId="{AD403976-A7C0-4C75-AA9D-6F93FECD3E33}" dt="2026-01-11T14:38:49.488" v="495" actId="478"/>
        <pc:sldMkLst>
          <pc:docMk/>
          <pc:sldMk cId="0" sldId="495"/>
        </pc:sldMkLst>
        <pc:spChg chg="mod">
          <ac:chgData name="shahjad israil" userId="765442391d65c39a" providerId="LiveId" clId="{AD403976-A7C0-4C75-AA9D-6F93FECD3E33}" dt="2026-01-11T14:32:09.041" v="430" actId="27636"/>
          <ac:spMkLst>
            <pc:docMk/>
            <pc:sldMk cId="0" sldId="495"/>
            <ac:spMk id="6" creationId="{174244E3-AD5B-BECA-331E-B4EE0CE1FAC6}"/>
          </ac:spMkLst>
        </pc:spChg>
      </pc:sldChg>
      <pc:sldChg chg="delSp modSp add del mod modTransition">
        <pc:chgData name="shahjad israil" userId="765442391d65c39a" providerId="LiveId" clId="{AD403976-A7C0-4C75-AA9D-6F93FECD3E33}" dt="2026-01-11T14:38:58.620" v="496" actId="478"/>
        <pc:sldMkLst>
          <pc:docMk/>
          <pc:sldMk cId="0" sldId="496"/>
        </pc:sldMkLst>
        <pc:spChg chg="mod">
          <ac:chgData name="shahjad israil" userId="765442391d65c39a" providerId="LiveId" clId="{AD403976-A7C0-4C75-AA9D-6F93FECD3E33}" dt="2026-01-11T14:32:09.047" v="431" actId="27636"/>
          <ac:spMkLst>
            <pc:docMk/>
            <pc:sldMk cId="0" sldId="496"/>
            <ac:spMk id="6" creationId="{13D106B4-1263-325E-0734-41ADABD1ADEB}"/>
          </ac:spMkLst>
        </pc:spChg>
      </pc:sldChg>
      <pc:sldChg chg="addSp modSp mod">
        <pc:chgData name="shahjad israil" userId="765442391d65c39a" providerId="LiveId" clId="{AD403976-A7C0-4C75-AA9D-6F93FECD3E33}" dt="2026-01-10T08:44:36.987" v="405"/>
        <pc:sldMkLst>
          <pc:docMk/>
          <pc:sldMk cId="4142536426" sldId="497"/>
        </pc:sldMkLst>
        <pc:spChg chg="add mod">
          <ac:chgData name="shahjad israil" userId="765442391d65c39a" providerId="LiveId" clId="{AD403976-A7C0-4C75-AA9D-6F93FECD3E33}" dt="2026-01-10T05:47:02.658" v="226" actId="1076"/>
          <ac:spMkLst>
            <pc:docMk/>
            <pc:sldMk cId="4142536426" sldId="497"/>
            <ac:spMk id="3" creationId="{E08363FF-B512-EB99-6E49-419D109AA219}"/>
          </ac:spMkLst>
        </pc:spChg>
        <pc:spChg chg="mod">
          <ac:chgData name="shahjad israil" userId="765442391d65c39a" providerId="LiveId" clId="{AD403976-A7C0-4C75-AA9D-6F93FECD3E33}" dt="2025-12-18T10:29:05.837" v="5" actId="1076"/>
          <ac:spMkLst>
            <pc:docMk/>
            <pc:sldMk cId="4142536426" sldId="497"/>
            <ac:spMk id="7" creationId="{0A7DA37A-11B2-EE8B-F6D4-23A07A6F9262}"/>
          </ac:spMkLst>
        </pc:spChg>
        <pc:spChg chg="mod">
          <ac:chgData name="shahjad israil" userId="765442391d65c39a" providerId="LiveId" clId="{AD403976-A7C0-4C75-AA9D-6F93FECD3E33}" dt="2025-12-18T10:29:02.048" v="4" actId="1076"/>
          <ac:spMkLst>
            <pc:docMk/>
            <pc:sldMk cId="4142536426" sldId="497"/>
            <ac:spMk id="8" creationId="{68F7CDE4-C1B5-EA85-23FB-C515D9544028}"/>
          </ac:spMkLst>
        </pc:spChg>
      </pc:sldChg>
      <pc:sldChg chg="delSp modSp add del mod modTransition">
        <pc:chgData name="shahjad israil" userId="765442391d65c39a" providerId="LiveId" clId="{AD403976-A7C0-4C75-AA9D-6F93FECD3E33}" dt="2026-01-11T14:43:00.369" v="518" actId="478"/>
        <pc:sldMkLst>
          <pc:docMk/>
          <pc:sldMk cId="0" sldId="499"/>
        </pc:sldMkLst>
        <pc:spChg chg="mod">
          <ac:chgData name="shahjad israil" userId="765442391d65c39a" providerId="LiveId" clId="{AD403976-A7C0-4C75-AA9D-6F93FECD3E33}" dt="2026-01-11T14:32:09.060" v="432" actId="27636"/>
          <ac:spMkLst>
            <pc:docMk/>
            <pc:sldMk cId="0" sldId="499"/>
            <ac:spMk id="6" creationId="{91F2296D-2591-5922-27CC-3867A8A72A9D}"/>
          </ac:spMkLst>
        </pc:spChg>
      </pc:sldChg>
      <pc:sldChg chg="delSp add del mod modTransition">
        <pc:chgData name="shahjad israil" userId="765442391d65c39a" providerId="LiveId" clId="{AD403976-A7C0-4C75-AA9D-6F93FECD3E33}" dt="2026-01-11T14:37:31.502" v="483" actId="478"/>
        <pc:sldMkLst>
          <pc:docMk/>
          <pc:sldMk cId="0" sldId="505"/>
        </pc:sldMkLst>
      </pc:sldChg>
      <pc:sldChg chg="delSp add del mod modTransition">
        <pc:chgData name="shahjad israil" userId="765442391d65c39a" providerId="LiveId" clId="{AD403976-A7C0-4C75-AA9D-6F93FECD3E33}" dt="2026-01-11T14:37:47.287" v="487" actId="478"/>
        <pc:sldMkLst>
          <pc:docMk/>
          <pc:sldMk cId="0" sldId="506"/>
        </pc:sldMkLst>
      </pc:sldChg>
      <pc:sldChg chg="addSp delSp modSp add mod">
        <pc:chgData name="shahjad israil" userId="765442391d65c39a" providerId="LiveId" clId="{AD403976-A7C0-4C75-AA9D-6F93FECD3E33}" dt="2026-01-10T08:45:38.666" v="417" actId="1076"/>
        <pc:sldMkLst>
          <pc:docMk/>
          <pc:sldMk cId="1654840783" sldId="740"/>
        </pc:sldMkLst>
        <pc:spChg chg="add mod">
          <ac:chgData name="shahjad israil" userId="765442391d65c39a" providerId="LiveId" clId="{AD403976-A7C0-4C75-AA9D-6F93FECD3E33}" dt="2026-01-10T08:45:38.666" v="417" actId="1076"/>
          <ac:spMkLst>
            <pc:docMk/>
            <pc:sldMk cId="1654840783" sldId="740"/>
            <ac:spMk id="11" creationId="{18747DB4-183B-FCF9-F4CF-F83D46BB753D}"/>
          </ac:spMkLst>
        </pc:spChg>
      </pc:sldChg>
      <pc:sldChg chg="delSp modSp add mod">
        <pc:chgData name="shahjad israil" userId="765442391d65c39a" providerId="LiveId" clId="{AD403976-A7C0-4C75-AA9D-6F93FECD3E33}" dt="2026-01-10T05:52:49.281" v="246" actId="1076"/>
        <pc:sldMkLst>
          <pc:docMk/>
          <pc:sldMk cId="3080484038" sldId="1056"/>
        </pc:sldMkLst>
        <pc:spChg chg="mod">
          <ac:chgData name="shahjad israil" userId="765442391d65c39a" providerId="LiveId" clId="{AD403976-A7C0-4C75-AA9D-6F93FECD3E33}" dt="2026-01-10T05:52:38.220" v="239" actId="20577"/>
          <ac:spMkLst>
            <pc:docMk/>
            <pc:sldMk cId="3080484038" sldId="1056"/>
            <ac:spMk id="9" creationId="{CFDF9A6B-9EF7-7524-9332-C01C819BAA4D}"/>
          </ac:spMkLst>
        </pc:spChg>
        <pc:spChg chg="mod">
          <ac:chgData name="shahjad israil" userId="765442391d65c39a" providerId="LiveId" clId="{AD403976-A7C0-4C75-AA9D-6F93FECD3E33}" dt="2026-01-10T05:52:41.900" v="242" actId="20577"/>
          <ac:spMkLst>
            <pc:docMk/>
            <pc:sldMk cId="3080484038" sldId="1056"/>
            <ac:spMk id="11" creationId="{BD60EBBB-180F-487D-C8B4-0C2949835D59}"/>
          </ac:spMkLst>
        </pc:spChg>
        <pc:spChg chg="mod">
          <ac:chgData name="shahjad israil" userId="765442391d65c39a" providerId="LiveId" clId="{AD403976-A7C0-4C75-AA9D-6F93FECD3E33}" dt="2026-01-10T05:52:49.281" v="246" actId="1076"/>
          <ac:spMkLst>
            <pc:docMk/>
            <pc:sldMk cId="3080484038" sldId="1056"/>
            <ac:spMk id="14" creationId="{9BA3BE50-1978-CA71-764A-242D29486E78}"/>
          </ac:spMkLst>
        </pc:spChg>
        <pc:spChg chg="mod">
          <ac:chgData name="shahjad israil" userId="765442391d65c39a" providerId="LiveId" clId="{AD403976-A7C0-4C75-AA9D-6F93FECD3E33}" dt="2025-12-25T14:27:59.483" v="55" actId="20577"/>
          <ac:spMkLst>
            <pc:docMk/>
            <pc:sldMk cId="3080484038" sldId="1056"/>
            <ac:spMk id="16" creationId="{DBF36847-7959-606E-4539-C82A34A13D6B}"/>
          </ac:spMkLst>
        </pc:spChg>
      </pc:sldChg>
      <pc:sldChg chg="add">
        <pc:chgData name="shahjad israil" userId="765442391d65c39a" providerId="LiveId" clId="{AD403976-A7C0-4C75-AA9D-6F93FECD3E33}" dt="2026-01-10T08:44:28.745" v="400" actId="2890"/>
        <pc:sldMkLst>
          <pc:docMk/>
          <pc:sldMk cId="1999290487" sldId="1058"/>
        </pc:sldMkLst>
      </pc:sldChg>
      <pc:sldMasterChg chg="delSldLayout">
        <pc:chgData name="shahjad israil" userId="765442391d65c39a" providerId="LiveId" clId="{AD403976-A7C0-4C75-AA9D-6F93FECD3E33}" dt="2026-01-11T14:41:59.929" v="512" actId="47"/>
        <pc:sldMasterMkLst>
          <pc:docMk/>
          <pc:sldMasterMk cId="1284265331" sldId="2147483648"/>
        </pc:sldMasterMkLst>
      </pc:sldMasterChg>
    </pc:docChg>
  </pc:docChgLst>
  <pc:docChgLst>
    <pc:chgData name="DEAN SOET" userId="S::dean.soet@krmangalam.edu.in::92517f20-b442-4ee1-acc7-7256e8874910" providerId="AD" clId="Web-{31E6AD03-ADD6-BBA9-3EDF-341CAF9C1457}"/>
    <pc:docChg chg="modSld">
      <pc:chgData name="DEAN SOET" userId="S::dean.soet@krmangalam.edu.in::92517f20-b442-4ee1-acc7-7256e8874910" providerId="AD" clId="Web-{31E6AD03-ADD6-BBA9-3EDF-341CAF9C1457}" dt="2026-01-16T07:06:34.791" v="0" actId="14100"/>
      <pc:docMkLst>
        <pc:docMk/>
      </pc:docMkLst>
      <pc:sldChg chg="modSp">
        <pc:chgData name="DEAN SOET" userId="S::dean.soet@krmangalam.edu.in::92517f20-b442-4ee1-acc7-7256e8874910" providerId="AD" clId="Web-{31E6AD03-ADD6-BBA9-3EDF-341CAF9C1457}" dt="2026-01-16T07:06:34.791" v="0" actId="14100"/>
        <pc:sldMkLst>
          <pc:docMk/>
          <pc:sldMk cId="0" sldId="484"/>
        </pc:sldMkLst>
        <pc:spChg chg="mod">
          <ac:chgData name="DEAN SOET" userId="S::dean.soet@krmangalam.edu.in::92517f20-b442-4ee1-acc7-7256e8874910" providerId="AD" clId="Web-{31E6AD03-ADD6-BBA9-3EDF-341CAF9C1457}" dt="2026-01-16T07:06:34.791" v="0" actId="14100"/>
          <ac:spMkLst>
            <pc:docMk/>
            <pc:sldMk cId="0" sldId="484"/>
            <ac:spMk id="59393" creationId="{34F0F469-DFC2-0EE1-C7C5-FBB40F7048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F10589-40E6-49F3-9B7A-1D217D042EC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D84AE-D8BD-42B0-86C4-46A70AA84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93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6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5148-C33B-9C01-E001-4FED8533C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1B44A-FD99-3FF1-D0F2-A99F59FAE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5FC6D1-32E1-8F36-345C-D9A55F720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98296-28AD-AAF9-573D-1EC32F081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699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5B2C64F5-1600-6172-6BB1-B3EC203193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CCFCF378-44F2-0B96-5546-84BD9576CD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F9E3C40-63B8-B186-DB94-A815224762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6C7876-437F-4466-854B-22E88ECB7022}" type="slidenum">
              <a:rPr lang="en-US" altLang="en-US" sz="1200"/>
              <a:pPr>
                <a:spcBef>
                  <a:spcPct val="0"/>
                </a:spcBef>
              </a:pPr>
              <a:t>5</a:t>
            </a:fld>
            <a:endParaRPr lang="en-US" altLang="en-US" sz="1200"/>
          </a:p>
        </p:txBody>
      </p:sp>
      <p:sp>
        <p:nvSpPr>
          <p:cNvPr id="35845" name="Header Placeholder 4">
            <a:extLst>
              <a:ext uri="{FF2B5EF4-FFF2-40B4-BE49-F238E27FC236}">
                <a16:creationId xmlns:a16="http://schemas.microsoft.com/office/drawing/2014/main" id="{C9986A33-C362-098D-9260-1074A5426C29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943A839F-2C6E-7E77-9C86-8EC3DF45D5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FAAFCC65-21A8-4B09-E81B-7E8FCFF5F3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B1398DF5-8B19-E5F8-73D0-6B44E5671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5965403-9329-43E0-97C2-6C0D63228876}" type="slidenum">
              <a:rPr lang="en-US" altLang="en-US" sz="1200"/>
              <a:pPr>
                <a:spcBef>
                  <a:spcPct val="0"/>
                </a:spcBef>
              </a:pPr>
              <a:t>6</a:t>
            </a:fld>
            <a:endParaRPr lang="en-US" altLang="en-US" sz="1200"/>
          </a:p>
        </p:txBody>
      </p:sp>
      <p:sp>
        <p:nvSpPr>
          <p:cNvPr id="35845" name="Header Placeholder 4">
            <a:extLst>
              <a:ext uri="{FF2B5EF4-FFF2-40B4-BE49-F238E27FC236}">
                <a16:creationId xmlns:a16="http://schemas.microsoft.com/office/drawing/2014/main" id="{818FB151-075F-DBBA-D09E-CCBC9EC993D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6B8AC50F-AAC9-305A-66F3-F3DC4B52CB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5817A4F0-FAFD-99BB-2A26-24F62AC230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3A871B3C-5E7A-3652-1BF5-279938429B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91CDF0-51B0-4857-888F-1717C132FB81}" type="slidenum">
              <a:rPr lang="en-US" altLang="en-US" sz="1200"/>
              <a:pPr>
                <a:spcBef>
                  <a:spcPct val="0"/>
                </a:spcBef>
              </a:pPr>
              <a:t>7</a:t>
            </a:fld>
            <a:endParaRPr lang="en-US" altLang="en-US" sz="1200"/>
          </a:p>
        </p:txBody>
      </p:sp>
      <p:sp>
        <p:nvSpPr>
          <p:cNvPr id="36869" name="Header Placeholder 4">
            <a:extLst>
              <a:ext uri="{FF2B5EF4-FFF2-40B4-BE49-F238E27FC236}">
                <a16:creationId xmlns:a16="http://schemas.microsoft.com/office/drawing/2014/main" id="{1C5B2CA0-B5AB-AFDD-0094-DAC59F680012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F12DD02-92F1-F3DA-B032-40CA986032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1CDA4652-8678-A695-C7DD-8F9E244C21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0E1AF091-4440-0805-0841-F106D9D5C6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1A0D326-2434-40AE-BBE4-6AC06AE950A4}" type="slidenum">
              <a:rPr lang="en-US" altLang="en-US" sz="1200"/>
              <a:pPr>
                <a:spcBef>
                  <a:spcPct val="0"/>
                </a:spcBef>
              </a:pPr>
              <a:t>8</a:t>
            </a:fld>
            <a:endParaRPr lang="en-US" altLang="en-US" sz="1200"/>
          </a:p>
        </p:txBody>
      </p:sp>
      <p:sp>
        <p:nvSpPr>
          <p:cNvPr id="37893" name="Header Placeholder 4">
            <a:extLst>
              <a:ext uri="{FF2B5EF4-FFF2-40B4-BE49-F238E27FC236}">
                <a16:creationId xmlns:a16="http://schemas.microsoft.com/office/drawing/2014/main" id="{2590D52D-93CA-585D-1E16-C33BE005CB2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093F7163-32CA-952A-17CA-E5AD681603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8845A5B1-AB77-88CD-7C58-0BF64E6BDF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BAFD9FA1-A416-F0CF-55C3-F5C1DB0D83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EFE0765-9443-456F-BE86-4591047BF923}" type="slidenum">
              <a:rPr lang="en-US" altLang="en-US" sz="1200"/>
              <a:pPr>
                <a:spcBef>
                  <a:spcPct val="0"/>
                </a:spcBef>
              </a:pPr>
              <a:t>9</a:t>
            </a:fld>
            <a:endParaRPr lang="en-US" altLang="en-US" sz="1200"/>
          </a:p>
        </p:txBody>
      </p:sp>
      <p:sp>
        <p:nvSpPr>
          <p:cNvPr id="37893" name="Header Placeholder 4">
            <a:extLst>
              <a:ext uri="{FF2B5EF4-FFF2-40B4-BE49-F238E27FC236}">
                <a16:creationId xmlns:a16="http://schemas.microsoft.com/office/drawing/2014/main" id="{AD451C8D-9B24-6B1F-367C-CF52BEC1FEC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8CB9F6DD-0973-5172-7D71-495C781706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9BC8CD00-01EA-78FA-DFC2-23D4E93EEB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16D6E2DB-47E9-6355-3EAA-4B1E9FB1F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3D8D4DD-6972-4CDA-BD8E-BD052E6C3FDC}" type="slidenum">
              <a:rPr lang="en-US" altLang="en-US" sz="1200"/>
              <a:pPr>
                <a:spcBef>
                  <a:spcPct val="0"/>
                </a:spcBef>
              </a:pPr>
              <a:t>10</a:t>
            </a:fld>
            <a:endParaRPr lang="en-US" altLang="en-US" sz="1200"/>
          </a:p>
        </p:txBody>
      </p:sp>
      <p:sp>
        <p:nvSpPr>
          <p:cNvPr id="37893" name="Header Placeholder 4">
            <a:extLst>
              <a:ext uri="{FF2B5EF4-FFF2-40B4-BE49-F238E27FC236}">
                <a16:creationId xmlns:a16="http://schemas.microsoft.com/office/drawing/2014/main" id="{97BA9AF3-15C9-3D04-42B5-DD0D20AF04EE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64D04C98-7878-A87B-01F1-F5DC84AE13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906DF047-AA61-04DB-4E29-8E98A08A4F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68675B4A-8DAC-BAB9-E4F6-D706FFA5FF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F75325-15B6-4D0D-8B91-0436BD8E6A22}" type="slidenum">
              <a:rPr lang="en-US" altLang="en-US" sz="1200"/>
              <a:pPr>
                <a:spcBef>
                  <a:spcPct val="0"/>
                </a:spcBef>
              </a:pPr>
              <a:t>12</a:t>
            </a:fld>
            <a:endParaRPr lang="en-US" altLang="en-US" sz="1200"/>
          </a:p>
        </p:txBody>
      </p:sp>
      <p:sp>
        <p:nvSpPr>
          <p:cNvPr id="38917" name="Header Placeholder 4">
            <a:extLst>
              <a:ext uri="{FF2B5EF4-FFF2-40B4-BE49-F238E27FC236}">
                <a16:creationId xmlns:a16="http://schemas.microsoft.com/office/drawing/2014/main" id="{E0804F14-2711-BAE6-D116-D665AA9A8BB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701B5CA4-8BAD-9568-B249-812F3E81BB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21E3FCF9-BCF7-A774-8AA2-60521DC995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78B49DC1-7E2F-6EEB-F214-4FECEFC3ED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2929FCE-FDCF-4048-B012-8C68CBAF177E}" type="slidenum">
              <a:rPr lang="en-US" altLang="en-US" sz="1200"/>
              <a:pPr>
                <a:spcBef>
                  <a:spcPct val="0"/>
                </a:spcBef>
              </a:pPr>
              <a:t>13</a:t>
            </a:fld>
            <a:endParaRPr lang="en-US" altLang="en-US" sz="1200"/>
          </a:p>
        </p:txBody>
      </p:sp>
      <p:sp>
        <p:nvSpPr>
          <p:cNvPr id="41989" name="Header Placeholder 4">
            <a:extLst>
              <a:ext uri="{FF2B5EF4-FFF2-40B4-BE49-F238E27FC236}">
                <a16:creationId xmlns:a16="http://schemas.microsoft.com/office/drawing/2014/main" id="{4B1E4738-9285-A37B-AA2B-8DC107D00679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287E36F6-0C26-6524-2046-0B825D570E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DD67D835-F4AC-EEB1-B4E9-F2F78C6E49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E76D04BE-2722-FA87-6A39-BDC5BB2ECD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F3CEBA-73F6-4FCB-9D22-8B30C3533A48}" type="slidenum">
              <a:rPr lang="en-US" altLang="en-US" sz="1200"/>
              <a:pPr>
                <a:spcBef>
                  <a:spcPct val="0"/>
                </a:spcBef>
              </a:pPr>
              <a:t>14</a:t>
            </a:fld>
            <a:endParaRPr lang="en-US" altLang="en-US" sz="1200"/>
          </a:p>
        </p:txBody>
      </p:sp>
      <p:sp>
        <p:nvSpPr>
          <p:cNvPr id="41989" name="Header Placeholder 4">
            <a:extLst>
              <a:ext uri="{FF2B5EF4-FFF2-40B4-BE49-F238E27FC236}">
                <a16:creationId xmlns:a16="http://schemas.microsoft.com/office/drawing/2014/main" id="{C0C7C151-D694-4614-1A0B-4B255EF695DA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82EF9F92-0CE3-743B-AF2D-5140B61CAC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81F678B4-896C-D1D8-7CF2-0D2FB38AC5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2AA62946-866E-7814-7C76-5C324FC8AA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839633-5C7A-4651-97C4-507204173146}" type="slidenum">
              <a:rPr lang="en-US" altLang="en-US" sz="1200"/>
              <a:pPr>
                <a:spcBef>
                  <a:spcPct val="0"/>
                </a:spcBef>
              </a:pPr>
              <a:t>15</a:t>
            </a:fld>
            <a:endParaRPr lang="en-US" altLang="en-US" sz="1200"/>
          </a:p>
        </p:txBody>
      </p:sp>
      <p:sp>
        <p:nvSpPr>
          <p:cNvPr id="39941" name="Header Placeholder 4">
            <a:extLst>
              <a:ext uri="{FF2B5EF4-FFF2-40B4-BE49-F238E27FC236}">
                <a16:creationId xmlns:a16="http://schemas.microsoft.com/office/drawing/2014/main" id="{5D80D84C-81A4-3E94-F4F6-597536958B37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822E262C-E359-2FEA-1CD9-129F113705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C20E6D22-9957-491C-61D5-2815EA474E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F72BFF32-1952-B1EB-5AE7-3F4FE9599C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2FAADE5-5B07-446A-8553-D27F977B1A17}" type="slidenum">
              <a:rPr lang="en-US" altLang="en-US" sz="1200"/>
              <a:pPr>
                <a:spcBef>
                  <a:spcPct val="0"/>
                </a:spcBef>
              </a:pPr>
              <a:t>16</a:t>
            </a:fld>
            <a:endParaRPr lang="en-US" altLang="en-US" sz="1200"/>
          </a:p>
        </p:txBody>
      </p:sp>
      <p:sp>
        <p:nvSpPr>
          <p:cNvPr id="44037" name="Header Placeholder 4">
            <a:extLst>
              <a:ext uri="{FF2B5EF4-FFF2-40B4-BE49-F238E27FC236}">
                <a16:creationId xmlns:a16="http://schemas.microsoft.com/office/drawing/2014/main" id="{B41E2058-F0A2-2CEB-2D29-4E6F4FBB8566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00D15E83-7C9F-642B-8A12-A86820333F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E668314C-1A72-77D0-45C2-49B86C089C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B2528CB2-70DF-B130-C815-4E79D4D290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121E5E-2E9F-4E6C-8B60-61A719372AA1}" type="slidenum">
              <a:rPr lang="en-US" altLang="en-US" sz="1200"/>
              <a:pPr>
                <a:spcBef>
                  <a:spcPct val="0"/>
                </a:spcBef>
              </a:pPr>
              <a:t>17</a:t>
            </a:fld>
            <a:endParaRPr lang="en-US" altLang="en-US" sz="1200"/>
          </a:p>
        </p:txBody>
      </p:sp>
      <p:sp>
        <p:nvSpPr>
          <p:cNvPr id="40965" name="Header Placeholder 4">
            <a:extLst>
              <a:ext uri="{FF2B5EF4-FFF2-40B4-BE49-F238E27FC236}">
                <a16:creationId xmlns:a16="http://schemas.microsoft.com/office/drawing/2014/main" id="{22EB5ADF-D288-47B4-F200-91DDB0D1481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AE98160C-3E07-4E44-6297-98DB38DB80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0425C4E7-5120-B6AD-3439-FEF1BFEA4D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4BB02F22-1D63-09DB-96A7-110BAB2607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8F272E-3842-47A1-86AE-CAD9C8B524B2}" type="slidenum">
              <a:rPr lang="en-US" altLang="en-US" sz="1200"/>
              <a:pPr>
                <a:spcBef>
                  <a:spcPct val="0"/>
                </a:spcBef>
              </a:pPr>
              <a:t>19</a:t>
            </a:fld>
            <a:endParaRPr lang="en-US" altLang="en-US" sz="1200"/>
          </a:p>
        </p:txBody>
      </p:sp>
      <p:sp>
        <p:nvSpPr>
          <p:cNvPr id="34821" name="Header Placeholder 4">
            <a:extLst>
              <a:ext uri="{FF2B5EF4-FFF2-40B4-BE49-F238E27FC236}">
                <a16:creationId xmlns:a16="http://schemas.microsoft.com/office/drawing/2014/main" id="{A25F98EA-401D-07F5-BC27-293724F24D20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ECFE3CB9-0404-2921-CB8B-14A586F4B2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72DFF9EA-0FA2-918C-1161-E965294FE0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A48F33F2-334D-C1FE-DF4A-88A88EB9C0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B859B10-809A-4422-BB15-AF521EF85B9E}" type="slidenum">
              <a:rPr lang="en-US" altLang="en-US" sz="1200"/>
              <a:pPr>
                <a:spcBef>
                  <a:spcPct val="0"/>
                </a:spcBef>
              </a:pPr>
              <a:t>20</a:t>
            </a:fld>
            <a:endParaRPr lang="en-US" altLang="en-US" sz="1200"/>
          </a:p>
        </p:txBody>
      </p:sp>
      <p:sp>
        <p:nvSpPr>
          <p:cNvPr id="34821" name="Header Placeholder 4">
            <a:extLst>
              <a:ext uri="{FF2B5EF4-FFF2-40B4-BE49-F238E27FC236}">
                <a16:creationId xmlns:a16="http://schemas.microsoft.com/office/drawing/2014/main" id="{B137C4DD-6695-1B0F-17D9-40F1A06FEA0C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6902A89B-7DC3-1B79-97CF-0CD716A9DF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419C76A0-31BB-62C8-E5DD-997AFC2782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12001695-0BD5-832C-FF3A-BDA518F4DC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D2F5C3B-293B-4937-A38C-23268788A637}" type="slidenum">
              <a:rPr lang="en-US" altLang="en-US" sz="1200"/>
              <a:pPr>
                <a:spcBef>
                  <a:spcPct val="0"/>
                </a:spcBef>
              </a:pPr>
              <a:t>21</a:t>
            </a:fld>
            <a:endParaRPr lang="en-US" altLang="en-US" sz="1200"/>
          </a:p>
        </p:txBody>
      </p:sp>
      <p:sp>
        <p:nvSpPr>
          <p:cNvPr id="34821" name="Header Placeholder 4">
            <a:extLst>
              <a:ext uri="{FF2B5EF4-FFF2-40B4-BE49-F238E27FC236}">
                <a16:creationId xmlns:a16="http://schemas.microsoft.com/office/drawing/2014/main" id="{A828437C-771F-C0E6-886B-5A25554E8124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B523C9C0-1988-009B-0A89-A938A907D1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07FAB1F0-FAF5-E22D-5DA8-9C0933AE08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D29BA6B1-6383-EA12-2F2D-388B55AB7F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45FAFAE-FFA2-4CE1-B4E8-D9D8DF1F1445}" type="slidenum">
              <a:rPr lang="en-US" altLang="en-US" sz="1200"/>
              <a:pPr>
                <a:spcBef>
                  <a:spcPct val="0"/>
                </a:spcBef>
              </a:pPr>
              <a:t>22</a:t>
            </a:fld>
            <a:endParaRPr lang="en-US" altLang="en-US" sz="1200"/>
          </a:p>
        </p:txBody>
      </p:sp>
      <p:sp>
        <p:nvSpPr>
          <p:cNvPr id="34821" name="Header Placeholder 4">
            <a:extLst>
              <a:ext uri="{FF2B5EF4-FFF2-40B4-BE49-F238E27FC236}">
                <a16:creationId xmlns:a16="http://schemas.microsoft.com/office/drawing/2014/main" id="{80F1D1B2-9B05-E344-148F-13084A185855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23AB4-7687-55E7-78C8-56131BA4D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39B04-017E-943D-DB63-5091D6B18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BEE22-F780-6D4C-A09D-C27A3F185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7C14C-A9B5-B1CD-54A5-29C8AFF62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2F904-BE21-A2B5-D325-697EEC9C5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69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7AAD-2C38-684E-BE7A-7D53986D4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253D5-5612-9A99-C8B1-D9006FE1B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64059-EBD1-3989-9E53-8E1E032EC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73FA1-9679-7029-8ABC-202AC9202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B0D5F-9977-4E4A-D8F8-FD4F328C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296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54672-166A-B4BE-922E-2A01051BC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D2CB1-9912-1451-2B59-9284A5A26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AD244-370F-828F-8631-F1284AD22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C0017-758C-F838-A96D-6C8830D4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B9145-9016-90C6-90FA-8E57C9999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86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FAAD4-3031-AC6C-BA92-2806CA02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1FC98-BE24-428F-DA13-4198934C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4320C-1074-01F0-0EBC-9BE62BEDA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3C2B4-3116-242C-F549-C82C46ADC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09B9D-D824-6CF9-ED49-418D339E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EE573-DEC0-17FF-C890-EE28ABED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41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53CF3-1D80-D19D-7286-46FDE381C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83F11-A060-FA4F-FFF8-F661DBC2F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9043D-FEC6-E1A6-1681-D300446A8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852C5-0192-28B4-39B0-30390C937F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73DA44-104F-C9AD-BD60-682727CA41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32E47E-9CE6-BAF9-DCC2-1A484DD33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C36DF-55E2-9D91-F9E2-217396245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B6759D-7DB8-6C4C-0280-116AAFF2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181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C98F-78B4-DFE8-A8B9-C6BF86D4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0326DA-EC5B-1E41-A1AF-34FBF4F5A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17D78-577D-04B6-7C96-20942F21E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112A9-317E-7F04-7FBC-90AEBAA0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646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B0E3AD-7872-13A2-974D-BE982103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27D016-84DD-3674-D49D-E47945F15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7CAB8-F0E5-F390-2445-7700A91A1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500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D03EC-891C-EDB5-3C35-8A95E6082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BE8D6-5CAD-13CE-825A-E52329803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BDA9C-2CCB-BA09-0250-525D6D9D8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23A0-7ED2-4D44-24D0-4BAAAEB4A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93B94-F1E0-5C3E-C39D-443F25B03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C4813-A302-7C09-1FD5-2B9F7131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77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E3D7D-D5DC-C5B9-81DF-64908018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4C6752-4FFC-A1C9-3B57-C2668F8543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0750E-3EAE-F936-1E2E-8E39AA52D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CF44C-C169-C330-1AE8-B96B86AC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57122-18B3-C4B7-B512-E64F33A1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FB9ED-038B-83F8-617C-265A4E1E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504BA-A6F9-CFEE-CBDA-C62A7EE4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8DC07-039E-4439-D852-B61827B2B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1784D-7E07-2C70-2FC8-444CCD881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DC2DB-5F4B-E185-417C-68ED701A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8D3A0-520F-959B-BC97-772915E5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793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CAE7DA-50B2-BD0E-72F2-6B17C025A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DA239-EC35-E143-56E9-584460784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44BA2-EDE4-5F98-70E3-8819A7E2A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D946B-642C-81E2-A1A5-F85546BCD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BCFBD-F3B9-C7BE-A16B-0C677F62F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749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FB9F6-36B7-EE35-CD1D-86197106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CC78F-9C08-4F2B-BA94-C50AD3E6F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557CF-FDEF-C2AB-1893-860B8A053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0DFDB-51BF-48D6-89D1-B92D63196361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A3082-C68B-6A2E-4694-4D5A12148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8883E-73FD-EE13-084C-E90CA0CA4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26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-27384"/>
            <a:ext cx="9180512" cy="6885384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383" y="150275"/>
            <a:ext cx="6396065" cy="92087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C3CB79-CA11-1F62-A28D-0E9AB7E6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5F61E-D087-D90C-58CB-F3056C508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508" y="1456757"/>
            <a:ext cx="7326944" cy="1572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125"/>
              </a:lnSpc>
            </a:pPr>
            <a:r>
              <a:rPr lang="en-IN" sz="3600" b="1" dirty="0">
                <a:latin typeface="Arial"/>
                <a:ea typeface="Segoe UI"/>
                <a:cs typeface="Segoe UI"/>
              </a:rPr>
              <a:t>Course: </a:t>
            </a:r>
            <a:r>
              <a:rPr lang="en-US" sz="3600" b="1" dirty="0">
                <a:latin typeface="Arial"/>
                <a:ea typeface="Segoe UI"/>
                <a:cs typeface="Segoe UI"/>
              </a:rPr>
              <a:t>Data Structure</a:t>
            </a:r>
            <a:r>
              <a:rPr lang="en-US" sz="3600" dirty="0">
                <a:latin typeface="Arial"/>
                <a:ea typeface="Segoe UI"/>
                <a:cs typeface="Segoe UI"/>
              </a:rPr>
              <a:t>​</a:t>
            </a:r>
          </a:p>
          <a:p>
            <a:pPr algn="ctr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(</a:t>
            </a:r>
            <a:r>
              <a:rPr lang="en-US" sz="22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Course Code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ETCCDS202</a:t>
            </a:r>
            <a:r>
              <a:rPr lang="en-IN" sz="22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)</a:t>
            </a:r>
            <a:r>
              <a:rPr lang="en-US" sz="22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algn="ctr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  <a:endParaRPr lang="en-IN" sz="2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776" y="4589933"/>
            <a:ext cx="864096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25000"/>
            </a:pP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         School of Engineering &amp; Technology </a:t>
            </a:r>
            <a:endParaRPr lang="en-US" dirty="0"/>
          </a:p>
          <a:p>
            <a:pPr lvl="0" algn="ctr">
              <a:buSzPct val="25000"/>
            </a:pP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    K.R. Mangalam University </a:t>
            </a:r>
            <a:endParaRPr lang="en-IN" sz="2000" b="1" dirty="0"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8F7CDE4-C1B5-EA85-23FB-C515D9544028}"/>
              </a:ext>
            </a:extLst>
          </p:cNvPr>
          <p:cNvSpPr txBox="1"/>
          <p:nvPr/>
        </p:nvSpPr>
        <p:spPr>
          <a:xfrm>
            <a:off x="3526972" y="2953277"/>
            <a:ext cx="6106885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UNIT-1: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Data Structures</a:t>
            </a:r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​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8363FF-B512-EB99-6E49-419D109AA219}"/>
              </a:ext>
            </a:extLst>
          </p:cNvPr>
          <p:cNvSpPr txBox="1"/>
          <p:nvPr/>
        </p:nvSpPr>
        <p:spPr>
          <a:xfrm>
            <a:off x="3983380" y="3558412"/>
            <a:ext cx="4697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Shahjad, Mr. Deepak, Neetu Ma’am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​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744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596009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1504" y="1107777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828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747DB4-183B-FCF9-F4CF-F83D46BB753D}"/>
              </a:ext>
            </a:extLst>
          </p:cNvPr>
          <p:cNvSpPr txBox="1"/>
          <p:nvPr/>
        </p:nvSpPr>
        <p:spPr>
          <a:xfrm>
            <a:off x="2514344" y="2136074"/>
            <a:ext cx="7638256" cy="1828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5</a:t>
            </a:r>
          </a:p>
          <a:p>
            <a:pPr algn="ctr"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Time Complexities</a:t>
            </a:r>
            <a:endParaRPr lang="en-US" sz="4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840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9F8CB-04D1-7D51-8DD4-EC14B639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96BBC5-1B83-B46A-611C-C04387EC9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744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AE88BB-EDCE-FD74-7623-E49CFFBC3009}"/>
              </a:ext>
            </a:extLst>
          </p:cNvPr>
          <p:cNvCxnSpPr/>
          <p:nvPr/>
        </p:nvCxnSpPr>
        <p:spPr>
          <a:xfrm>
            <a:off x="1596009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B7DC95A-2486-D612-E9EE-D084B25B2B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6351AB-638B-5A0A-59C7-1477BC16918F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2A5915-94A0-B01C-8A25-8189AFC9A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(Previous Session)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06B2B8-4F65-3AAF-2A9E-2B27E2B9ED67}"/>
              </a:ext>
            </a:extLst>
          </p:cNvPr>
          <p:cNvSpPr/>
          <p:nvPr/>
        </p:nvSpPr>
        <p:spPr>
          <a:xfrm>
            <a:off x="1631504" y="1107777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AB593CA8-529E-57AB-9DAE-417058A30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C7252F-65ED-F3E8-C938-AA0C9FA0CFEC}"/>
              </a:ext>
            </a:extLst>
          </p:cNvPr>
          <p:cNvSpPr txBox="1"/>
          <p:nvPr/>
        </p:nvSpPr>
        <p:spPr>
          <a:xfrm>
            <a:off x="1828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63F9BF4-EAE8-0DF2-023B-2C40C7B50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645D9A-5EF0-8B68-81CC-1D2F4D74E5DF}"/>
              </a:ext>
            </a:extLst>
          </p:cNvPr>
          <p:cNvSpPr txBox="1"/>
          <p:nvPr/>
        </p:nvSpPr>
        <p:spPr>
          <a:xfrm>
            <a:off x="1740028" y="1173140"/>
            <a:ext cx="8642123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Asymptotic analysis evaluates algorithm efficiency by measuring growth </a:t>
            </a:r>
          </a:p>
          <a:p>
            <a:pPr lvl="3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time and space </a:t>
            </a:r>
          </a:p>
          <a:p>
            <a:pPr lvl="3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increasing input size, </a:t>
            </a:r>
          </a:p>
          <a:p>
            <a:pPr lvl="3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of machine factors, </a:t>
            </a:r>
          </a:p>
          <a:p>
            <a:pPr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Big-O (worst case), </a:t>
            </a:r>
          </a:p>
          <a:p>
            <a:pPr lvl="3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Big-Ω (best case), </a:t>
            </a:r>
          </a:p>
          <a:p>
            <a:pPr lvl="3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Big-Θ (tight bound) </a:t>
            </a:r>
          </a:p>
          <a:p>
            <a:pPr lvl="3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compare best, average, and worst behaviors and select the most efficient algorithm.</a:t>
            </a:r>
          </a:p>
        </p:txBody>
      </p:sp>
    </p:spTree>
    <p:extLst>
      <p:ext uri="{BB962C8B-B14F-4D97-AF65-F5344CB8AC3E}">
        <p14:creationId xmlns:p14="http://schemas.microsoft.com/office/powerpoint/2010/main" val="199929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28CD6-DDAC-D3B9-66A5-8B1DE7C2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DF9A6B-9EF7-7524-9332-C01C819BAA4D}"/>
              </a:ext>
            </a:extLst>
          </p:cNvPr>
          <p:cNvSpPr/>
          <p:nvPr/>
        </p:nvSpPr>
        <p:spPr>
          <a:xfrm>
            <a:off x="1658940" y="1536702"/>
            <a:ext cx="9117582" cy="50013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7030A0"/>
                </a:solidFill>
                <a:cs typeface="华文楷体" panose="020B0503020204020204" pitchFamily="2" charset="-122"/>
              </a:rPr>
              <a:t>1. What is the value of N0 in Asymptotic Notation?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60EBBB-180F-487D-C8B4-0C2949835D59}"/>
              </a:ext>
            </a:extLst>
          </p:cNvPr>
          <p:cNvSpPr/>
          <p:nvPr/>
        </p:nvSpPr>
        <p:spPr>
          <a:xfrm>
            <a:off x="1658940" y="2399834"/>
            <a:ext cx="7250336" cy="931024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7030A0"/>
                </a:solidFill>
              </a:rPr>
              <a:t>2. What is the Value of N in the asymptotic notation? </a:t>
            </a:r>
            <a:endParaRPr lang="en-US" altLang="zh-CN" sz="2800" b="1" dirty="0">
              <a:solidFill>
                <a:srgbClr val="7030A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A3BE50-1978-CA71-764A-242D29486E78}"/>
              </a:ext>
            </a:extLst>
          </p:cNvPr>
          <p:cNvSpPr/>
          <p:nvPr/>
        </p:nvSpPr>
        <p:spPr>
          <a:xfrm>
            <a:off x="1596008" y="3527143"/>
            <a:ext cx="8602663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7030A0"/>
                </a:solidFill>
              </a:rPr>
              <a:t>3. Is Time complexity can be in negative form?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F1F70A-3F2A-7A36-9E50-2DDC09256D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18E3C-34A4-11C7-CE02-68A11C2F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F36847-7959-606E-4539-C82A34A13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Knowledge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77DA98-2484-B0E0-5B0B-4FF281008FEE}"/>
              </a:ext>
            </a:extLst>
          </p:cNvPr>
          <p:cNvCxnSpPr/>
          <p:nvPr/>
        </p:nvCxnSpPr>
        <p:spPr>
          <a:xfrm>
            <a:off x="1596009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484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EC780-AB94-6174-B010-3597D0B00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5" y="988485"/>
            <a:ext cx="11874500" cy="2330449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estimate of time taken by the algorithm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is commonly estimated by counting the number of elementary operations, where each elementary operation takes a fixed amount of time to perform.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5D87D4-E116-0451-96F3-4D2C1061DD61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IN" sz="4000" b="1" dirty="0">
                <a:solidFill>
                  <a:schemeClr val="tx1"/>
                </a:solidFill>
              </a:rPr>
              <a:t>Time Complexity of an Algorithm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10119F-DB79-5620-28CC-66E5385B4EE7}"/>
              </a:ext>
            </a:extLst>
          </p:cNvPr>
          <p:cNvSpPr/>
          <p:nvPr/>
        </p:nvSpPr>
        <p:spPr>
          <a:xfrm>
            <a:off x="1675190" y="3717775"/>
            <a:ext cx="8204200" cy="182094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use asymptotic notations for describing the time complexity of an algorithm.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ignore hardware, operating system, processors, etc.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517EF-E780-A7F3-5895-4A1C715D1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4" y="988484"/>
            <a:ext cx="12067116" cy="4705349"/>
          </a:xfr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67" dirty="0"/>
              <a:t>Space complexity : no. of memory units used w.r.t given input size.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667" dirty="0"/>
              <a:t>For any algorithm memory may be used for the following: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en-US" sz="2267" dirty="0"/>
              <a:t>Variables (This include the constant values, temporary values)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en-US" sz="2267" dirty="0"/>
              <a:t>Program Instruction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en-US" sz="2267" dirty="0"/>
              <a:t>Execution</a:t>
            </a:r>
          </a:p>
          <a:p>
            <a:pPr eaLnBrk="1" hangingPunct="1"/>
            <a:r>
              <a:rPr lang="en-US" altLang="en-US" sz="2667" dirty="0"/>
              <a:t>Sometime </a:t>
            </a:r>
            <a:r>
              <a:rPr lang="en-US" altLang="en-US" sz="2667" b="1" dirty="0"/>
              <a:t>Auxiliary Space</a:t>
            </a:r>
            <a:r>
              <a:rPr lang="en-US" altLang="en-US" sz="2667" dirty="0"/>
              <a:t> is confused with Space Complexity. But Auxiliary Space is the extra space or the temporary space used by the algorithm during it's execution.</a:t>
            </a:r>
          </a:p>
          <a:p>
            <a:pPr eaLnBrk="1" hangingPunct="1"/>
            <a:r>
              <a:rPr lang="en-US" altLang="en-US" sz="2667" b="1" dirty="0"/>
              <a:t>Space Complexity</a:t>
            </a:r>
            <a:r>
              <a:rPr lang="en-US" altLang="en-US" sz="2667" dirty="0"/>
              <a:t> = </a:t>
            </a:r>
            <a:r>
              <a:rPr lang="en-US" altLang="en-US" sz="2667" b="1" dirty="0"/>
              <a:t>Auxiliary Space + Input space</a:t>
            </a:r>
            <a:endParaRPr lang="en-US" altLang="en-US" sz="2667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I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BB1D49-512B-5043-8C14-C60BE82C21B7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IN" sz="4000" b="1" dirty="0">
                <a:solidFill>
                  <a:schemeClr val="tx1"/>
                </a:solidFill>
              </a:rPr>
              <a:t>Space Complexity of an Algorithm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7012A8AC-C877-5CDA-1B8E-7F6C90598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4" y="988484"/>
            <a:ext cx="11910483" cy="1022349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zh-CN" b="1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  <a:p>
            <a:pPr eaLnBrk="1" hangingPunct="1">
              <a:buFont typeface="Arial" panose="020B0604020202020204" pitchFamily="34" charset="0"/>
              <a:buNone/>
            </a:pPr>
            <a:endParaRPr lang="en-I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7CF31D-21A5-BD14-8AA5-67F85B553954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</a:rPr>
              <a:t>Common Time Complexities</a:t>
            </a:r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34376E4E-B05A-3EAA-5782-D2FD8DEB2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89001"/>
            <a:ext cx="12012084" cy="995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IN" altLang="en-US" sz="2933" b="1">
                <a:solidFill>
                  <a:srgbClr val="FF0000"/>
                </a:solidFill>
              </a:rPr>
              <a:t>O(1) is </a:t>
            </a:r>
            <a:r>
              <a:rPr lang="en-IN" altLang="en-US" sz="2933" b="1" i="1">
                <a:solidFill>
                  <a:srgbClr val="FF0000"/>
                </a:solidFill>
              </a:rPr>
              <a:t>constant-time</a:t>
            </a:r>
            <a:r>
              <a:rPr lang="en-IN" altLang="en-US" sz="2933" b="1">
                <a:solidFill>
                  <a:srgbClr val="FF0000"/>
                </a:solidFill>
              </a:rPr>
              <a:t> complexity</a:t>
            </a:r>
            <a:r>
              <a:rPr lang="en-IN" altLang="en-US" sz="2933" b="1"/>
              <a:t>. The number of operations for the algorithm doesn’t actually change as the problem size increases.</a:t>
            </a:r>
            <a:endParaRPr lang="en-IN" altLang="en-US" sz="2933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18FE11-2829-D5C8-75BF-31289F007DA3}"/>
              </a:ext>
            </a:extLst>
          </p:cNvPr>
          <p:cNvSpPr/>
          <p:nvPr/>
        </p:nvSpPr>
        <p:spPr>
          <a:xfrm>
            <a:off x="1938867" y="2194984"/>
            <a:ext cx="8428567" cy="97719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lIns="91440" tIns="45720" rIns="91440" bIns="45720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2667" b="1" dirty="0"/>
              <a:t>void Constant-Time(</a:t>
            </a:r>
            <a:r>
              <a:rPr lang="en-US" sz="2667" b="1" dirty="0" err="1"/>
              <a:t>int</a:t>
            </a:r>
            <a:r>
              <a:rPr lang="en-US" sz="2667" b="1" dirty="0"/>
              <a:t> </a:t>
            </a:r>
            <a:r>
              <a:rPr lang="en-US" sz="2667" b="1" dirty="0" err="1"/>
              <a:t>arr</a:t>
            </a:r>
            <a:r>
              <a:rPr lang="en-US" sz="2667" b="1" dirty="0"/>
              <a:t>[ ]) {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sz="2667" b="1" dirty="0"/>
              <a:t>    printf("First element of array = %d", </a:t>
            </a:r>
            <a:r>
              <a:rPr lang="en-US" sz="2667" b="1" dirty="0" err="1"/>
              <a:t>arr</a:t>
            </a:r>
            <a:r>
              <a:rPr lang="en-US" sz="2667" b="1" dirty="0"/>
              <a:t>[0]); 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5AFE83-34B1-9F19-D5F3-88CCCE81831F}"/>
              </a:ext>
            </a:extLst>
          </p:cNvPr>
          <p:cNvSpPr/>
          <p:nvPr/>
        </p:nvSpPr>
        <p:spPr>
          <a:xfrm>
            <a:off x="226484" y="3477685"/>
            <a:ext cx="11656483" cy="1065420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 algn="just" eaLnBrk="1" hangingPunct="1">
              <a:lnSpc>
                <a:spcPct val="110000"/>
              </a:lnSpc>
              <a:defRPr/>
            </a:pPr>
            <a:r>
              <a:rPr lang="en-US" sz="2933" b="1" dirty="0"/>
              <a:t>This function runs in O(1) time (or "constant time") relative to its input. </a:t>
            </a:r>
            <a:endParaRPr lang="en-IN" sz="2933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38981D-868D-3EB5-D106-914D6C414DA4}"/>
              </a:ext>
            </a:extLst>
          </p:cNvPr>
          <p:cNvSpPr/>
          <p:nvPr/>
        </p:nvSpPr>
        <p:spPr>
          <a:xfrm>
            <a:off x="226484" y="4545884"/>
            <a:ext cx="11857567" cy="1323632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 algn="just" eaLnBrk="1" hangingPunct="1">
              <a:defRPr/>
            </a:pPr>
            <a:r>
              <a:rPr lang="en-US" altLang="en-US" sz="2667" b="1" dirty="0">
                <a:solidFill>
                  <a:srgbClr val="000000"/>
                </a:solidFill>
              </a:rPr>
              <a:t>A loop that runs a constant number of times is also considered as O(1). </a:t>
            </a:r>
          </a:p>
          <a:p>
            <a:pPr algn="just" eaLnBrk="1" hangingPunct="1">
              <a:defRPr/>
            </a:pPr>
            <a:r>
              <a:rPr lang="en-US" altLang="en-US" sz="2667" b="1" dirty="0">
                <a:solidFill>
                  <a:srgbClr val="000000"/>
                </a:solidFill>
              </a:rPr>
              <a:t>for (</a:t>
            </a:r>
            <a:r>
              <a:rPr lang="en-US" altLang="en-US" sz="2667" b="1" dirty="0" err="1">
                <a:solidFill>
                  <a:srgbClr val="000000"/>
                </a:solidFill>
              </a:rPr>
              <a:t>int</a:t>
            </a:r>
            <a:r>
              <a:rPr lang="en-US" altLang="en-US" sz="2667" b="1" dirty="0">
                <a:solidFill>
                  <a:srgbClr val="000000"/>
                </a:solidFill>
              </a:rPr>
              <a:t> </a:t>
            </a:r>
            <a:r>
              <a:rPr lang="en-US" altLang="en-US" sz="2667" b="1" dirty="0" err="1">
                <a:solidFill>
                  <a:srgbClr val="000000"/>
                </a:solidFill>
              </a:rPr>
              <a:t>i</a:t>
            </a:r>
            <a:r>
              <a:rPr lang="en-US" altLang="en-US" sz="2667" b="1" dirty="0">
                <a:solidFill>
                  <a:srgbClr val="000000"/>
                </a:solidFill>
              </a:rPr>
              <a:t> = 1; </a:t>
            </a:r>
            <a:r>
              <a:rPr lang="en-US" altLang="en-US" sz="2667" b="1" dirty="0" err="1">
                <a:solidFill>
                  <a:srgbClr val="000000"/>
                </a:solidFill>
              </a:rPr>
              <a:t>i</a:t>
            </a:r>
            <a:r>
              <a:rPr lang="en-US" altLang="en-US" sz="2667" b="1" dirty="0">
                <a:solidFill>
                  <a:srgbClr val="000000"/>
                </a:solidFill>
              </a:rPr>
              <a:t> &lt;= C; x++)  </a:t>
            </a:r>
            <a:r>
              <a:rPr lang="en-US" altLang="en-US" sz="2667" b="1" dirty="0">
                <a:solidFill>
                  <a:srgbClr val="00B050"/>
                </a:solidFill>
              </a:rPr>
              <a:t>// C is some constant</a:t>
            </a:r>
          </a:p>
          <a:p>
            <a:pPr algn="just" eaLnBrk="1" hangingPunct="1">
              <a:defRPr/>
            </a:pPr>
            <a:r>
              <a:rPr lang="en-US" altLang="en-US" sz="2667" b="1" dirty="0">
                <a:solidFill>
                  <a:srgbClr val="000000"/>
                </a:solidFill>
              </a:rPr>
              <a:t>{ </a:t>
            </a:r>
            <a:r>
              <a:rPr lang="en-US" altLang="en-US" sz="2667" b="1" dirty="0">
                <a:solidFill>
                  <a:srgbClr val="FF0000"/>
                </a:solidFill>
              </a:rPr>
              <a:t>// some O(1) expressions }</a:t>
            </a:r>
            <a:r>
              <a:rPr lang="en-US" altLang="en-US" sz="2667" b="1" dirty="0">
                <a:solidFill>
                  <a:srgbClr val="00B05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53AAF-857F-BC5D-0E86-F5290B2A6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101" y="3693584"/>
            <a:ext cx="6692900" cy="1648883"/>
          </a:xfrm>
          <a:solidFill>
            <a:schemeClr val="accent6">
              <a:lumMod val="60000"/>
              <a:lumOff val="40000"/>
            </a:schemeClr>
          </a:solidFill>
        </p:spPr>
        <p:txBody>
          <a:bodyPr rtlCol="0">
            <a:normAutofit fontScale="2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0666" b="1" dirty="0">
                <a:solidFill>
                  <a:srgbClr val="002060"/>
                </a:solidFill>
              </a:rPr>
              <a:t>void Linear-Time(</a:t>
            </a:r>
            <a:r>
              <a:rPr lang="en-US" sz="10666" b="1" dirty="0" err="1">
                <a:solidFill>
                  <a:srgbClr val="002060"/>
                </a:solidFill>
              </a:rPr>
              <a:t>int</a:t>
            </a:r>
            <a:r>
              <a:rPr lang="en-US" sz="10666" b="1" dirty="0">
                <a:solidFill>
                  <a:srgbClr val="002060"/>
                </a:solidFill>
              </a:rPr>
              <a:t> </a:t>
            </a:r>
            <a:r>
              <a:rPr lang="en-US" sz="10666" b="1" dirty="0" err="1">
                <a:solidFill>
                  <a:srgbClr val="002060"/>
                </a:solidFill>
              </a:rPr>
              <a:t>arr</a:t>
            </a:r>
            <a:r>
              <a:rPr lang="en-US" sz="10666" b="1" dirty="0">
                <a:solidFill>
                  <a:srgbClr val="002060"/>
                </a:solidFill>
              </a:rPr>
              <a:t>[])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0666" b="1" dirty="0">
                <a:solidFill>
                  <a:srgbClr val="002060"/>
                </a:solidFill>
              </a:rPr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0666" b="1" dirty="0">
                <a:solidFill>
                  <a:srgbClr val="002060"/>
                </a:solidFill>
              </a:rPr>
              <a:t>    printf("First element of array = %</a:t>
            </a:r>
            <a:r>
              <a:rPr lang="en-US" sz="10666" b="1" dirty="0" err="1">
                <a:solidFill>
                  <a:srgbClr val="002060"/>
                </a:solidFill>
              </a:rPr>
              <a:t>d",arr</a:t>
            </a:r>
            <a:r>
              <a:rPr lang="en-US" sz="10666" b="1" dirty="0">
                <a:solidFill>
                  <a:srgbClr val="002060"/>
                </a:solidFill>
              </a:rPr>
              <a:t>[</a:t>
            </a:r>
            <a:r>
              <a:rPr lang="en-US" sz="10666" b="1" dirty="0" err="1">
                <a:solidFill>
                  <a:srgbClr val="002060"/>
                </a:solidFill>
              </a:rPr>
              <a:t>i</a:t>
            </a:r>
            <a:r>
              <a:rPr lang="en-US" sz="10666" b="1" dirty="0">
                <a:solidFill>
                  <a:srgbClr val="002060"/>
                </a:solidFill>
              </a:rPr>
              <a:t>]);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0666" b="1" dirty="0">
                <a:solidFill>
                  <a:srgbClr val="002060"/>
                </a:solidFill>
              </a:rPr>
              <a:t>}</a:t>
            </a:r>
            <a:endParaRPr lang="en-US" sz="10666" b="1" dirty="0"/>
          </a:p>
          <a:p>
            <a:pPr>
              <a:buNone/>
              <a:defRPr/>
            </a:pPr>
            <a:endParaRPr lang="en-IN" dirty="0"/>
          </a:p>
          <a:p>
            <a:pPr>
              <a:buNone/>
              <a:defRPr/>
            </a:pP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F65920-CAC5-0B3F-F591-7E2964B631F9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</a:rPr>
              <a:t>Common Time Complexities</a:t>
            </a:r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id="{AC251EA5-68C9-6924-A48B-DDE3C3578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34" y="889000"/>
            <a:ext cx="12012084" cy="2746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N" altLang="en-US" sz="3200" b="1" dirty="0">
                <a:solidFill>
                  <a:srgbClr val="FF0000"/>
                </a:solidFill>
              </a:rPr>
              <a:t>O(n): Linear-Time complexity</a:t>
            </a:r>
            <a:r>
              <a:rPr lang="en-IN" altLang="en-US" sz="3200" b="1" dirty="0"/>
              <a:t> </a:t>
            </a:r>
          </a:p>
          <a:p>
            <a:pPr algn="just">
              <a:lnSpc>
                <a:spcPts val="34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 b="1" dirty="0"/>
              <a:t> </a:t>
            </a:r>
            <a:r>
              <a:rPr lang="en-US" altLang="en-US" sz="2667" b="1" dirty="0"/>
              <a:t>Running time increases at most linearly with the size of the input.</a:t>
            </a:r>
          </a:p>
          <a:p>
            <a:pPr algn="just">
              <a:lnSpc>
                <a:spcPts val="34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67" b="1" dirty="0"/>
              <a:t> There is a constant </a:t>
            </a:r>
            <a:r>
              <a:rPr lang="en-US" altLang="en-US" sz="2667" b="1" i="1" dirty="0"/>
              <a:t>c</a:t>
            </a:r>
            <a:r>
              <a:rPr lang="en-US" altLang="en-US" sz="2667" b="1" dirty="0"/>
              <a:t> such that the running time is at most </a:t>
            </a:r>
            <a:r>
              <a:rPr lang="en-US" altLang="en-US" sz="2667" b="1" i="1" dirty="0" err="1"/>
              <a:t>cn</a:t>
            </a:r>
            <a:r>
              <a:rPr lang="en-US" altLang="en-US" sz="2667" b="1" dirty="0"/>
              <a:t> for every input of size </a:t>
            </a:r>
            <a:r>
              <a:rPr lang="en-US" altLang="en-US" sz="2667" b="1" i="1" dirty="0"/>
              <a:t>n</a:t>
            </a:r>
            <a:r>
              <a:rPr lang="en-US" altLang="en-US" sz="2667" b="1" dirty="0"/>
              <a:t>. </a:t>
            </a:r>
          </a:p>
          <a:p>
            <a:pPr algn="just">
              <a:lnSpc>
                <a:spcPts val="34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67" b="1" dirty="0"/>
              <a:t>Linear time is the best possible time complexity in situations where the algorithm has to sequentially read its entire input. </a:t>
            </a:r>
            <a:endParaRPr lang="en-IN" altLang="en-US" sz="2667" b="1" dirty="0"/>
          </a:p>
        </p:txBody>
      </p:sp>
      <p:sp>
        <p:nvSpPr>
          <p:cNvPr id="11271" name="Rectangle 6">
            <a:extLst>
              <a:ext uri="{FF2B5EF4-FFF2-40B4-BE49-F238E27FC236}">
                <a16:creationId xmlns:a16="http://schemas.microsoft.com/office/drawing/2014/main" id="{47CD5E16-DEDF-0EFA-2EB4-E9BE9EF34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1" y="5721493"/>
            <a:ext cx="6711949" cy="913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667" b="1" dirty="0"/>
              <a:t>This function runs in O(n) time, where n is the number of items in the array.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BBEB81C-3D84-E141-120E-FAC4EFE8CCA2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</a:rPr>
              <a:t>Common Time Complexities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642B013F-2C7F-558F-6563-E0BD52CFE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89000"/>
            <a:ext cx="120120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N" altLang="en-US" sz="3200" b="1">
                <a:solidFill>
                  <a:srgbClr val="FF0000"/>
                </a:solidFill>
              </a:rPr>
              <a:t>O(n): Linear</a:t>
            </a:r>
            <a:r>
              <a:rPr lang="en-IN" altLang="en-US" sz="3200" b="1" i="1">
                <a:solidFill>
                  <a:srgbClr val="FF0000"/>
                </a:solidFill>
              </a:rPr>
              <a:t>-time</a:t>
            </a:r>
            <a:r>
              <a:rPr lang="en-IN" altLang="en-US" sz="3200" b="1">
                <a:solidFill>
                  <a:srgbClr val="FF0000"/>
                </a:solidFill>
              </a:rPr>
              <a:t> algorithm example</a:t>
            </a:r>
            <a:endParaRPr lang="en-IN" altLang="en-US" b="1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64BAF30-C98E-E2AD-58AB-1DE380AAFC06}"/>
              </a:ext>
            </a:extLst>
          </p:cNvPr>
          <p:cNvSpPr txBox="1">
            <a:spLocks/>
          </p:cNvSpPr>
          <p:nvPr/>
        </p:nvSpPr>
        <p:spPr>
          <a:xfrm>
            <a:off x="7236884" y="1693333"/>
            <a:ext cx="4451349" cy="27516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lIns="91440" tIns="45720" rIns="91440" bIns="4572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3733" b="1" dirty="0"/>
              <a:t>Example of O(N)</a:t>
            </a:r>
            <a:endParaRPr lang="en-IN" sz="3733" b="1" dirty="0"/>
          </a:p>
          <a:p>
            <a:pPr marL="0" indent="0">
              <a:buNone/>
              <a:defRPr/>
            </a:pPr>
            <a:r>
              <a:rPr lang="en-IN" sz="3733" dirty="0"/>
              <a:t>int sum=0;</a:t>
            </a:r>
          </a:p>
          <a:p>
            <a:pPr marL="0" indent="0">
              <a:buNone/>
              <a:defRPr/>
            </a:pPr>
            <a:r>
              <a:rPr lang="en-IN" sz="3733" dirty="0"/>
              <a:t>for (int </a:t>
            </a:r>
            <a:r>
              <a:rPr lang="en-IN" sz="3733" dirty="0" err="1"/>
              <a:t>i</a:t>
            </a:r>
            <a:r>
              <a:rPr lang="en-IN" sz="3733" dirty="0"/>
              <a:t>=0;i&lt;</a:t>
            </a:r>
            <a:r>
              <a:rPr lang="en-IN" sz="3733" dirty="0" err="1"/>
              <a:t>n;i</a:t>
            </a:r>
            <a:r>
              <a:rPr lang="en-IN" sz="3733" dirty="0"/>
              <a:t>++)</a:t>
            </a:r>
          </a:p>
          <a:p>
            <a:pPr marL="0" indent="0">
              <a:buNone/>
              <a:defRPr/>
            </a:pPr>
            <a:r>
              <a:rPr lang="en-IN" sz="3733" dirty="0"/>
              <a:t>{ Sum=sum +</a:t>
            </a:r>
            <a:r>
              <a:rPr lang="en-IN" sz="3733" dirty="0" err="1"/>
              <a:t>i</a:t>
            </a:r>
            <a:r>
              <a:rPr lang="en-IN" sz="3733" dirty="0"/>
              <a:t>, }</a:t>
            </a:r>
          </a:p>
          <a:p>
            <a:pPr marL="0" indent="0">
              <a:buNone/>
              <a:defRPr/>
            </a:pPr>
            <a:r>
              <a:rPr lang="en-IN" sz="3733" b="1" dirty="0"/>
              <a:t>The running time is O(n)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IN" sz="2400" dirty="0"/>
          </a:p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endParaRPr lang="en-IN" sz="2400" dirty="0"/>
          </a:p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endParaRPr lang="en-IN" sz="2400" dirty="0"/>
          </a:p>
          <a:p>
            <a:pPr marL="0" indent="0">
              <a:buNone/>
              <a:defRPr/>
            </a:pPr>
            <a:endParaRPr lang="en-IN" sz="3733" dirty="0"/>
          </a:p>
        </p:txBody>
      </p:sp>
      <p:sp>
        <p:nvSpPr>
          <p:cNvPr id="13319" name="Rectangle 5">
            <a:extLst>
              <a:ext uri="{FF2B5EF4-FFF2-40B4-BE49-F238E27FC236}">
                <a16:creationId xmlns:a16="http://schemas.microsoft.com/office/drawing/2014/main" id="{0346FBCA-705B-057F-4C17-2BC063B92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67" y="1644651"/>
            <a:ext cx="6675967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Examples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1. Traversing an array</a:t>
            </a:r>
            <a:br>
              <a:rPr lang="en-US" altLang="en-US" sz="2800"/>
            </a:br>
            <a:r>
              <a:rPr lang="en-US" altLang="en-US" sz="2800"/>
              <a:t>2. Traversing a linked list</a:t>
            </a:r>
            <a:br>
              <a:rPr lang="en-US" altLang="en-US" sz="2800"/>
            </a:br>
            <a:r>
              <a:rPr lang="en-US" altLang="en-US" sz="2800"/>
              <a:t>3. Linear Search</a:t>
            </a:r>
            <a:br>
              <a:rPr lang="en-US" altLang="en-US" sz="2800"/>
            </a:br>
            <a:r>
              <a:rPr lang="en-US" altLang="en-US" sz="2800"/>
              <a:t>4. Deletion of a specific element in a Linked List (Not sorted)</a:t>
            </a:r>
            <a:br>
              <a:rPr lang="en-US" altLang="en-US" sz="2800"/>
            </a:br>
            <a:r>
              <a:rPr lang="en-US" altLang="en-US" sz="2800"/>
              <a:t>5. Comparing two strings</a:t>
            </a:r>
            <a:br>
              <a:rPr lang="en-US" altLang="en-US" sz="2800"/>
            </a:br>
            <a:r>
              <a:rPr lang="en-US" altLang="en-US" sz="2800"/>
              <a:t>6. Checking for Palindrome</a:t>
            </a:r>
            <a:br>
              <a:rPr lang="en-US" altLang="en-US" sz="2800"/>
            </a:br>
            <a:r>
              <a:rPr lang="en-US" altLang="en-US" sz="2800"/>
              <a:t>7. Counting/Bucket Sort</a:t>
            </a:r>
            <a:endParaRPr lang="en-IN" alt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7503B-1005-E8D8-8380-EC4FC86799C4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</a:rPr>
              <a:t>Common Time Complexities</a:t>
            </a:r>
          </a:p>
        </p:txBody>
      </p:sp>
      <p:sp>
        <p:nvSpPr>
          <p:cNvPr id="7174" name="Rectangle 5">
            <a:extLst>
              <a:ext uri="{FF2B5EF4-FFF2-40B4-BE49-F238E27FC236}">
                <a16:creationId xmlns:a16="http://schemas.microsoft.com/office/drawing/2014/main" id="{703F87F6-6ABD-5F4E-8EFC-C6C7C27AE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89000"/>
            <a:ext cx="1201208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>
            <a:sp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O(N</a:t>
            </a:r>
            <a:r>
              <a:rPr lang="en-US" sz="3200" b="1" baseline="30000" dirty="0">
                <a:solidFill>
                  <a:srgbClr val="FF0000"/>
                </a:solidFill>
              </a:rPr>
              <a:t>2</a:t>
            </a:r>
            <a:r>
              <a:rPr lang="en-US" sz="3200" b="1" dirty="0">
                <a:solidFill>
                  <a:srgbClr val="FF0000"/>
                </a:solidFill>
              </a:rPr>
              <a:t>) time complexity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F588F0-1A35-BEA7-7D28-783856A1EF0E}"/>
              </a:ext>
            </a:extLst>
          </p:cNvPr>
          <p:cNvSpPr/>
          <p:nvPr/>
        </p:nvSpPr>
        <p:spPr>
          <a:xfrm>
            <a:off x="137585" y="1526117"/>
            <a:ext cx="11897783" cy="1390830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 algn="just">
              <a:lnSpc>
                <a:spcPts val="3360"/>
              </a:lnSpc>
              <a:buFont typeface="Wingdings" pitchFamily="2" charset="2"/>
              <a:buChar char="§"/>
              <a:defRPr/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O(N</a:t>
            </a:r>
            <a:r>
              <a:rPr lang="en-US" sz="2800" b="1" baseline="30000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) </a:t>
            </a:r>
            <a:r>
              <a:rPr lang="en-US" sz="2800" b="1" dirty="0">
                <a:latin typeface="+mj-lt"/>
              </a:rPr>
              <a:t>- performance is directly proportional to the square of the size of the input data set. </a:t>
            </a:r>
          </a:p>
          <a:p>
            <a:pPr>
              <a:lnSpc>
                <a:spcPts val="3360"/>
              </a:lnSpc>
              <a:buFont typeface="Wingdings" pitchFamily="2" charset="2"/>
              <a:buChar char="§"/>
              <a:defRPr/>
            </a:pPr>
            <a:r>
              <a:rPr lang="en-US" sz="2800" b="1" dirty="0">
                <a:latin typeface="+mj-lt"/>
              </a:rPr>
              <a:t> Is common with algorithms that involve nested iterations over the input.</a:t>
            </a:r>
            <a:endParaRPr lang="en-IN" sz="2800" b="1" dirty="0">
              <a:latin typeface="+mj-lt"/>
            </a:endParaRPr>
          </a:p>
        </p:txBody>
      </p:sp>
      <p:sp>
        <p:nvSpPr>
          <p:cNvPr id="59393" name="Rectangle 1">
            <a:extLst>
              <a:ext uri="{FF2B5EF4-FFF2-40B4-BE49-F238E27FC236}">
                <a16:creationId xmlns:a16="http://schemas.microsoft.com/office/drawing/2014/main" id="{34F0F469-DFC2-0EE1-C7C5-FBB40F704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63" y="3227653"/>
            <a:ext cx="5572606" cy="30469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1440" tIns="45720" rIns="91440" bIns="45720" anchor="ctr">
            <a:spAutoFit/>
          </a:bodyPr>
          <a:lstStyle/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void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Nsquare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(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arr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[],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size=N)</a:t>
            </a:r>
            <a:endParaRPr lang="en-US" sz="2400" b="1" dirty="0">
              <a:latin typeface="+mj-lt"/>
            </a:endParaRP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{</a:t>
            </a:r>
            <a:endParaRPr lang="en-US" sz="2400" b="1" dirty="0">
              <a:latin typeface="+mj-lt"/>
            </a:endParaRP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   for (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= 0;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&lt; size;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++)</a:t>
            </a:r>
            <a:endParaRPr lang="en-US" sz="2400" b="1" dirty="0">
              <a:latin typeface="+mj-lt"/>
            </a:endParaRP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   {</a:t>
            </a:r>
            <a:endParaRPr lang="en-US" sz="2400" b="1" dirty="0">
              <a:latin typeface="+mj-lt"/>
            </a:endParaRP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       for (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j = 0; j &lt; size; j++)</a:t>
            </a:r>
            <a:endParaRPr lang="en-US" sz="2400" b="1" dirty="0">
              <a:latin typeface="+mj-lt"/>
            </a:endParaRP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                  printf("%d = %d\n",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arr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[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],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arr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[j]);</a:t>
            </a:r>
            <a:endParaRPr lang="en-US" sz="2400" b="1" dirty="0">
              <a:latin typeface="+mj-lt"/>
            </a:endParaRP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    }</a:t>
            </a:r>
            <a:endParaRPr lang="en-US" sz="2400" b="1" dirty="0">
              <a:latin typeface="+mj-lt"/>
            </a:endParaRP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}</a:t>
            </a:r>
            <a:endParaRPr lang="en-US" sz="2400" b="1" dirty="0"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5752A1-8B97-80C5-352F-DD155815B514}"/>
              </a:ext>
            </a:extLst>
          </p:cNvPr>
          <p:cNvSpPr/>
          <p:nvPr/>
        </p:nvSpPr>
        <p:spPr>
          <a:xfrm>
            <a:off x="5875867" y="3096685"/>
            <a:ext cx="6096000" cy="1200329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 algn="just" eaLnBrk="1" hangingPunct="1">
              <a:defRPr/>
            </a:pPr>
            <a:r>
              <a:rPr lang="en-US" sz="2400" b="1" dirty="0"/>
              <a:t>If the array has 10 items, we have to print 100 times. If it has 1000 items, we have to print 1000000 times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8C9C3D8F-EDF3-C419-104A-D39176A38E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90575" indent="-38099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523962" indent="-304792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2133547" indent="-304792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743131" indent="-304792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3352716" indent="-304792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962301" indent="-304792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4571886" indent="-304792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5181470" indent="-304792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DDC2FF-A5CB-4A63-BFF4-FED46F10A39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3EF7B0A3-514A-84DB-2EDB-E4BEF0E94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18" y="1589617"/>
            <a:ext cx="5344583" cy="20506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lIns="91440" tIns="45720" rIns="91440" bIns="45720">
            <a:spAutoFit/>
          </a:bodyPr>
          <a:lstStyle/>
          <a:p>
            <a:pPr>
              <a:lnSpc>
                <a:spcPct val="107000"/>
              </a:lnSpc>
              <a:tabLst>
                <a:tab pos="581011" algn="l"/>
                <a:tab pos="1162022" algn="l"/>
                <a:tab pos="1744619" algn="l"/>
                <a:tab pos="2325630" algn="l"/>
                <a:tab pos="2908227" algn="l"/>
                <a:tab pos="3489238" algn="l"/>
                <a:tab pos="4070249" algn="l"/>
                <a:tab pos="4652846" algn="l"/>
                <a:tab pos="5233857" algn="l"/>
                <a:tab pos="5816455" algn="l"/>
                <a:tab pos="6397465" algn="l"/>
                <a:tab pos="6978476" algn="l"/>
                <a:tab pos="7561074" algn="l"/>
                <a:tab pos="8142084" algn="l"/>
                <a:tab pos="8724682" algn="l"/>
                <a:tab pos="9305693" algn="l"/>
              </a:tabLst>
              <a:defRPr/>
            </a:pPr>
            <a:r>
              <a:rPr lang="en-IN" sz="2400" b="1" dirty="0" err="1">
                <a:latin typeface="Calibri" pitchFamily="34" charset="0"/>
                <a:cs typeface="Times New Roman" pitchFamily="18" charset="0"/>
              </a:rPr>
              <a:t>int</a:t>
            </a:r>
            <a:r>
              <a:rPr lang="en-IN" sz="2400" b="1" dirty="0">
                <a:latin typeface="Calibri" pitchFamily="34" charset="0"/>
                <a:cs typeface="Times New Roman" pitchFamily="18" charset="0"/>
              </a:rPr>
              <a:t> count = 0;</a:t>
            </a:r>
            <a:endParaRPr lang="en-IN" sz="2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>
              <a:lnSpc>
                <a:spcPct val="107000"/>
              </a:lnSpc>
              <a:tabLst>
                <a:tab pos="581011" algn="l"/>
                <a:tab pos="1162022" algn="l"/>
                <a:tab pos="1744619" algn="l"/>
                <a:tab pos="2325630" algn="l"/>
                <a:tab pos="2908227" algn="l"/>
                <a:tab pos="3489238" algn="l"/>
                <a:tab pos="4070249" algn="l"/>
                <a:tab pos="4652846" algn="l"/>
                <a:tab pos="5233857" algn="l"/>
                <a:tab pos="5816455" algn="l"/>
                <a:tab pos="6397465" algn="l"/>
                <a:tab pos="6978476" algn="l"/>
                <a:tab pos="7561074" algn="l"/>
                <a:tab pos="8142084" algn="l"/>
                <a:tab pos="8724682" algn="l"/>
                <a:tab pos="9305693" algn="l"/>
              </a:tabLst>
              <a:defRPr/>
            </a:pPr>
            <a:r>
              <a:rPr lang="en-IN" sz="2400" b="1" dirty="0">
                <a:latin typeface="Calibri" pitchFamily="34" charset="0"/>
                <a:cs typeface="Times New Roman" pitchFamily="18" charset="0"/>
              </a:rPr>
              <a:t>for (</a:t>
            </a:r>
            <a:r>
              <a:rPr lang="en-IN" sz="2400" b="1" dirty="0" err="1">
                <a:latin typeface="Calibri" pitchFamily="34" charset="0"/>
                <a:cs typeface="Times New Roman" pitchFamily="18" charset="0"/>
              </a:rPr>
              <a:t>int</a:t>
            </a:r>
            <a:r>
              <a:rPr lang="en-IN" sz="2400" b="1" dirty="0">
                <a:latin typeface="Calibri" pitchFamily="34" charset="0"/>
                <a:cs typeface="Times New Roman" pitchFamily="18" charset="0"/>
              </a:rPr>
              <a:t> </a:t>
            </a:r>
            <a:r>
              <a:rPr lang="en-IN" sz="2400" b="1" dirty="0" err="1">
                <a:latin typeface="Calibri" pitchFamily="34" charset="0"/>
                <a:cs typeface="Times New Roman" pitchFamily="18" charset="0"/>
              </a:rPr>
              <a:t>i</a:t>
            </a:r>
            <a:r>
              <a:rPr lang="en-IN" sz="2400" b="1" dirty="0">
                <a:latin typeface="Calibri" pitchFamily="34" charset="0"/>
                <a:cs typeface="Times New Roman" pitchFamily="18" charset="0"/>
              </a:rPr>
              <a:t> = 0; </a:t>
            </a:r>
            <a:r>
              <a:rPr lang="en-IN" sz="2400" b="1" dirty="0" err="1">
                <a:latin typeface="Calibri" pitchFamily="34" charset="0"/>
                <a:cs typeface="Times New Roman" pitchFamily="18" charset="0"/>
              </a:rPr>
              <a:t>i</a:t>
            </a:r>
            <a:r>
              <a:rPr lang="en-IN" sz="2400" b="1" dirty="0">
                <a:latin typeface="Calibri" pitchFamily="34" charset="0"/>
                <a:cs typeface="Times New Roman" pitchFamily="18" charset="0"/>
              </a:rPr>
              <a:t> &lt; N; </a:t>
            </a:r>
            <a:r>
              <a:rPr lang="en-IN" sz="2400" b="1" dirty="0" err="1">
                <a:latin typeface="Calibri" pitchFamily="34" charset="0"/>
                <a:cs typeface="Times New Roman" pitchFamily="18" charset="0"/>
              </a:rPr>
              <a:t>i</a:t>
            </a:r>
            <a:r>
              <a:rPr lang="en-IN" sz="2400" b="1" dirty="0">
                <a:latin typeface="Calibri" pitchFamily="34" charset="0"/>
                <a:cs typeface="Times New Roman" pitchFamily="18" charset="0"/>
              </a:rPr>
              <a:t>++) </a:t>
            </a:r>
            <a:endParaRPr lang="en-IN" sz="24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07000"/>
              </a:lnSpc>
              <a:tabLst>
                <a:tab pos="581011" algn="l"/>
                <a:tab pos="1162022" algn="l"/>
                <a:tab pos="1744619" algn="l"/>
                <a:tab pos="2325630" algn="l"/>
                <a:tab pos="2908227" algn="l"/>
                <a:tab pos="3489238" algn="l"/>
                <a:tab pos="4070249" algn="l"/>
                <a:tab pos="4652846" algn="l"/>
                <a:tab pos="5233857" algn="l"/>
                <a:tab pos="5816455" algn="l"/>
                <a:tab pos="6397465" algn="l"/>
                <a:tab pos="6978476" algn="l"/>
                <a:tab pos="7561074" algn="l"/>
                <a:tab pos="8142084" algn="l"/>
                <a:tab pos="8724682" algn="l"/>
                <a:tab pos="9305693" algn="l"/>
              </a:tabLst>
              <a:defRPr/>
            </a:pPr>
            <a:r>
              <a:rPr lang="en-IN" sz="2400" b="1" dirty="0">
                <a:latin typeface="Calibri" pitchFamily="34" charset="0"/>
                <a:cs typeface="Times New Roman" pitchFamily="18" charset="0"/>
              </a:rPr>
              <a:t>    for (</a:t>
            </a:r>
            <a:r>
              <a:rPr lang="en-IN" sz="2400" b="1" dirty="0" err="1">
                <a:latin typeface="Calibri" pitchFamily="34" charset="0"/>
                <a:cs typeface="Times New Roman" pitchFamily="18" charset="0"/>
              </a:rPr>
              <a:t>int</a:t>
            </a:r>
            <a:r>
              <a:rPr lang="en-IN" sz="2400" b="1" dirty="0">
                <a:latin typeface="Calibri" pitchFamily="34" charset="0"/>
                <a:cs typeface="Times New Roman" pitchFamily="18" charset="0"/>
              </a:rPr>
              <a:t> j = 0; j &lt; </a:t>
            </a:r>
            <a:r>
              <a:rPr lang="en-IN" sz="2400" b="1" dirty="0" err="1">
                <a:latin typeface="Calibri" pitchFamily="34" charset="0"/>
                <a:cs typeface="Times New Roman" pitchFamily="18" charset="0"/>
              </a:rPr>
              <a:t>i</a:t>
            </a:r>
            <a:r>
              <a:rPr lang="en-IN" sz="2400" b="1" dirty="0">
                <a:latin typeface="Calibri" pitchFamily="34" charset="0"/>
                <a:cs typeface="Times New Roman" pitchFamily="18" charset="0"/>
              </a:rPr>
              <a:t>; j++) </a:t>
            </a:r>
            <a:endParaRPr lang="en-IN" sz="24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07000"/>
              </a:lnSpc>
              <a:tabLst>
                <a:tab pos="581011" algn="l"/>
                <a:tab pos="1162022" algn="l"/>
                <a:tab pos="1744619" algn="l"/>
                <a:tab pos="2325630" algn="l"/>
                <a:tab pos="2908227" algn="l"/>
                <a:tab pos="3489238" algn="l"/>
                <a:tab pos="4070249" algn="l"/>
                <a:tab pos="4652846" algn="l"/>
                <a:tab pos="5233857" algn="l"/>
                <a:tab pos="5816455" algn="l"/>
                <a:tab pos="6397465" algn="l"/>
                <a:tab pos="6978476" algn="l"/>
                <a:tab pos="7561074" algn="l"/>
                <a:tab pos="8142084" algn="l"/>
                <a:tab pos="8724682" algn="l"/>
                <a:tab pos="9305693" algn="l"/>
              </a:tabLst>
              <a:defRPr/>
            </a:pPr>
            <a:r>
              <a:rPr lang="en-IN" sz="2400" b="1" dirty="0">
                <a:latin typeface="Calibri" pitchFamily="34" charset="0"/>
                <a:cs typeface="Times New Roman" pitchFamily="18" charset="0"/>
              </a:rPr>
              <a:t>        count++;</a:t>
            </a:r>
          </a:p>
          <a:p>
            <a:pPr>
              <a:lnSpc>
                <a:spcPct val="107000"/>
              </a:lnSpc>
              <a:tabLst>
                <a:tab pos="581011" algn="l"/>
                <a:tab pos="1162022" algn="l"/>
                <a:tab pos="1744619" algn="l"/>
                <a:tab pos="2325630" algn="l"/>
                <a:tab pos="2908227" algn="l"/>
                <a:tab pos="3489238" algn="l"/>
                <a:tab pos="4070249" algn="l"/>
                <a:tab pos="4652846" algn="l"/>
                <a:tab pos="5233857" algn="l"/>
                <a:tab pos="5816455" algn="l"/>
                <a:tab pos="6397465" algn="l"/>
                <a:tab pos="6978476" algn="l"/>
                <a:tab pos="7561074" algn="l"/>
                <a:tab pos="8142084" algn="l"/>
                <a:tab pos="8724682" algn="l"/>
                <a:tab pos="9305693" algn="l"/>
              </a:tabLst>
              <a:defRPr/>
            </a:pPr>
            <a:endParaRPr lang="en-IN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283E8AB1-9AF0-B680-5B07-6F9DED3C6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384" y="3672417"/>
            <a:ext cx="5799667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252C33"/>
                </a:solidFill>
                <a:cs typeface="Times New Roman" panose="02020603050405020304" pitchFamily="18" charset="0"/>
              </a:rPr>
              <a:t>how many times count++ will run.</a:t>
            </a:r>
            <a:endParaRPr lang="en-IN" altLang="en-US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252C33"/>
                </a:solidFill>
                <a:cs typeface="Times New Roman" panose="02020603050405020304" pitchFamily="18" charset="0"/>
              </a:rPr>
              <a:t>When i=0, it will run 0 times.</a:t>
            </a:r>
            <a:br>
              <a:rPr lang="en-IN" altLang="en-US" b="1">
                <a:solidFill>
                  <a:srgbClr val="252C33"/>
                </a:solidFill>
                <a:cs typeface="Times New Roman" panose="02020603050405020304" pitchFamily="18" charset="0"/>
              </a:rPr>
            </a:br>
            <a:r>
              <a:rPr lang="en-IN" altLang="en-US" b="1">
                <a:solidFill>
                  <a:srgbClr val="252C33"/>
                </a:solidFill>
                <a:cs typeface="Times New Roman" panose="02020603050405020304" pitchFamily="18" charset="0"/>
              </a:rPr>
              <a:t>When i=1, it will run 1 times.</a:t>
            </a:r>
            <a:br>
              <a:rPr lang="en-IN" altLang="en-US" b="1">
                <a:solidFill>
                  <a:srgbClr val="252C33"/>
                </a:solidFill>
                <a:cs typeface="Times New Roman" panose="02020603050405020304" pitchFamily="18" charset="0"/>
              </a:rPr>
            </a:br>
            <a:r>
              <a:rPr lang="en-IN" altLang="en-US" b="1">
                <a:solidFill>
                  <a:srgbClr val="252C33"/>
                </a:solidFill>
                <a:cs typeface="Times New Roman" panose="02020603050405020304" pitchFamily="18" charset="0"/>
              </a:rPr>
              <a:t>When i=2, it will run 2 times and so on.</a:t>
            </a:r>
            <a:endParaRPr lang="en-IN" altLang="en-US">
              <a:cs typeface="Calibri" panose="020F050202020403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252C33"/>
                </a:solidFill>
                <a:cs typeface="Calibri" panose="020F0502020204030204" pitchFamily="34" charset="0"/>
              </a:rPr>
              <a:t>Total number of times </a:t>
            </a:r>
            <a:r>
              <a:rPr lang="en-IN" altLang="en-US">
                <a:solidFill>
                  <a:srgbClr val="252C33"/>
                </a:solidFill>
                <a:cs typeface="Calibri" panose="020F0502020204030204" pitchFamily="34" charset="0"/>
              </a:rPr>
              <a:t>count++</a:t>
            </a:r>
            <a:r>
              <a:rPr lang="en-IN" altLang="en-US" b="1">
                <a:solidFill>
                  <a:srgbClr val="252C33"/>
                </a:solidFill>
                <a:cs typeface="Calibri" panose="020F0502020204030204" pitchFamily="34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252C33"/>
                </a:solidFill>
                <a:cs typeface="Calibri" panose="020F0502020204030204" pitchFamily="34" charset="0"/>
              </a:rPr>
              <a:t>will run is 0+1+2+...+(N−1)=N∗(N−1)/2.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FF0000"/>
                </a:solidFill>
                <a:cs typeface="Calibri" panose="020F0502020204030204" pitchFamily="34" charset="0"/>
              </a:rPr>
              <a:t>So the time complexity will be O(N</a:t>
            </a:r>
            <a:r>
              <a:rPr lang="en-IN" altLang="en-US" b="1" baseline="30000">
                <a:solidFill>
                  <a:srgbClr val="FF0000"/>
                </a:solidFill>
                <a:cs typeface="Calibri" panose="020F0502020204030204" pitchFamily="34" charset="0"/>
              </a:rPr>
              <a:t>2</a:t>
            </a:r>
            <a:r>
              <a:rPr lang="en-IN" altLang="en-US" b="1">
                <a:solidFill>
                  <a:srgbClr val="FF0000"/>
                </a:solidFill>
                <a:cs typeface="Calibri" panose="020F0502020204030204" pitchFamily="34" charset="0"/>
              </a:rPr>
              <a:t>). 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08E75F-717D-8AC1-E4D6-F322F7C470C2}"/>
              </a:ext>
            </a:extLst>
          </p:cNvPr>
          <p:cNvSpPr/>
          <p:nvPr/>
        </p:nvSpPr>
        <p:spPr>
          <a:xfrm>
            <a:off x="5664201" y="1572684"/>
            <a:ext cx="6218767" cy="21935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lIns="91440" tIns="45720" rIns="91440" bIns="45720">
            <a:spAutoFit/>
          </a:bodyPr>
          <a:lstStyle/>
          <a:p>
            <a:pPr eaLnBrk="1" hangingPunct="1">
              <a:lnSpc>
                <a:spcPct val="115000"/>
              </a:lnSpc>
              <a:defRPr/>
            </a:pPr>
            <a:r>
              <a:rPr lang="en-IN" sz="2000" b="1" dirty="0">
                <a:latin typeface="&amp;quot" charset="0"/>
                <a:cs typeface="Times New Roman" pitchFamily="18" charset="0"/>
              </a:rPr>
              <a:t>The running time of statement inside the nested loop is product of size of loops.</a:t>
            </a:r>
            <a:endParaRPr lang="en-IN" sz="2000" b="1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eaLnBrk="1" hangingPunct="1">
              <a:lnSpc>
                <a:spcPct val="115000"/>
              </a:lnSpc>
              <a:defRPr/>
            </a:pPr>
            <a:r>
              <a:rPr lang="en-IN" sz="2000" b="1" dirty="0">
                <a:latin typeface="&amp;quot" charset="0"/>
                <a:cs typeface="Times New Roman" pitchFamily="18" charset="0"/>
              </a:rPr>
              <a:t>for (</a:t>
            </a:r>
            <a:r>
              <a:rPr lang="en-IN" sz="2000" b="1" dirty="0" err="1">
                <a:latin typeface="&amp;quot" charset="0"/>
                <a:cs typeface="Times New Roman" pitchFamily="18" charset="0"/>
              </a:rPr>
              <a:t>i</a:t>
            </a:r>
            <a:r>
              <a:rPr lang="en-IN" sz="2000" b="1" dirty="0">
                <a:latin typeface="&amp;quot" charset="0"/>
                <a:cs typeface="Times New Roman" pitchFamily="18" charset="0"/>
              </a:rPr>
              <a:t>=0; </a:t>
            </a:r>
            <a:r>
              <a:rPr lang="en-IN" sz="2000" b="1" dirty="0" err="1">
                <a:latin typeface="&amp;quot" charset="0"/>
                <a:cs typeface="Times New Roman" pitchFamily="18" charset="0"/>
              </a:rPr>
              <a:t>i</a:t>
            </a:r>
            <a:r>
              <a:rPr lang="en-IN" sz="2000" b="1" dirty="0">
                <a:latin typeface="&amp;quot" charset="0"/>
                <a:cs typeface="Times New Roman" pitchFamily="18" charset="0"/>
              </a:rPr>
              <a:t>&lt;n; </a:t>
            </a:r>
            <a:r>
              <a:rPr lang="en-IN" sz="2000" b="1" dirty="0" err="1">
                <a:latin typeface="&amp;quot" charset="0"/>
                <a:cs typeface="Times New Roman" pitchFamily="18" charset="0"/>
              </a:rPr>
              <a:t>i</a:t>
            </a:r>
            <a:r>
              <a:rPr lang="en-IN" sz="2000" b="1" dirty="0">
                <a:latin typeface="&amp;quot" charset="0"/>
                <a:cs typeface="Times New Roman" pitchFamily="18" charset="0"/>
              </a:rPr>
              <a:t>++)</a:t>
            </a:r>
            <a:endParaRPr lang="en-IN" sz="2000" b="1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15000"/>
              </a:lnSpc>
              <a:defRPr/>
            </a:pPr>
            <a:r>
              <a:rPr lang="en-IN" sz="2000" b="1" dirty="0">
                <a:latin typeface="&amp;quot" charset="0"/>
                <a:cs typeface="Times New Roman" pitchFamily="18" charset="0"/>
              </a:rPr>
              <a:t>for (j=0; j&lt;k; j++)</a:t>
            </a:r>
            <a:endParaRPr lang="en-IN" sz="2000" b="1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15000"/>
              </a:lnSpc>
              <a:defRPr/>
            </a:pPr>
            <a:r>
              <a:rPr lang="en-IN" sz="2000" b="1" dirty="0">
                <a:latin typeface="&amp;quot" charset="0"/>
                <a:cs typeface="Times New Roman" pitchFamily="18" charset="0"/>
              </a:rPr>
              <a:t>a++;         </a:t>
            </a:r>
            <a:endParaRPr lang="en-IN" sz="2000" b="1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15000"/>
              </a:lnSpc>
              <a:defRPr/>
            </a:pPr>
            <a:r>
              <a:rPr lang="en-IN" sz="2000" b="1" dirty="0">
                <a:solidFill>
                  <a:srgbClr val="FF0000"/>
                </a:solidFill>
                <a:latin typeface="&amp;quot" charset="0"/>
                <a:cs typeface="Times New Roman" pitchFamily="18" charset="0"/>
              </a:rPr>
              <a:t>The running time is   O(</a:t>
            </a:r>
            <a:r>
              <a:rPr lang="en-IN" sz="2000" b="1" dirty="0" err="1">
                <a:solidFill>
                  <a:srgbClr val="FF0000"/>
                </a:solidFill>
                <a:latin typeface="&amp;quot" charset="0"/>
                <a:cs typeface="Times New Roman" pitchFamily="18" charset="0"/>
              </a:rPr>
              <a:t>n×k</a:t>
            </a:r>
            <a:r>
              <a:rPr lang="en-IN" sz="2000" b="1" dirty="0">
                <a:solidFill>
                  <a:srgbClr val="FF0000"/>
                </a:solidFill>
                <a:latin typeface="&amp;quot" charset="0"/>
                <a:cs typeface="Times New Roman" pitchFamily="18" charset="0"/>
              </a:rPr>
              <a:t>)</a:t>
            </a:r>
            <a:endParaRPr lang="en-IN" sz="20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49F8C-3C2F-AE3C-FF6A-12E965D6B608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</a:rPr>
              <a:t>Common Time Complexities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40BA49D8-CD8B-A3AC-BA2E-ED4D6F2C8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89000"/>
            <a:ext cx="1201208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>
            <a:sp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O(N</a:t>
            </a:r>
            <a:r>
              <a:rPr lang="en-US" sz="3200" b="1" baseline="30000" dirty="0">
                <a:solidFill>
                  <a:srgbClr val="FF0000"/>
                </a:solidFill>
              </a:rPr>
              <a:t>2</a:t>
            </a:r>
            <a:r>
              <a:rPr lang="en-US" sz="3200" b="1" dirty="0">
                <a:solidFill>
                  <a:srgbClr val="FF0000"/>
                </a:solidFill>
              </a:rPr>
              <a:t>) time complexity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04F84021-2F1A-FFF3-AA47-614AD65ED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4" y="988484"/>
            <a:ext cx="11910483" cy="1996016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zh-CN" b="1"/>
          </a:p>
          <a:p>
            <a:pPr eaLnBrk="1" hangingPunct="1">
              <a:buFont typeface="Arial" panose="020B0604020202020204" pitchFamily="34" charset="0"/>
              <a:buNone/>
            </a:pPr>
            <a:endParaRPr lang="en-I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A1B992-C324-84A2-4D75-C93B6EDFBBD8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</a:rPr>
              <a:t>Common Time Complexities</a:t>
            </a:r>
          </a:p>
        </p:txBody>
      </p:sp>
      <p:sp>
        <p:nvSpPr>
          <p:cNvPr id="8198" name="Rectangle 5">
            <a:extLst>
              <a:ext uri="{FF2B5EF4-FFF2-40B4-BE49-F238E27FC236}">
                <a16:creationId xmlns:a16="http://schemas.microsoft.com/office/drawing/2014/main" id="{38C2558D-9F8B-E709-6647-FAD09DD8B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84" y="920751"/>
            <a:ext cx="120142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en-IN" sz="3200" b="1" dirty="0">
                <a:solidFill>
                  <a:srgbClr val="FF0000"/>
                </a:solidFill>
                <a:latin typeface="Calibri" pitchFamily="34" charset="0"/>
              </a:rPr>
              <a:t>O(log n) is logarithmic complexity</a:t>
            </a:r>
            <a:endParaRPr lang="en-IN" sz="2400" b="1" dirty="0">
              <a:latin typeface="Calibri" pitchFamily="34" charset="0"/>
            </a:endParaRPr>
          </a:p>
          <a:p>
            <a:pPr algn="just" eaLnBrk="1" hangingPunct="1">
              <a:defRPr/>
            </a:pPr>
            <a:r>
              <a:rPr lang="en-US" altLang="en-US" sz="2400" b="1" dirty="0">
                <a:solidFill>
                  <a:srgbClr val="000000"/>
                </a:solidFill>
              </a:rPr>
              <a:t>Time Complexity of a loop is considered as O(Log n) if the loop variables is divided / multiplied by a constant amount.</a:t>
            </a:r>
            <a:endParaRPr lang="en-IN" sz="2400" b="1" dirty="0">
              <a:latin typeface="Calibr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A7374C-588F-C495-A1CA-92CB0FF697E2}"/>
              </a:ext>
            </a:extLst>
          </p:cNvPr>
          <p:cNvSpPr/>
          <p:nvPr/>
        </p:nvSpPr>
        <p:spPr>
          <a:xfrm>
            <a:off x="5706533" y="2250018"/>
            <a:ext cx="6096000" cy="16312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lIns="91440" tIns="45720" rIns="91440" bIns="45720">
            <a:spAutoFit/>
          </a:bodyPr>
          <a:lstStyle/>
          <a:p>
            <a:pPr algn="just" eaLnBrk="1" hangingPunct="1"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for (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int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= 1; 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&lt;=n; 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*= c) </a:t>
            </a:r>
          </a:p>
          <a:p>
            <a:pPr algn="just" eaLnBrk="1" hangingPunct="1"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{ // some O(1) expressions } </a:t>
            </a:r>
          </a:p>
          <a:p>
            <a:pPr algn="just" eaLnBrk="1" hangingPunct="1">
              <a:defRPr/>
            </a:pPr>
            <a:endParaRPr lang="en-US" altLang="en-US" sz="2000" b="1" dirty="0">
              <a:solidFill>
                <a:srgbClr val="000000"/>
              </a:solidFill>
              <a:latin typeface="Consolas" pitchFamily="49" charset="0"/>
            </a:endParaRPr>
          </a:p>
          <a:p>
            <a:pPr algn="just" eaLnBrk="1" hangingPunct="1"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for (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int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= n; 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&gt; 0; 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/= c) </a:t>
            </a:r>
          </a:p>
          <a:p>
            <a:pPr algn="just" eaLnBrk="1" hangingPunct="1"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{ // some O(1) expressions }</a:t>
            </a:r>
            <a:r>
              <a:rPr lang="en-US" altLang="en-US" sz="2000" b="1" dirty="0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F1E898-2095-60CF-562F-FC323E3E2EEA}"/>
              </a:ext>
            </a:extLst>
          </p:cNvPr>
          <p:cNvSpPr/>
          <p:nvPr/>
        </p:nvSpPr>
        <p:spPr>
          <a:xfrm>
            <a:off x="148167" y="4525434"/>
            <a:ext cx="5306484" cy="1569660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 eaLnBrk="1" hangingPunct="1">
              <a:defRPr/>
            </a:pPr>
            <a:r>
              <a:rPr lang="en-IN" altLang="en-US" sz="2400" b="1" dirty="0">
                <a:solidFill>
                  <a:srgbClr val="000000"/>
                </a:solidFill>
              </a:rPr>
              <a:t>The series that we get in first loop is 1, c, c</a:t>
            </a:r>
            <a:r>
              <a:rPr lang="en-IN" altLang="en-US" sz="2400" b="1" baseline="30000" dirty="0">
                <a:solidFill>
                  <a:srgbClr val="000000"/>
                </a:solidFill>
              </a:rPr>
              <a:t>2</a:t>
            </a:r>
            <a:r>
              <a:rPr lang="en-IN" altLang="en-US" sz="2400" b="1" dirty="0">
                <a:solidFill>
                  <a:srgbClr val="000000"/>
                </a:solidFill>
              </a:rPr>
              <a:t>, c</a:t>
            </a:r>
            <a:r>
              <a:rPr lang="en-IN" altLang="en-US" sz="2400" b="1" baseline="30000" dirty="0">
                <a:solidFill>
                  <a:srgbClr val="000000"/>
                </a:solidFill>
              </a:rPr>
              <a:t>3</a:t>
            </a:r>
            <a:r>
              <a:rPr lang="en-IN" altLang="en-US" sz="2400" b="1" dirty="0">
                <a:solidFill>
                  <a:srgbClr val="000000"/>
                </a:solidFill>
              </a:rPr>
              <a:t>, … c</a:t>
            </a:r>
            <a:r>
              <a:rPr lang="en-IN" altLang="en-US" sz="2400" b="1" baseline="30000" dirty="0">
                <a:solidFill>
                  <a:srgbClr val="000000"/>
                </a:solidFill>
              </a:rPr>
              <a:t>k</a:t>
            </a:r>
            <a:r>
              <a:rPr lang="en-IN" altLang="en-US" sz="2400" b="1" dirty="0">
                <a:solidFill>
                  <a:srgbClr val="000000"/>
                </a:solidFill>
              </a:rPr>
              <a:t>. If we put k equals to </a:t>
            </a:r>
            <a:r>
              <a:rPr lang="en-IN" altLang="en-US" sz="2400" b="1" dirty="0" err="1">
                <a:solidFill>
                  <a:srgbClr val="000000"/>
                </a:solidFill>
              </a:rPr>
              <a:t>Log</a:t>
            </a:r>
            <a:r>
              <a:rPr lang="en-IN" altLang="en-US" sz="2400" b="1" baseline="-25000" dirty="0" err="1">
                <a:solidFill>
                  <a:srgbClr val="000000"/>
                </a:solidFill>
              </a:rPr>
              <a:t>c</a:t>
            </a:r>
            <a:r>
              <a:rPr lang="en-IN" altLang="en-US" sz="2400" b="1" dirty="0" err="1">
                <a:solidFill>
                  <a:srgbClr val="000000"/>
                </a:solidFill>
              </a:rPr>
              <a:t>n</a:t>
            </a:r>
            <a:r>
              <a:rPr lang="en-IN" altLang="en-US" sz="2400" b="1" dirty="0">
                <a:solidFill>
                  <a:srgbClr val="000000"/>
                </a:solidFill>
              </a:rPr>
              <a:t>, </a:t>
            </a:r>
          </a:p>
          <a:p>
            <a:pPr eaLnBrk="1" hangingPunct="1">
              <a:defRPr/>
            </a:pPr>
            <a:r>
              <a:rPr lang="en-IN" altLang="en-US" sz="2400" b="1" dirty="0">
                <a:solidFill>
                  <a:srgbClr val="000000"/>
                </a:solidFill>
              </a:rPr>
              <a:t>we get </a:t>
            </a:r>
            <a:r>
              <a:rPr lang="en-IN" altLang="en-US" sz="2400" b="1" dirty="0" err="1">
                <a:solidFill>
                  <a:srgbClr val="000000"/>
                </a:solidFill>
              </a:rPr>
              <a:t>C</a:t>
            </a:r>
            <a:r>
              <a:rPr lang="en-IN" altLang="en-US" sz="2800" b="1" baseline="30000" dirty="0" err="1">
                <a:solidFill>
                  <a:srgbClr val="000000"/>
                </a:solidFill>
              </a:rPr>
              <a:t>Log</a:t>
            </a:r>
            <a:r>
              <a:rPr lang="en-IN" altLang="en-US" sz="2800" b="1" baseline="-25000" dirty="0" err="1">
                <a:solidFill>
                  <a:srgbClr val="000000"/>
                </a:solidFill>
              </a:rPr>
              <a:t>c</a:t>
            </a:r>
            <a:r>
              <a:rPr lang="en-IN" altLang="en-US" sz="2800" b="1" baseline="30000" dirty="0" err="1">
                <a:solidFill>
                  <a:srgbClr val="000000"/>
                </a:solidFill>
              </a:rPr>
              <a:t>n</a:t>
            </a:r>
            <a:r>
              <a:rPr lang="en-IN" altLang="en-US" sz="2400" b="1" baseline="30000" dirty="0">
                <a:solidFill>
                  <a:srgbClr val="000000"/>
                </a:solidFill>
              </a:rPr>
              <a:t> </a:t>
            </a:r>
            <a:r>
              <a:rPr lang="en-IN" altLang="en-US" sz="2400" b="1" dirty="0">
                <a:solidFill>
                  <a:srgbClr val="000000"/>
                </a:solidFill>
              </a:rPr>
              <a:t>which is n.</a:t>
            </a:r>
            <a:endParaRPr lang="en-IN" altLang="en-US" sz="2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D3B145-3855-6D4E-360F-0AC13105BD88}"/>
              </a:ext>
            </a:extLst>
          </p:cNvPr>
          <p:cNvSpPr/>
          <p:nvPr/>
        </p:nvSpPr>
        <p:spPr>
          <a:xfrm>
            <a:off x="182034" y="3147485"/>
            <a:ext cx="5084233" cy="830997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 eaLnBrk="1" hangingPunct="1">
              <a:defRPr/>
            </a:pPr>
            <a:r>
              <a:rPr lang="en-IN" altLang="en-US" sz="2400" b="1" dirty="0"/>
              <a:t>For example Binary Search has O(</a:t>
            </a:r>
            <a:r>
              <a:rPr lang="en-IN" altLang="en-US" sz="2400" b="1" dirty="0" err="1"/>
              <a:t>logn</a:t>
            </a:r>
            <a:r>
              <a:rPr lang="en-IN" altLang="en-US" sz="2400" b="1" dirty="0"/>
              <a:t>) time complexity.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C53C35-621B-CD3A-59CA-2D20D0020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967" y="3886201"/>
            <a:ext cx="614256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The basic idea here is NOT using the complete data, and reducing the problem size with every iteration</a:t>
            </a:r>
            <a:endParaRPr lang="en-I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8089D38-5673-ECE9-699D-31C1A5FBB4EB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alt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O(log </a:t>
            </a:r>
            <a:r>
              <a:rPr lang="en-US" alt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alt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n) Time Complexity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20485" name="Content Placeholder 5">
            <a:extLst>
              <a:ext uri="{FF2B5EF4-FFF2-40B4-BE49-F238E27FC236}">
                <a16:creationId xmlns:a16="http://schemas.microsoft.com/office/drawing/2014/main" id="{F5A9A2E8-2320-AA3C-89B4-E0596EB1C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67" y="969433"/>
            <a:ext cx="11918951" cy="1143000"/>
          </a:xfrm>
        </p:spPr>
        <p:txBody>
          <a:bodyPr/>
          <a:lstStyle/>
          <a:p>
            <a:pPr algn="just" eaLnBrk="1" hangingPunct="1"/>
            <a:r>
              <a:rPr lang="en-US" altLang="en-US" b="1">
                <a:solidFill>
                  <a:srgbClr val="FF0000"/>
                </a:solidFill>
                <a:cs typeface="Arial" panose="020B0604020202020204" pitchFamily="34" charset="0"/>
              </a:rPr>
              <a:t>O(LogLogn)</a:t>
            </a:r>
            <a:r>
              <a:rPr lang="en-US" altLang="en-US" b="1">
                <a:solidFill>
                  <a:srgbClr val="000000"/>
                </a:solidFill>
                <a:cs typeface="Arial" panose="020B0604020202020204" pitchFamily="34" charset="0"/>
              </a:rPr>
              <a:t> if the loop variables is reduced exponentially by a constant amount.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  <a:p>
            <a:pPr eaLnBrk="1" hangingPunct="1"/>
            <a:endParaRPr lang="en-US" altLang="en-US"/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2FE46CFE-713A-78FE-DC15-3081FBAAE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85" y="2169585"/>
            <a:ext cx="10866967" cy="2965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667" b="1">
                <a:solidFill>
                  <a:srgbClr val="000000"/>
                </a:solidFill>
                <a:latin typeface="Consolas" panose="020B0609020204030204" pitchFamily="49" charset="0"/>
              </a:rPr>
              <a:t>// Here c is a constant greater than 1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667" b="1">
                <a:solidFill>
                  <a:srgbClr val="000000"/>
                </a:solidFill>
                <a:latin typeface="Consolas" panose="020B0609020204030204" pitchFamily="49" charset="0"/>
              </a:rPr>
              <a:t>for (int i = 2; i &lt;=n;i = pow(i, c))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667" b="1">
                <a:solidFill>
                  <a:srgbClr val="000000"/>
                </a:solidFill>
                <a:latin typeface="Consolas" panose="020B0609020204030204" pitchFamily="49" charset="0"/>
              </a:rPr>
              <a:t>{ // some O(1) expressions }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en-US" sz="2667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667" b="1">
                <a:solidFill>
                  <a:srgbClr val="000000"/>
                </a:solidFill>
                <a:latin typeface="Consolas" panose="020B0609020204030204" pitchFamily="49" charset="0"/>
              </a:rPr>
              <a:t>//Here fun is sqrt or cuberoot or any other constant root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667" b="1">
                <a:solidFill>
                  <a:srgbClr val="000000"/>
                </a:solidFill>
                <a:latin typeface="Consolas" panose="020B0609020204030204" pitchFamily="49" charset="0"/>
              </a:rPr>
              <a:t>for (int i = n; i &gt; 0; i = fun(i))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667" b="1">
                <a:solidFill>
                  <a:srgbClr val="000000"/>
                </a:solidFill>
                <a:latin typeface="Consolas" panose="020B0609020204030204" pitchFamily="49" charset="0"/>
              </a:rPr>
              <a:t>{ // some O(1) expressions }</a:t>
            </a:r>
            <a:r>
              <a:rPr lang="en-US" altLang="en-US" sz="2667" b="1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92FF62-3964-0656-82A5-CC73F7986C10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alt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O(log n) VS O(log </a:t>
            </a:r>
            <a:r>
              <a:rPr lang="en-US" alt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alt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n)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2AEBAD-1914-C322-DDD5-3A1EA5932D72}"/>
              </a:ext>
            </a:extLst>
          </p:cNvPr>
          <p:cNvSpPr/>
          <p:nvPr/>
        </p:nvSpPr>
        <p:spPr>
          <a:xfrm>
            <a:off x="179917" y="1801285"/>
            <a:ext cx="3310467" cy="4689489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65,536 / 2 = 32,768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32,768 / 2 = 16,384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16,384 / 2 = 8,192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8,192 / 2 = 4,096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4,096 / 2 = 2,048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2,048 / 2 = 1,024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1,024 / 2 = 512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512 / 2 = 256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256 / 2 = 128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128 / 2 = 64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64 / 2 = 32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32 / 2 = 16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16 / 2 = 8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8 / 2 = 4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4 / 2 = 2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2 / 2 =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C991A3-156A-3030-14B3-334B6D1CA45D}"/>
              </a:ext>
            </a:extLst>
          </p:cNvPr>
          <p:cNvSpPr/>
          <p:nvPr/>
        </p:nvSpPr>
        <p:spPr>
          <a:xfrm>
            <a:off x="0" y="952501"/>
            <a:ext cx="12024784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j-lt"/>
              </a:rPr>
              <a:t>For example, let's take the number 65,536. How many times do we have to divide this by 2 until we get down to 1?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517BDA-688C-8428-FB8E-1C2172BC2720}"/>
              </a:ext>
            </a:extLst>
          </p:cNvPr>
          <p:cNvSpPr/>
          <p:nvPr/>
        </p:nvSpPr>
        <p:spPr>
          <a:xfrm>
            <a:off x="2853267" y="1902885"/>
            <a:ext cx="9144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j-lt"/>
              </a:rPr>
              <a:t>This process takes 16 steps, and it's also the case that 65,536 = 2</a:t>
            </a:r>
            <a:r>
              <a:rPr lang="en-US" sz="2400" b="1" baseline="30000" dirty="0">
                <a:latin typeface="+mj-lt"/>
              </a:rPr>
              <a:t>16</a:t>
            </a:r>
            <a:r>
              <a:rPr lang="en-US" sz="2400" b="1" dirty="0">
                <a:latin typeface="+mj-lt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725172-4358-A3FA-BCBB-7D895AA0AE46}"/>
              </a:ext>
            </a:extLst>
          </p:cNvPr>
          <p:cNvSpPr/>
          <p:nvPr/>
        </p:nvSpPr>
        <p:spPr>
          <a:xfrm>
            <a:off x="2880784" y="2772834"/>
            <a:ext cx="89916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j-lt"/>
              </a:rPr>
              <a:t>But, if we take the square root at each level, we get</a:t>
            </a:r>
          </a:p>
          <a:p>
            <a:pPr eaLnBrk="1" hangingPunct="1">
              <a:defRPr/>
            </a:pPr>
            <a:endParaRPr lang="en-US" sz="2400" b="1" dirty="0">
              <a:latin typeface="+mj-lt"/>
            </a:endParaRPr>
          </a:p>
          <a:p>
            <a:pPr eaLnBrk="1" hangingPunct="1">
              <a:defRPr/>
            </a:pPr>
            <a:r>
              <a:rPr lang="en-US" sz="2400" b="1" dirty="0">
                <a:latin typeface="+mj-lt"/>
              </a:rPr>
              <a:t>√65,536 = 256</a:t>
            </a:r>
          </a:p>
          <a:p>
            <a:pPr eaLnBrk="1" hangingPunct="1">
              <a:defRPr/>
            </a:pPr>
            <a:r>
              <a:rPr lang="en-US" sz="2400" b="1" dirty="0">
                <a:latin typeface="+mj-lt"/>
              </a:rPr>
              <a:t>√256 = 16</a:t>
            </a:r>
          </a:p>
          <a:p>
            <a:pPr eaLnBrk="1" hangingPunct="1">
              <a:defRPr/>
            </a:pPr>
            <a:r>
              <a:rPr lang="en-US" sz="2400" b="1" dirty="0">
                <a:latin typeface="+mj-lt"/>
              </a:rPr>
              <a:t>√16 = 4</a:t>
            </a:r>
          </a:p>
          <a:p>
            <a:pPr eaLnBrk="1" hangingPunct="1">
              <a:defRPr/>
            </a:pPr>
            <a:r>
              <a:rPr lang="en-US" sz="2400" b="1" dirty="0">
                <a:latin typeface="+mj-lt"/>
              </a:rPr>
              <a:t>√4 =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F311A42-F6D9-BDAE-8DAA-764C5B714053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</a:rPr>
              <a:t>Common Time Complexities</a:t>
            </a:r>
          </a:p>
        </p:txBody>
      </p:sp>
      <p:sp>
        <p:nvSpPr>
          <p:cNvPr id="24581" name="Content Placeholder 5">
            <a:extLst>
              <a:ext uri="{FF2B5EF4-FFF2-40B4-BE49-F238E27FC236}">
                <a16:creationId xmlns:a16="http://schemas.microsoft.com/office/drawing/2014/main" id="{1F8A7F0E-612C-CA97-BB66-C0E7614BB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633" y="1011767"/>
            <a:ext cx="9408584" cy="2015067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IN" altLang="en-US" b="1"/>
              <a:t>O(n</a:t>
            </a:r>
            <a:r>
              <a:rPr lang="en-IN" altLang="en-US" b="1" baseline="30000"/>
              <a:t>3</a:t>
            </a:r>
            <a:r>
              <a:rPr lang="en-IN" altLang="en-US" b="1"/>
              <a:t>), O(n</a:t>
            </a:r>
            <a:r>
              <a:rPr lang="en-IN" altLang="en-US" b="1" baseline="30000"/>
              <a:t>4</a:t>
            </a:r>
            <a:r>
              <a:rPr lang="en-IN" altLang="en-US" b="1"/>
              <a:t>), O(n</a:t>
            </a:r>
            <a:r>
              <a:rPr lang="en-IN" altLang="en-US" b="1" baseline="30000"/>
              <a:t>5</a:t>
            </a:r>
            <a:r>
              <a:rPr lang="en-IN" altLang="en-US" b="1"/>
              <a:t>), etc. : </a:t>
            </a:r>
            <a:r>
              <a:rPr lang="en-IN" altLang="en-US" b="1" i="1">
                <a:solidFill>
                  <a:srgbClr val="FF0000"/>
                </a:solidFill>
              </a:rPr>
              <a:t>polynomial</a:t>
            </a:r>
            <a:r>
              <a:rPr lang="en-IN" altLang="en-US" b="1">
                <a:solidFill>
                  <a:srgbClr val="FF0000"/>
                </a:solidFill>
              </a:rPr>
              <a:t> complexity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IN" altLang="en-US" b="1"/>
              <a:t>O(2</a:t>
            </a:r>
            <a:r>
              <a:rPr lang="en-IN" altLang="en-US" b="1" baseline="30000"/>
              <a:t>n</a:t>
            </a:r>
            <a:r>
              <a:rPr lang="en-IN" altLang="en-US" b="1"/>
              <a:t>) : </a:t>
            </a:r>
            <a:r>
              <a:rPr lang="en-IN" altLang="en-US" b="1" i="1">
                <a:solidFill>
                  <a:srgbClr val="FF0000"/>
                </a:solidFill>
              </a:rPr>
              <a:t>exponential</a:t>
            </a:r>
            <a:r>
              <a:rPr lang="en-IN" altLang="en-US" b="1">
                <a:solidFill>
                  <a:srgbClr val="FF0000"/>
                </a:solidFill>
              </a:rPr>
              <a:t> complexity.</a:t>
            </a:r>
            <a:endParaRPr lang="en-IN" altLang="en-US">
              <a:solidFill>
                <a:srgbClr val="FF0000"/>
              </a:solidFill>
            </a:endParaRPr>
          </a:p>
          <a:p>
            <a:pPr eaLnBrk="1" hangingPunct="1"/>
            <a:endParaRPr lang="en-US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ADCDC0-B047-30EB-C86A-A614CFE5725F}"/>
              </a:ext>
            </a:extLst>
          </p:cNvPr>
          <p:cNvGraphicFramePr>
            <a:graphicFrameLocks noGrp="1"/>
          </p:cNvGraphicFramePr>
          <p:nvPr/>
        </p:nvGraphicFramePr>
        <p:xfrm>
          <a:off x="6650567" y="1932518"/>
          <a:ext cx="5215467" cy="16520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92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b="1" dirty="0">
                          <a:effectLst/>
                        </a:rPr>
                        <a:t>2</a:t>
                      </a:r>
                      <a:r>
                        <a:rPr lang="en-IN" sz="2800" b="1" baseline="30000" dirty="0">
                          <a:effectLst/>
                        </a:rPr>
                        <a:t>5</a:t>
                      </a:r>
                      <a:endParaRPr lang="en-IN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500" b="1">
                          <a:effectLst/>
                        </a:rPr>
                        <a:t>32</a:t>
                      </a:r>
                      <a:endParaRPr lang="en-IN" sz="25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b="1">
                          <a:effectLst/>
                        </a:rPr>
                        <a:t>2</a:t>
                      </a:r>
                      <a:r>
                        <a:rPr lang="en-IN" sz="2800" b="1" baseline="30000">
                          <a:effectLst/>
                        </a:rPr>
                        <a:t>10</a:t>
                      </a:r>
                      <a:endParaRPr lang="en-IN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500" b="1">
                          <a:effectLst/>
                        </a:rPr>
                        <a:t>1024</a:t>
                      </a:r>
                      <a:endParaRPr lang="en-IN" sz="25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b="1" dirty="0">
                          <a:effectLst/>
                        </a:rPr>
                        <a:t>2</a:t>
                      </a:r>
                      <a:r>
                        <a:rPr lang="en-IN" sz="2800" b="1" baseline="30000" dirty="0">
                          <a:effectLst/>
                        </a:rPr>
                        <a:t>100</a:t>
                      </a:r>
                      <a:endParaRPr lang="en-IN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r>
                        <a:rPr lang="en-IN" sz="2500" b="1" dirty="0">
                          <a:effectLst/>
                        </a:rPr>
                        <a:t>1.2676506002282E+30 </a:t>
                      </a:r>
                      <a:endParaRPr lang="en-IN" sz="2500" b="1" dirty="0"/>
                    </a:p>
                  </a:txBody>
                  <a:tcPr marL="68569" marR="6856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596" name="Rectangle 5">
            <a:extLst>
              <a:ext uri="{FF2B5EF4-FFF2-40B4-BE49-F238E27FC236}">
                <a16:creationId xmlns:a16="http://schemas.microsoft.com/office/drawing/2014/main" id="{718ED7CB-C80E-127C-53C7-2DB9C24B0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218" y="3037418"/>
            <a:ext cx="11730567" cy="1318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IN" altLang="en-US" sz="2800"/>
              <a:t>General ordering among functions.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IN" altLang="en-US" sz="2800" b="1"/>
              <a:t>O(1) &lt; O(logn) &lt; O( n) &lt; O( n log n) &lt; O(n*n) &lt; O(n*n*n) &lt; O(n</a:t>
            </a:r>
            <a:r>
              <a:rPr lang="en-IN" altLang="en-US" sz="2800" b="1" baseline="30000"/>
              <a:t>k</a:t>
            </a:r>
            <a:r>
              <a:rPr lang="en-IN" altLang="en-US" sz="2800" b="1"/>
              <a:t>)&lt; O(2</a:t>
            </a:r>
            <a:r>
              <a:rPr lang="en-IN" altLang="en-US" sz="2800" b="1" baseline="30000"/>
              <a:t>n</a:t>
            </a:r>
            <a:r>
              <a:rPr lang="en-IN" altLang="en-US" sz="2800" b="1"/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0EB81F-71FE-A179-98C4-D9FC25769C35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IN" altLang="en-US" sz="3200" b="1" dirty="0">
                <a:solidFill>
                  <a:schemeClr val="tx1"/>
                </a:solidFill>
              </a:rPr>
              <a:t>How to combine time complexities of consecutive loops?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26629" name="Content Placeholder 5">
            <a:extLst>
              <a:ext uri="{FF2B5EF4-FFF2-40B4-BE49-F238E27FC236}">
                <a16:creationId xmlns:a16="http://schemas.microsoft.com/office/drawing/2014/main" id="{F5F3CD7B-61C4-0463-DD8B-2C766A0C3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584" y="954618"/>
            <a:ext cx="11912600" cy="4525433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IN" altLang="en-US" sz="2667" b="1"/>
              <a:t>When there are consecutive loops, we calculate time complexity as sum of time complexities of individual loops.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for (int i = 1; i &lt;=m; i += c) 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{ // some O(1) expressions } 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for (int i = 1; i &lt;=n; i += c) 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{ // some O(1) expressions } </a:t>
            </a:r>
          </a:p>
          <a:p>
            <a:pPr algn="just" eaLnBrk="1" hangingPunct="1"/>
            <a:endParaRPr lang="en-US" altLang="en-US" sz="20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 eaLnBrk="1" hangingPunct="1"/>
            <a:r>
              <a:rPr lang="en-US" alt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Time complexity of above code is O(m) + O(n) which is O(m+n) </a:t>
            </a:r>
          </a:p>
          <a:p>
            <a:pPr algn="just" eaLnBrk="1" hangingPunct="1"/>
            <a:r>
              <a:rPr lang="en-US" alt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If m == n, the time complexity becomes O(2n) which is O(n).</a:t>
            </a:r>
            <a:r>
              <a:rPr lang="en-US" altLang="en-US" sz="2400" b="1"/>
              <a:t> </a:t>
            </a:r>
          </a:p>
          <a:p>
            <a:pPr eaLnBrk="1" hangingPunct="1"/>
            <a:endParaRPr lang="en-US" altLang="en-US" sz="20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B865C8-918F-4AB0-E94D-3B526F281333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altLang="en-US" sz="4000" b="1" dirty="0">
                <a:solidFill>
                  <a:schemeClr val="tx1"/>
                </a:solidFill>
                <a:cs typeface="Arial" panose="020B0604020202020204" pitchFamily="34" charset="0"/>
              </a:rPr>
              <a:t>O(1),O(n),</a:t>
            </a:r>
            <a:r>
              <a:rPr lang="en-US" sz="4000" b="1" dirty="0">
                <a:solidFill>
                  <a:schemeClr val="tx1"/>
                </a:solidFill>
                <a:cs typeface="Arial" panose="020B0604020202020204" pitchFamily="34" charset="0"/>
              </a:rPr>
              <a:t> O(N</a:t>
            </a:r>
            <a:r>
              <a:rPr lang="en-US" sz="4000" b="1" baseline="300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r>
              <a:rPr lang="en-US" sz="4000" b="1" dirty="0">
                <a:solidFill>
                  <a:schemeClr val="tx1"/>
                </a:solidFill>
                <a:cs typeface="Arial" panose="020B0604020202020204" pitchFamily="34" charset="0"/>
              </a:rPr>
              <a:t>) VS</a:t>
            </a:r>
            <a:r>
              <a:rPr lang="en-US" altLang="en-US" sz="4000" b="1" dirty="0">
                <a:solidFill>
                  <a:schemeClr val="tx1"/>
                </a:solidFill>
                <a:cs typeface="Arial" panose="020B0604020202020204" pitchFamily="34" charset="0"/>
              </a:rPr>
              <a:t> O(log n) time complexities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B8D5141D-6D1A-BA9F-457B-7FB7186629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184" y="922867"/>
            <a:ext cx="7357533" cy="5444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8B17BC-3477-A651-B087-FC2D4DD408A1}"/>
              </a:ext>
            </a:extLst>
          </p:cNvPr>
          <p:cNvGraphicFramePr>
            <a:graphicFrameLocks noGrp="1"/>
          </p:cNvGraphicFramePr>
          <p:nvPr/>
        </p:nvGraphicFramePr>
        <p:xfrm>
          <a:off x="220134" y="996951"/>
          <a:ext cx="11038417" cy="1905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6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4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3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1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14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n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log</a:t>
                      </a:r>
                      <a:r>
                        <a:rPr lang="en-IN" sz="2000" b="1" baseline="-25000" dirty="0">
                          <a:effectLst/>
                        </a:rPr>
                        <a:t>2</a:t>
                      </a:r>
                      <a:r>
                        <a:rPr lang="en-IN" sz="2000" b="1" dirty="0">
                          <a:effectLst/>
                        </a:rPr>
                        <a:t>n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n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nlog</a:t>
                      </a:r>
                      <a:r>
                        <a:rPr lang="en-IN" sz="2000" b="1" baseline="-25000">
                          <a:effectLst/>
                        </a:rPr>
                        <a:t>2</a:t>
                      </a:r>
                      <a:r>
                        <a:rPr lang="en-IN" sz="2000" b="1">
                          <a:effectLst/>
                        </a:rPr>
                        <a:t>n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n</a:t>
                      </a:r>
                      <a:r>
                        <a:rPr lang="en-IN" sz="2000" b="1" baseline="30000">
                          <a:effectLst/>
                        </a:rPr>
                        <a:t>2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n</a:t>
                      </a:r>
                      <a:r>
                        <a:rPr lang="en-IN" sz="2000" b="1" baseline="30000">
                          <a:effectLst/>
                        </a:rPr>
                        <a:t>3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IN" sz="2000" b="1" i="1" kern="1200" baseline="300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10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3.3 </a:t>
                      </a:r>
                      <a:r>
                        <a:rPr lang="en-IN" sz="2000" b="1" dirty="0" err="1">
                          <a:effectLst/>
                        </a:rPr>
                        <a:t>μs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10 μs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33 μs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100 μs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 ms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 ms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10</a:t>
                      </a:r>
                      <a:r>
                        <a:rPr lang="en-IN" sz="2000" b="1" baseline="30000">
                          <a:effectLst/>
                        </a:rPr>
                        <a:t>2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6.6 </a:t>
                      </a:r>
                      <a:r>
                        <a:rPr lang="en-IN" sz="2000" b="1" dirty="0" err="1">
                          <a:effectLst/>
                        </a:rPr>
                        <a:t>μs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100 </a:t>
                      </a:r>
                      <a:r>
                        <a:rPr lang="en-IN" sz="2000" b="1" dirty="0" err="1">
                          <a:effectLst/>
                        </a:rPr>
                        <a:t>μs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664 </a:t>
                      </a:r>
                      <a:r>
                        <a:rPr lang="en-IN" sz="2000" b="1" dirty="0" err="1">
                          <a:effectLst/>
                        </a:rPr>
                        <a:t>μs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10 ms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 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4×10</a:t>
                      </a:r>
                      <a:r>
                        <a:rPr lang="en-IN" sz="2000" b="1" baseline="30000">
                          <a:effectLst/>
                        </a:rPr>
                        <a:t>16</a:t>
                      </a:r>
                      <a:r>
                        <a:rPr lang="en-IN" sz="2000" b="1">
                          <a:effectLst/>
                        </a:rPr>
                        <a:t> years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10</a:t>
                      </a:r>
                      <a:r>
                        <a:rPr lang="en-IN" sz="2000" b="1" baseline="30000">
                          <a:effectLst/>
                        </a:rPr>
                        <a:t>4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13 μs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10 </a:t>
                      </a:r>
                      <a:r>
                        <a:rPr lang="en-IN" sz="2000" b="1" dirty="0" err="1">
                          <a:effectLst/>
                        </a:rPr>
                        <a:t>ms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133 </a:t>
                      </a:r>
                      <a:r>
                        <a:rPr lang="en-IN" sz="2000" b="1" dirty="0" err="1">
                          <a:effectLst/>
                        </a:rPr>
                        <a:t>ms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1.7 minutes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11.6 days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10</a:t>
                      </a:r>
                      <a:r>
                        <a:rPr lang="en-IN" sz="2000" b="1" baseline="30000" dirty="0">
                          <a:effectLst/>
                        </a:rPr>
                        <a:t>2997</a:t>
                      </a:r>
                      <a:r>
                        <a:rPr lang="en-IN" sz="2000" b="1" dirty="0">
                          <a:effectLst/>
                        </a:rPr>
                        <a:t> years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10</a:t>
                      </a:r>
                      <a:r>
                        <a:rPr lang="en-IN" sz="2000" b="1" baseline="30000">
                          <a:effectLst/>
                        </a:rPr>
                        <a:t>6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20 </a:t>
                      </a:r>
                      <a:r>
                        <a:rPr lang="en-IN" sz="2000" b="1" dirty="0" err="1">
                          <a:effectLst/>
                        </a:rPr>
                        <a:t>μs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 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20 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11.6 days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32000 years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10</a:t>
                      </a:r>
                      <a:r>
                        <a:rPr lang="en-IN" sz="2000" b="1" baseline="30000" dirty="0">
                          <a:effectLst/>
                        </a:rPr>
                        <a:t>300000 </a:t>
                      </a:r>
                      <a:r>
                        <a:rPr lang="en-IN" sz="2000" b="1" dirty="0">
                          <a:effectLst/>
                        </a:rPr>
                        <a:t>years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772" name="Rectangle 6">
            <a:extLst>
              <a:ext uri="{FF2B5EF4-FFF2-40B4-BE49-F238E27FC236}">
                <a16:creationId xmlns:a16="http://schemas.microsoft.com/office/drawing/2014/main" id="{8FD2436D-6674-EBEF-13B6-1D8943CCD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384" y="2808817"/>
            <a:ext cx="112754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*</a:t>
            </a:r>
            <a:r>
              <a:rPr lang="en-IN" altLang="en-US" sz="2000" b="1">
                <a:solidFill>
                  <a:srgbClr val="000000"/>
                </a:solidFill>
                <a:cs typeface="Times New Roman" panose="02020603050405020304" pitchFamily="18" charset="0"/>
              </a:rPr>
              <a:t>Assuming one million operations per second</a:t>
            </a:r>
            <a:endParaRPr lang="en-IN" altLang="en-US" sz="2000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D36AE-E7AC-2EA5-D7B1-749AB5561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734" y="3295651"/>
            <a:ext cx="7023100" cy="2074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IN" altLang="en-US" sz="2267" b="1">
                <a:solidFill>
                  <a:srgbClr val="FF0000"/>
                </a:solidFill>
                <a:cs typeface="Times New Roman" panose="02020603050405020304" pitchFamily="18" charset="0"/>
              </a:rPr>
              <a:t>Important points to note: </a:t>
            </a:r>
            <a:endParaRPr lang="en-IN" altLang="en-US" sz="2267" b="1">
              <a:solidFill>
                <a:srgbClr val="FF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SzPts val="1000"/>
              <a:buFont typeface="Wingdings" panose="05000000000000000000" pitchFamily="2" charset="2"/>
              <a:buChar char="§"/>
            </a:pP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O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(log</a:t>
            </a: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) excellent complexity.</a:t>
            </a:r>
            <a:endParaRPr lang="en-IN" altLang="en-US" sz="2267" b="1">
              <a:cs typeface="Calibri" panose="020F050202020403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SzPts val="1000"/>
              <a:buFont typeface="Wingdings" panose="05000000000000000000" pitchFamily="2" charset="2"/>
              <a:buChar char="§"/>
            </a:pP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O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log</a:t>
            </a: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) is pretty good: hard to complain about it.</a:t>
            </a:r>
            <a:endParaRPr lang="en-IN" altLang="en-US" sz="2267" b="1">
              <a:cs typeface="Calibri" panose="020F050202020403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SzPts val="1000"/>
              <a:buFont typeface="Wingdings" panose="05000000000000000000" pitchFamily="2" charset="2"/>
              <a:buChar char="§"/>
            </a:pP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O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IN" altLang="en-US" sz="2267" b="1" i="1" baseline="30000">
                <a:solidFill>
                  <a:srgbClr val="000000"/>
                </a:solidFill>
                <a:cs typeface="Times New Roman" panose="02020603050405020304" pitchFamily="18" charset="0"/>
              </a:rPr>
              <a:t>k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) could be bad, depending on </a:t>
            </a: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k</a:t>
            </a:r>
            <a:endParaRPr lang="en-IN" altLang="en-US" sz="2267" b="1">
              <a:cs typeface="Calibri" panose="020F050202020403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SzPts val="1000"/>
              <a:buFont typeface="Wingdings" panose="05000000000000000000" pitchFamily="2" charset="2"/>
              <a:buChar char="§"/>
            </a:pP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Ω(</a:t>
            </a: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k</a:t>
            </a:r>
            <a:r>
              <a:rPr lang="en-IN" altLang="en-US" sz="2267" b="1" i="1" baseline="3000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) is a disaster.</a:t>
            </a:r>
            <a:endParaRPr lang="en-IN" altLang="en-US" sz="2267" b="1"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B375E1-7142-1748-61E8-3F0C1D24A696}"/>
              </a:ext>
            </a:extLst>
          </p:cNvPr>
          <p:cNvSpPr/>
          <p:nvPr/>
        </p:nvSpPr>
        <p:spPr>
          <a:xfrm>
            <a:off x="95251" y="5509685"/>
            <a:ext cx="7122583" cy="12003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lIns="91440" tIns="45720" rIns="91440" bIns="45720">
            <a:spAutoFit/>
          </a:bodyPr>
          <a:lstStyle/>
          <a:p>
            <a:pPr algn="just">
              <a:defRPr/>
            </a:pPr>
            <a:r>
              <a:rPr lang="en-US" sz="2400" b="1" dirty="0">
                <a:solidFill>
                  <a:srgbClr val="000000"/>
                </a:solidFill>
              </a:rPr>
              <a:t>If you have an algorithm with a higher complexity than necessary, no amount of clever programming will make up for it</a:t>
            </a:r>
            <a:endParaRPr lang="en-IN" sz="24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63FB9B-8E47-23B9-9CFD-59DA87EA8EEB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endParaRPr lang="en-US" sz="40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pPr algn="ctr">
              <a:defRPr/>
            </a:pPr>
            <a:r>
              <a:rPr lang="en-US" sz="4000" b="1" dirty="0">
                <a:solidFill>
                  <a:srgbClr val="000000"/>
                </a:solidFill>
                <a:latin typeface="Helvetica" panose="020B0604020202020204" pitchFamily="34" charset="0"/>
              </a:rPr>
              <a:t>W</a:t>
            </a:r>
            <a:r>
              <a:rPr lang="en-US" sz="4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hy worry about Complexity? </a:t>
            </a:r>
            <a:br>
              <a:rPr lang="en-IN" sz="4000" b="1" dirty="0"/>
            </a:b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E60F74-CE97-ADB8-7748-FD92BC1543E4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IN" sz="4000" b="1" dirty="0">
                <a:solidFill>
                  <a:schemeClr val="tx1"/>
                </a:solidFill>
              </a:rPr>
              <a:t>QUIZ  (Time Complexity)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7413" name="Content Placeholder 5">
            <a:extLst>
              <a:ext uri="{FF2B5EF4-FFF2-40B4-BE49-F238E27FC236}">
                <a16:creationId xmlns:a16="http://schemas.microsoft.com/office/drawing/2014/main" id="{3DAF7517-9239-7F94-74E2-2D78A34EF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5" y="1498601"/>
            <a:ext cx="6656916" cy="4806951"/>
          </a:xfrm>
        </p:spPr>
        <p:txBody>
          <a:bodyPr>
            <a:normAutofit lnSpcReduction="10000"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 err="1"/>
              <a:t>int</a:t>
            </a:r>
            <a:r>
              <a:rPr lang="en-US" sz="2267" b="1" dirty="0"/>
              <a:t> x = 0, y = 0;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/>
              <a:t>for (</a:t>
            </a:r>
            <a:r>
              <a:rPr lang="en-US" sz="2267" b="1" dirty="0" err="1"/>
              <a:t>i</a:t>
            </a:r>
            <a:r>
              <a:rPr lang="en-US" sz="2267" b="1" dirty="0"/>
              <a:t> = 0; </a:t>
            </a:r>
            <a:r>
              <a:rPr lang="en-US" sz="2267" b="1" dirty="0" err="1"/>
              <a:t>i</a:t>
            </a:r>
            <a:r>
              <a:rPr lang="en-US" sz="2267" b="1" dirty="0"/>
              <a:t> &lt; N; </a:t>
            </a:r>
            <a:r>
              <a:rPr lang="en-US" sz="2267" b="1" dirty="0" err="1"/>
              <a:t>i</a:t>
            </a:r>
            <a:r>
              <a:rPr lang="en-US" sz="2267" b="1" dirty="0"/>
              <a:t>++) {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/>
              <a:t>    x = x + rand();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/>
              <a:t>}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/>
              <a:t>for (j = 0; j &lt; M; j++) {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/>
              <a:t>    y = y + rand();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/>
              <a:t>}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>
                <a:solidFill>
                  <a:srgbClr val="0070C0"/>
                </a:solidFill>
              </a:rPr>
              <a:t> Options: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267" b="1" dirty="0"/>
              <a:t>O(N * M) time, O(1) space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267" b="1" dirty="0"/>
              <a:t>O(N + M) time, O(N + M) space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267" b="1" dirty="0"/>
              <a:t>O(N + M) time, O(1) space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267" b="1" dirty="0"/>
              <a:t>O(N * M) time, O(N + M) space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2000" dirty="0"/>
          </a:p>
        </p:txBody>
      </p:sp>
      <p:sp>
        <p:nvSpPr>
          <p:cNvPr id="86017" name="Rectangle 1">
            <a:extLst>
              <a:ext uri="{FF2B5EF4-FFF2-40B4-BE49-F238E27FC236}">
                <a16:creationId xmlns:a16="http://schemas.microsoft.com/office/drawing/2014/main" id="{BABCE2C3-433A-5B64-DECB-D4894E87E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767" y="1867156"/>
            <a:ext cx="51054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70C0"/>
                </a:solidFill>
                <a:cs typeface="Times New Roman" panose="02020603050405020304" pitchFamily="18" charset="0"/>
              </a:rPr>
              <a:t>Output:</a:t>
            </a:r>
            <a:endParaRPr lang="en-US" altLang="en-US" sz="2800" b="1">
              <a:solidFill>
                <a:srgbClr val="0070C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3. O(N + M) time, O(1) space</a:t>
            </a:r>
            <a:endParaRPr lang="en-US" altLang="en-US" sz="2800"/>
          </a:p>
        </p:txBody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D842E923-4064-648D-9834-0807693CA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1" y="1035051"/>
            <a:ext cx="11087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70C0"/>
                </a:solidFill>
                <a:latin typeface="Arial" panose="020B0604020202020204" pitchFamily="34" charset="0"/>
              </a:rPr>
              <a:t>What is the time, space complexity of following code: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A4FFB2-9DE1-32E2-7B62-3F4F37586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900" y="2982384"/>
            <a:ext cx="68326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The first loop is O(N) and the second loop is O(M). Since we don’t know which is bigger, we say this is O(N + M). This can also be written as O(max(N, M)).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en-US" sz="2000" b="1">
                <a:latin typeface="Arial" panose="020B0604020202020204" pitchFamily="34" charset="0"/>
              </a:rPr>
            </a:br>
            <a:r>
              <a:rPr lang="en-US" altLang="en-US" sz="2000" b="1">
                <a:latin typeface="Arial" panose="020B0604020202020204" pitchFamily="34" charset="0"/>
              </a:rPr>
              <a:t>Since there is no additional space being utilized, the space complexity is constant / O(1)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7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B29169-3688-1832-F58D-05C4F8B6889F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IN" sz="4000" b="1" dirty="0">
                <a:solidFill>
                  <a:schemeClr val="tx1"/>
                </a:solidFill>
              </a:rPr>
              <a:t>QUIZ  (Time Complexity)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244E3-AD5B-BECA-331E-B4EE0CE1F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4" y="1498601"/>
            <a:ext cx="6237816" cy="4806951"/>
          </a:xfrm>
        </p:spPr>
        <p:txBody>
          <a:bodyPr>
            <a:normAutofit lnSpcReduction="10000"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 err="1"/>
              <a:t>int</a:t>
            </a:r>
            <a:r>
              <a:rPr lang="en-US" b="1" dirty="0"/>
              <a:t> c = 0;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for (x = 0; x &lt; N; </a:t>
            </a:r>
            <a:r>
              <a:rPr lang="en-US" b="1" dirty="0" err="1"/>
              <a:t>i</a:t>
            </a:r>
            <a:r>
              <a:rPr lang="en-US" b="1" dirty="0"/>
              <a:t>++) {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    for (y = N; y &gt; x; y--) {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        c = c + x + y;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    }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} 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O(N)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O(N*log(N))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O(N * </a:t>
            </a:r>
            <a:r>
              <a:rPr lang="en-US" sz="2400" b="1" dirty="0" err="1"/>
              <a:t>Sqrt</a:t>
            </a:r>
            <a:r>
              <a:rPr lang="en-US" sz="2400" b="1" dirty="0"/>
              <a:t>(N))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O(N*N)</a:t>
            </a:r>
          </a:p>
          <a:p>
            <a:pPr eaLnBrk="1" hangingPunct="1">
              <a:defRPr/>
            </a:pPr>
            <a:endParaRPr lang="en-US" sz="2000" dirty="0"/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2000" dirty="0"/>
          </a:p>
        </p:txBody>
      </p:sp>
      <p:sp>
        <p:nvSpPr>
          <p:cNvPr id="86017" name="Rectangle 1">
            <a:extLst>
              <a:ext uri="{FF2B5EF4-FFF2-40B4-BE49-F238E27FC236}">
                <a16:creationId xmlns:a16="http://schemas.microsoft.com/office/drawing/2014/main" id="{A9C88020-B837-0ABD-907E-2140C5F6B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473474"/>
            <a:ext cx="66548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ctr">
            <a:spAutoFit/>
          </a:bodyPr>
          <a:lstStyle/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800" b="1" dirty="0">
                <a:solidFill>
                  <a:srgbClr val="0070C0"/>
                </a:solidFill>
                <a:latin typeface="+mj-lt"/>
                <a:ea typeface="Times New Roman" pitchFamily="18" charset="0"/>
                <a:cs typeface="Times New Roman" pitchFamily="18" charset="0"/>
              </a:rPr>
              <a:t>Output:</a:t>
            </a:r>
          </a:p>
          <a:p>
            <a:pPr eaLnBrk="1" hangingPunct="1">
              <a:defRPr/>
            </a:pPr>
            <a:r>
              <a:rPr lang="en-US" sz="2800" dirty="0">
                <a:latin typeface="+mj-lt"/>
              </a:rPr>
              <a:t>4. O(N*N)</a:t>
            </a:r>
          </a:p>
          <a:p>
            <a:pPr eaLnBrk="1" hangingPunct="1">
              <a:defRPr/>
            </a:pPr>
            <a:r>
              <a:rPr lang="en-US" sz="2800" b="1" dirty="0">
                <a:latin typeface="+mj-lt"/>
              </a:rPr>
              <a:t> </a:t>
            </a:r>
            <a:endParaRPr lang="en-US" sz="2800" dirty="0">
              <a:latin typeface="+mj-lt"/>
            </a:endParaRPr>
          </a:p>
          <a:p>
            <a:pPr eaLnBrk="1" hangingPunct="1">
              <a:defRPr/>
            </a:pPr>
            <a:r>
              <a:rPr lang="en-US" sz="2800" b="1" dirty="0"/>
              <a:t>Explanation:</a:t>
            </a:r>
            <a:br>
              <a:rPr lang="en-US" sz="2800" dirty="0"/>
            </a:br>
            <a:r>
              <a:rPr lang="en-US" sz="2800" dirty="0"/>
              <a:t>The above code runs total no of times</a:t>
            </a:r>
            <a:br>
              <a:rPr lang="en-US" sz="2800" dirty="0"/>
            </a:br>
            <a:r>
              <a:rPr lang="en-US" sz="2800" dirty="0"/>
              <a:t>= N + (N – 1) + (N – 2) + … 1 + 0</a:t>
            </a:r>
            <a:br>
              <a:rPr lang="en-US" sz="2800" dirty="0"/>
            </a:br>
            <a:r>
              <a:rPr lang="en-US" sz="2800" dirty="0"/>
              <a:t>= N * (N + 1) / 2</a:t>
            </a:r>
            <a:br>
              <a:rPr lang="en-US" sz="2800" dirty="0"/>
            </a:br>
            <a:r>
              <a:rPr lang="en-US" sz="2800" dirty="0"/>
              <a:t>= 1/2 * N^2 + 1/2 * N</a:t>
            </a:r>
            <a:br>
              <a:rPr lang="en-US" sz="2800" dirty="0"/>
            </a:br>
            <a:r>
              <a:rPr lang="en-US" sz="2800" dirty="0"/>
              <a:t>O(N^2) times.</a:t>
            </a:r>
            <a:endParaRPr lang="en-US" sz="2800" b="1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B4F8F874-8EA5-3F60-3913-F91C63377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1" y="933451"/>
            <a:ext cx="11087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70C0"/>
                </a:solidFill>
                <a:latin typeface="Arial" panose="020B0604020202020204" pitchFamily="34" charset="0"/>
              </a:rPr>
              <a:t>What is the time complexity of following code: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60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60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6D02FAC-10EE-D8BF-6EC2-F75429894F44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IN" sz="4000" b="1" dirty="0">
                <a:solidFill>
                  <a:schemeClr val="tx1"/>
                </a:solidFill>
              </a:rPr>
              <a:t>QUIZ  (Time Complexity)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D106B4-1263-325E-0734-41ADABD1A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085" y="2051052"/>
            <a:ext cx="6656916" cy="2152649"/>
          </a:xfrm>
        </p:spPr>
        <p:txBody>
          <a:bodyPr>
            <a:normAutofit fontScale="92500"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</a:rPr>
              <a:t>Options:</a:t>
            </a:r>
            <a:endParaRPr lang="en-US" sz="2400" dirty="0">
              <a:solidFill>
                <a:srgbClr val="0070C0"/>
              </a:solidFill>
            </a:endParaRP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A will always be a better choice for small inputs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A will always be a better choice for large inputs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B will always be a better choice for small inputs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B will always be a better choice for all inputs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2000" dirty="0"/>
          </a:p>
        </p:txBody>
      </p:sp>
      <p:sp>
        <p:nvSpPr>
          <p:cNvPr id="86017" name="Rectangle 1">
            <a:extLst>
              <a:ext uri="{FF2B5EF4-FFF2-40B4-BE49-F238E27FC236}">
                <a16:creationId xmlns:a16="http://schemas.microsoft.com/office/drawing/2014/main" id="{8F8BD4D7-08E1-F2B8-68FC-FA31924AF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1" y="4585154"/>
            <a:ext cx="79629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ctr">
            <a:spAutoFit/>
          </a:bodyPr>
          <a:lstStyle/>
          <a:p>
            <a:pPr algn="just" eaLnBrk="1" hangingPunct="1">
              <a:defRPr/>
            </a:pPr>
            <a:r>
              <a:rPr lang="en-US" sz="2400" b="1" dirty="0">
                <a:solidFill>
                  <a:srgbClr val="0070C0"/>
                </a:solidFill>
                <a:latin typeface="+mj-lt"/>
              </a:rPr>
              <a:t>Explanation:</a:t>
            </a:r>
            <a:r>
              <a:rPr lang="en-US" sz="2400" b="1" dirty="0">
                <a:latin typeface="+mj-lt"/>
              </a:rPr>
              <a:t> In asymptotic analysis we consider growth of algorithm in terms of input size. An algorithm A is said to be asymptotically better than B if A takes smaller time than B for all input sizes n larger than a value n0 where n0 &gt; 0.</a:t>
            </a:r>
            <a:endParaRPr lang="en-US" sz="2400" b="1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5A3AF7A7-4A5D-C8CA-0743-8A1FEB666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1" y="1035052"/>
            <a:ext cx="118745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What does it mean when we say that an algorithm A is asymptotically more efficient than B?</a:t>
            </a:r>
            <a:endParaRPr lang="en-US" altLang="en-US" b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7B5045-EACA-D7D8-2FDA-396F35DC907D}"/>
              </a:ext>
            </a:extLst>
          </p:cNvPr>
          <p:cNvSpPr/>
          <p:nvPr/>
        </p:nvSpPr>
        <p:spPr>
          <a:xfrm>
            <a:off x="7442200" y="1771651"/>
            <a:ext cx="4572000" cy="1384995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800" b="1" dirty="0">
                <a:solidFill>
                  <a:srgbClr val="0070C0"/>
                </a:solidFill>
                <a:latin typeface="+mj-lt"/>
                <a:ea typeface="Times New Roman" pitchFamily="18" charset="0"/>
                <a:cs typeface="Times New Roman" pitchFamily="18" charset="0"/>
              </a:rPr>
              <a:t>Output:</a:t>
            </a:r>
          </a:p>
          <a:p>
            <a:pPr eaLnBrk="1" hangingPunct="1">
              <a:defRPr/>
            </a:pPr>
            <a:r>
              <a:rPr lang="en-US" sz="2800" b="1" dirty="0">
                <a:latin typeface="+mj-lt"/>
              </a:rPr>
              <a:t>2. A will always be a better choice for large inputs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FCE3BF1-7BA6-C885-D550-5D273A29961A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IN" sz="4000" b="1" dirty="0">
                <a:solidFill>
                  <a:schemeClr val="tx1"/>
                </a:solidFill>
              </a:rPr>
              <a:t>QUIZ  (Time Complexity)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2296D-2591-5922-27CC-3867A8A7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5" y="1625600"/>
            <a:ext cx="4828116" cy="469900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 err="1"/>
              <a:t>int</a:t>
            </a:r>
            <a:r>
              <a:rPr lang="en-US" b="1" dirty="0"/>
              <a:t> a = 0, </a:t>
            </a:r>
            <a:r>
              <a:rPr lang="en-US" b="1" dirty="0" err="1"/>
              <a:t>i</a:t>
            </a:r>
            <a:r>
              <a:rPr lang="en-US" b="1" dirty="0"/>
              <a:t> = N; </a:t>
            </a:r>
            <a:endParaRPr lang="en-US" dirty="0"/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while (</a:t>
            </a:r>
            <a:r>
              <a:rPr lang="en-US" b="1" dirty="0" err="1"/>
              <a:t>i</a:t>
            </a:r>
            <a:r>
              <a:rPr lang="en-US" b="1" dirty="0"/>
              <a:t> &gt; 0) { </a:t>
            </a:r>
            <a:endParaRPr lang="en-US" dirty="0"/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    a += </a:t>
            </a:r>
            <a:r>
              <a:rPr lang="en-US" b="1" dirty="0" err="1"/>
              <a:t>i</a:t>
            </a:r>
            <a:r>
              <a:rPr lang="en-US" b="1" dirty="0"/>
              <a:t>; </a:t>
            </a:r>
            <a:endParaRPr lang="en-US" dirty="0"/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    </a:t>
            </a:r>
            <a:r>
              <a:rPr lang="en-US" b="1" dirty="0" err="1"/>
              <a:t>i</a:t>
            </a:r>
            <a:r>
              <a:rPr lang="en-US" b="1" dirty="0"/>
              <a:t> /= 2; </a:t>
            </a:r>
            <a:endParaRPr lang="en-US" dirty="0"/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}</a:t>
            </a:r>
            <a:r>
              <a:rPr lang="en-US" dirty="0"/>
              <a:t>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/>
              <a:t>Options: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O(N)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</a:t>
            </a:r>
            <a:r>
              <a:rPr lang="en-US" sz="2400" b="1" dirty="0" err="1"/>
              <a:t>Sqrt</a:t>
            </a:r>
            <a:r>
              <a:rPr lang="en-US" sz="2400" b="1" dirty="0"/>
              <a:t>(N))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O(N / 2)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O(log N)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86017" name="Rectangle 1">
            <a:extLst>
              <a:ext uri="{FF2B5EF4-FFF2-40B4-BE49-F238E27FC236}">
                <a16:creationId xmlns:a16="http://schemas.microsoft.com/office/drawing/2014/main" id="{BA3A959C-DE52-65BF-DC12-63C0BF495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00" y="1917518"/>
            <a:ext cx="69596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ctr">
            <a:spAutoFit/>
          </a:bodyPr>
          <a:lstStyle/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800" b="1" dirty="0">
                <a:solidFill>
                  <a:srgbClr val="0070C0"/>
                </a:solidFill>
                <a:latin typeface="+mj-lt"/>
                <a:ea typeface="Times New Roman" pitchFamily="18" charset="0"/>
                <a:cs typeface="Times New Roman" pitchFamily="18" charset="0"/>
              </a:rPr>
              <a:t>Output:</a:t>
            </a:r>
          </a:p>
          <a:p>
            <a:pPr eaLnBrk="1" hangingPunct="1">
              <a:defRPr/>
            </a:pPr>
            <a:r>
              <a:rPr lang="en-US" sz="2800" dirty="0">
                <a:latin typeface="+mj-lt"/>
              </a:rPr>
              <a:t>4. O(log N) </a:t>
            </a:r>
          </a:p>
          <a:p>
            <a:pPr eaLnBrk="1" hangingPunct="1">
              <a:defRPr/>
            </a:pPr>
            <a:endParaRPr lang="en-US" sz="2800" b="1" dirty="0">
              <a:latin typeface="+mj-lt"/>
            </a:endParaRPr>
          </a:p>
          <a:p>
            <a:pPr eaLnBrk="1" hangingPunct="1">
              <a:defRPr/>
            </a:pPr>
            <a:r>
              <a:rPr lang="en-US" sz="2800" b="1" dirty="0">
                <a:latin typeface="+mj-lt"/>
              </a:rPr>
              <a:t>Explanation:</a:t>
            </a:r>
            <a:r>
              <a:rPr lang="en-US" sz="2800" dirty="0">
                <a:latin typeface="+mj-lt"/>
              </a:rPr>
              <a:t> </a:t>
            </a:r>
          </a:p>
          <a:p>
            <a:pPr eaLnBrk="1" hangingPunct="1">
              <a:defRPr/>
            </a:pPr>
            <a:r>
              <a:rPr lang="en-US" sz="2800" dirty="0">
                <a:latin typeface="+mj-lt"/>
              </a:rPr>
              <a:t>We have to find the smallest x such that </a:t>
            </a:r>
          </a:p>
          <a:p>
            <a:pPr eaLnBrk="1" hangingPunct="1">
              <a:defRPr/>
            </a:pPr>
            <a:r>
              <a:rPr lang="en-US" sz="2800" dirty="0">
                <a:latin typeface="+mj-lt"/>
              </a:rPr>
              <a:t>N / 2^x 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x = log(N)</a:t>
            </a: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endParaRPr lang="en-US" sz="2800" b="1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2A9E5D-3DB8-EFCC-F54E-D22140B9E887}"/>
              </a:ext>
            </a:extLst>
          </p:cNvPr>
          <p:cNvSpPr/>
          <p:nvPr/>
        </p:nvSpPr>
        <p:spPr>
          <a:xfrm>
            <a:off x="165101" y="1035052"/>
            <a:ext cx="11087100" cy="584775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 eaLnBrk="1" hangingPunct="1">
              <a:defRPr/>
            </a:pPr>
            <a:r>
              <a:rPr lang="en-US" sz="3200" b="1" dirty="0"/>
              <a:t>What is the time complexity of following code: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2354</Words>
  <Application>Microsoft Office PowerPoint</Application>
  <PresentationFormat>Widescreen</PresentationFormat>
  <Paragraphs>297</Paragraphs>
  <Slides>22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shahjad israil</dc:creator>
  <cp:lastModifiedBy>shahjad israil</cp:lastModifiedBy>
  <cp:revision>2</cp:revision>
  <dcterms:created xsi:type="dcterms:W3CDTF">2025-12-18T10:27:05Z</dcterms:created>
  <dcterms:modified xsi:type="dcterms:W3CDTF">2026-01-16T07:06:35Z</dcterms:modified>
</cp:coreProperties>
</file>