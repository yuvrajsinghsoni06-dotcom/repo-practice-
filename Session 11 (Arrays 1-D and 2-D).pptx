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1011" r:id="rId2"/>
    <p:sldId id="993" r:id="rId3"/>
    <p:sldId id="1012" r:id="rId4"/>
    <p:sldId id="1013" r:id="rId5"/>
    <p:sldId id="691" r:id="rId6"/>
    <p:sldId id="1006" r:id="rId7"/>
    <p:sldId id="1007" r:id="rId8"/>
    <p:sldId id="693" r:id="rId9"/>
    <p:sldId id="1008" r:id="rId10"/>
    <p:sldId id="1009" r:id="rId11"/>
    <p:sldId id="1010" r:id="rId12"/>
    <p:sldId id="930" r:id="rId13"/>
    <p:sldId id="706" r:id="rId14"/>
    <p:sldId id="705" r:id="rId15"/>
    <p:sldId id="708" r:id="rId16"/>
    <p:sldId id="698" r:id="rId17"/>
    <p:sldId id="699" r:id="rId18"/>
    <p:sldId id="700" r:id="rId19"/>
    <p:sldId id="965" r:id="rId20"/>
    <p:sldId id="966" r:id="rId21"/>
    <p:sldId id="996" r:id="rId22"/>
    <p:sldId id="967" r:id="rId23"/>
    <p:sldId id="971" r:id="rId24"/>
    <p:sldId id="991" r:id="rId25"/>
    <p:sldId id="994" r:id="rId26"/>
    <p:sldId id="995" r:id="rId27"/>
    <p:sldId id="997" r:id="rId28"/>
    <p:sldId id="998" r:id="rId29"/>
    <p:sldId id="972" r:id="rId30"/>
    <p:sldId id="999" r:id="rId31"/>
    <p:sldId id="992" r:id="rId32"/>
    <p:sldId id="1000" r:id="rId33"/>
    <p:sldId id="1001" r:id="rId34"/>
    <p:sldId id="1002" r:id="rId35"/>
    <p:sldId id="1003" r:id="rId36"/>
    <p:sldId id="974" r:id="rId37"/>
    <p:sldId id="1004" r:id="rId38"/>
    <p:sldId id="982" r:id="rId39"/>
    <p:sldId id="983" r:id="rId40"/>
    <p:sldId id="986" r:id="rId41"/>
    <p:sldId id="990" r:id="rId42"/>
    <p:sldId id="984" r:id="rId43"/>
    <p:sldId id="989" r:id="rId44"/>
    <p:sldId id="1014" r:id="rId45"/>
    <p:sldId id="269" r:id="rId46"/>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1E24"/>
    <a:srgbClr val="4B0993"/>
    <a:srgbClr val="E83030"/>
    <a:srgbClr val="0060AA"/>
    <a:srgbClr val="0066B3"/>
    <a:srgbClr val="006C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854" autoAdjust="0"/>
    <p:restoredTop sz="93883" autoAdjust="0"/>
  </p:normalViewPr>
  <p:slideViewPr>
    <p:cSldViewPr>
      <p:cViewPr varScale="1">
        <p:scale>
          <a:sx n="69" d="100"/>
          <a:sy n="69" d="100"/>
        </p:scale>
        <p:origin x="968" y="56"/>
      </p:cViewPr>
      <p:guideLst>
        <p:guide orient="horz" pos="2160"/>
        <p:guide pos="2880"/>
      </p:guideLst>
    </p:cSldViewPr>
  </p:slideViewPr>
  <p:notesTextViewPr>
    <p:cViewPr>
      <p:scale>
        <a:sx n="300" d="100"/>
        <a:sy n="3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09-01-2026</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2363931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74DFB-3008-8543-633F-58A4FDCE5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5E617-873D-1C3C-F1FE-596A7096C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17E02-BCF9-92D4-5122-7BCC78C0136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DB01162-177B-B734-FFE6-17BCFEDA52EB}"/>
              </a:ext>
            </a:extLst>
          </p:cNvPr>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1416905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80562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3235542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5CAFD-7AFC-B031-1C9F-87DC155963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3ED7F3-529D-F429-596E-11852B2B5F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705CAF-6C0B-B3CF-08FF-F08AE9972012}"/>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B09A1FD-CFE0-C6C8-F091-DE52EDABB562}"/>
              </a:ext>
            </a:extLst>
          </p:cNvPr>
          <p:cNvSpPr>
            <a:spLocks noGrp="1"/>
          </p:cNvSpPr>
          <p:nvPr>
            <p:ph type="sldNum" sz="quarter" idx="5"/>
          </p:nvPr>
        </p:nvSpPr>
        <p:spPr/>
        <p:txBody>
          <a:bodyPr/>
          <a:lstStyle/>
          <a:p>
            <a:fld id="{DAB949B3-C4AB-4FB2-8B24-B07A558BD59F}" type="slidenum">
              <a:rPr lang="en-IN" smtClean="0"/>
              <a:t>6</a:t>
            </a:fld>
            <a:endParaRPr lang="en-IN"/>
          </a:p>
        </p:txBody>
      </p:sp>
    </p:spTree>
    <p:extLst>
      <p:ext uri="{BB962C8B-B14F-4D97-AF65-F5344CB8AC3E}">
        <p14:creationId xmlns:p14="http://schemas.microsoft.com/office/powerpoint/2010/main" val="16023096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06B6C-612C-A26F-96DD-4DC5E43BDD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6BC369-9572-1DF2-95B9-3D592F63E4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8026FD-E22B-06BA-E402-0405B60ED28C}"/>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4E08069A-329E-1933-52B4-A53CCC5CB203}"/>
              </a:ext>
            </a:extLst>
          </p:cNvPr>
          <p:cNvSpPr>
            <a:spLocks noGrp="1"/>
          </p:cNvSpPr>
          <p:nvPr>
            <p:ph type="sldNum" sz="quarter" idx="5"/>
          </p:nvPr>
        </p:nvSpPr>
        <p:spPr/>
        <p:txBody>
          <a:bodyPr/>
          <a:lstStyle/>
          <a:p>
            <a:fld id="{DAB949B3-C4AB-4FB2-8B24-B07A558BD59F}" type="slidenum">
              <a:rPr lang="en-IN" smtClean="0"/>
              <a:t>7</a:t>
            </a:fld>
            <a:endParaRPr lang="en-IN"/>
          </a:p>
        </p:txBody>
      </p:sp>
    </p:spTree>
    <p:extLst>
      <p:ext uri="{BB962C8B-B14F-4D97-AF65-F5344CB8AC3E}">
        <p14:creationId xmlns:p14="http://schemas.microsoft.com/office/powerpoint/2010/main" val="36587342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8</a:t>
            </a:fld>
            <a:endParaRPr lang="en-IN"/>
          </a:p>
        </p:txBody>
      </p:sp>
    </p:spTree>
    <p:extLst>
      <p:ext uri="{BB962C8B-B14F-4D97-AF65-F5344CB8AC3E}">
        <p14:creationId xmlns:p14="http://schemas.microsoft.com/office/powerpoint/2010/main" val="1060303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E13C6-6385-9460-CF6D-B1DA32947A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07E2A9-BF39-0DDC-8CB1-EBD022E112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7FBF18-A118-BBAF-0AB5-4A7B476C630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BD24258-6F9E-3A7B-DF04-00ED82532E9D}"/>
              </a:ext>
            </a:extLst>
          </p:cNvPr>
          <p:cNvSpPr>
            <a:spLocks noGrp="1"/>
          </p:cNvSpPr>
          <p:nvPr>
            <p:ph type="sldNum" sz="quarter" idx="5"/>
          </p:nvPr>
        </p:nvSpPr>
        <p:spPr/>
        <p:txBody>
          <a:bodyPr/>
          <a:lstStyle/>
          <a:p>
            <a:fld id="{DAB949B3-C4AB-4FB2-8B24-B07A558BD59F}" type="slidenum">
              <a:rPr lang="en-IN" smtClean="0"/>
              <a:t>9</a:t>
            </a:fld>
            <a:endParaRPr lang="en-IN"/>
          </a:p>
        </p:txBody>
      </p:sp>
    </p:spTree>
    <p:extLst>
      <p:ext uri="{BB962C8B-B14F-4D97-AF65-F5344CB8AC3E}">
        <p14:creationId xmlns:p14="http://schemas.microsoft.com/office/powerpoint/2010/main" val="22308507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4EA32-0B4F-D2E5-63BD-D44A0BA107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DCC1F-7023-39E7-7A5D-1E85FC2880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3C475-7DC9-DAF6-7F01-CE0D6A39AF26}"/>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0D864F55-A6C3-FE30-2B6C-589B60A821B1}"/>
              </a:ext>
            </a:extLst>
          </p:cNvPr>
          <p:cNvSpPr>
            <a:spLocks noGrp="1"/>
          </p:cNvSpPr>
          <p:nvPr>
            <p:ph type="sldNum" sz="quarter" idx="5"/>
          </p:nvPr>
        </p:nvSpPr>
        <p:spPr/>
        <p:txBody>
          <a:bodyPr/>
          <a:lstStyle/>
          <a:p>
            <a:fld id="{DAB949B3-C4AB-4FB2-8B24-B07A558BD59F}" type="slidenum">
              <a:rPr lang="en-IN" smtClean="0"/>
              <a:t>10</a:t>
            </a:fld>
            <a:endParaRPr lang="en-IN"/>
          </a:p>
        </p:txBody>
      </p:sp>
    </p:spTree>
    <p:extLst>
      <p:ext uri="{BB962C8B-B14F-4D97-AF65-F5344CB8AC3E}">
        <p14:creationId xmlns:p14="http://schemas.microsoft.com/office/powerpoint/2010/main" val="7931781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E67F5-E770-0369-CEAD-64587D46F1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405F7D-180B-79EA-1EED-E39FD8C8B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4FCFC9-24FD-73F4-DF85-10109382376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44A922C-E34C-080B-F0B6-893A929C276E}"/>
              </a:ext>
            </a:extLst>
          </p:cNvPr>
          <p:cNvSpPr>
            <a:spLocks noGrp="1"/>
          </p:cNvSpPr>
          <p:nvPr>
            <p:ph type="sldNum" sz="quarter" idx="5"/>
          </p:nvPr>
        </p:nvSpPr>
        <p:spPr/>
        <p:txBody>
          <a:bodyPr/>
          <a:lstStyle/>
          <a:p>
            <a:fld id="{DAB949B3-C4AB-4FB2-8B24-B07A558BD59F}" type="slidenum">
              <a:rPr lang="en-IN" smtClean="0"/>
              <a:t>11</a:t>
            </a:fld>
            <a:endParaRPr lang="en-IN"/>
          </a:p>
        </p:txBody>
      </p:sp>
    </p:spTree>
    <p:extLst>
      <p:ext uri="{BB962C8B-B14F-4D97-AF65-F5344CB8AC3E}">
        <p14:creationId xmlns:p14="http://schemas.microsoft.com/office/powerpoint/2010/main" val="24718378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12</a:t>
            </a:fld>
            <a:endParaRPr lang="en-IN"/>
          </a:p>
        </p:txBody>
      </p:sp>
    </p:spTree>
    <p:extLst>
      <p:ext uri="{BB962C8B-B14F-4D97-AF65-F5344CB8AC3E}">
        <p14:creationId xmlns:p14="http://schemas.microsoft.com/office/powerpoint/2010/main" val="12932922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8056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6723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721045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887195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912025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603682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312439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983510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9E780-D846-3C29-67B0-ECF7E0FD12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E93946-F737-458F-2E7C-055F3914FB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23AF14-A1E0-C8F8-B58B-6FF2B31D171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FC12C916-8D0E-DB86-945E-5A8121AA2E3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111762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424171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364118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369532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E49BC-B087-3A4B-BC2C-B3F48F8B3E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FBD07D-D0C6-D746-A28E-2235FBC2F6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E4E1A5-A25B-B55F-43B1-ED66DD557197}"/>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83E3CF-39C4-C055-9A6A-99EE8C0978A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696759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EDE32-8CB4-A309-6629-905382A3BF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FFAE92-FD14-5E3D-B573-7E0E92F174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555BF9-7369-A3F6-A398-E8C687490E3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8BC1F5E-E5CA-85D7-FCC5-F09A47B2E98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428497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ED689-373C-172A-768A-EEC11058AA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76E66F-3E83-3C52-3889-D614ADB811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865CCD-0468-640E-5450-3138E7D6548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4F43535-A0E7-8766-A8A7-FE2AB91F6EB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169189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59011-B132-EA76-87EA-2301B28F15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2BAE07-9393-B966-5152-D720CBD912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E1CA24-A088-20C2-A272-97C1F9193F60}"/>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4D3FC1A-8E59-6EC5-AB99-15538C66FE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38135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449279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27307-11BA-2C14-E063-2C13628628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12E23-BBDE-0300-A24C-117E77E878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BC6230-1B1F-D348-4CD1-07670B9351D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B9522B4-AFDF-0016-BFBF-92855C8F09D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582980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280969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C0E67-3390-F379-76C1-464C78F2D6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862151-D1CC-570E-0846-26A0E1C491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B76CEA-3166-CF30-F8DE-E1443CEB8EA2}"/>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3B3FF0CC-C84B-B501-56E2-FFE835694F9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587000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59DDE-08A6-16E9-5C51-18F43CF513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6174CF-A3CB-A4B4-BD0F-124EAA8944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D6C8C6-8A6F-73B0-988B-DAC3C8DDC31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F50E38D7-E835-DE18-F5BA-4733610B450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05756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BC2FE-ED65-FEC6-5059-DE74C42A51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B35B74-9BA3-F696-945C-02485FE691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4DDB47-DB84-594C-0D5E-3C0C1357033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B15D5C8-F881-600C-659D-BA725E0E3F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479008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AB163-8729-B7DA-C8A7-8E225FE63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2093A6-E8E9-CC07-4408-A1D1B9678B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161BE3-28F2-1741-9475-F89B4E7E90CC}"/>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FE1B493-B32D-0E03-4396-1F71C33ED19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569880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0646045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8D34D-346E-5DC6-22B0-7B1BD599AC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23F4A3-7ADF-8C86-023F-0FDF8E3F05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F1C149-B46E-D2C8-9580-C813559B97EF}"/>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1CBCFD8-FEC8-85DA-BFBB-0FF4DDA7105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079478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t>38</a:t>
            </a:fld>
            <a:endParaRPr lang="en-IN"/>
          </a:p>
        </p:txBody>
      </p:sp>
    </p:spTree>
    <p:extLst>
      <p:ext uri="{BB962C8B-B14F-4D97-AF65-F5344CB8AC3E}">
        <p14:creationId xmlns:p14="http://schemas.microsoft.com/office/powerpoint/2010/main" val="15876859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t>39</a:t>
            </a:fld>
            <a:endParaRPr lang="en-IN"/>
          </a:p>
        </p:txBody>
      </p:sp>
    </p:spTree>
    <p:extLst>
      <p:ext uri="{BB962C8B-B14F-4D97-AF65-F5344CB8AC3E}">
        <p14:creationId xmlns:p14="http://schemas.microsoft.com/office/powerpoint/2010/main" val="237940139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t>40</a:t>
            </a:fld>
            <a:endParaRPr lang="en-IN"/>
          </a:p>
        </p:txBody>
      </p:sp>
    </p:spTree>
    <p:extLst>
      <p:ext uri="{BB962C8B-B14F-4D97-AF65-F5344CB8AC3E}">
        <p14:creationId xmlns:p14="http://schemas.microsoft.com/office/powerpoint/2010/main" val="33814400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t>41</a:t>
            </a:fld>
            <a:endParaRPr lang="en-IN"/>
          </a:p>
        </p:txBody>
      </p:sp>
    </p:spTree>
    <p:extLst>
      <p:ext uri="{BB962C8B-B14F-4D97-AF65-F5344CB8AC3E}">
        <p14:creationId xmlns:p14="http://schemas.microsoft.com/office/powerpoint/2010/main" val="29989982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t>42</a:t>
            </a:fld>
            <a:endParaRPr lang="en-IN"/>
          </a:p>
        </p:txBody>
      </p:sp>
    </p:spTree>
    <p:extLst>
      <p:ext uri="{BB962C8B-B14F-4D97-AF65-F5344CB8AC3E}">
        <p14:creationId xmlns:p14="http://schemas.microsoft.com/office/powerpoint/2010/main" val="38642106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t>43</a:t>
            </a:fld>
            <a:endParaRPr lang="en-IN"/>
          </a:p>
        </p:txBody>
      </p:sp>
    </p:spTree>
    <p:extLst>
      <p:ext uri="{BB962C8B-B14F-4D97-AF65-F5344CB8AC3E}">
        <p14:creationId xmlns:p14="http://schemas.microsoft.com/office/powerpoint/2010/main" val="149885781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52238-09A6-8EB0-4295-5007DFCC4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880A71-06A5-D1F8-DA16-27247CBDC0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9DB18-C22C-0235-39B4-E26D3FB8C981}"/>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25C905F-3127-FA31-973F-892A372D9B36}"/>
              </a:ext>
            </a:extLst>
          </p:cNvPr>
          <p:cNvSpPr>
            <a:spLocks noGrp="1"/>
          </p:cNvSpPr>
          <p:nvPr>
            <p:ph type="sldNum" sz="quarter" idx="5"/>
          </p:nvPr>
        </p:nvSpPr>
        <p:spPr/>
        <p:txBody>
          <a:bodyPr/>
          <a:lstStyle/>
          <a:p>
            <a:fld id="{DAB949B3-C4AB-4FB2-8B24-B07A558BD59F}" type="slidenum">
              <a:rPr lang="en-IN" smtClean="0"/>
              <a:t>44</a:t>
            </a:fld>
            <a:endParaRPr lang="en-IN"/>
          </a:p>
        </p:txBody>
      </p:sp>
    </p:spTree>
    <p:extLst>
      <p:ext uri="{BB962C8B-B14F-4D97-AF65-F5344CB8AC3E}">
        <p14:creationId xmlns:p14="http://schemas.microsoft.com/office/powerpoint/2010/main" val="1279018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4224B7B-8CFF-4188-8E5F-458DAB1C0A4A}" type="datetime1">
              <a:rPr lang="en-IN" smtClean="0"/>
              <a:t>09-01-2026</a:t>
            </a:fld>
            <a:endParaRPr lang="en-IN"/>
          </a:p>
        </p:txBody>
      </p:sp>
      <p:sp>
        <p:nvSpPr>
          <p:cNvPr id="5" name="Footer Placeholder 4"/>
          <p:cNvSpPr>
            <a:spLocks noGrp="1"/>
          </p:cNvSpPr>
          <p:nvPr>
            <p:ph type="ftr" sz="quarter" idx="11"/>
          </p:nvPr>
        </p:nvSpPr>
        <p:spPr/>
        <p:txBody>
          <a:body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9A89787-5071-4C5F-8398-907FFB8E997A}" type="datetime1">
              <a:rPr lang="en-IN" smtClean="0"/>
              <a:t>09-01-2026</a:t>
            </a:fld>
            <a:endParaRPr lang="en-IN"/>
          </a:p>
        </p:txBody>
      </p:sp>
      <p:sp>
        <p:nvSpPr>
          <p:cNvPr id="5" name="Footer Placeholder 4"/>
          <p:cNvSpPr>
            <a:spLocks noGrp="1"/>
          </p:cNvSpPr>
          <p:nvPr>
            <p:ph type="ftr" sz="quarter" idx="11"/>
          </p:nvPr>
        </p:nvSpPr>
        <p:spPr/>
        <p:txBody>
          <a:bodyPr/>
          <a:lstStyle>
            <a:lvl1pPr>
              <a:defRPr/>
            </a:lvl1p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9D4A38-ED53-47D7-AE4F-3A32E1D0B761}" type="datetime1">
              <a:rPr lang="en-IN" smtClean="0"/>
              <a:t>09-01-2026</a:t>
            </a:fld>
            <a:endParaRPr lang="en-IN"/>
          </a:p>
        </p:txBody>
      </p:sp>
      <p:sp>
        <p:nvSpPr>
          <p:cNvPr id="5" name="Footer Placeholder 4"/>
          <p:cNvSpPr>
            <a:spLocks noGrp="1"/>
          </p:cNvSpPr>
          <p:nvPr>
            <p:ph type="ftr" sz="quarter" idx="11"/>
          </p:nvPr>
        </p:nvSpPr>
        <p:spPr/>
        <p:txBody>
          <a:bodyPr/>
          <a:lstStyle>
            <a:lvl1pPr>
              <a:defRPr/>
            </a:lvl1p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50717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706C11A-2FA5-4339-92FF-90F24570CF34}" type="datetime1">
              <a:rPr lang="en-IN" smtClean="0"/>
              <a:t>09-01-2026</a:t>
            </a:fld>
            <a:endParaRPr lang="en-IN"/>
          </a:p>
        </p:txBody>
      </p:sp>
      <p:sp>
        <p:nvSpPr>
          <p:cNvPr id="6" name="Footer Placeholder 5"/>
          <p:cNvSpPr>
            <a:spLocks noGrp="1"/>
          </p:cNvSpPr>
          <p:nvPr>
            <p:ph type="ftr" sz="quarter" idx="11"/>
          </p:nvPr>
        </p:nvSpPr>
        <p:spPr/>
        <p:txBody>
          <a:bodyPr/>
          <a:lstStyle/>
          <a:p>
            <a:r>
              <a:rPr lang="en-IN" dirty="0"/>
              <a:t>Dr. Aarti</a:t>
            </a:r>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91185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2AD08AE-5CD2-4284-9AA6-E7789323D6D3}" type="datetime1">
              <a:rPr lang="en-IN" smtClean="0"/>
              <a:t>09-01-2026</a:t>
            </a:fld>
            <a:endParaRPr lang="en-IN"/>
          </a:p>
        </p:txBody>
      </p:sp>
      <p:sp>
        <p:nvSpPr>
          <p:cNvPr id="8" name="Footer Placeholder 7"/>
          <p:cNvSpPr>
            <a:spLocks noGrp="1"/>
          </p:cNvSpPr>
          <p:nvPr>
            <p:ph type="ftr" sz="quarter" idx="11"/>
          </p:nvPr>
        </p:nvSpPr>
        <p:spPr/>
        <p:txBody>
          <a:bodyPr/>
          <a:lstStyle/>
          <a:p>
            <a:r>
              <a:rPr lang="en-IN" dirty="0"/>
              <a:t>Dr. Aarti</a:t>
            </a:r>
          </a:p>
        </p:txBody>
      </p:sp>
      <p:sp>
        <p:nvSpPr>
          <p:cNvPr id="9" name="Slide Number Placeholder 8"/>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461301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A160620-BF48-47C8-866F-BD2B795F969B}" type="datetime1">
              <a:rPr lang="en-IN" smtClean="0"/>
              <a:t>09-01-2026</a:t>
            </a:fld>
            <a:endParaRPr lang="en-IN"/>
          </a:p>
        </p:txBody>
      </p:sp>
      <p:sp>
        <p:nvSpPr>
          <p:cNvPr id="4" name="Footer Placeholder 3"/>
          <p:cNvSpPr>
            <a:spLocks noGrp="1"/>
          </p:cNvSpPr>
          <p:nvPr>
            <p:ph type="ftr" sz="quarter" idx="11"/>
          </p:nvPr>
        </p:nvSpPr>
        <p:spPr/>
        <p:txBody>
          <a:bodyPr/>
          <a:lstStyle/>
          <a:p>
            <a:r>
              <a:rPr lang="en-IN" dirty="0"/>
              <a:t>Dr. Aarti</a:t>
            </a:r>
          </a:p>
        </p:txBody>
      </p:sp>
      <p:sp>
        <p:nvSpPr>
          <p:cNvPr id="5" name="Slide Number Placeholder 4"/>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85240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E5FF9E-CF26-418E-BB22-6940D96EF7E7}" type="datetime1">
              <a:rPr lang="en-IN" smtClean="0"/>
              <a:t>09-01-2026</a:t>
            </a:fld>
            <a:endParaRPr lang="en-IN"/>
          </a:p>
        </p:txBody>
      </p:sp>
      <p:sp>
        <p:nvSpPr>
          <p:cNvPr id="3" name="Footer Placeholder 2"/>
          <p:cNvSpPr>
            <a:spLocks noGrp="1"/>
          </p:cNvSpPr>
          <p:nvPr>
            <p:ph type="ftr" sz="quarter" idx="11"/>
          </p:nvPr>
        </p:nvSpPr>
        <p:spPr/>
        <p:txBody>
          <a:bodyPr/>
          <a:lstStyle/>
          <a:p>
            <a:r>
              <a:rPr lang="en-IN" dirty="0"/>
              <a:t>Dr. Aarti</a:t>
            </a:r>
          </a:p>
        </p:txBody>
      </p:sp>
      <p:sp>
        <p:nvSpPr>
          <p:cNvPr id="4" name="Slide Number Placeholder 3"/>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751787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04137F-4D77-446B-A870-1EF4F0733918}" type="datetime1">
              <a:rPr lang="en-IN" smtClean="0"/>
              <a:t>09-01-2026</a:t>
            </a:fld>
            <a:endParaRPr lang="en-IN"/>
          </a:p>
        </p:txBody>
      </p:sp>
      <p:sp>
        <p:nvSpPr>
          <p:cNvPr id="6" name="Footer Placeholder 5"/>
          <p:cNvSpPr>
            <a:spLocks noGrp="1"/>
          </p:cNvSpPr>
          <p:nvPr>
            <p:ph type="ftr" sz="quarter" idx="11"/>
          </p:nvPr>
        </p:nvSpPr>
        <p:spPr/>
        <p:txBody>
          <a:bodyPr/>
          <a:lstStyle/>
          <a:p>
            <a:r>
              <a:rPr lang="en-IN" dirty="0"/>
              <a:t>Dr. Aarti</a:t>
            </a:r>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29679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a:t>Click to edit Master title style</a:t>
            </a:r>
            <a:endParaRPr lang="en-IN"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3ADDEB-C1F3-42F3-BF41-A914899E02E7}" type="datetime1">
              <a:rPr lang="en-IN" smtClean="0"/>
              <a:t>09-01-2026</a:t>
            </a:fld>
            <a:endParaRPr lang="en-IN"/>
          </a:p>
        </p:txBody>
      </p:sp>
      <p:sp>
        <p:nvSpPr>
          <p:cNvPr id="6" name="Footer Placeholder 5"/>
          <p:cNvSpPr>
            <a:spLocks noGrp="1"/>
          </p:cNvSpPr>
          <p:nvPr>
            <p:ph type="ftr" sz="quarter" idx="11"/>
          </p:nvPr>
        </p:nvSpPr>
        <p:spPr/>
        <p:txBody>
          <a:bodyPr/>
          <a:lstStyle/>
          <a:p>
            <a:r>
              <a:rPr lang="en-IN" dirty="0"/>
              <a:t>Dr. Aarti</a:t>
            </a:r>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8684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4B51C25-DB47-428F-ABD3-694DD58C9503}" type="datetime1">
              <a:rPr lang="en-IN" smtClean="0"/>
              <a:t>09-01-2026</a:t>
            </a:fld>
            <a:endParaRPr lang="en-IN"/>
          </a:p>
        </p:txBody>
      </p:sp>
      <p:sp>
        <p:nvSpPr>
          <p:cNvPr id="5" name="Footer Placeholder 4"/>
          <p:cNvSpPr>
            <a:spLocks noGrp="1"/>
          </p:cNvSpPr>
          <p:nvPr>
            <p:ph type="ftr" sz="quarter" idx="11"/>
          </p:nvPr>
        </p:nvSpPr>
        <p:spPr/>
        <p:txBody>
          <a:body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2755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4195F40-14B5-4FF1-A15B-41C2F3868468}" type="datetime1">
              <a:rPr lang="en-IN" smtClean="0"/>
              <a:t>09-01-2026</a:t>
            </a:fld>
            <a:endParaRPr lang="en-IN"/>
          </a:p>
        </p:txBody>
      </p:sp>
      <p:sp>
        <p:nvSpPr>
          <p:cNvPr id="5" name="Footer Placeholder 4"/>
          <p:cNvSpPr>
            <a:spLocks noGrp="1"/>
          </p:cNvSpPr>
          <p:nvPr>
            <p:ph type="ftr" sz="quarter" idx="11"/>
          </p:nvPr>
        </p:nvSpPr>
        <p:spPr/>
        <p:txBody>
          <a:body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95389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2C24D9-24F3-417C-BC8F-BF4AA98118EF}" type="datetime1">
              <a:rPr lang="en-IN" smtClean="0"/>
              <a:t>09-01-2026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Dr. Aarti</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ocw.mit.edu/"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hyperlink" Target="https://www.tutorialspoint.com/data_structures_algorithms/array_data_structure.htm" TargetMode="External"/><Relationship Id="rId5" Type="http://schemas.openxmlformats.org/officeDocument/2006/relationships/hyperlink" Target="https://www.geeksforgeeks.org/array-data-structure/" TargetMode="Externa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0355-B08D-308D-DAFB-1DCEF1C1D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CE75B-70BC-32F0-9AE3-D3A4E8E6F86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0578983B-21DD-AA3A-59D7-A404EAAE16AD}"/>
              </a:ext>
            </a:extLst>
          </p:cNvPr>
          <p:cNvSpPr>
            <a:spLocks noGrp="1"/>
          </p:cNvSpPr>
          <p:nvPr>
            <p:ph type="subTitle" idx="1"/>
          </p:nvPr>
        </p:nvSpPr>
        <p:spPr/>
        <p:txBody>
          <a:bodyPr/>
          <a:lstStyle/>
          <a:p>
            <a:endParaRPr lang="en-IN"/>
          </a:p>
        </p:txBody>
      </p:sp>
      <p:pic>
        <p:nvPicPr>
          <p:cNvPr id="4" name="Content Placeholder 3">
            <a:extLst>
              <a:ext uri="{FF2B5EF4-FFF2-40B4-BE49-F238E27FC236}">
                <a16:creationId xmlns:a16="http://schemas.microsoft.com/office/drawing/2014/main" id="{5BD99E4B-F41D-043D-FE73-335D31AA23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5" name="Picture 4">
            <a:extLst>
              <a:ext uri="{FF2B5EF4-FFF2-40B4-BE49-F238E27FC236}">
                <a16:creationId xmlns:a16="http://schemas.microsoft.com/office/drawing/2014/main" id="{2FD873DE-D9DB-5423-6553-EECC3B910E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45952" y="480488"/>
            <a:ext cx="6172601" cy="888700"/>
          </a:xfrm>
          <a:prstGeom prst="rect">
            <a:avLst/>
          </a:prstGeom>
        </p:spPr>
      </p:pic>
      <p:sp>
        <p:nvSpPr>
          <p:cNvPr id="7" name="Rectangle 1">
            <a:extLst>
              <a:ext uri="{FF2B5EF4-FFF2-40B4-BE49-F238E27FC236}">
                <a16:creationId xmlns:a16="http://schemas.microsoft.com/office/drawing/2014/main" id="{707A6CE9-669B-DEE3-BF3E-8D5506EAE30B}"/>
              </a:ext>
            </a:extLst>
          </p:cNvPr>
          <p:cNvSpPr>
            <a:spLocks noChangeArrowheads="1"/>
          </p:cNvSpPr>
          <p:nvPr/>
        </p:nvSpPr>
        <p:spPr bwMode="auto">
          <a:xfrm>
            <a:off x="1505625" y="1636320"/>
            <a:ext cx="6372708" cy="1284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lnSpc>
                <a:spcPct val="150000"/>
              </a:lnSpc>
              <a:buSzPct val="25000"/>
            </a:pPr>
            <a:r>
              <a:rPr lang="en-US" sz="2800" b="1" kern="100" dirty="0">
                <a:latin typeface="Times New Roman" panose="02020603050405020304" pitchFamily="18" charset="0"/>
                <a:ea typeface="Times New Roman" panose="02020603050405020304" pitchFamily="18" charset="0"/>
                <a:cs typeface="Times New Roman" panose="02020603050405020304" pitchFamily="18" charset="0"/>
              </a:rPr>
              <a:t>Data Structures</a:t>
            </a:r>
          </a:p>
          <a:p>
            <a:pPr lvl="0" algn="ctr">
              <a:lnSpc>
                <a:spcPct val="150000"/>
              </a:lnSpc>
              <a:buSzPct val="25000"/>
            </a:pPr>
            <a:r>
              <a:rPr lang="en-US" sz="2800" b="1" kern="100" dirty="0">
                <a:solidFill>
                  <a:srgbClr val="FF0000"/>
                </a:solidFill>
                <a:latin typeface="Times New Roman" panose="02020603050405020304" pitchFamily="18" charset="0"/>
                <a:cs typeface="Times New Roman" panose="02020603050405020304" pitchFamily="18" charset="0"/>
                <a:sym typeface="Arial"/>
              </a:rPr>
              <a:t>ETCCDS202 </a:t>
            </a:r>
            <a:endParaRPr lang="en-IN" sz="2800" b="1" dirty="0">
              <a:solidFill>
                <a:srgbClr val="FF0000"/>
              </a:solidFill>
              <a:latin typeface="Times New Roman" panose="02020603050405020304" pitchFamily="18" charset="0"/>
              <a:cs typeface="Times New Roman" panose="02020603050405020304" pitchFamily="18" charset="0"/>
              <a:sym typeface="Arial"/>
            </a:endParaRPr>
          </a:p>
        </p:txBody>
      </p:sp>
      <p:sp>
        <p:nvSpPr>
          <p:cNvPr id="8" name="Rectangle 1">
            <a:extLst>
              <a:ext uri="{FF2B5EF4-FFF2-40B4-BE49-F238E27FC236}">
                <a16:creationId xmlns:a16="http://schemas.microsoft.com/office/drawing/2014/main" id="{A8034320-BE78-5A55-6F19-03B79C05C8A7}"/>
              </a:ext>
            </a:extLst>
          </p:cNvPr>
          <p:cNvSpPr>
            <a:spLocks noChangeArrowheads="1"/>
          </p:cNvSpPr>
          <p:nvPr/>
        </p:nvSpPr>
        <p:spPr bwMode="auto">
          <a:xfrm>
            <a:off x="1451619" y="4240831"/>
            <a:ext cx="6480720" cy="1054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Faculty</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School of Engineering &amp; Technology </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K.R. </a:t>
            </a:r>
            <a:r>
              <a:rPr lang="en-US" b="1" kern="100" dirty="0" err="1">
                <a:latin typeface="Sylfaen" panose="010A0502050306030303" pitchFamily="18" charset="0"/>
                <a:ea typeface="Times New Roman" panose="02020603050405020304" pitchFamily="18" charset="0"/>
                <a:cs typeface="Times New Roman" panose="02020603050405020304" pitchFamily="18" charset="0"/>
              </a:rPr>
              <a:t>Mangalam</a:t>
            </a:r>
            <a:r>
              <a:rPr lang="en-US" b="1" kern="100" dirty="0">
                <a:latin typeface="Sylfaen" panose="010A0502050306030303" pitchFamily="18" charset="0"/>
                <a:ea typeface="Times New Roman" panose="02020603050405020304" pitchFamily="18" charset="0"/>
                <a:cs typeface="Times New Roman" panose="02020603050405020304" pitchFamily="18" charset="0"/>
              </a:rPr>
              <a:t> University </a:t>
            </a:r>
            <a:endParaRPr lang="en-IN" b="1" dirty="0">
              <a:solidFill>
                <a:srgbClr val="E31E24"/>
              </a:solidFill>
              <a:latin typeface="Sylfaen" panose="010A0502050306030303" pitchFamily="18" charset="0"/>
              <a:cs typeface="Times New Roman" panose="02020603050405020304" pitchFamily="18" charset="0"/>
              <a:sym typeface="Arial"/>
            </a:endParaRPr>
          </a:p>
        </p:txBody>
      </p:sp>
      <p:sp>
        <p:nvSpPr>
          <p:cNvPr id="9" name="Rectangle 1">
            <a:extLst>
              <a:ext uri="{FF2B5EF4-FFF2-40B4-BE49-F238E27FC236}">
                <a16:creationId xmlns:a16="http://schemas.microsoft.com/office/drawing/2014/main" id="{80A128E3-2186-5C09-4DCD-7BC65272487A}"/>
              </a:ext>
            </a:extLst>
          </p:cNvPr>
          <p:cNvSpPr>
            <a:spLocks noChangeArrowheads="1"/>
          </p:cNvSpPr>
          <p:nvPr/>
        </p:nvSpPr>
        <p:spPr bwMode="auto">
          <a:xfrm>
            <a:off x="1371600" y="3429000"/>
            <a:ext cx="6372708"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buSzPct val="25000"/>
            </a:pPr>
            <a:r>
              <a:rPr lang="en-US" sz="2400" b="1" kern="100" dirty="0">
                <a:latin typeface="Times New Roman" panose="02020603050405020304" pitchFamily="18" charset="0"/>
                <a:cs typeface="Times New Roman" panose="02020603050405020304" pitchFamily="18" charset="0"/>
                <a:sym typeface="Arial"/>
              </a:rPr>
              <a:t>Dr. Aarti</a:t>
            </a:r>
            <a:endParaRPr lang="en-IN" sz="2400" b="1" dirty="0">
              <a:solidFill>
                <a:srgbClr val="E31E24"/>
              </a:solidFill>
              <a:latin typeface="Times New Roman" panose="02020603050405020304" pitchFamily="18" charset="0"/>
              <a:cs typeface="Times New Roman" panose="02020603050405020304" pitchFamily="18" charset="0"/>
              <a:sym typeface="Arial"/>
            </a:endParaRPr>
          </a:p>
        </p:txBody>
      </p:sp>
      <p:sp>
        <p:nvSpPr>
          <p:cNvPr id="10" name="TextBox 9">
            <a:extLst>
              <a:ext uri="{FF2B5EF4-FFF2-40B4-BE49-F238E27FC236}">
                <a16:creationId xmlns:a16="http://schemas.microsoft.com/office/drawing/2014/main" id="{F1D9C7E5-CE35-9355-4CD6-2B1E6EB9A5AA}"/>
              </a:ext>
            </a:extLst>
          </p:cNvPr>
          <p:cNvSpPr txBox="1"/>
          <p:nvPr/>
        </p:nvSpPr>
        <p:spPr>
          <a:xfrm>
            <a:off x="1178176" y="5615709"/>
            <a:ext cx="702760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Unit 2 : </a:t>
            </a:r>
            <a:r>
              <a:rPr lang="en-US" sz="2400" b="1" kern="100" dirty="0">
                <a:latin typeface="Times New Roman" panose="02020603050405020304" pitchFamily="18" charset="0"/>
                <a:cs typeface="Times New Roman" panose="02020603050405020304" pitchFamily="18" charset="0"/>
                <a:sym typeface="Arial"/>
              </a:rPr>
              <a:t>Linear Data Structures</a:t>
            </a:r>
            <a:endParaRPr lang="en-IN"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1646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sp>
        <p:nvSpPr>
          <p:cNvPr id="5" name="Rectangle 1"/>
          <p:cNvSpPr>
            <a:spLocks noChangeArrowheads="1"/>
          </p:cNvSpPr>
          <p:nvPr/>
        </p:nvSpPr>
        <p:spPr bwMode="auto">
          <a:xfrm>
            <a:off x="971600" y="321158"/>
            <a:ext cx="698781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latin typeface="Verdana" panose="020B0604030504040204" pitchFamily="34" charset="0"/>
                <a:cs typeface="Times New Roman" panose="02020603050405020304" pitchFamily="18" charset="0"/>
                <a:sym typeface="Arial"/>
              </a:rPr>
              <a:t>Unit-2 Linear Data Structures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829266"/>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4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just" fontAlgn="base">
              <a:lnSpc>
                <a:spcPct val="107000"/>
              </a:lnSpc>
              <a:spcBef>
                <a:spcPts val="0"/>
              </a:spcBef>
              <a:spcAft>
                <a:spcPts val="0"/>
              </a:spcAft>
            </a:pP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6" y="1213558"/>
            <a:ext cx="8352928" cy="461665"/>
          </a:xfrm>
          <a:prstGeom prst="rect">
            <a:avLst/>
          </a:prstGeom>
          <a:solidFill>
            <a:srgbClr val="FFFF00"/>
          </a:solidFill>
        </p:spPr>
        <p:txBody>
          <a:bodyPr wrap="square" rtlCol="0">
            <a:spAutoFit/>
          </a:bodyPr>
          <a:lstStyle/>
          <a:p>
            <a:r>
              <a:rPr lang="en-US" sz="2400" b="1" dirty="0"/>
              <a:t>SESSION 11	Arrays – 1D &amp; 2D</a:t>
            </a:r>
            <a:r>
              <a:rPr lang="en-US" sz="2400" b="1" dirty="0">
                <a:highlight>
                  <a:srgbClr val="FFFF00"/>
                </a:highlight>
              </a:rPr>
              <a:t>	</a:t>
            </a:r>
            <a:endParaRPr lang="en-IN" sz="2400" b="1" dirty="0">
              <a:highlight>
                <a:srgbClr val="FFFF00"/>
              </a:highlight>
            </a:endParaRPr>
          </a:p>
        </p:txBody>
      </p:sp>
      <p:sp>
        <p:nvSpPr>
          <p:cNvPr id="10" name="Slide Number Placeholder 9"/>
          <p:cNvSpPr>
            <a:spLocks noGrp="1"/>
          </p:cNvSpPr>
          <p:nvPr>
            <p:ph type="sldNum" sz="quarter" idx="12"/>
          </p:nvPr>
        </p:nvSpPr>
        <p:spPr/>
        <p:txBody>
          <a:bodyPr/>
          <a:lstStyle/>
          <a:p>
            <a:fld id="{C421C46D-3F04-4F73-BF36-E6D9DA5AE143}" type="slidenum">
              <a:rPr lang="en-IN" smtClean="0"/>
              <a:t>2</a:t>
            </a:fld>
            <a:endParaRPr lang="en-IN"/>
          </a:p>
        </p:txBody>
      </p:sp>
      <p:sp>
        <p:nvSpPr>
          <p:cNvPr id="11" name="TextBox 10"/>
          <p:cNvSpPr txBox="1"/>
          <p:nvPr/>
        </p:nvSpPr>
        <p:spPr>
          <a:xfrm>
            <a:off x="395536" y="1733775"/>
            <a:ext cx="8352928" cy="461665"/>
          </a:xfrm>
          <a:prstGeom prst="rect">
            <a:avLst/>
          </a:prstGeom>
          <a:noFill/>
        </p:spPr>
        <p:txBody>
          <a:bodyPr wrap="square" rtlCol="0">
            <a:spAutoFit/>
          </a:bodyPr>
          <a:lstStyle/>
          <a:p>
            <a:r>
              <a:rPr lang="en-US" sz="2400" b="1" dirty="0"/>
              <a:t>SESSION 12	Static &amp; Dynamic Arrays	</a:t>
            </a:r>
            <a:endParaRPr lang="en-IN" sz="2400" b="1" dirty="0"/>
          </a:p>
        </p:txBody>
      </p:sp>
      <p:sp>
        <p:nvSpPr>
          <p:cNvPr id="12" name="TextBox 11"/>
          <p:cNvSpPr txBox="1"/>
          <p:nvPr/>
        </p:nvSpPr>
        <p:spPr>
          <a:xfrm>
            <a:off x="403243" y="2249884"/>
            <a:ext cx="8352928" cy="461665"/>
          </a:xfrm>
          <a:prstGeom prst="rect">
            <a:avLst/>
          </a:prstGeom>
          <a:noFill/>
        </p:spPr>
        <p:txBody>
          <a:bodyPr wrap="square" rtlCol="0">
            <a:spAutoFit/>
          </a:bodyPr>
          <a:lstStyle/>
          <a:p>
            <a:r>
              <a:rPr lang="en-US" sz="2400" b="1" dirty="0"/>
              <a:t>SESSION 13	Linked Lists Types	</a:t>
            </a:r>
            <a:endParaRPr lang="en-IN" sz="2400" b="1" dirty="0"/>
          </a:p>
        </p:txBody>
      </p:sp>
      <p:sp>
        <p:nvSpPr>
          <p:cNvPr id="13" name="TextBox 12"/>
          <p:cNvSpPr txBox="1"/>
          <p:nvPr/>
        </p:nvSpPr>
        <p:spPr>
          <a:xfrm>
            <a:off x="421836" y="2811526"/>
            <a:ext cx="8352928" cy="461665"/>
          </a:xfrm>
          <a:prstGeom prst="rect">
            <a:avLst/>
          </a:prstGeom>
          <a:noFill/>
        </p:spPr>
        <p:txBody>
          <a:bodyPr wrap="square" rtlCol="0">
            <a:spAutoFit/>
          </a:bodyPr>
          <a:lstStyle/>
          <a:p>
            <a:r>
              <a:rPr lang="en-US" sz="2400" b="1" dirty="0"/>
              <a:t>SESSION 14	Linked List Operations	</a:t>
            </a:r>
            <a:endParaRPr lang="en-IN" sz="2400" b="1" dirty="0"/>
          </a:p>
        </p:txBody>
      </p:sp>
      <p:sp>
        <p:nvSpPr>
          <p:cNvPr id="14" name="TextBox 13"/>
          <p:cNvSpPr txBox="1"/>
          <p:nvPr/>
        </p:nvSpPr>
        <p:spPr>
          <a:xfrm>
            <a:off x="403378" y="3324993"/>
            <a:ext cx="8352928" cy="461665"/>
          </a:xfrm>
          <a:prstGeom prst="rect">
            <a:avLst/>
          </a:prstGeom>
          <a:noFill/>
        </p:spPr>
        <p:txBody>
          <a:bodyPr wrap="square" rtlCol="0">
            <a:spAutoFit/>
          </a:bodyPr>
          <a:lstStyle/>
          <a:p>
            <a:r>
              <a:rPr lang="en-US" sz="2400" b="1" dirty="0"/>
              <a:t>SESSION 15	Stack ADT &amp; Operations	</a:t>
            </a:r>
            <a:endParaRPr lang="en-IN" sz="2400" b="1" dirty="0"/>
          </a:p>
        </p:txBody>
      </p:sp>
      <p:sp>
        <p:nvSpPr>
          <p:cNvPr id="15" name="TextBox 14"/>
          <p:cNvSpPr txBox="1"/>
          <p:nvPr/>
        </p:nvSpPr>
        <p:spPr>
          <a:xfrm>
            <a:off x="407359" y="4262830"/>
            <a:ext cx="8352928" cy="461665"/>
          </a:xfrm>
          <a:prstGeom prst="rect">
            <a:avLst/>
          </a:prstGeom>
          <a:noFill/>
        </p:spPr>
        <p:txBody>
          <a:bodyPr wrap="square" rtlCol="0">
            <a:spAutoFit/>
          </a:bodyPr>
          <a:lstStyle/>
          <a:p>
            <a:r>
              <a:rPr lang="en-US" sz="2400" b="1" dirty="0"/>
              <a:t>SESSION 17	Queue ADT</a:t>
            </a:r>
          </a:p>
        </p:txBody>
      </p:sp>
      <p:sp>
        <p:nvSpPr>
          <p:cNvPr id="16" name="TextBox 15"/>
          <p:cNvSpPr txBox="1"/>
          <p:nvPr/>
        </p:nvSpPr>
        <p:spPr>
          <a:xfrm>
            <a:off x="421836" y="4776297"/>
            <a:ext cx="8352928" cy="461665"/>
          </a:xfrm>
          <a:prstGeom prst="rect">
            <a:avLst/>
          </a:prstGeom>
          <a:noFill/>
        </p:spPr>
        <p:txBody>
          <a:bodyPr wrap="square" rtlCol="0">
            <a:spAutoFit/>
          </a:bodyPr>
          <a:lstStyle/>
          <a:p>
            <a:r>
              <a:rPr lang="en-US" sz="2400" b="1" dirty="0"/>
              <a:t>SESSION 18	Queue Applications</a:t>
            </a:r>
            <a:endParaRPr lang="en-IN" sz="2400" b="1" dirty="0"/>
          </a:p>
        </p:txBody>
      </p:sp>
      <p:sp>
        <p:nvSpPr>
          <p:cNvPr id="18" name="TextBox 17"/>
          <p:cNvSpPr txBox="1"/>
          <p:nvPr/>
        </p:nvSpPr>
        <p:spPr>
          <a:xfrm>
            <a:off x="395536" y="3787886"/>
            <a:ext cx="8352928" cy="461665"/>
          </a:xfrm>
          <a:prstGeom prst="rect">
            <a:avLst/>
          </a:prstGeom>
          <a:noFill/>
        </p:spPr>
        <p:txBody>
          <a:bodyPr wrap="square" rtlCol="0">
            <a:spAutoFit/>
          </a:bodyPr>
          <a:lstStyle/>
          <a:p>
            <a:r>
              <a:rPr lang="en-US" sz="2400" b="1" dirty="0"/>
              <a:t>SESSION 16	 Stack Applications</a:t>
            </a:r>
          </a:p>
        </p:txBody>
      </p:sp>
      <p:sp>
        <p:nvSpPr>
          <p:cNvPr id="17" name="TextBox 16">
            <a:extLst>
              <a:ext uri="{FF2B5EF4-FFF2-40B4-BE49-F238E27FC236}">
                <a16:creationId xmlns:a16="http://schemas.microsoft.com/office/drawing/2014/main" id="{0E9AA04E-4CF0-1135-99A8-DFA66C9162E6}"/>
              </a:ext>
            </a:extLst>
          </p:cNvPr>
          <p:cNvSpPr txBox="1"/>
          <p:nvPr/>
        </p:nvSpPr>
        <p:spPr>
          <a:xfrm>
            <a:off x="414129" y="5270729"/>
            <a:ext cx="8352928" cy="461665"/>
          </a:xfrm>
          <a:prstGeom prst="rect">
            <a:avLst/>
          </a:prstGeom>
          <a:solidFill>
            <a:schemeClr val="bg1"/>
          </a:solidFill>
        </p:spPr>
        <p:txBody>
          <a:bodyPr wrap="square" rtlCol="0">
            <a:spAutoFit/>
          </a:bodyPr>
          <a:lstStyle/>
          <a:p>
            <a:r>
              <a:rPr lang="en-US" sz="2400" b="1" dirty="0"/>
              <a:t>SESSION 19	BFS using Queue</a:t>
            </a:r>
          </a:p>
        </p:txBody>
      </p:sp>
      <p:sp>
        <p:nvSpPr>
          <p:cNvPr id="19" name="TextBox 18">
            <a:extLst>
              <a:ext uri="{FF2B5EF4-FFF2-40B4-BE49-F238E27FC236}">
                <a16:creationId xmlns:a16="http://schemas.microsoft.com/office/drawing/2014/main" id="{285B26A0-3162-1565-E432-BE0EB2B54357}"/>
              </a:ext>
            </a:extLst>
          </p:cNvPr>
          <p:cNvSpPr txBox="1"/>
          <p:nvPr/>
        </p:nvSpPr>
        <p:spPr>
          <a:xfrm>
            <a:off x="421836" y="5786838"/>
            <a:ext cx="8352928" cy="461665"/>
          </a:xfrm>
          <a:prstGeom prst="rect">
            <a:avLst/>
          </a:prstGeom>
          <a:noFill/>
        </p:spPr>
        <p:txBody>
          <a:bodyPr wrap="square" rtlCol="0">
            <a:spAutoFit/>
          </a:bodyPr>
          <a:lstStyle/>
          <a:p>
            <a:r>
              <a:rPr lang="en-US" sz="2400" b="1" dirty="0"/>
              <a:t>SESSION 20	Revision (Unit–2)	</a:t>
            </a:r>
            <a:endParaRPr lang="en-IN" sz="2400" b="1" dirty="0"/>
          </a:p>
        </p:txBody>
      </p:sp>
    </p:spTree>
    <p:extLst>
      <p:ext uri="{BB962C8B-B14F-4D97-AF65-F5344CB8AC3E}">
        <p14:creationId xmlns:p14="http://schemas.microsoft.com/office/powerpoint/2010/main" val="1773646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9B22-9FA9-1FAA-D08D-F3C80309002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39E82FE-96D7-2529-7945-4ACABDB58E8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0"/>
            <a:ext cx="9144000" cy="6858000"/>
          </a:xfrm>
        </p:spPr>
      </p:pic>
      <p:pic>
        <p:nvPicPr>
          <p:cNvPr id="9" name="Picture 8">
            <a:extLst>
              <a:ext uri="{FF2B5EF4-FFF2-40B4-BE49-F238E27FC236}">
                <a16:creationId xmlns:a16="http://schemas.microsoft.com/office/drawing/2014/main" id="{BC685B53-95B0-E1DB-1C9C-F5456893FE5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8" y="6237312"/>
            <a:ext cx="3060242" cy="439910"/>
          </a:xfrm>
          <a:prstGeom prst="rect">
            <a:avLst/>
          </a:prstGeom>
        </p:spPr>
      </p:pic>
      <p:sp>
        <p:nvSpPr>
          <p:cNvPr id="6" name="TextBox 5">
            <a:extLst>
              <a:ext uri="{FF2B5EF4-FFF2-40B4-BE49-F238E27FC236}">
                <a16:creationId xmlns:a16="http://schemas.microsoft.com/office/drawing/2014/main" id="{8236DC02-599B-DF7E-0281-3D512FA448DC}"/>
              </a:ext>
            </a:extLst>
          </p:cNvPr>
          <p:cNvSpPr txBox="1"/>
          <p:nvPr/>
        </p:nvSpPr>
        <p:spPr>
          <a:xfrm>
            <a:off x="1277634" y="1827626"/>
            <a:ext cx="6588732" cy="302775"/>
          </a:xfrm>
          <a:prstGeom prst="rect">
            <a:avLst/>
          </a:prstGeom>
          <a:noFill/>
        </p:spPr>
        <p:txBody>
          <a:bodyPr wrap="square">
            <a:spAutoFit/>
          </a:bodyPr>
          <a:lstStyle/>
          <a:p>
            <a:pPr algn="just" fontAlgn="base">
              <a:lnSpc>
                <a:spcPct val="107000"/>
              </a:lnSpc>
            </a:pPr>
            <a:r>
              <a:rPr lang="en-US" sz="1350" kern="1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a:t>
            </a:r>
            <a:endParaRPr lang="en-US" sz="2100" kern="100" dirty="0">
              <a:latin typeface="+mj-lt"/>
              <a:ea typeface="Calibri" panose="020F0502020204030204" pitchFamily="34" charset="0"/>
              <a:cs typeface="Times New Roman" panose="02020603050405020304" pitchFamily="18" charset="0"/>
            </a:endParaRPr>
          </a:p>
        </p:txBody>
      </p:sp>
      <p:sp>
        <p:nvSpPr>
          <p:cNvPr id="10" name="Rectangle 1">
            <a:extLst>
              <a:ext uri="{FF2B5EF4-FFF2-40B4-BE49-F238E27FC236}">
                <a16:creationId xmlns:a16="http://schemas.microsoft.com/office/drawing/2014/main" id="{979542EF-0836-8363-678A-2FD2B60D1FD5}"/>
              </a:ext>
            </a:extLst>
          </p:cNvPr>
          <p:cNvSpPr>
            <a:spLocks noChangeArrowheads="1"/>
          </p:cNvSpPr>
          <p:nvPr/>
        </p:nvSpPr>
        <p:spPr bwMode="auto">
          <a:xfrm>
            <a:off x="1277635" y="9478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1" name="Rectangle 1">
            <a:extLst>
              <a:ext uri="{FF2B5EF4-FFF2-40B4-BE49-F238E27FC236}">
                <a16:creationId xmlns:a16="http://schemas.microsoft.com/office/drawing/2014/main" id="{979542EF-0836-8363-678A-2FD2B60D1FD5}"/>
              </a:ext>
            </a:extLst>
          </p:cNvPr>
          <p:cNvSpPr>
            <a:spLocks noChangeArrowheads="1"/>
          </p:cNvSpPr>
          <p:nvPr/>
        </p:nvSpPr>
        <p:spPr bwMode="auto">
          <a:xfrm>
            <a:off x="1391935" y="10621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2" name="Rectangle 11"/>
          <p:cNvSpPr/>
          <p:nvPr/>
        </p:nvSpPr>
        <p:spPr>
          <a:xfrm>
            <a:off x="936519" y="878322"/>
            <a:ext cx="7315199" cy="424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imes New Roman" panose="02020603050405020304" pitchFamily="18" charset="0"/>
                <a:cs typeface="Times New Roman" panose="02020603050405020304" pitchFamily="18" charset="0"/>
              </a:rPr>
              <a:t>Session 11</a:t>
            </a:r>
          </a:p>
        </p:txBody>
      </p:sp>
      <p:sp>
        <p:nvSpPr>
          <p:cNvPr id="2" name="TextBox 1"/>
          <p:cNvSpPr txBox="1"/>
          <p:nvPr/>
        </p:nvSpPr>
        <p:spPr>
          <a:xfrm>
            <a:off x="892280" y="1347520"/>
            <a:ext cx="5861364" cy="5309146"/>
          </a:xfrm>
          <a:prstGeom prst="rect">
            <a:avLst/>
          </a:prstGeom>
          <a:noFill/>
        </p:spPr>
        <p:txBody>
          <a:bodyPr wrap="square" rtlCol="0">
            <a:spAutoFit/>
          </a:bodyPr>
          <a:lstStyle/>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Concept of Arrays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Need and Advantages of Arrays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Array Terminologies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Declaration and Initialization of Arrays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Accessing Array Elements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One-Dimensional Arrays (1-D Arrays)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Operations on 1-D Arrays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Two-Dimensional Arrays (2-D Arrays)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Memory Representation of 2-D Arrays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Traversal and Operations on 2-D Arrays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Comparison of 1-D and 2-D Arrays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Practice Problems and MCQs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Key Takeaways</a:t>
            </a:r>
          </a:p>
          <a:p>
            <a:pPr lvl="0" eaLnBrk="0" fontAlgn="base" hangingPunct="0">
              <a:spcBef>
                <a:spcPts val="300"/>
              </a:spcBef>
              <a:spcAft>
                <a:spcPts val="300"/>
              </a:spcAft>
              <a:buFontTx/>
              <a:buChar char="•"/>
            </a:pPr>
            <a:endParaRPr lang="en-US" altLang="en-US" sz="1400" dirty="0">
              <a:latin typeface="Arial" panose="020B0604020202020204" pitchFamily="34" charset="0"/>
            </a:endParaRPr>
          </a:p>
        </p:txBody>
      </p:sp>
      <p:sp>
        <p:nvSpPr>
          <p:cNvPr id="3" name="TextBox 2"/>
          <p:cNvSpPr txBox="1"/>
          <p:nvPr/>
        </p:nvSpPr>
        <p:spPr>
          <a:xfrm>
            <a:off x="2335322" y="255261"/>
            <a:ext cx="451759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Arrays – 1D &amp; 2D</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4370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51520" y="35518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Learning Objectives</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830997"/>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3" name="TextBox 12"/>
          <p:cNvSpPr txBox="1"/>
          <p:nvPr/>
        </p:nvSpPr>
        <p:spPr>
          <a:xfrm>
            <a:off x="318948" y="1107776"/>
            <a:ext cx="8496942" cy="5116401"/>
          </a:xfrm>
          <a:prstGeom prst="rect">
            <a:avLst/>
          </a:prstGeom>
          <a:noFill/>
        </p:spPr>
        <p:txBody>
          <a:bodyPr wrap="square" rtlCol="0">
            <a:spAutoFit/>
          </a:bodyPr>
          <a:lstStyle/>
          <a:p>
            <a:pPr marL="268288" indent="-268288" algn="just">
              <a:lnSpc>
                <a:spcPct val="150000"/>
              </a:lnSpc>
            </a:pPr>
            <a:r>
              <a:rPr lang="en-US" sz="2200">
                <a:latin typeface="Times New Roman" panose="02020603050405020304" pitchFamily="18" charset="0"/>
                <a:cs typeface="Times New Roman" panose="02020603050405020304" pitchFamily="18" charset="0"/>
              </a:rPr>
              <a:t>After this </a:t>
            </a:r>
            <a:r>
              <a:rPr lang="en-US" sz="2200" dirty="0">
                <a:latin typeface="Times New Roman" panose="02020603050405020304" pitchFamily="18" charset="0"/>
                <a:cs typeface="Times New Roman" panose="02020603050405020304" pitchFamily="18" charset="0"/>
              </a:rPr>
              <a:t>lecture, students will be able to:</a:t>
            </a:r>
          </a:p>
          <a:p>
            <a:pPr marL="268288" lvl="0" indent="-268288" algn="just" eaLnBrk="0" fontAlgn="base" hangingPunct="0">
              <a:lnSpc>
                <a:spcPct val="150000"/>
              </a:lnSpc>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Define an </a:t>
            </a:r>
            <a:r>
              <a:rPr lang="en-US" altLang="en-US" sz="2200" b="1" dirty="0">
                <a:latin typeface="Times New Roman" panose="02020603050405020304" pitchFamily="18" charset="0"/>
                <a:cs typeface="Times New Roman" panose="02020603050405020304" pitchFamily="18" charset="0"/>
              </a:rPr>
              <a:t>array</a:t>
            </a:r>
            <a:r>
              <a:rPr lang="en-US" altLang="en-US" sz="2200" dirty="0">
                <a:latin typeface="Times New Roman" panose="02020603050405020304" pitchFamily="18" charset="0"/>
                <a:cs typeface="Times New Roman" panose="02020603050405020304" pitchFamily="18" charset="0"/>
              </a:rPr>
              <a:t> and explain its characteristics</a:t>
            </a:r>
          </a:p>
          <a:p>
            <a:pPr marL="268288" lvl="0" indent="-268288" algn="just" eaLnBrk="0" fontAlgn="base" hangingPunct="0">
              <a:lnSpc>
                <a:spcPct val="150000"/>
              </a:lnSpc>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Identify </a:t>
            </a:r>
            <a:r>
              <a:rPr lang="en-US" altLang="en-US" sz="2200" b="1" dirty="0">
                <a:latin typeface="Times New Roman" panose="02020603050405020304" pitchFamily="18" charset="0"/>
                <a:cs typeface="Times New Roman" panose="02020603050405020304" pitchFamily="18" charset="0"/>
              </a:rPr>
              <a:t>array terminologies</a:t>
            </a:r>
            <a:r>
              <a:rPr lang="en-US" altLang="en-US" sz="2200" dirty="0">
                <a:latin typeface="Times New Roman" panose="02020603050405020304" pitchFamily="18" charset="0"/>
                <a:cs typeface="Times New Roman" panose="02020603050405020304" pitchFamily="18" charset="0"/>
              </a:rPr>
              <a:t> such as index, element, and length</a:t>
            </a:r>
          </a:p>
          <a:p>
            <a:pPr marL="268288" lvl="0" indent="-268288" algn="just" eaLnBrk="0" fontAlgn="base" hangingPunct="0">
              <a:lnSpc>
                <a:spcPct val="150000"/>
              </a:lnSpc>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Declare, initialize, and access </a:t>
            </a:r>
            <a:r>
              <a:rPr lang="en-US" altLang="en-US" sz="2200" b="1" dirty="0">
                <a:latin typeface="Times New Roman" panose="02020603050405020304" pitchFamily="18" charset="0"/>
                <a:cs typeface="Times New Roman" panose="02020603050405020304" pitchFamily="18" charset="0"/>
              </a:rPr>
              <a:t>1-D arrays</a:t>
            </a:r>
            <a:endParaRPr lang="en-US" altLang="en-US" sz="2200" dirty="0">
              <a:latin typeface="Times New Roman" panose="02020603050405020304" pitchFamily="18" charset="0"/>
              <a:cs typeface="Times New Roman" panose="02020603050405020304" pitchFamily="18" charset="0"/>
            </a:endParaRPr>
          </a:p>
          <a:p>
            <a:pPr marL="268288" lvl="0" indent="-268288" algn="just" eaLnBrk="0" fontAlgn="base" hangingPunct="0">
              <a:lnSpc>
                <a:spcPct val="150000"/>
              </a:lnSpc>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Perform basic operations on </a:t>
            </a:r>
            <a:r>
              <a:rPr lang="en-US" altLang="en-US" sz="2200" b="1" dirty="0">
                <a:latin typeface="Times New Roman" panose="02020603050405020304" pitchFamily="18" charset="0"/>
                <a:cs typeface="Times New Roman" panose="02020603050405020304" pitchFamily="18" charset="0"/>
              </a:rPr>
              <a:t>1-D arrays</a:t>
            </a:r>
            <a:r>
              <a:rPr lang="en-US" altLang="en-US" sz="2200" dirty="0">
                <a:latin typeface="Times New Roman" panose="02020603050405020304" pitchFamily="18" charset="0"/>
                <a:cs typeface="Times New Roman" panose="02020603050405020304" pitchFamily="18" charset="0"/>
              </a:rPr>
              <a:t> using programming constructs</a:t>
            </a:r>
          </a:p>
          <a:p>
            <a:pPr marL="268288" lvl="0" indent="-268288" algn="just" eaLnBrk="0" fontAlgn="base" hangingPunct="0">
              <a:lnSpc>
                <a:spcPct val="150000"/>
              </a:lnSpc>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Understand the structure and usage of </a:t>
            </a:r>
            <a:r>
              <a:rPr lang="en-US" altLang="en-US" sz="2200" b="1" dirty="0">
                <a:latin typeface="Times New Roman" panose="02020603050405020304" pitchFamily="18" charset="0"/>
                <a:cs typeface="Times New Roman" panose="02020603050405020304" pitchFamily="18" charset="0"/>
              </a:rPr>
              <a:t>2-D arrays</a:t>
            </a:r>
            <a:endParaRPr lang="en-US" altLang="en-US" sz="2200" dirty="0">
              <a:latin typeface="Times New Roman" panose="02020603050405020304" pitchFamily="18" charset="0"/>
              <a:cs typeface="Times New Roman" panose="02020603050405020304" pitchFamily="18" charset="0"/>
            </a:endParaRPr>
          </a:p>
          <a:p>
            <a:pPr marL="268288" lvl="0" indent="-268288" algn="just" eaLnBrk="0" fontAlgn="base" hangingPunct="0">
              <a:lnSpc>
                <a:spcPct val="150000"/>
              </a:lnSpc>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Explain </a:t>
            </a:r>
            <a:r>
              <a:rPr lang="en-US" altLang="en-US" sz="2200" b="1" dirty="0">
                <a:latin typeface="Times New Roman" panose="02020603050405020304" pitchFamily="18" charset="0"/>
                <a:cs typeface="Times New Roman" panose="02020603050405020304" pitchFamily="18" charset="0"/>
              </a:rPr>
              <a:t>row and column indexing</a:t>
            </a:r>
            <a:r>
              <a:rPr lang="en-US" altLang="en-US" sz="2200" dirty="0">
                <a:latin typeface="Times New Roman" panose="02020603050405020304" pitchFamily="18" charset="0"/>
                <a:cs typeface="Times New Roman" panose="02020603050405020304" pitchFamily="18" charset="0"/>
              </a:rPr>
              <a:t> in 2-D arrays</a:t>
            </a:r>
          </a:p>
          <a:p>
            <a:pPr marL="268288" lvl="0" indent="-268288" algn="just" eaLnBrk="0" fontAlgn="base" hangingPunct="0">
              <a:lnSpc>
                <a:spcPct val="150000"/>
              </a:lnSpc>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Implement programs using </a:t>
            </a:r>
            <a:r>
              <a:rPr lang="en-US" altLang="en-US" sz="2200" b="1" dirty="0">
                <a:latin typeface="Times New Roman" panose="02020603050405020304" pitchFamily="18" charset="0"/>
                <a:cs typeface="Times New Roman" panose="02020603050405020304" pitchFamily="18" charset="0"/>
              </a:rPr>
              <a:t>1-D and 2-D arrays</a:t>
            </a:r>
            <a:endParaRPr lang="en-US" altLang="en-US" sz="2200" dirty="0">
              <a:latin typeface="Times New Roman" panose="02020603050405020304" pitchFamily="18" charset="0"/>
              <a:cs typeface="Times New Roman" panose="02020603050405020304" pitchFamily="18" charset="0"/>
            </a:endParaRPr>
          </a:p>
          <a:p>
            <a:pPr marL="268288" lvl="0" indent="-268288" algn="just" eaLnBrk="0" fontAlgn="base" hangingPunct="0">
              <a:lnSpc>
                <a:spcPct val="150000"/>
              </a:lnSpc>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Apply arrays to solve </a:t>
            </a:r>
            <a:r>
              <a:rPr lang="en-US" altLang="en-US" sz="2200" b="1" dirty="0">
                <a:latin typeface="Times New Roman" panose="02020603050405020304" pitchFamily="18" charset="0"/>
                <a:cs typeface="Times New Roman" panose="02020603050405020304" pitchFamily="18" charset="0"/>
              </a:rPr>
              <a:t>simple computational and real-world problems</a:t>
            </a:r>
            <a:endParaRPr lang="en-US" sz="2000" dirty="0"/>
          </a:p>
        </p:txBody>
      </p:sp>
    </p:spTree>
    <p:extLst>
      <p:ext uri="{BB962C8B-B14F-4D97-AF65-F5344CB8AC3E}">
        <p14:creationId xmlns:p14="http://schemas.microsoft.com/office/powerpoint/2010/main" val="3274074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 </a:t>
            </a:r>
            <a:r>
              <a:rPr lang="en-IN" sz="2800" b="1" dirty="0">
                <a:solidFill>
                  <a:srgbClr val="E31E24"/>
                </a:solidFill>
              </a:rPr>
              <a:t>Data Structures &amp; ADTs</a:t>
            </a:r>
            <a:r>
              <a:rPr lang="en-US" sz="2800" b="1" dirty="0">
                <a:solidFill>
                  <a:srgbClr val="E31E24"/>
                </a:solidFill>
                <a:cs typeface="Times New Roman" panose="02020603050405020304" pitchFamily="18" charset="0"/>
                <a:sym typeface="Arial"/>
              </a:rPr>
              <a:t>)</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258244" y="1065209"/>
            <a:ext cx="8580969" cy="5509200"/>
          </a:xfrm>
          <a:prstGeom prst="rect">
            <a:avLst/>
          </a:prstGeom>
          <a:noFill/>
        </p:spPr>
        <p:txBody>
          <a:bodyPr wrap="square" rtlCol="0">
            <a:spAutoFit/>
          </a:bodyPr>
          <a:lstStyle/>
          <a:p>
            <a:pPr marL="285750" indent="-285750" algn="jus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Data Structures: </a:t>
            </a:r>
            <a:r>
              <a:rPr lang="en-IN" sz="2200" dirty="0">
                <a:latin typeface="Times New Roman" panose="02020603050405020304" pitchFamily="18" charset="0"/>
                <a:cs typeface="Times New Roman" panose="02020603050405020304" pitchFamily="18" charset="0"/>
              </a:rPr>
              <a:t>A data structure is a way to store, organize, and manage data efficiently</a:t>
            </a:r>
          </a:p>
          <a:p>
            <a:pPr marL="720725" indent="-452438">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Helps in fast access, insertion, deletion, and processing</a:t>
            </a:r>
          </a:p>
          <a:p>
            <a:pPr marL="720725" indent="-452438">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Real-world mapping:</a:t>
            </a:r>
          </a:p>
          <a:p>
            <a:pPr marL="1255713" lvl="1" indent="-452438">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Library system → List</a:t>
            </a:r>
          </a:p>
          <a:p>
            <a:pPr marL="1255713" lvl="1" indent="-452438">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WhatsApp chats → Queue</a:t>
            </a:r>
          </a:p>
          <a:p>
            <a:pPr marL="1255713" lvl="1" indent="-452438">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Undo operation → Stack</a:t>
            </a:r>
          </a:p>
          <a:p>
            <a:pPr marL="285750" indent="-28575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Need for Data Structures</a:t>
            </a:r>
          </a:p>
          <a:p>
            <a:pPr marL="720725" indent="-452438">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Efficient data handling</a:t>
            </a:r>
          </a:p>
          <a:p>
            <a:pPr marL="720725" indent="-452438">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Better performance</a:t>
            </a:r>
          </a:p>
          <a:p>
            <a:pPr marL="720725" indent="-452438">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Reduced complexity in programs</a:t>
            </a:r>
          </a:p>
          <a:p>
            <a:pPr marL="285750" indent="-28575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Abstract Data Types (ADTs)</a:t>
            </a:r>
          </a:p>
          <a:p>
            <a:pPr marL="720725" indent="-452438" algn="just">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ADT defines what operations are performed, not how</a:t>
            </a:r>
          </a:p>
          <a:p>
            <a:pPr marL="720725" indent="-452438" algn="just">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Focuses on </a:t>
            </a:r>
            <a:r>
              <a:rPr lang="en-IN" sz="2200" dirty="0" err="1">
                <a:latin typeface="Times New Roman" panose="02020603050405020304" pitchFamily="18" charset="0"/>
                <a:cs typeface="Times New Roman" panose="02020603050405020304" pitchFamily="18" charset="0"/>
              </a:rPr>
              <a:t>behavior</a:t>
            </a:r>
            <a:r>
              <a:rPr lang="en-IN" sz="2200" dirty="0">
                <a:latin typeface="Times New Roman" panose="02020603050405020304" pitchFamily="18" charset="0"/>
                <a:cs typeface="Times New Roman" panose="02020603050405020304" pitchFamily="18" charset="0"/>
              </a:rPr>
              <a:t> and functionality</a:t>
            </a:r>
          </a:p>
          <a:p>
            <a:pPr marL="720725" indent="-452438" algn="just">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Examples: Stack (push, pop), Queue (enqueue, dequeue), List (insert, delete)</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smtClean="0"/>
              <a:t>5</a:t>
            </a:fld>
            <a:endParaRPr lang="en-IN"/>
          </a:p>
        </p:txBody>
      </p:sp>
    </p:spTree>
    <p:extLst>
      <p:ext uri="{BB962C8B-B14F-4D97-AF65-F5344CB8AC3E}">
        <p14:creationId xmlns:p14="http://schemas.microsoft.com/office/powerpoint/2010/main" val="750881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CE203-C556-5D0D-8594-7A14523760AC}"/>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BAD0367-B152-BD43-B9D0-BED5D933735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E28E4A8D-99DE-0577-58D5-F77544554845}"/>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FCDEF341-747E-BFC4-F69F-9E1F84B039E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8C44B69C-AC7C-D777-AB66-6C6526F937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D67C9CE2-9E0B-197A-4F03-72E871FF3EA6}"/>
              </a:ext>
            </a:extLst>
          </p:cNvPr>
          <p:cNvSpPr>
            <a:spLocks noChangeArrowheads="1"/>
          </p:cNvSpPr>
          <p:nvPr/>
        </p:nvSpPr>
        <p:spPr bwMode="auto">
          <a:xfrm>
            <a:off x="187091" y="311160"/>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 </a:t>
            </a:r>
            <a:r>
              <a:rPr lang="en-IN" sz="2800" b="1" dirty="0">
                <a:solidFill>
                  <a:srgbClr val="E31E24"/>
                </a:solidFill>
              </a:rPr>
              <a:t>Time &amp; Space Complexity</a:t>
            </a:r>
            <a:r>
              <a:rPr lang="en-US" sz="2800" b="1" dirty="0">
                <a:solidFill>
                  <a:srgbClr val="E31E24"/>
                </a:solidFill>
                <a:cs typeface="Times New Roman" panose="02020603050405020304" pitchFamily="18" charset="0"/>
                <a:sym typeface="Arial"/>
              </a:rPr>
              <a:t>)</a:t>
            </a:r>
            <a:endParaRPr lang="en-IN" sz="2800" b="1" dirty="0">
              <a:solidFill>
                <a:srgbClr val="E31E24"/>
              </a:solidFill>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97CE469E-883C-EB0D-796C-D525A6E9BDF3}"/>
              </a:ext>
            </a:extLst>
          </p:cNvPr>
          <p:cNvSpPr txBox="1"/>
          <p:nvPr/>
        </p:nvSpPr>
        <p:spPr>
          <a:xfrm>
            <a:off x="323530" y="1095669"/>
            <a:ext cx="8363270" cy="5170646"/>
          </a:xfrm>
          <a:prstGeom prst="rect">
            <a:avLst/>
          </a:prstGeom>
          <a:noFill/>
        </p:spPr>
        <p:txBody>
          <a:bodyPr wrap="square" rtlCol="0">
            <a:spAutoFit/>
          </a:bodyPr>
          <a:lstStyle/>
          <a:p>
            <a:pPr marL="285750" indent="-28575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Time Complexity</a:t>
            </a:r>
          </a:p>
          <a:p>
            <a:pPr marL="720725" indent="-442913">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Measures how execution time grows with input size</a:t>
            </a:r>
          </a:p>
          <a:p>
            <a:pPr marL="720725" indent="-442913">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Represented using:</a:t>
            </a:r>
          </a:p>
          <a:p>
            <a:pPr marL="1524000" lvl="1" indent="-534988"/>
            <a:r>
              <a:rPr lang="en-IN" sz="2200" b="1" dirty="0">
                <a:latin typeface="Times New Roman" panose="02020603050405020304" pitchFamily="18" charset="0"/>
                <a:cs typeface="Times New Roman" panose="02020603050405020304" pitchFamily="18" charset="0"/>
              </a:rPr>
              <a:t>Big-O (O)</a:t>
            </a:r>
            <a:r>
              <a:rPr lang="en-IN" sz="2200" dirty="0">
                <a:latin typeface="Times New Roman" panose="02020603050405020304" pitchFamily="18" charset="0"/>
                <a:cs typeface="Times New Roman" panose="02020603050405020304" pitchFamily="18" charset="0"/>
              </a:rPr>
              <a:t> → Worst case</a:t>
            </a:r>
          </a:p>
          <a:p>
            <a:pPr marL="1524000" lvl="1" indent="-534988"/>
            <a:r>
              <a:rPr lang="en-IN" sz="2200" b="1" dirty="0">
                <a:latin typeface="Times New Roman" panose="02020603050405020304" pitchFamily="18" charset="0"/>
                <a:cs typeface="Times New Roman" panose="02020603050405020304" pitchFamily="18" charset="0"/>
              </a:rPr>
              <a:t>Theta (</a:t>
            </a:r>
            <a:r>
              <a:rPr lang="el-GR" sz="2200" b="1" dirty="0">
                <a:latin typeface="Times New Roman" panose="02020603050405020304" pitchFamily="18" charset="0"/>
                <a:cs typeface="Times New Roman" panose="02020603050405020304" pitchFamily="18" charset="0"/>
              </a:rPr>
              <a:t>Θ)</a:t>
            </a:r>
            <a:r>
              <a:rPr lang="el-GR" sz="2200" dirty="0">
                <a:latin typeface="Times New Roman" panose="02020603050405020304" pitchFamily="18" charset="0"/>
                <a:cs typeface="Times New Roman" panose="02020603050405020304" pitchFamily="18" charset="0"/>
              </a:rPr>
              <a:t> → </a:t>
            </a:r>
            <a:r>
              <a:rPr lang="en-IN" sz="2200" dirty="0">
                <a:latin typeface="Times New Roman" panose="02020603050405020304" pitchFamily="18" charset="0"/>
                <a:cs typeface="Times New Roman" panose="02020603050405020304" pitchFamily="18" charset="0"/>
              </a:rPr>
              <a:t>Average/Exact case</a:t>
            </a:r>
          </a:p>
          <a:p>
            <a:pPr marL="1524000" lvl="1" indent="-534988"/>
            <a:r>
              <a:rPr lang="en-IN" sz="2200" b="1" dirty="0">
                <a:latin typeface="Times New Roman" panose="02020603050405020304" pitchFamily="18" charset="0"/>
                <a:cs typeface="Times New Roman" panose="02020603050405020304" pitchFamily="18" charset="0"/>
              </a:rPr>
              <a:t>Omega (</a:t>
            </a:r>
            <a:r>
              <a:rPr lang="el-GR" sz="2200" b="1" dirty="0">
                <a:latin typeface="Times New Roman" panose="02020603050405020304" pitchFamily="18" charset="0"/>
                <a:cs typeface="Times New Roman" panose="02020603050405020304" pitchFamily="18" charset="0"/>
              </a:rPr>
              <a:t>Ω)</a:t>
            </a:r>
            <a:r>
              <a:rPr lang="el-GR" sz="2200" dirty="0">
                <a:latin typeface="Times New Roman" panose="02020603050405020304" pitchFamily="18" charset="0"/>
                <a:cs typeface="Times New Roman" panose="02020603050405020304" pitchFamily="18" charset="0"/>
              </a:rPr>
              <a:t> → </a:t>
            </a:r>
            <a:r>
              <a:rPr lang="en-IN" sz="2200" dirty="0">
                <a:latin typeface="Times New Roman" panose="02020603050405020304" pitchFamily="18" charset="0"/>
                <a:cs typeface="Times New Roman" panose="02020603050405020304" pitchFamily="18" charset="0"/>
              </a:rPr>
              <a:t>Best case</a:t>
            </a:r>
          </a:p>
          <a:p>
            <a:pPr marL="285750" indent="-28575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Space Complexity: </a:t>
            </a:r>
            <a:r>
              <a:rPr lang="en-IN" sz="2200" dirty="0">
                <a:latin typeface="Times New Roman" panose="02020603050405020304" pitchFamily="18" charset="0"/>
                <a:cs typeface="Times New Roman" panose="02020603050405020304" pitchFamily="18" charset="0"/>
              </a:rPr>
              <a:t>Measures memory usage of an algorithm</a:t>
            </a:r>
          </a:p>
          <a:p>
            <a:pPr marL="285750" indent="-28575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Case Analysis: </a:t>
            </a:r>
            <a:r>
              <a:rPr lang="en-IN" sz="2200" dirty="0">
                <a:latin typeface="Times New Roman" panose="02020603050405020304" pitchFamily="18" charset="0"/>
                <a:cs typeface="Times New Roman" panose="02020603050405020304" pitchFamily="18" charset="0"/>
              </a:rPr>
              <a:t>Best Case, Average Case, Worst Case</a:t>
            </a:r>
          </a:p>
          <a:p>
            <a:pPr marL="285750" indent="-28575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Common Time Complexities</a:t>
            </a:r>
          </a:p>
          <a:p>
            <a:pPr marL="720725" indent="-452438">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O(1) → Constant time</a:t>
            </a:r>
          </a:p>
          <a:p>
            <a:pPr marL="720725" indent="-452438">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O(log n) → Logarithmic</a:t>
            </a:r>
          </a:p>
          <a:p>
            <a:pPr marL="720725" indent="-452438">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O(n) → Linear</a:t>
            </a:r>
          </a:p>
          <a:p>
            <a:pPr marL="720725" indent="-452438">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O(n log n)</a:t>
            </a:r>
          </a:p>
          <a:p>
            <a:pPr marL="720725" indent="-452438">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O(n²)</a:t>
            </a:r>
          </a:p>
          <a:p>
            <a:pPr marL="720725" indent="-452438">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O(2ⁿ), O(n!)</a:t>
            </a:r>
          </a:p>
        </p:txBody>
      </p:sp>
      <p:sp>
        <p:nvSpPr>
          <p:cNvPr id="5" name="Rectangle 4">
            <a:extLst>
              <a:ext uri="{FF2B5EF4-FFF2-40B4-BE49-F238E27FC236}">
                <a16:creationId xmlns:a16="http://schemas.microsoft.com/office/drawing/2014/main" id="{C3B970E6-DEE1-35B9-C160-BB22EBF79946}"/>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CDD6C5E7-8F4C-D241-B5B4-4BF7C1209F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DE3595A6-4861-D1C5-E0CC-CD69CD510899}"/>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E163A5BC-8198-BFD7-C822-C2B1D1946D7B}"/>
              </a:ext>
            </a:extLst>
          </p:cNvPr>
          <p:cNvSpPr>
            <a:spLocks noGrp="1"/>
          </p:cNvSpPr>
          <p:nvPr>
            <p:ph type="sldNum" sz="quarter" idx="12"/>
          </p:nvPr>
        </p:nvSpPr>
        <p:spPr/>
        <p:txBody>
          <a:bodyPr/>
          <a:lstStyle/>
          <a:p>
            <a:fld id="{C421C46D-3F04-4F73-BF36-E6D9DA5AE143}" type="slidenum">
              <a:rPr lang="en-IN" smtClean="0"/>
              <a:t>6</a:t>
            </a:fld>
            <a:endParaRPr lang="en-IN"/>
          </a:p>
        </p:txBody>
      </p:sp>
    </p:spTree>
    <p:extLst>
      <p:ext uri="{BB962C8B-B14F-4D97-AF65-F5344CB8AC3E}">
        <p14:creationId xmlns:p14="http://schemas.microsoft.com/office/powerpoint/2010/main" val="2954806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75C90-B2F7-A1AA-6FE4-9347BA13C0E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A30B55F-007D-2566-2062-7AB7F579D79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632B4BBC-8267-7F07-A880-95E1D6DB2EBF}"/>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9897925-D2FC-C97C-5FDD-62748389716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E2524C07-5D67-6191-71F3-4E9A4EAABE41}"/>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21560B72-5E79-AF73-9F5E-E725351C1C0C}"/>
              </a:ext>
            </a:extLst>
          </p:cNvPr>
          <p:cNvSpPr>
            <a:spLocks noChangeArrowheads="1"/>
          </p:cNvSpPr>
          <p:nvPr/>
        </p:nvSpPr>
        <p:spPr bwMode="auto">
          <a:xfrm>
            <a:off x="243716" y="34296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 </a:t>
            </a:r>
            <a:r>
              <a:rPr lang="en-IN" sz="2800" b="1" dirty="0">
                <a:solidFill>
                  <a:srgbClr val="E31E24"/>
                </a:solidFill>
              </a:rPr>
              <a:t>Algorithm Design &amp; Recursion</a:t>
            </a:r>
            <a:r>
              <a:rPr lang="en-US" sz="2800" b="1" dirty="0">
                <a:solidFill>
                  <a:srgbClr val="E31E24"/>
                </a:solidFill>
                <a:cs typeface="Times New Roman" panose="02020603050405020304" pitchFamily="18" charset="0"/>
                <a:sym typeface="Arial"/>
              </a:rPr>
              <a:t>)</a:t>
            </a:r>
            <a:endParaRPr lang="en-IN" sz="2800" b="1" dirty="0">
              <a:solidFill>
                <a:srgbClr val="E31E24"/>
              </a:solidFill>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C513D34B-5890-68E7-1C26-62520A4D9F50}"/>
              </a:ext>
            </a:extLst>
          </p:cNvPr>
          <p:cNvSpPr txBox="1"/>
          <p:nvPr/>
        </p:nvSpPr>
        <p:spPr>
          <a:xfrm>
            <a:off x="304786" y="1107776"/>
            <a:ext cx="7848870" cy="5909310"/>
          </a:xfrm>
          <a:prstGeom prst="rect">
            <a:avLst/>
          </a:prstGeom>
          <a:noFill/>
        </p:spPr>
        <p:txBody>
          <a:bodyPr wrap="square" rtlCol="0">
            <a:spAutoFit/>
          </a:bodyPr>
          <a:lstStyle/>
          <a:p>
            <a:pPr marL="342900" indent="-342900">
              <a:spcBef>
                <a:spcPts val="200"/>
              </a:spcBef>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Divide &amp; Conquer</a:t>
            </a:r>
          </a:p>
          <a:p>
            <a:pPr marL="703263" indent="-342900">
              <a:spcBef>
                <a:spcPts val="200"/>
              </a:spcBef>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Divide problem → Solve subproblems → Combine results</a:t>
            </a:r>
          </a:p>
          <a:p>
            <a:pPr marL="703263" indent="-342900">
              <a:spcBef>
                <a:spcPts val="200"/>
              </a:spcBef>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Example: Merge Sort</a:t>
            </a:r>
          </a:p>
          <a:p>
            <a:pPr marL="342900" indent="-342900">
              <a:spcBef>
                <a:spcPts val="200"/>
              </a:spcBef>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Greedy Algorithm</a:t>
            </a:r>
          </a:p>
          <a:p>
            <a:pPr marL="720725" indent="-360363">
              <a:spcBef>
                <a:spcPts val="200"/>
              </a:spcBef>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Makes locally optimal choices</a:t>
            </a:r>
          </a:p>
          <a:p>
            <a:pPr marL="720725" indent="-360363">
              <a:spcBef>
                <a:spcPts val="200"/>
              </a:spcBef>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Fast but may not give global optimum</a:t>
            </a:r>
          </a:p>
          <a:p>
            <a:pPr marL="342900" indent="-342900">
              <a:spcBef>
                <a:spcPts val="200"/>
              </a:spcBef>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Dynamic Programming</a:t>
            </a:r>
          </a:p>
          <a:p>
            <a:pPr marL="720725" indent="-360363">
              <a:spcBef>
                <a:spcPts val="200"/>
              </a:spcBef>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Solves overlapping subproblems</a:t>
            </a:r>
          </a:p>
          <a:p>
            <a:pPr marL="720725" indent="-360363">
              <a:spcBef>
                <a:spcPts val="200"/>
              </a:spcBef>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Stores results to avoid </a:t>
            </a:r>
            <a:r>
              <a:rPr lang="en-IN" sz="2000" dirty="0" err="1">
                <a:latin typeface="Times New Roman" panose="02020603050405020304" pitchFamily="18" charset="0"/>
                <a:cs typeface="Times New Roman" panose="02020603050405020304" pitchFamily="18" charset="0"/>
              </a:rPr>
              <a:t>recomputation</a:t>
            </a:r>
            <a:endParaRPr lang="en-IN" sz="2000" dirty="0">
              <a:latin typeface="Times New Roman" panose="02020603050405020304" pitchFamily="18" charset="0"/>
              <a:cs typeface="Times New Roman" panose="02020603050405020304" pitchFamily="18" charset="0"/>
            </a:endParaRPr>
          </a:p>
          <a:p>
            <a:pPr marL="720725" indent="-360363">
              <a:spcBef>
                <a:spcPts val="200"/>
              </a:spcBef>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Used when Greedy fails</a:t>
            </a:r>
          </a:p>
          <a:p>
            <a:pPr marL="342900" indent="-342900">
              <a:spcBef>
                <a:spcPts val="200"/>
              </a:spcBef>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Recursion</a:t>
            </a:r>
          </a:p>
          <a:p>
            <a:pPr marL="342900" indent="17463">
              <a:spcBef>
                <a:spcPts val="200"/>
              </a:spcBef>
              <a:buFont typeface="Wingdings" panose="05000000000000000000" pitchFamily="2" charset="2"/>
              <a:buChar char="v"/>
              <a:tabLst>
                <a:tab pos="720725" algn="l"/>
              </a:tabLst>
            </a:pPr>
            <a:r>
              <a:rPr lang="en-IN" sz="2000" dirty="0">
                <a:latin typeface="Times New Roman" panose="02020603050405020304" pitchFamily="18" charset="0"/>
                <a:cs typeface="Times New Roman" panose="02020603050405020304" pitchFamily="18" charset="0"/>
              </a:rPr>
              <a:t>   Function calling itself </a:t>
            </a:r>
          </a:p>
          <a:p>
            <a:pPr>
              <a:spcBef>
                <a:spcPts val="200"/>
              </a:spcBef>
            </a:pPr>
            <a:r>
              <a:rPr lang="en-IN" sz="2000" dirty="0">
                <a:latin typeface="Times New Roman" panose="02020603050405020304" pitchFamily="18" charset="0"/>
                <a:cs typeface="Times New Roman" panose="02020603050405020304" pitchFamily="18" charset="0"/>
              </a:rPr>
              <a:t>     Requires:</a:t>
            </a:r>
          </a:p>
          <a:p>
            <a:pPr lvl="1">
              <a:spcBef>
                <a:spcPts val="200"/>
              </a:spcBef>
            </a:pPr>
            <a:r>
              <a:rPr lang="en-IN" sz="2000" dirty="0">
                <a:latin typeface="Times New Roman" panose="02020603050405020304" pitchFamily="18" charset="0"/>
                <a:cs typeface="Times New Roman" panose="02020603050405020304" pitchFamily="18" charset="0"/>
              </a:rPr>
              <a:t>   Base case</a:t>
            </a:r>
          </a:p>
          <a:p>
            <a:pPr lvl="1">
              <a:spcBef>
                <a:spcPts val="200"/>
              </a:spcBef>
            </a:pPr>
            <a:r>
              <a:rPr lang="en-IN" sz="2000" dirty="0">
                <a:latin typeface="Times New Roman" panose="02020603050405020304" pitchFamily="18" charset="0"/>
                <a:cs typeface="Times New Roman" panose="02020603050405020304" pitchFamily="18" charset="0"/>
              </a:rPr>
              <a:t>   Recursive call</a:t>
            </a:r>
          </a:p>
          <a:p>
            <a:pPr marL="342900" indent="17463">
              <a:spcBef>
                <a:spcPts val="200"/>
              </a:spcBef>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  Uses call stack to store function calls</a:t>
            </a:r>
          </a:p>
          <a:p>
            <a:pPr>
              <a:spcBef>
                <a:spcPts val="200"/>
              </a:spcBef>
            </a:pPr>
            <a:endParaRPr lang="en-IN" dirty="0"/>
          </a:p>
        </p:txBody>
      </p:sp>
      <p:sp>
        <p:nvSpPr>
          <p:cNvPr id="5" name="Rectangle 4">
            <a:extLst>
              <a:ext uri="{FF2B5EF4-FFF2-40B4-BE49-F238E27FC236}">
                <a16:creationId xmlns:a16="http://schemas.microsoft.com/office/drawing/2014/main" id="{D40DC5FC-82B1-9FF5-76F2-320F46ACCF8D}"/>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A473108F-9DAC-6DAF-82B4-24ED835BF0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B3A6BF96-2173-B22D-EDDF-2B462C8A5124}"/>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B38C7A61-BCD6-555B-04AF-70A66939B9B9}"/>
              </a:ext>
            </a:extLst>
          </p:cNvPr>
          <p:cNvSpPr>
            <a:spLocks noGrp="1"/>
          </p:cNvSpPr>
          <p:nvPr>
            <p:ph type="sldNum" sz="quarter" idx="12"/>
          </p:nvPr>
        </p:nvSpPr>
        <p:spPr/>
        <p:txBody>
          <a:bodyPr/>
          <a:lstStyle/>
          <a:p>
            <a:fld id="{C421C46D-3F04-4F73-BF36-E6D9DA5AE143}" type="slidenum">
              <a:rPr lang="en-IN" smtClean="0"/>
              <a:t>7</a:t>
            </a:fld>
            <a:endParaRPr lang="en-IN"/>
          </a:p>
        </p:txBody>
      </p:sp>
    </p:spTree>
    <p:extLst>
      <p:ext uri="{BB962C8B-B14F-4D97-AF65-F5344CB8AC3E}">
        <p14:creationId xmlns:p14="http://schemas.microsoft.com/office/powerpoint/2010/main" val="2595060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23530" y="1235756"/>
            <a:ext cx="7848870" cy="4093428"/>
          </a:xfrm>
          <a:prstGeom prst="rect">
            <a:avLst/>
          </a:prstGeom>
          <a:noFill/>
        </p:spPr>
        <p:txBody>
          <a:bodyPr wrap="square" rtlCol="0">
            <a:spAutoFit/>
          </a:bodyPr>
          <a:lstStyle/>
          <a:p>
            <a:pPr>
              <a:spcBef>
                <a:spcPts val="1200"/>
              </a:spcBef>
              <a:spcAft>
                <a:spcPts val="1200"/>
              </a:spcAft>
            </a:pPr>
            <a:r>
              <a:rPr lang="en-US" sz="2400" b="1" dirty="0">
                <a:latin typeface="Times New Roman" panose="02020603050405020304" pitchFamily="18" charset="0"/>
                <a:cs typeface="Times New Roman" panose="02020603050405020304" pitchFamily="18" charset="0"/>
              </a:rPr>
              <a:t>Q1.</a:t>
            </a:r>
            <a:r>
              <a:rPr lang="en-US" sz="2400" dirty="0">
                <a:latin typeface="Times New Roman" panose="02020603050405020304" pitchFamily="18" charset="0"/>
                <a:cs typeface="Times New Roman" panose="02020603050405020304" pitchFamily="18" charset="0"/>
              </a:rPr>
              <a:t> Which best defines a data structure?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 Programming language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b) Method of organizing data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 Operating system</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d) Algorithm</a:t>
            </a:r>
          </a:p>
          <a:p>
            <a:pPr>
              <a:spcBef>
                <a:spcPts val="1200"/>
              </a:spcBef>
              <a:spcAft>
                <a:spcPts val="1200"/>
              </a:spcAft>
            </a:pPr>
            <a:r>
              <a:rPr lang="en-US" sz="2400" b="1" dirty="0">
                <a:latin typeface="Times New Roman" panose="02020603050405020304" pitchFamily="18" charset="0"/>
                <a:cs typeface="Times New Roman" panose="02020603050405020304" pitchFamily="18" charset="0"/>
              </a:rPr>
              <a:t>Q2.</a:t>
            </a:r>
            <a:r>
              <a:rPr lang="en-US" sz="2400" dirty="0">
                <a:latin typeface="Times New Roman" panose="02020603050405020304" pitchFamily="18" charset="0"/>
                <a:cs typeface="Times New Roman" panose="02020603050405020304" pitchFamily="18" charset="0"/>
              </a:rPr>
              <a:t> Which of the following is an ADT?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 Array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b) Stack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 Pointer</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d) Variable</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smtClean="0"/>
              <a:t>8</a:t>
            </a:fld>
            <a:endParaRPr lang="en-IN"/>
          </a:p>
        </p:txBody>
      </p:sp>
    </p:spTree>
    <p:extLst>
      <p:ext uri="{BB962C8B-B14F-4D97-AF65-F5344CB8AC3E}">
        <p14:creationId xmlns:p14="http://schemas.microsoft.com/office/powerpoint/2010/main" val="278405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CAE9B-3EAB-0A11-6EF2-98571991E51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5FB3985-8D36-6D81-8AC0-A2E5D46F4EF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2D173121-293B-2B2D-FBF4-84A2C6090919}"/>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C60BE85-5C6B-73DA-BEF4-F36DCFE0775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51837C56-5DAF-AD0D-A6C2-9FF6DE15911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A56BFFEC-271B-0494-259D-EF318FE87A35}"/>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a:t>
            </a:r>
            <a:endParaRPr lang="en-IN" sz="2800" b="1" dirty="0">
              <a:solidFill>
                <a:srgbClr val="E31E24"/>
              </a:solidFill>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60630B4C-8AEF-4EF0-16E5-49A769795C0F}"/>
              </a:ext>
            </a:extLst>
          </p:cNvPr>
          <p:cNvSpPr txBox="1"/>
          <p:nvPr/>
        </p:nvSpPr>
        <p:spPr>
          <a:xfrm>
            <a:off x="323530" y="1235756"/>
            <a:ext cx="7848870" cy="4093428"/>
          </a:xfrm>
          <a:prstGeom prst="rect">
            <a:avLst/>
          </a:prstGeom>
          <a:noFill/>
        </p:spPr>
        <p:txBody>
          <a:bodyPr wrap="square" rtlCol="0">
            <a:spAutoFit/>
          </a:bodyPr>
          <a:lstStyle/>
          <a:p>
            <a:pPr>
              <a:spcBef>
                <a:spcPts val="1200"/>
              </a:spcBef>
              <a:spcAft>
                <a:spcPts val="1200"/>
              </a:spcAft>
            </a:pPr>
            <a:r>
              <a:rPr lang="en-US" sz="2400" b="1" dirty="0">
                <a:latin typeface="Times New Roman" panose="02020603050405020304" pitchFamily="18" charset="0"/>
                <a:cs typeface="Times New Roman" panose="02020603050405020304" pitchFamily="18" charset="0"/>
              </a:rPr>
              <a:t>Q3.</a:t>
            </a:r>
            <a:r>
              <a:rPr lang="en-US" sz="2400" dirty="0">
                <a:latin typeface="Times New Roman" panose="02020603050405020304" pitchFamily="18" charset="0"/>
                <a:cs typeface="Times New Roman" panose="02020603050405020304" pitchFamily="18" charset="0"/>
              </a:rPr>
              <a:t> Which notation represents the worst-case complexity?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 Θ</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b) Ω</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 O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d) n</a:t>
            </a:r>
          </a:p>
          <a:p>
            <a:pPr>
              <a:spcBef>
                <a:spcPts val="1200"/>
              </a:spcBef>
              <a:spcAft>
                <a:spcPts val="1200"/>
              </a:spcAft>
            </a:pPr>
            <a:r>
              <a:rPr lang="en-US" sz="2400" b="1" dirty="0">
                <a:latin typeface="Times New Roman" panose="02020603050405020304" pitchFamily="18" charset="0"/>
                <a:cs typeface="Times New Roman" panose="02020603050405020304" pitchFamily="18" charset="0"/>
              </a:rPr>
              <a:t>Q4.</a:t>
            </a:r>
            <a:r>
              <a:rPr lang="en-US" sz="2400" dirty="0">
                <a:latin typeface="Times New Roman" panose="02020603050405020304" pitchFamily="18" charset="0"/>
                <a:cs typeface="Times New Roman" panose="02020603050405020304" pitchFamily="18" charset="0"/>
              </a:rPr>
              <a:t> Time complexity of linear search in worst case is: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 O(1)</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b) O(log 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 O(n)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d) O(n²)</a:t>
            </a:r>
          </a:p>
        </p:txBody>
      </p:sp>
      <p:sp>
        <p:nvSpPr>
          <p:cNvPr id="5" name="Rectangle 4">
            <a:extLst>
              <a:ext uri="{FF2B5EF4-FFF2-40B4-BE49-F238E27FC236}">
                <a16:creationId xmlns:a16="http://schemas.microsoft.com/office/drawing/2014/main" id="{92341EA9-FA75-18C4-7182-20716D32AD64}"/>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E3DB995E-DF1D-F0F2-A41E-C7D23AE8EC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30334DE8-27F7-6EFE-9D17-4BEC9EFBDA7B}"/>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45B89AFC-827B-C683-61E8-C060411BB6CC}"/>
              </a:ext>
            </a:extLst>
          </p:cNvPr>
          <p:cNvSpPr>
            <a:spLocks noGrp="1"/>
          </p:cNvSpPr>
          <p:nvPr>
            <p:ph type="sldNum" sz="quarter" idx="12"/>
          </p:nvPr>
        </p:nvSpPr>
        <p:spPr/>
        <p:txBody>
          <a:bodyPr/>
          <a:lstStyle/>
          <a:p>
            <a:fld id="{C421C46D-3F04-4F73-BF36-E6D9DA5AE143}" type="slidenum">
              <a:rPr lang="en-IN" smtClean="0"/>
              <a:t>9</a:t>
            </a:fld>
            <a:endParaRPr lang="en-IN"/>
          </a:p>
        </p:txBody>
      </p:sp>
    </p:spTree>
    <p:extLst>
      <p:ext uri="{BB962C8B-B14F-4D97-AF65-F5344CB8AC3E}">
        <p14:creationId xmlns:p14="http://schemas.microsoft.com/office/powerpoint/2010/main" val="1574423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59DE3-5DFD-6139-260C-01122FE4DE7F}"/>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33D753F-2D6C-58B7-5F4A-1BB17DAC830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9F28FFB7-D6E2-6FDA-D41A-B4E03DC1B5F8}"/>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0DFD7CF-2A90-2352-02DB-B62BDF41985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90BFFEE1-322B-17E6-FD45-8DF2377D07A4}"/>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DE051CC1-3FA0-666F-980E-557828F26B4C}"/>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a:t>
            </a:r>
            <a:endParaRPr lang="en-IN" sz="2800" b="1" dirty="0">
              <a:solidFill>
                <a:srgbClr val="E31E24"/>
              </a:solidFill>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2EAFC22F-6ED6-A02D-FF8B-E54B183928D7}"/>
              </a:ext>
            </a:extLst>
          </p:cNvPr>
          <p:cNvSpPr txBox="1"/>
          <p:nvPr/>
        </p:nvSpPr>
        <p:spPr>
          <a:xfrm>
            <a:off x="323530" y="1235756"/>
            <a:ext cx="8363270" cy="4093428"/>
          </a:xfrm>
          <a:prstGeom prst="rect">
            <a:avLst/>
          </a:prstGeom>
          <a:noFill/>
        </p:spPr>
        <p:txBody>
          <a:bodyPr wrap="square" rtlCol="0">
            <a:spAutoFit/>
          </a:bodyPr>
          <a:lstStyle/>
          <a:p>
            <a:pPr>
              <a:spcBef>
                <a:spcPts val="1200"/>
              </a:spcBef>
              <a:spcAft>
                <a:spcPts val="1200"/>
              </a:spcAft>
            </a:pPr>
            <a:r>
              <a:rPr lang="en-IN" sz="2400" b="1" dirty="0">
                <a:latin typeface="Times New Roman" panose="02020603050405020304" pitchFamily="18" charset="0"/>
                <a:cs typeface="Times New Roman" panose="02020603050405020304" pitchFamily="18" charset="0"/>
              </a:rPr>
              <a:t>Q5.</a:t>
            </a:r>
            <a:r>
              <a:rPr lang="en-IN" sz="2400" dirty="0">
                <a:latin typeface="Times New Roman" panose="02020603050405020304" pitchFamily="18" charset="0"/>
                <a:cs typeface="Times New Roman" panose="02020603050405020304" pitchFamily="18" charset="0"/>
              </a:rPr>
              <a:t> Which complexity grows the fastest?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 O(n²)</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b) O(n log n)</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c) O(2ⁿ)</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d) O(n!) </a:t>
            </a:r>
          </a:p>
          <a:p>
            <a:pPr>
              <a:spcBef>
                <a:spcPts val="1200"/>
              </a:spcBef>
              <a:spcAft>
                <a:spcPts val="1200"/>
              </a:spcAft>
            </a:pPr>
            <a:r>
              <a:rPr lang="en-IN" sz="2400" b="1" dirty="0">
                <a:latin typeface="Times New Roman" panose="02020603050405020304" pitchFamily="18" charset="0"/>
                <a:cs typeface="Times New Roman" panose="02020603050405020304" pitchFamily="18" charset="0"/>
              </a:rPr>
              <a:t>Q6.</a:t>
            </a:r>
            <a:r>
              <a:rPr lang="en-IN" sz="2400" dirty="0">
                <a:latin typeface="Times New Roman" panose="02020603050405020304" pitchFamily="18" charset="0"/>
                <a:cs typeface="Times New Roman" panose="02020603050405020304" pitchFamily="18" charset="0"/>
              </a:rPr>
              <a:t> Which technique avoids recomputing subproblems?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 Greedy</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b) Divide &amp; Conquer</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c) Dynamic Programming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d) Recursion</a:t>
            </a:r>
          </a:p>
        </p:txBody>
      </p:sp>
      <p:sp>
        <p:nvSpPr>
          <p:cNvPr id="5" name="Rectangle 4">
            <a:extLst>
              <a:ext uri="{FF2B5EF4-FFF2-40B4-BE49-F238E27FC236}">
                <a16:creationId xmlns:a16="http://schemas.microsoft.com/office/drawing/2014/main" id="{77BEE5FE-13F7-B928-BC2A-DBD10F26C544}"/>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E1F54C73-46A2-E303-3B22-F6D146C5A2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97F8B2A9-1548-8343-6CCC-122975F3E083}"/>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07028273-AADC-D0DE-E259-6DCD4762C132}"/>
              </a:ext>
            </a:extLst>
          </p:cNvPr>
          <p:cNvSpPr>
            <a:spLocks noGrp="1"/>
          </p:cNvSpPr>
          <p:nvPr>
            <p:ph type="sldNum" sz="quarter" idx="12"/>
          </p:nvPr>
        </p:nvSpPr>
        <p:spPr/>
        <p:txBody>
          <a:bodyPr/>
          <a:lstStyle/>
          <a:p>
            <a:fld id="{C421C46D-3F04-4F73-BF36-E6D9DA5AE143}" type="slidenum">
              <a:rPr lang="en-IN" smtClean="0"/>
              <a:t>10</a:t>
            </a:fld>
            <a:endParaRPr lang="en-IN"/>
          </a:p>
        </p:txBody>
      </p:sp>
    </p:spTree>
    <p:extLst>
      <p:ext uri="{BB962C8B-B14F-4D97-AF65-F5344CB8AC3E}">
        <p14:creationId xmlns:p14="http://schemas.microsoft.com/office/powerpoint/2010/main" val="49924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CEAC2-461A-3F22-62EA-EE5B02A12D9C}"/>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D58469F-B45C-A2BB-F887-DAD32BA02959}"/>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C8D2265A-C1D1-4E97-2FC6-30F4011F8010}"/>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F72574A-75C1-46E8-AC65-5ABB68268C1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DDFFECBA-BF42-E551-F874-1C7302140EDF}"/>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253DAA1F-2893-1781-3D0D-FCFFF6A710E7}"/>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a:t>
            </a:r>
            <a:endParaRPr lang="en-IN" sz="2800" b="1" dirty="0">
              <a:solidFill>
                <a:srgbClr val="E31E24"/>
              </a:solidFill>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4A4CCC8D-2271-B355-F645-746C3E965923}"/>
              </a:ext>
            </a:extLst>
          </p:cNvPr>
          <p:cNvSpPr txBox="1"/>
          <p:nvPr/>
        </p:nvSpPr>
        <p:spPr>
          <a:xfrm>
            <a:off x="323530" y="1235756"/>
            <a:ext cx="7848870" cy="4093428"/>
          </a:xfrm>
          <a:prstGeom prst="rect">
            <a:avLst/>
          </a:prstGeom>
          <a:noFill/>
        </p:spPr>
        <p:txBody>
          <a:bodyPr wrap="square" rtlCol="0">
            <a:spAutoFit/>
          </a:bodyPr>
          <a:lstStyle/>
          <a:p>
            <a:pPr>
              <a:spcBef>
                <a:spcPts val="1200"/>
              </a:spcBef>
              <a:spcAft>
                <a:spcPts val="1200"/>
              </a:spcAft>
            </a:pPr>
            <a:r>
              <a:rPr lang="en-IN" sz="2400" b="1" dirty="0">
                <a:latin typeface="Times New Roman" panose="02020603050405020304" pitchFamily="18" charset="0"/>
                <a:cs typeface="Times New Roman" panose="02020603050405020304" pitchFamily="18" charset="0"/>
              </a:rPr>
              <a:t>Q7.</a:t>
            </a:r>
            <a:r>
              <a:rPr lang="en-IN" sz="2400" dirty="0">
                <a:latin typeface="Times New Roman" panose="02020603050405020304" pitchFamily="18" charset="0"/>
                <a:cs typeface="Times New Roman" panose="02020603050405020304" pitchFamily="18" charset="0"/>
              </a:rPr>
              <a:t> Merge Sort follows which paradigm?</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 Greedy</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b) Brute Force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c) Divide &amp; Conquer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d) Dynamic Programming</a:t>
            </a:r>
          </a:p>
          <a:p>
            <a:pPr>
              <a:spcBef>
                <a:spcPts val="1200"/>
              </a:spcBef>
              <a:spcAft>
                <a:spcPts val="1200"/>
              </a:spcAft>
            </a:pPr>
            <a:r>
              <a:rPr lang="en-IN" sz="2400" b="1" dirty="0">
                <a:latin typeface="Times New Roman" panose="02020603050405020304" pitchFamily="18" charset="0"/>
                <a:cs typeface="Times New Roman" panose="02020603050405020304" pitchFamily="18" charset="0"/>
              </a:rPr>
              <a:t>Q8.</a:t>
            </a:r>
            <a:r>
              <a:rPr lang="en-IN" sz="2400" dirty="0">
                <a:latin typeface="Times New Roman" panose="02020603050405020304" pitchFamily="18" charset="0"/>
                <a:cs typeface="Times New Roman" panose="02020603050405020304" pitchFamily="18" charset="0"/>
              </a:rPr>
              <a:t> What happens if a recursive function has no base case?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 Executes once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b) Stops automatically</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c) Stack overflow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d) Compiler error</a:t>
            </a:r>
          </a:p>
        </p:txBody>
      </p:sp>
      <p:sp>
        <p:nvSpPr>
          <p:cNvPr id="5" name="Rectangle 4">
            <a:extLst>
              <a:ext uri="{FF2B5EF4-FFF2-40B4-BE49-F238E27FC236}">
                <a16:creationId xmlns:a16="http://schemas.microsoft.com/office/drawing/2014/main" id="{0C5C6937-2981-4A81-FB7F-1108DCC3F4AD}"/>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C204B677-E5DF-F63C-E2BF-BF9908692F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E028A217-1FC4-3EB2-6A40-71D2376D1694}"/>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CA5EE43F-B7D9-7F15-9EEA-56FA3F68693F}"/>
              </a:ext>
            </a:extLst>
          </p:cNvPr>
          <p:cNvSpPr>
            <a:spLocks noGrp="1"/>
          </p:cNvSpPr>
          <p:nvPr>
            <p:ph type="sldNum" sz="quarter" idx="12"/>
          </p:nvPr>
        </p:nvSpPr>
        <p:spPr/>
        <p:txBody>
          <a:bodyPr/>
          <a:lstStyle/>
          <a:p>
            <a:fld id="{C421C46D-3F04-4F73-BF36-E6D9DA5AE143}" type="slidenum">
              <a:rPr lang="en-IN" smtClean="0"/>
              <a:t>11</a:t>
            </a:fld>
            <a:endParaRPr lang="en-IN"/>
          </a:p>
        </p:txBody>
      </p:sp>
    </p:spTree>
    <p:extLst>
      <p:ext uri="{BB962C8B-B14F-4D97-AF65-F5344CB8AC3E}">
        <p14:creationId xmlns:p14="http://schemas.microsoft.com/office/powerpoint/2010/main" val="1249726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23530" y="1235756"/>
            <a:ext cx="7848870" cy="6063198"/>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Quiz (Answers)</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Q1:</a:t>
            </a:r>
            <a:r>
              <a:rPr lang="en-US" altLang="en-US" sz="2400" dirty="0">
                <a:latin typeface="Times New Roman" panose="02020603050405020304" pitchFamily="18" charset="0"/>
                <a:cs typeface="Times New Roman" panose="02020603050405020304" pitchFamily="18" charset="0"/>
              </a:rPr>
              <a:t> b) Method of organizing data</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Q2:</a:t>
            </a:r>
            <a:r>
              <a:rPr lang="en-US" altLang="en-US" sz="2400" dirty="0">
                <a:latin typeface="Times New Roman" panose="02020603050405020304" pitchFamily="18" charset="0"/>
                <a:cs typeface="Times New Roman" panose="02020603050405020304" pitchFamily="18" charset="0"/>
              </a:rPr>
              <a:t> b) Stack</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Q3:</a:t>
            </a:r>
            <a:r>
              <a:rPr lang="en-US" altLang="en-US" sz="2400" dirty="0">
                <a:latin typeface="Times New Roman" panose="02020603050405020304" pitchFamily="18" charset="0"/>
                <a:cs typeface="Times New Roman" panose="02020603050405020304" pitchFamily="18" charset="0"/>
              </a:rPr>
              <a:t> c) Big-O (O)</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Q4:</a:t>
            </a:r>
            <a:r>
              <a:rPr lang="en-US" altLang="en-US" sz="2400" dirty="0">
                <a:latin typeface="Times New Roman" panose="02020603050405020304" pitchFamily="18" charset="0"/>
                <a:cs typeface="Times New Roman" panose="02020603050405020304" pitchFamily="18" charset="0"/>
              </a:rPr>
              <a:t> c) O(n)</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Q5:</a:t>
            </a:r>
            <a:r>
              <a:rPr lang="en-US" altLang="en-US" sz="2400" dirty="0">
                <a:latin typeface="Times New Roman" panose="02020603050405020304" pitchFamily="18" charset="0"/>
                <a:cs typeface="Times New Roman" panose="02020603050405020304" pitchFamily="18" charset="0"/>
              </a:rPr>
              <a:t> d) O(n!)</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Q6:</a:t>
            </a:r>
            <a:r>
              <a:rPr lang="en-US" altLang="en-US" sz="2400" dirty="0">
                <a:latin typeface="Times New Roman" panose="02020603050405020304" pitchFamily="18" charset="0"/>
                <a:cs typeface="Times New Roman" panose="02020603050405020304" pitchFamily="18" charset="0"/>
              </a:rPr>
              <a:t> c) Dynamic Programming</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Q7:</a:t>
            </a:r>
            <a:r>
              <a:rPr lang="en-US" altLang="en-US" sz="2400" dirty="0">
                <a:latin typeface="Times New Roman" panose="02020603050405020304" pitchFamily="18" charset="0"/>
                <a:cs typeface="Times New Roman" panose="02020603050405020304" pitchFamily="18" charset="0"/>
              </a:rPr>
              <a:t> c) Divide &amp; Conquer</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Q8:</a:t>
            </a:r>
            <a:r>
              <a:rPr lang="en-US" altLang="en-US" sz="2400" dirty="0">
                <a:latin typeface="Times New Roman" panose="02020603050405020304" pitchFamily="18" charset="0"/>
                <a:cs typeface="Times New Roman" panose="02020603050405020304" pitchFamily="18" charset="0"/>
              </a:rPr>
              <a:t> c) Stack overflow</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smtClean="0"/>
              <a:t>12</a:t>
            </a:fld>
            <a:endParaRPr lang="en-IN"/>
          </a:p>
        </p:txBody>
      </p:sp>
    </p:spTree>
    <p:extLst>
      <p:ext uri="{BB962C8B-B14F-4D97-AF65-F5344CB8AC3E}">
        <p14:creationId xmlns:p14="http://schemas.microsoft.com/office/powerpoint/2010/main" val="1277970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51520" y="35518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What is an Array?</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830997"/>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1" name="Picture 2" descr="https://i.pinimg.com/originals/dc/4c/99/dc4c998cfc52b4c997701166efbe4b97.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5772" y="2175245"/>
            <a:ext cx="8572500" cy="369941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423579" y="5914347"/>
            <a:ext cx="396044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Fig.1: Examples of Array</a:t>
            </a:r>
          </a:p>
        </p:txBody>
      </p:sp>
      <p:sp>
        <p:nvSpPr>
          <p:cNvPr id="13" name="TextBox 12"/>
          <p:cNvSpPr txBox="1"/>
          <p:nvPr/>
        </p:nvSpPr>
        <p:spPr>
          <a:xfrm>
            <a:off x="395538" y="1043110"/>
            <a:ext cx="8712968" cy="960328"/>
          </a:xfrm>
          <a:prstGeom prst="rect">
            <a:avLst/>
          </a:prstGeom>
          <a:noFill/>
        </p:spPr>
        <p:txBody>
          <a:bodyPr wrap="square" rtlCol="0">
            <a:spAutoFit/>
          </a:bodyPr>
          <a:lstStyle/>
          <a:p>
            <a:pPr marL="176213" lvl="0" indent="-176213" algn="just" eaLnBrk="0" fontAlgn="base" hangingPunct="0">
              <a:lnSpc>
                <a:spcPct val="15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An array is a collection of elements of the </a:t>
            </a:r>
            <a:r>
              <a:rPr lang="en-US" altLang="en-US" sz="2000" b="1" dirty="0">
                <a:latin typeface="Times New Roman" panose="02020603050405020304" pitchFamily="18" charset="0"/>
                <a:cs typeface="Times New Roman" panose="02020603050405020304" pitchFamily="18" charset="0"/>
              </a:rPr>
              <a:t>same data type</a:t>
            </a:r>
            <a:endParaRPr lang="en-US" altLang="en-US" sz="2000" dirty="0">
              <a:latin typeface="Times New Roman" panose="02020603050405020304" pitchFamily="18" charset="0"/>
              <a:cs typeface="Times New Roman" panose="02020603050405020304" pitchFamily="18" charset="0"/>
            </a:endParaRPr>
          </a:p>
          <a:p>
            <a:pPr marL="176213" lvl="0" indent="-176213" algn="just" eaLnBrk="0" fontAlgn="base" hangingPunct="0">
              <a:lnSpc>
                <a:spcPct val="15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Elements are stored in </a:t>
            </a:r>
            <a:r>
              <a:rPr lang="en-US" altLang="en-US" sz="2000" b="1" dirty="0">
                <a:latin typeface="Times New Roman" panose="02020603050405020304" pitchFamily="18" charset="0"/>
                <a:cs typeface="Times New Roman" panose="02020603050405020304" pitchFamily="18" charset="0"/>
              </a:rPr>
              <a:t>contiguous memory locations</a:t>
            </a: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1847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16632" y="338526"/>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2800" b="1" dirty="0">
                <a:solidFill>
                  <a:srgbClr val="E31E24"/>
                </a:solidFill>
                <a:cs typeface="Times New Roman" panose="02020603050405020304" pitchFamily="18" charset="0"/>
                <a:sym typeface="Arial"/>
              </a:rPr>
              <a:t>What is an Array?</a:t>
            </a:r>
            <a:r>
              <a:rPr lang="en-IN" sz="2800" b="1" dirty="0">
                <a:solidFill>
                  <a:srgbClr val="E31E24"/>
                </a:solidFill>
                <a:cs typeface="Times New Roman" panose="02020603050405020304" pitchFamily="18" charset="0"/>
                <a:sym typeface="Arial"/>
              </a:rPr>
              <a:t> </a:t>
            </a:r>
            <a:r>
              <a:rPr lang="en-US" sz="2800" b="1" dirty="0">
                <a:solidFill>
                  <a:srgbClr val="E31E24"/>
                </a:solidFill>
                <a:cs typeface="Times New Roman" panose="02020603050405020304" pitchFamily="18" charset="0"/>
                <a:sym typeface="Arial"/>
              </a:rPr>
              <a:t>(Cont..)</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2050" name="Picture 2" descr="https://i.pinimg.com/originals/8d/f9/1e/8df91efc4a6b763728a77e9dcd72a265.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56401" y="1668992"/>
            <a:ext cx="4281176" cy="356139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116632" y="5455126"/>
            <a:ext cx="396044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Fig.2: Examples of Array</a:t>
            </a:r>
          </a:p>
        </p:txBody>
      </p:sp>
      <p:pic>
        <p:nvPicPr>
          <p:cNvPr id="13" name="Picture 12"/>
          <p:cNvPicPr>
            <a:picLocks noChangeAspect="1"/>
          </p:cNvPicPr>
          <p:nvPr/>
        </p:nvPicPr>
        <p:blipFill>
          <a:blip r:embed="rId7"/>
          <a:stretch>
            <a:fillRect/>
          </a:stretch>
        </p:blipFill>
        <p:spPr>
          <a:xfrm>
            <a:off x="4576528" y="1668993"/>
            <a:ext cx="4412864" cy="3521966"/>
          </a:xfrm>
          <a:prstGeom prst="rect">
            <a:avLst/>
          </a:prstGeom>
        </p:spPr>
      </p:pic>
    </p:spTree>
    <p:extLst>
      <p:ext uri="{BB962C8B-B14F-4D97-AF65-F5344CB8AC3E}">
        <p14:creationId xmlns:p14="http://schemas.microsoft.com/office/powerpoint/2010/main" val="2907099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365607"/>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Why Arrays are Used?</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4273286"/>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342900" lvl="0" indent="-342900" algn="just">
              <a:lnSpc>
                <a:spcPct val="150000"/>
              </a:lnSpc>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Efficient storage: </a:t>
            </a:r>
            <a:r>
              <a:rPr lang="en-US" altLang="en-US" sz="2400" dirty="0">
                <a:latin typeface="Times New Roman" panose="02020603050405020304" pitchFamily="18" charset="0"/>
                <a:cs typeface="Times New Roman" panose="02020603050405020304" pitchFamily="18" charset="0"/>
              </a:rPr>
              <a:t>Store multiple values using </a:t>
            </a:r>
            <a:r>
              <a:rPr lang="en-US" altLang="en-US" sz="2400" b="1" dirty="0">
                <a:latin typeface="Times New Roman" panose="02020603050405020304" pitchFamily="18" charset="0"/>
                <a:cs typeface="Times New Roman" panose="02020603050405020304" pitchFamily="18" charset="0"/>
              </a:rPr>
              <a:t>one variable name</a:t>
            </a:r>
            <a:endParaRPr lang="en-US" altLang="en-US" sz="24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Random Access: </a:t>
            </a:r>
            <a:r>
              <a:rPr lang="en-US" altLang="en-US" sz="2400" dirty="0">
                <a:latin typeface="Times New Roman" panose="02020603050405020304" pitchFamily="18" charset="0"/>
                <a:cs typeface="Times New Roman" panose="02020603050405020304" pitchFamily="18" charset="0"/>
              </a:rPr>
              <a:t>Easy access to data using an </a:t>
            </a:r>
            <a:r>
              <a:rPr lang="en-US" altLang="en-US" sz="2400" b="1" dirty="0">
                <a:latin typeface="Times New Roman" panose="02020603050405020304" pitchFamily="18" charset="0"/>
                <a:cs typeface="Times New Roman" panose="02020603050405020304" pitchFamily="18" charset="0"/>
              </a:rPr>
              <a:t>index</a:t>
            </a:r>
            <a:endParaRPr lang="en-US" altLang="en-US" sz="2400" dirty="0">
              <a:latin typeface="Times New Roman" panose="02020603050405020304" pitchFamily="18" charset="0"/>
              <a:cs typeface="Times New Roman" panose="02020603050405020304" pitchFamily="18" charset="0"/>
            </a:endParaRPr>
          </a:p>
          <a:p>
            <a:pPr marL="342900" lvl="0" indent="-342900" algn="just">
              <a:lnSpc>
                <a:spcPct val="150000"/>
              </a:lnSpc>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Iterative Operations</a:t>
            </a:r>
          </a:p>
          <a:p>
            <a:pPr marL="342900" indent="-342900" algn="just">
              <a:lnSpc>
                <a:spcPct val="150000"/>
              </a:lnSpc>
              <a:buFont typeface="Wingdings" panose="05000000000000000000" pitchFamily="2" charset="2"/>
              <a:buChar char="§"/>
              <a:defRPr/>
            </a:pPr>
            <a:r>
              <a:rPr lang="en-US" altLang="en-US" sz="2400" dirty="0">
                <a:latin typeface="Times New Roman" panose="02020603050405020304" pitchFamily="18" charset="0"/>
                <a:cs typeface="Times New Roman" panose="02020603050405020304" pitchFamily="18" charset="0"/>
              </a:rPr>
              <a:t>Reduces code length and complexity</a:t>
            </a:r>
          </a:p>
          <a:p>
            <a:pPr marL="342900" lvl="0" indent="-342900" algn="just">
              <a:lnSpc>
                <a:spcPct val="150000"/>
              </a:lnSpc>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Data </a:t>
            </a:r>
            <a:r>
              <a:rPr lang="en-US" sz="2400" dirty="0" err="1">
                <a:solidFill>
                  <a:prstClr val="black"/>
                </a:solidFill>
                <a:latin typeface="Times New Roman" panose="02020603050405020304" pitchFamily="18" charset="0"/>
                <a:cs typeface="Times New Roman" panose="02020603050405020304" pitchFamily="18" charset="0"/>
              </a:rPr>
              <a:t>Organisation</a:t>
            </a:r>
            <a:endParaRPr lang="en-US" sz="2400" dirty="0">
              <a:solidFill>
                <a:prstClr val="black"/>
              </a:solidFill>
              <a:latin typeface="Times New Roman" panose="02020603050405020304" pitchFamily="18" charset="0"/>
              <a:cs typeface="Times New Roman" panose="02020603050405020304" pitchFamily="18" charset="0"/>
            </a:endParaRPr>
          </a:p>
          <a:p>
            <a:pPr marL="342900" lvl="0" indent="-342900" algn="just">
              <a:lnSpc>
                <a:spcPct val="150000"/>
              </a:lnSpc>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Foundation for Data Structure</a:t>
            </a:r>
          </a:p>
          <a:p>
            <a:pPr marL="342900" lvl="0" indent="-342900" algn="just">
              <a:lnSpc>
                <a:spcPct val="150000"/>
              </a:lnSpc>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Represent many instances in one variable</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290835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33264" y="401536"/>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Indexing Concept</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2308324"/>
          </a:xfrm>
          <a:prstGeom prst="rect">
            <a:avLst/>
          </a:prstGeom>
        </p:spPr>
        <p:txBody>
          <a:bodyPr wrap="square">
            <a:spAutoFit/>
          </a:bodyPr>
          <a:lstStyle/>
          <a:p>
            <a:pPr marL="285750" lvl="0" indent="-28575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Linear data structure</a:t>
            </a:r>
          </a:p>
          <a:p>
            <a:pPr marL="285750" lvl="0" indent="-28575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Same data type elements</a:t>
            </a:r>
          </a:p>
          <a:p>
            <a:pPr marL="285750" lvl="0" indent="-28575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Contiguous memory allocation</a:t>
            </a:r>
          </a:p>
          <a:p>
            <a:pPr marL="285750" lvl="0" indent="-28575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Each element has an index number</a:t>
            </a:r>
          </a:p>
          <a:p>
            <a:pPr marL="285750" lvl="0" indent="-285750" algn="just">
              <a:buFont typeface="Wingdings" panose="05000000000000000000" pitchFamily="2" charset="2"/>
              <a:buChar char="§"/>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Index usually starts from 0</a:t>
            </a:r>
          </a:p>
          <a:p>
            <a:pPr marL="285750" lvl="0" indent="-28575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Elements accessed using index value</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1" name="Picture 2" descr="Array Data Structur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89214" y="3544080"/>
            <a:ext cx="5653608" cy="2373384"/>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503548" y="5983194"/>
            <a:ext cx="396044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Fig.3: Representation of an Array</a:t>
            </a:r>
          </a:p>
        </p:txBody>
      </p:sp>
    </p:spTree>
    <p:extLst>
      <p:ext uri="{BB962C8B-B14F-4D97-AF65-F5344CB8AC3E}">
        <p14:creationId xmlns:p14="http://schemas.microsoft.com/office/powerpoint/2010/main" val="18978912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349862"/>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Test your knowledge</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461665"/>
          </a:xfrm>
          <a:prstGeom prst="rect">
            <a:avLst/>
          </a:prstGeom>
        </p:spPr>
        <p:txBody>
          <a:bodyPr wrap="square">
            <a:spAutoFit/>
          </a:bodyPr>
          <a:lstStyle/>
          <a:p>
            <a:pPr marL="285750" lvl="0" indent="-285750" algn="just">
              <a:buFont typeface="Wingdings" panose="05000000000000000000" pitchFamily="2" charset="2"/>
              <a:buChar char="§"/>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Ques: What is the length of the</a:t>
            </a:r>
            <a:r>
              <a:rPr kumimoji="0" lang="en-US" sz="2400" b="0"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array shown in Figure?</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2050" name="Picture 2" descr="Java initialize Arra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2920" y="1648816"/>
            <a:ext cx="7091488" cy="337386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503548" y="5162048"/>
            <a:ext cx="396044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Fig.4:  Question on Array </a:t>
            </a:r>
          </a:p>
        </p:txBody>
      </p:sp>
    </p:spTree>
    <p:extLst>
      <p:ext uri="{BB962C8B-B14F-4D97-AF65-F5344CB8AC3E}">
        <p14:creationId xmlns:p14="http://schemas.microsoft.com/office/powerpoint/2010/main" val="25993958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Basic Terminologies of array</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3416320"/>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r>
              <a:rPr lang="en-US" sz="2400" b="1" dirty="0">
                <a:solidFill>
                  <a:prstClr val="black"/>
                </a:solidFill>
                <a:latin typeface="Times New Roman" panose="02020603050405020304" pitchFamily="18" charset="0"/>
                <a:cs typeface="Times New Roman" panose="02020603050405020304" pitchFamily="18" charset="0"/>
              </a:rPr>
              <a:t>Array Index </a:t>
            </a:r>
            <a:r>
              <a:rPr lang="en-US" sz="2400" dirty="0">
                <a:solidFill>
                  <a:prstClr val="black"/>
                </a:solidFill>
                <a:latin typeface="Times New Roman" panose="02020603050405020304" pitchFamily="18" charset="0"/>
                <a:cs typeface="Times New Roman" panose="02020603050405020304" pitchFamily="18" charset="0"/>
              </a:rPr>
              <a:t>- Each item in an array is indexed starting with 0. Each element in an array is accessed through its index.</a:t>
            </a:r>
          </a:p>
          <a:p>
            <a:pPr marL="285750" lvl="0" indent="-285750" algn="just">
              <a:buFont typeface="Wingdings" panose="05000000000000000000" pitchFamily="2" charset="2"/>
              <a:buChar char="§"/>
              <a:defRPr/>
            </a:pPr>
            <a:endParaRPr lang="en-US" sz="2400"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r>
              <a:rPr lang="en-US" sz="2400" b="1" dirty="0">
                <a:solidFill>
                  <a:prstClr val="black"/>
                </a:solidFill>
                <a:latin typeface="Times New Roman" panose="02020603050405020304" pitchFamily="18" charset="0"/>
                <a:cs typeface="Times New Roman" panose="02020603050405020304" pitchFamily="18" charset="0"/>
              </a:rPr>
              <a:t>Array Element </a:t>
            </a:r>
            <a:r>
              <a:rPr lang="en-US" sz="2400" dirty="0">
                <a:solidFill>
                  <a:prstClr val="black"/>
                </a:solidFill>
                <a:latin typeface="Times New Roman" panose="02020603050405020304" pitchFamily="18" charset="0"/>
                <a:cs typeface="Times New Roman" panose="02020603050405020304" pitchFamily="18" charset="0"/>
              </a:rPr>
              <a:t>- An array element is a single data item located at a specific index within an array.</a:t>
            </a:r>
          </a:p>
          <a:p>
            <a:pPr marL="285750" lvl="0" indent="-285750" algn="just">
              <a:buFont typeface="Wingdings" panose="05000000000000000000" pitchFamily="2" charset="2"/>
              <a:buChar char="§"/>
              <a:defRPr/>
            </a:pPr>
            <a:endParaRPr lang="en-US" sz="2400"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r>
              <a:rPr lang="en-US" sz="2400" b="1" dirty="0">
                <a:solidFill>
                  <a:prstClr val="black"/>
                </a:solidFill>
                <a:latin typeface="Times New Roman" panose="02020603050405020304" pitchFamily="18" charset="0"/>
                <a:cs typeface="Times New Roman" panose="02020603050405020304" pitchFamily="18" charset="0"/>
              </a:rPr>
              <a:t>Array Length </a:t>
            </a:r>
            <a:r>
              <a:rPr lang="en-US" sz="2400" dirty="0">
                <a:solidFill>
                  <a:prstClr val="black"/>
                </a:solidFill>
                <a:latin typeface="Times New Roman" panose="02020603050405020304" pitchFamily="18" charset="0"/>
                <a:cs typeface="Times New Roman" panose="02020603050405020304" pitchFamily="18" charset="0"/>
              </a:rPr>
              <a:t>- Array length is the total number of elements that an array can hold.</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476391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Declaration of array</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3416320"/>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400" dirty="0" err="1">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[5];            // This array will store integer type element</a:t>
            </a:r>
          </a:p>
          <a:p>
            <a:pPr marL="342900" indent="-342900">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char </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[10];      // This array will store char type element</a:t>
            </a:r>
          </a:p>
          <a:p>
            <a:pPr marL="342900" indent="-342900">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float </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[20];     // This array will store float type element</a:t>
            </a:r>
          </a:p>
          <a:p>
            <a:pPr marL="342900" indent="-342900">
              <a:buFont typeface="Wingdings" panose="05000000000000000000" pitchFamily="2" charset="2"/>
              <a:buChar char="§"/>
            </a:pPr>
            <a:endParaRPr lang="en-IN" sz="2400" dirty="0"/>
          </a:p>
          <a:p>
            <a:endParaRPr lang="en-US" sz="2400" dirty="0"/>
          </a:p>
          <a:p>
            <a:pPr lvl="0" algn="ju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45009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Initialization of array</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4154984"/>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int</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arr</a:t>
            </a:r>
            <a:r>
              <a:rPr lang="en-IN" sz="2400" dirty="0">
                <a:latin typeface="Times New Roman" panose="02020603050405020304" pitchFamily="18" charset="0"/>
                <a:cs typeface="Times New Roman" panose="02020603050405020304" pitchFamily="18" charset="0"/>
              </a:rPr>
              <a:t>[] = { 1, 2, 3, 4, 5 };</a:t>
            </a:r>
          </a:p>
          <a:p>
            <a:pPr marL="342900" indent="-342900">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char </a:t>
            </a:r>
            <a:r>
              <a:rPr lang="en-IN" sz="2400" dirty="0" err="1">
                <a:latin typeface="Times New Roman" panose="02020603050405020304" pitchFamily="18" charset="0"/>
                <a:cs typeface="Times New Roman" panose="02020603050405020304" pitchFamily="18" charset="0"/>
              </a:rPr>
              <a:t>arr</a:t>
            </a:r>
            <a:r>
              <a:rPr lang="en-IN" sz="2400" dirty="0">
                <a:latin typeface="Times New Roman" panose="02020603050405020304" pitchFamily="18" charset="0"/>
                <a:cs typeface="Times New Roman" panose="02020603050405020304" pitchFamily="18" charset="0"/>
              </a:rPr>
              <a:t>[5] = { 'a', 'b', 'c', 'd', 'e' };</a:t>
            </a:r>
          </a:p>
          <a:p>
            <a:pPr marL="342900" indent="-342900">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float </a:t>
            </a:r>
            <a:r>
              <a:rPr lang="en-IN" sz="2400" dirty="0" err="1">
                <a:latin typeface="Times New Roman" panose="02020603050405020304" pitchFamily="18" charset="0"/>
                <a:cs typeface="Times New Roman" panose="02020603050405020304" pitchFamily="18" charset="0"/>
              </a:rPr>
              <a:t>arr</a:t>
            </a:r>
            <a:r>
              <a:rPr lang="en-IN" sz="2400" dirty="0">
                <a:latin typeface="Times New Roman" panose="02020603050405020304" pitchFamily="18" charset="0"/>
                <a:cs typeface="Times New Roman" panose="02020603050405020304" pitchFamily="18" charset="0"/>
              </a:rPr>
              <a:t>[10] = { 1.4, 2.0, 24, 5.0, 0.0 };</a:t>
            </a:r>
          </a:p>
          <a:p>
            <a:pPr marL="342900" indent="-342900">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String names[5] = { “Bill”, “Susan”, “Jean”, “Piaget”, “Maria” }</a:t>
            </a:r>
            <a:endParaRPr lang="en-IN"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endParaRPr lang="en-IN" sz="2400" dirty="0"/>
          </a:p>
          <a:p>
            <a:endParaRPr lang="en-US" sz="2400" dirty="0"/>
          </a:p>
          <a:p>
            <a:pPr lvl="0" algn="ju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1209210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13493-0CDD-CCAC-F8CC-A48CE8EC68D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100D632-03C0-F09E-A82F-FB1E5F7EE2DE}"/>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DEEFF940-9F1B-5E0A-E3FA-5931F5D40561}"/>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C65ADE5-BE4B-117F-04A4-761245D8D2B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1CC5D7AF-D31E-9DBB-5392-9334F21C4049}"/>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03449EF6-B12C-6537-32E8-B8FB871BD35D}"/>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Accessing Elements</a:t>
            </a:r>
          </a:p>
        </p:txBody>
      </p:sp>
      <p:sp>
        <p:nvSpPr>
          <p:cNvPr id="3" name="TextBox 2">
            <a:extLst>
              <a:ext uri="{FF2B5EF4-FFF2-40B4-BE49-F238E27FC236}">
                <a16:creationId xmlns:a16="http://schemas.microsoft.com/office/drawing/2014/main" id="{5B5C70A2-8102-D42E-BD68-295A8BFC8614}"/>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8D219305-570B-E1E7-81D9-79D48D82029B}"/>
              </a:ext>
            </a:extLst>
          </p:cNvPr>
          <p:cNvSpPr/>
          <p:nvPr/>
        </p:nvSpPr>
        <p:spPr>
          <a:xfrm>
            <a:off x="107504" y="1107776"/>
            <a:ext cx="8784976" cy="2677656"/>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print(numbers[0])</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print(numbers[1])</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print(numbers[2])</a:t>
            </a:r>
            <a:endParaRPr lang="en-US" sz="2400" dirty="0">
              <a:latin typeface="Times New Roman" panose="02020603050405020304" pitchFamily="18" charset="0"/>
              <a:cs typeface="Times New Roman" panose="02020603050405020304" pitchFamily="18" charset="0"/>
            </a:endParaRPr>
          </a:p>
          <a:p>
            <a:pPr lvl="0" algn="ju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a:extLst>
              <a:ext uri="{FF2B5EF4-FFF2-40B4-BE49-F238E27FC236}">
                <a16:creationId xmlns:a16="http://schemas.microsoft.com/office/drawing/2014/main" id="{380E1EEB-35C4-B26E-87F7-5236E7871D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DB5C6BB9-A505-A0C7-BFD7-A6979AD34A3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266574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Classification of arrays</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4" name="Picture 13"/>
          <p:cNvPicPr>
            <a:picLocks noChangeAspect="1"/>
          </p:cNvPicPr>
          <p:nvPr/>
        </p:nvPicPr>
        <p:blipFill>
          <a:blip r:embed="rId6"/>
          <a:srcRect t="10430"/>
          <a:stretch>
            <a:fillRect/>
          </a:stretch>
        </p:blipFill>
        <p:spPr>
          <a:xfrm>
            <a:off x="586574" y="1666628"/>
            <a:ext cx="8151379" cy="3914726"/>
          </a:xfrm>
          <a:prstGeom prst="rect">
            <a:avLst/>
          </a:prstGeom>
        </p:spPr>
      </p:pic>
      <p:sp>
        <p:nvSpPr>
          <p:cNvPr id="13" name="TextBox 12"/>
          <p:cNvSpPr txBox="1"/>
          <p:nvPr/>
        </p:nvSpPr>
        <p:spPr>
          <a:xfrm>
            <a:off x="467544" y="5517232"/>
            <a:ext cx="396044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Fig.5:  Types of  Arrays </a:t>
            </a:r>
          </a:p>
        </p:txBody>
      </p:sp>
    </p:spTree>
    <p:extLst>
      <p:ext uri="{BB962C8B-B14F-4D97-AF65-F5344CB8AC3E}">
        <p14:creationId xmlns:p14="http://schemas.microsoft.com/office/powerpoint/2010/main" val="26589565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One-dimensional Array(1-D Array)</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1569660"/>
          </a:xfrm>
          <a:prstGeom prst="rect">
            <a:avLst/>
          </a:prstGeom>
        </p:spPr>
        <p:txBody>
          <a:bodyPr wrap="square">
            <a:spAutoFit/>
          </a:bodyPr>
          <a:lstStyle/>
          <a:p>
            <a:pPr marL="342900" lvl="0" indent="-342900" algn="just">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1-D as a row</a:t>
            </a:r>
          </a:p>
          <a:p>
            <a:pPr marL="342900" lvl="0" indent="-342900" algn="just">
              <a:buFont typeface="Wingdings" panose="05000000000000000000" pitchFamily="2" charset="2"/>
              <a:buChar char="§"/>
              <a:defRPr/>
            </a:pPr>
            <a:endParaRPr lang="en-US" sz="2400" dirty="0">
              <a:solidFill>
                <a:srgbClr val="273239"/>
              </a:solidFill>
              <a:highlight>
                <a:srgbClr val="FFFFFF"/>
              </a:highlight>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Elements stored one after other.</a:t>
            </a:r>
            <a:endParaRPr lang="en-US" sz="2400" dirty="0">
              <a:solidFill>
                <a:prstClr val="black"/>
              </a:solidFill>
              <a:latin typeface="Times New Roman" panose="02020603050405020304" pitchFamily="18" charset="0"/>
              <a:cs typeface="Times New Roman" panose="02020603050405020304" pitchFamily="18" charset="0"/>
            </a:endParaRPr>
          </a:p>
          <a:p>
            <a:pPr lvl="0" algn="ju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5" name="Picture 14"/>
          <p:cNvPicPr>
            <a:picLocks noChangeAspect="1"/>
          </p:cNvPicPr>
          <p:nvPr/>
        </p:nvPicPr>
        <p:blipFill>
          <a:blip r:embed="rId6"/>
          <a:srcRect l="5009" t="13741" r="4641" b="28669"/>
          <a:stretch>
            <a:fillRect/>
          </a:stretch>
        </p:blipFill>
        <p:spPr>
          <a:xfrm>
            <a:off x="323531" y="3789042"/>
            <a:ext cx="4536502" cy="1647452"/>
          </a:xfrm>
          <a:prstGeom prst="rect">
            <a:avLst/>
          </a:prstGeom>
        </p:spPr>
      </p:pic>
      <p:pic>
        <p:nvPicPr>
          <p:cNvPr id="13" name="Picture 12"/>
          <p:cNvPicPr>
            <a:picLocks noChangeAspect="1"/>
          </p:cNvPicPr>
          <p:nvPr/>
        </p:nvPicPr>
        <p:blipFill>
          <a:blip r:embed="rId7"/>
          <a:srcRect l="4724" t="9457" r="5502" b="15383"/>
          <a:stretch>
            <a:fillRect/>
          </a:stretch>
        </p:blipFill>
        <p:spPr>
          <a:xfrm>
            <a:off x="4436345" y="1497440"/>
            <a:ext cx="4695288" cy="2887065"/>
          </a:xfrm>
          <a:prstGeom prst="rect">
            <a:avLst/>
          </a:prstGeom>
        </p:spPr>
      </p:pic>
      <p:sp>
        <p:nvSpPr>
          <p:cNvPr id="14" name="TextBox 13"/>
          <p:cNvSpPr txBox="1"/>
          <p:nvPr/>
        </p:nvSpPr>
        <p:spPr>
          <a:xfrm>
            <a:off x="467544" y="5517232"/>
            <a:ext cx="6264696"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Fig.7:  Example of One-dimensional Array</a:t>
            </a:r>
          </a:p>
        </p:txBody>
      </p:sp>
    </p:spTree>
    <p:extLst>
      <p:ext uri="{BB962C8B-B14F-4D97-AF65-F5344CB8AC3E}">
        <p14:creationId xmlns:p14="http://schemas.microsoft.com/office/powerpoint/2010/main" val="12351932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36513"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One-dimensional Array(1-D Array)</a:t>
            </a: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2E8145EE-C6C9-F6BA-6858-45AEE1A465D0}"/>
              </a:ext>
            </a:extLst>
          </p:cNvPr>
          <p:cNvSpPr txBox="1"/>
          <p:nvPr/>
        </p:nvSpPr>
        <p:spPr>
          <a:xfrm>
            <a:off x="164395" y="1480231"/>
            <a:ext cx="8584069" cy="2492990"/>
          </a:xfrm>
          <a:prstGeom prst="rect">
            <a:avLst/>
          </a:prstGeom>
          <a:noFill/>
        </p:spPr>
        <p:txBody>
          <a:bodyPr wrap="square">
            <a:spAutoFit/>
          </a:bodyPr>
          <a:lstStyle/>
          <a:p>
            <a:pPr>
              <a:spcBef>
                <a:spcPts val="600"/>
              </a:spcBef>
            </a:pPr>
            <a:r>
              <a:rPr lang="en-US" b="1" i="1" dirty="0"/>
              <a:t>#</a:t>
            </a:r>
            <a:r>
              <a:rPr lang="en-US" b="1" dirty="0"/>
              <a:t> This line creates a 1-D array (list) named numbers with five integer elements.</a:t>
            </a:r>
            <a:endParaRPr lang="en-US" b="1" i="1" dirty="0"/>
          </a:p>
          <a:p>
            <a:pPr>
              <a:spcBef>
                <a:spcPts val="600"/>
              </a:spcBef>
            </a:pPr>
            <a:r>
              <a:rPr lang="en-US" i="1" dirty="0"/>
              <a:t>numbers = [10, 20, 30, 40, 50]</a:t>
            </a:r>
          </a:p>
          <a:p>
            <a:pPr>
              <a:spcBef>
                <a:spcPts val="600"/>
              </a:spcBef>
            </a:pPr>
            <a:r>
              <a:rPr lang="en-US" b="1" i="1" dirty="0"/>
              <a:t>#</a:t>
            </a:r>
            <a:r>
              <a:rPr lang="en-US" b="1" dirty="0"/>
              <a:t> This statement accesses the element at index 2 of the list.</a:t>
            </a:r>
            <a:endParaRPr lang="en-US" b="1" i="1" dirty="0"/>
          </a:p>
          <a:p>
            <a:pPr>
              <a:spcBef>
                <a:spcPts val="600"/>
              </a:spcBef>
            </a:pPr>
            <a:r>
              <a:rPr lang="en-US" i="1" dirty="0"/>
              <a:t>print(numbers[2])</a:t>
            </a:r>
            <a:endParaRPr lang="en-US" dirty="0"/>
          </a:p>
          <a:p>
            <a:pPr>
              <a:spcBef>
                <a:spcPts val="600"/>
              </a:spcBef>
            </a:pPr>
            <a:endParaRPr lang="en-US" b="1" dirty="0"/>
          </a:p>
          <a:p>
            <a:pPr>
              <a:spcBef>
                <a:spcPts val="600"/>
              </a:spcBef>
            </a:pPr>
            <a:r>
              <a:rPr lang="en-US" b="1" dirty="0"/>
              <a:t>OUTPUT:</a:t>
            </a:r>
          </a:p>
          <a:p>
            <a:pPr>
              <a:spcBef>
                <a:spcPts val="600"/>
              </a:spcBef>
            </a:pPr>
            <a:r>
              <a:rPr lang="en-US" dirty="0"/>
              <a:t>30</a:t>
            </a:r>
          </a:p>
        </p:txBody>
      </p:sp>
      <p:sp>
        <p:nvSpPr>
          <p:cNvPr id="5" name="TextBox 4">
            <a:extLst>
              <a:ext uri="{FF2B5EF4-FFF2-40B4-BE49-F238E27FC236}">
                <a16:creationId xmlns:a16="http://schemas.microsoft.com/office/drawing/2014/main" id="{F55CB8A8-243D-A9D0-022D-F0B2E6F8C77C}"/>
              </a:ext>
            </a:extLst>
          </p:cNvPr>
          <p:cNvSpPr txBox="1"/>
          <p:nvPr/>
        </p:nvSpPr>
        <p:spPr>
          <a:xfrm>
            <a:off x="250357" y="4079875"/>
            <a:ext cx="4599708" cy="1704569"/>
          </a:xfrm>
          <a:prstGeom prst="rect">
            <a:avLst/>
          </a:prstGeom>
          <a:noFill/>
        </p:spPr>
        <p:txBody>
          <a:bodyPr wrap="square">
            <a:spAutoFit/>
          </a:bodyPr>
          <a:lstStyle/>
          <a:p>
            <a:pPr marL="92075" indent="-92075">
              <a:lnSpc>
                <a:spcPct val="150000"/>
              </a:lnSpc>
              <a:buNone/>
              <a:tabLst>
                <a:tab pos="176213" algn="l"/>
              </a:tabLst>
            </a:pPr>
            <a:r>
              <a:rPr lang="en-US" b="1" dirty="0">
                <a:latin typeface="Times New Roman" panose="02020603050405020304" pitchFamily="18" charset="0"/>
                <a:cs typeface="Times New Roman" panose="02020603050405020304" pitchFamily="18" charset="0"/>
              </a:rPr>
              <a:t>Index Explanation</a:t>
            </a:r>
          </a:p>
          <a:p>
            <a:pPr marL="176213" indent="-176213">
              <a:lnSpc>
                <a:spcPct val="150000"/>
              </a:lnSpc>
              <a:buFont typeface="Arial" panose="020B0604020202020204" pitchFamily="34" charset="0"/>
              <a:buChar char="•"/>
              <a:tabLst>
                <a:tab pos="176213" algn="l"/>
              </a:tabLst>
            </a:pPr>
            <a:r>
              <a:rPr lang="en-US" dirty="0">
                <a:latin typeface="Times New Roman" panose="02020603050405020304" pitchFamily="18" charset="0"/>
                <a:cs typeface="Times New Roman" panose="02020603050405020304" pitchFamily="18" charset="0"/>
              </a:rPr>
              <a:t>numbers[0] = 10</a:t>
            </a:r>
          </a:p>
          <a:p>
            <a:pPr marL="176213" indent="-176213">
              <a:lnSpc>
                <a:spcPct val="150000"/>
              </a:lnSpc>
              <a:buFont typeface="Arial" panose="020B0604020202020204" pitchFamily="34" charset="0"/>
              <a:buChar char="•"/>
              <a:tabLst>
                <a:tab pos="176213" algn="l"/>
              </a:tabLst>
            </a:pPr>
            <a:r>
              <a:rPr lang="en-US" dirty="0">
                <a:latin typeface="Times New Roman" panose="02020603050405020304" pitchFamily="18" charset="0"/>
                <a:cs typeface="Times New Roman" panose="02020603050405020304" pitchFamily="18" charset="0"/>
              </a:rPr>
              <a:t>numbers[1] = 20</a:t>
            </a:r>
          </a:p>
          <a:p>
            <a:pPr marL="176213" indent="-176213">
              <a:lnSpc>
                <a:spcPct val="150000"/>
              </a:lnSpc>
              <a:buFont typeface="Arial" panose="020B0604020202020204" pitchFamily="34" charset="0"/>
              <a:buChar char="•"/>
              <a:tabLst>
                <a:tab pos="176213" algn="l"/>
              </a:tabLst>
            </a:pPr>
            <a:r>
              <a:rPr lang="en-US" dirty="0">
                <a:latin typeface="Times New Roman" panose="02020603050405020304" pitchFamily="18" charset="0"/>
                <a:cs typeface="Times New Roman" panose="02020603050405020304" pitchFamily="18" charset="0"/>
              </a:rPr>
              <a:t>numbers[2] = 30</a:t>
            </a:r>
          </a:p>
        </p:txBody>
      </p:sp>
    </p:spTree>
    <p:extLst>
      <p:ext uri="{BB962C8B-B14F-4D97-AF65-F5344CB8AC3E}">
        <p14:creationId xmlns:p14="http://schemas.microsoft.com/office/powerpoint/2010/main" val="36300760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A5D72-3576-0721-1E65-9C69041E902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FE31C0A-246D-7705-E077-AE49FE26B2B2}"/>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F4FBA3B3-10DE-76CE-6792-8362F6BC87B3}"/>
              </a:ext>
            </a:extLst>
          </p:cNvPr>
          <p:cNvCxnSpPr/>
          <p:nvPr/>
        </p:nvCxnSpPr>
        <p:spPr>
          <a:xfrm>
            <a:off x="-36513"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AE6E077-2646-9FBF-0C4C-3B517648449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33F66219-863D-2271-2270-2B7840D2830E}"/>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3CF67FC5-AA33-5F59-8807-56A980095C00}"/>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One-dimensional Array(1-D Array)</a:t>
            </a:r>
          </a:p>
        </p:txBody>
      </p:sp>
      <p:pic>
        <p:nvPicPr>
          <p:cNvPr id="1026" name="Picture 2" descr="Ezoic">
            <a:extLst>
              <a:ext uri="{FF2B5EF4-FFF2-40B4-BE49-F238E27FC236}">
                <a16:creationId xmlns:a16="http://schemas.microsoft.com/office/drawing/2014/main" id="{845803D9-CAD0-FB2D-F2E8-2D3A69F73C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48320983-A5EC-1323-15B2-B0D5390471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8ACF2878-B024-2B7B-3B76-F41EF535C249}"/>
              </a:ext>
            </a:extLst>
          </p:cNvPr>
          <p:cNvSpPr txBox="1"/>
          <p:nvPr/>
        </p:nvSpPr>
        <p:spPr>
          <a:xfrm>
            <a:off x="187091" y="1293834"/>
            <a:ext cx="5113731" cy="4893647"/>
          </a:xfrm>
          <a:prstGeom prst="rect">
            <a:avLst/>
          </a:prstGeom>
          <a:noFill/>
        </p:spPr>
        <p:txBody>
          <a:bodyPr wrap="square">
            <a:spAutoFit/>
          </a:bodyPr>
          <a:lstStyle/>
          <a:p>
            <a:pPr>
              <a:spcBef>
                <a:spcPts val="600"/>
              </a:spcBef>
            </a:pPr>
            <a:r>
              <a:rPr lang="en-US" b="1" i="1" dirty="0"/>
              <a:t># Declare and initialize a 1D array (list in Python)</a:t>
            </a:r>
          </a:p>
          <a:p>
            <a:pPr>
              <a:spcBef>
                <a:spcPts val="600"/>
              </a:spcBef>
            </a:pPr>
            <a:r>
              <a:rPr lang="en-US" dirty="0"/>
              <a:t>numbers = [10, 20, 30, 40, 50]</a:t>
            </a:r>
          </a:p>
          <a:p>
            <a:pPr>
              <a:spcBef>
                <a:spcPts val="600"/>
              </a:spcBef>
            </a:pPr>
            <a:r>
              <a:rPr lang="en-US" dirty="0"/>
              <a:t>sum = 0  # Variable to store the sum of the array elements</a:t>
            </a:r>
          </a:p>
          <a:p>
            <a:pPr>
              <a:spcBef>
                <a:spcPts val="600"/>
              </a:spcBef>
            </a:pPr>
            <a:endParaRPr lang="en-US" dirty="0"/>
          </a:p>
          <a:p>
            <a:pPr>
              <a:spcBef>
                <a:spcPts val="600"/>
              </a:spcBef>
            </a:pPr>
            <a:r>
              <a:rPr lang="en-US" b="1" i="1" dirty="0"/>
              <a:t># Loop through the list</a:t>
            </a:r>
          </a:p>
          <a:p>
            <a:pPr>
              <a:spcBef>
                <a:spcPts val="600"/>
              </a:spcBef>
            </a:pPr>
            <a:r>
              <a:rPr lang="en-US" dirty="0"/>
              <a:t>for </a:t>
            </a:r>
            <a:r>
              <a:rPr lang="en-US" dirty="0" err="1"/>
              <a:t>i</a:t>
            </a:r>
            <a:r>
              <a:rPr lang="en-US" dirty="0"/>
              <a:t> in range(5):</a:t>
            </a:r>
          </a:p>
          <a:p>
            <a:pPr>
              <a:spcBef>
                <a:spcPts val="600"/>
              </a:spcBef>
            </a:pPr>
            <a:r>
              <a:rPr lang="en-US" dirty="0"/>
              <a:t>    sum += numbers[</a:t>
            </a:r>
            <a:r>
              <a:rPr lang="en-US" dirty="0" err="1"/>
              <a:t>i</a:t>
            </a:r>
            <a:r>
              <a:rPr lang="en-US" dirty="0"/>
              <a:t>]  </a:t>
            </a:r>
            <a:r>
              <a:rPr lang="en-US" b="1" i="1" dirty="0"/>
              <a:t># Add each element to sum</a:t>
            </a:r>
          </a:p>
          <a:p>
            <a:pPr>
              <a:spcBef>
                <a:spcPts val="600"/>
              </a:spcBef>
            </a:pPr>
            <a:endParaRPr lang="en-US" dirty="0"/>
          </a:p>
          <a:p>
            <a:pPr>
              <a:spcBef>
                <a:spcPts val="600"/>
              </a:spcBef>
            </a:pPr>
            <a:r>
              <a:rPr lang="en-US" b="1" i="1" dirty="0"/>
              <a:t># Output the sum of the array elements</a:t>
            </a:r>
          </a:p>
          <a:p>
            <a:pPr>
              <a:spcBef>
                <a:spcPts val="600"/>
              </a:spcBef>
            </a:pPr>
            <a:r>
              <a:rPr lang="en-US" dirty="0"/>
              <a:t>print("Sum of the array elements is:", sum)</a:t>
            </a:r>
          </a:p>
          <a:p>
            <a:pPr>
              <a:spcBef>
                <a:spcPts val="600"/>
              </a:spcBef>
            </a:pPr>
            <a:endParaRPr lang="en-US" dirty="0"/>
          </a:p>
          <a:p>
            <a:pPr>
              <a:spcBef>
                <a:spcPts val="600"/>
              </a:spcBef>
            </a:pPr>
            <a:r>
              <a:rPr lang="en-US" b="1" dirty="0"/>
              <a:t>OUTPUT:</a:t>
            </a:r>
          </a:p>
          <a:p>
            <a:pPr>
              <a:spcBef>
                <a:spcPts val="600"/>
              </a:spcBef>
            </a:pPr>
            <a:r>
              <a:rPr lang="en-US" dirty="0"/>
              <a:t>Sum of the array elements is: 150</a:t>
            </a:r>
          </a:p>
        </p:txBody>
      </p:sp>
      <p:sp>
        <p:nvSpPr>
          <p:cNvPr id="17" name="TextBox 16">
            <a:extLst>
              <a:ext uri="{FF2B5EF4-FFF2-40B4-BE49-F238E27FC236}">
                <a16:creationId xmlns:a16="http://schemas.microsoft.com/office/drawing/2014/main" id="{DA14975E-9A80-43A2-4F9C-E9652A0C3A0C}"/>
              </a:ext>
            </a:extLst>
          </p:cNvPr>
          <p:cNvSpPr txBox="1"/>
          <p:nvPr/>
        </p:nvSpPr>
        <p:spPr>
          <a:xfrm>
            <a:off x="5022304" y="1480231"/>
            <a:ext cx="3942184" cy="4524315"/>
          </a:xfrm>
          <a:prstGeom prst="rect">
            <a:avLst/>
          </a:prstGeom>
          <a:solidFill>
            <a:schemeClr val="accent3">
              <a:lumMod val="40000"/>
              <a:lumOff val="60000"/>
            </a:schemeClr>
          </a:solidFill>
        </p:spPr>
        <p:txBody>
          <a:bodyPr wrap="square">
            <a:spAutoFit/>
          </a:bodyPr>
          <a:lstStyle/>
          <a:p>
            <a:r>
              <a:rPr lang="en-US" b="1" dirty="0"/>
              <a:t>Explanation:</a:t>
            </a:r>
          </a:p>
          <a:p>
            <a:pPr algn="just"/>
            <a:r>
              <a:rPr lang="en-US" dirty="0"/>
              <a:t>Array Declaration and Initialization: </a:t>
            </a:r>
          </a:p>
          <a:p>
            <a:pPr algn="just"/>
            <a:r>
              <a:rPr lang="en-US" dirty="0"/>
              <a:t>The array numbers is declared with a size of 5, meaning it can hold 5 integers. It is initialized with the values {10, 20, 30, 40, 50}.</a:t>
            </a:r>
          </a:p>
          <a:p>
            <a:pPr algn="just"/>
            <a:endParaRPr lang="en-US" dirty="0"/>
          </a:p>
          <a:p>
            <a:pPr algn="just"/>
            <a:r>
              <a:rPr lang="en-US" dirty="0"/>
              <a:t>Sum Calculation: A for loop iterates through each element of the array. The variable sum accumulates the total of the array elements as the loop progresses.</a:t>
            </a:r>
          </a:p>
          <a:p>
            <a:pPr algn="just"/>
            <a:endParaRPr lang="en-US" dirty="0"/>
          </a:p>
          <a:p>
            <a:pPr algn="just"/>
            <a:r>
              <a:rPr lang="en-US" dirty="0"/>
              <a:t>Output: After the loop completes, the total sum of the array elements is printed.</a:t>
            </a:r>
          </a:p>
        </p:txBody>
      </p:sp>
    </p:spTree>
    <p:extLst>
      <p:ext uri="{BB962C8B-B14F-4D97-AF65-F5344CB8AC3E}">
        <p14:creationId xmlns:p14="http://schemas.microsoft.com/office/powerpoint/2010/main" val="22595091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0F397-C294-1A87-0B90-754739FCB53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43EA8D2-75EA-FEB2-657D-EBDBDCD1BFD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73894323-D197-E8D9-B1F9-3F1F2FB4F579}"/>
              </a:ext>
            </a:extLst>
          </p:cNvPr>
          <p:cNvCxnSpPr/>
          <p:nvPr/>
        </p:nvCxnSpPr>
        <p:spPr>
          <a:xfrm>
            <a:off x="-36513"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19E8ED0-3C9A-C058-E19F-0B1DBE00CA4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5594BB3-1CC2-335A-EB46-24DCDBB04A60}"/>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51CAB56-1E48-59C0-4E2E-9820A3D4953E}"/>
              </a:ext>
            </a:extLst>
          </p:cNvPr>
          <p:cNvSpPr>
            <a:spLocks noChangeArrowheads="1"/>
          </p:cNvSpPr>
          <p:nvPr/>
        </p:nvSpPr>
        <p:spPr bwMode="auto">
          <a:xfrm>
            <a:off x="259014" y="349862"/>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Quick Check</a:t>
            </a:r>
          </a:p>
        </p:txBody>
      </p:sp>
      <p:pic>
        <p:nvPicPr>
          <p:cNvPr id="1026" name="Picture 2" descr="Ezoic">
            <a:extLst>
              <a:ext uri="{FF2B5EF4-FFF2-40B4-BE49-F238E27FC236}">
                <a16:creationId xmlns:a16="http://schemas.microsoft.com/office/drawing/2014/main" id="{D43239B4-877A-D8FF-D14D-05CC633684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69853326-84DC-422D-C84C-62C8753D2C9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CDD540DA-5101-ADAD-AB4C-BD34A7CFC179}"/>
              </a:ext>
            </a:extLst>
          </p:cNvPr>
          <p:cNvSpPr txBox="1"/>
          <p:nvPr/>
        </p:nvSpPr>
        <p:spPr>
          <a:xfrm>
            <a:off x="187091" y="1293834"/>
            <a:ext cx="8705389" cy="445795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is the index of the </a:t>
            </a:r>
            <a:r>
              <a:rPr lang="en-US" sz="2400" b="1" dirty="0">
                <a:latin typeface="Times New Roman" panose="02020603050405020304" pitchFamily="18" charset="0"/>
                <a:cs typeface="Times New Roman" panose="02020603050405020304" pitchFamily="18" charset="0"/>
              </a:rPr>
              <a:t>first element of an array</a:t>
            </a:r>
            <a:r>
              <a:rPr lang="en-US" sz="2400" dirty="0">
                <a:latin typeface="Times New Roman" panose="02020603050405020304" pitchFamily="18" charset="0"/>
                <a:cs typeface="Times New Roman" panose="02020603050405020304" pitchFamily="18" charset="0"/>
              </a:rPr>
              <a:t>?</a:t>
            </a: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How many elements are there in the array [5, 10, 15]?</a:t>
            </a:r>
          </a:p>
          <a:p>
            <a:pPr marL="285750" indent="-28575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Predict the output:</a:t>
            </a:r>
          </a:p>
          <a:p>
            <a:pPr marL="268288">
              <a:lnSpc>
                <a:spcPct val="150000"/>
              </a:lnSpc>
            </a:pP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 = [1, 2, 3]</a:t>
            </a:r>
          </a:p>
          <a:p>
            <a:pPr marL="268288">
              <a:lnSpc>
                <a:spcPct val="150000"/>
              </a:lnSpc>
            </a:pPr>
            <a:r>
              <a:rPr lang="en-US" sz="2400" dirty="0">
                <a:latin typeface="Times New Roman" panose="02020603050405020304" pitchFamily="18" charset="0"/>
                <a:cs typeface="Times New Roman" panose="02020603050405020304" pitchFamily="18" charset="0"/>
              </a:rPr>
              <a:t>print(</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[1])</a:t>
            </a:r>
          </a:p>
          <a:p>
            <a:pPr marL="268288" indent="-268288">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Identify the Error</a:t>
            </a:r>
          </a:p>
          <a:p>
            <a:pPr marL="268288">
              <a:lnSpc>
                <a:spcPct val="150000"/>
              </a:lnSpc>
            </a:pP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 = [1, 2, 3]</a:t>
            </a:r>
          </a:p>
          <a:p>
            <a:pPr marL="268288">
              <a:lnSpc>
                <a:spcPct val="150000"/>
              </a:lnSpc>
            </a:pPr>
            <a:r>
              <a:rPr lang="en-US" sz="2400" dirty="0">
                <a:latin typeface="Times New Roman" panose="02020603050405020304" pitchFamily="18" charset="0"/>
                <a:cs typeface="Times New Roman" panose="02020603050405020304" pitchFamily="18" charset="0"/>
              </a:rPr>
              <a:t>print(</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[3])</a:t>
            </a:r>
          </a:p>
        </p:txBody>
      </p:sp>
    </p:spTree>
    <p:extLst>
      <p:ext uri="{BB962C8B-B14F-4D97-AF65-F5344CB8AC3E}">
        <p14:creationId xmlns:p14="http://schemas.microsoft.com/office/powerpoint/2010/main" val="21768480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6FBD0-A581-944B-3058-ABBA2D30F7C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0DBB0F2-E0EC-50A0-78E2-896F2159626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0EA62B5E-6EEA-E480-1291-E79CF5399334}"/>
              </a:ext>
            </a:extLst>
          </p:cNvPr>
          <p:cNvCxnSpPr/>
          <p:nvPr/>
        </p:nvCxnSpPr>
        <p:spPr>
          <a:xfrm>
            <a:off x="-36513"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CDAC0BE-F937-D10D-F2AD-208A327A823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80460CAF-26E2-5083-C2FE-F93E21F9B952}"/>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FBF03FC6-3411-217D-B7A7-17042A1EDA73}"/>
              </a:ext>
            </a:extLst>
          </p:cNvPr>
          <p:cNvSpPr>
            <a:spLocks noChangeArrowheads="1"/>
          </p:cNvSpPr>
          <p:nvPr/>
        </p:nvSpPr>
        <p:spPr bwMode="auto">
          <a:xfrm>
            <a:off x="259014" y="349862"/>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Quick Check</a:t>
            </a:r>
          </a:p>
        </p:txBody>
      </p:sp>
      <p:pic>
        <p:nvPicPr>
          <p:cNvPr id="1026" name="Picture 2" descr="Ezoic">
            <a:extLst>
              <a:ext uri="{FF2B5EF4-FFF2-40B4-BE49-F238E27FC236}">
                <a16:creationId xmlns:a16="http://schemas.microsoft.com/office/drawing/2014/main" id="{E156CADA-5422-2F21-6908-695D81624D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492CA27A-A1B5-BD6E-90A9-5C1206C43D5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C648BC42-5ACA-AE0F-C6D8-DD2D9AC69102}"/>
              </a:ext>
            </a:extLst>
          </p:cNvPr>
          <p:cNvSpPr txBox="1"/>
          <p:nvPr/>
        </p:nvSpPr>
        <p:spPr>
          <a:xfrm>
            <a:off x="187091" y="1114382"/>
            <a:ext cx="8705389" cy="334995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Fill in the Blanks</a:t>
            </a:r>
          </a:p>
          <a:p>
            <a:pPr marL="268288">
              <a:lnSpc>
                <a:spcPct val="150000"/>
              </a:lnSpc>
            </a:pP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 = [5, 10, 15]</a:t>
            </a:r>
          </a:p>
          <a:p>
            <a:pPr marL="268288">
              <a:lnSpc>
                <a:spcPct val="150000"/>
              </a:lnSpc>
            </a:pPr>
            <a:r>
              <a:rPr lang="en-US" sz="2400" dirty="0">
                <a:latin typeface="Times New Roman" panose="02020603050405020304" pitchFamily="18" charset="0"/>
                <a:cs typeface="Times New Roman" panose="02020603050405020304" pitchFamily="18" charset="0"/>
              </a:rPr>
              <a:t>print(</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 __ ])</a:t>
            </a:r>
          </a:p>
          <a:p>
            <a:pPr marL="285750" indent="-28575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Trace the Array</a:t>
            </a:r>
          </a:p>
          <a:p>
            <a:pPr marL="268288">
              <a:lnSpc>
                <a:spcPct val="150000"/>
              </a:lnSpc>
            </a:pP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 = [1, 2, 3]</a:t>
            </a:r>
          </a:p>
          <a:p>
            <a:pPr marL="268288">
              <a:lnSpc>
                <a:spcPct val="150000"/>
              </a:lnSpc>
            </a:pPr>
            <a:r>
              <a:rPr lang="en-US" sz="2400" dirty="0">
                <a:latin typeface="Times New Roman" panose="02020603050405020304" pitchFamily="18" charset="0"/>
                <a:cs typeface="Times New Roman" panose="02020603050405020304" pitchFamily="18" charset="0"/>
              </a:rPr>
              <a:t>print(</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[1])</a:t>
            </a:r>
          </a:p>
        </p:txBody>
      </p:sp>
      <p:graphicFrame>
        <p:nvGraphicFramePr>
          <p:cNvPr id="3" name="Table 2">
            <a:extLst>
              <a:ext uri="{FF2B5EF4-FFF2-40B4-BE49-F238E27FC236}">
                <a16:creationId xmlns:a16="http://schemas.microsoft.com/office/drawing/2014/main" id="{C822155D-9564-FD2D-88E7-C5CC69DC39CF}"/>
              </a:ext>
            </a:extLst>
          </p:cNvPr>
          <p:cNvGraphicFramePr>
            <a:graphicFrameLocks noGrp="1"/>
          </p:cNvGraphicFramePr>
          <p:nvPr>
            <p:extLst>
              <p:ext uri="{D42A27DB-BD31-4B8C-83A1-F6EECF244321}">
                <p14:modId xmlns:p14="http://schemas.microsoft.com/office/powerpoint/2010/main" val="4053098513"/>
              </p:ext>
            </p:extLst>
          </p:nvPr>
        </p:nvGraphicFramePr>
        <p:xfrm>
          <a:off x="1992638" y="4723165"/>
          <a:ext cx="4762872" cy="1463040"/>
        </p:xfrm>
        <a:graphic>
          <a:graphicData uri="http://schemas.openxmlformats.org/drawingml/2006/table">
            <a:tbl>
              <a:tblPr>
                <a:tableStyleId>{0505E3EF-67EA-436B-97B2-0124C06EBD24}</a:tableStyleId>
              </a:tblPr>
              <a:tblGrid>
                <a:gridCol w="1731390">
                  <a:extLst>
                    <a:ext uri="{9D8B030D-6E8A-4147-A177-3AD203B41FA5}">
                      <a16:colId xmlns:a16="http://schemas.microsoft.com/office/drawing/2014/main" val="4222243891"/>
                    </a:ext>
                  </a:extLst>
                </a:gridCol>
                <a:gridCol w="3031482">
                  <a:extLst>
                    <a:ext uri="{9D8B030D-6E8A-4147-A177-3AD203B41FA5}">
                      <a16:colId xmlns:a16="http://schemas.microsoft.com/office/drawing/2014/main" val="3189328234"/>
                    </a:ext>
                  </a:extLst>
                </a:gridCol>
              </a:tblGrid>
              <a:tr h="0">
                <a:tc>
                  <a:txBody>
                    <a:bodyPr/>
                    <a:lstStyle/>
                    <a:p>
                      <a:pPr>
                        <a:buNone/>
                      </a:pPr>
                      <a:r>
                        <a:rPr lang="en-IN" sz="1800" b="1" dirty="0"/>
                        <a:t>Index</a:t>
                      </a:r>
                      <a:endParaRPr lang="en-IN" sz="1800" b="1" dirty="0">
                        <a:latin typeface="Times New Roman" panose="02020603050405020304" pitchFamily="18" charset="0"/>
                        <a:cs typeface="Times New Roman" panose="02020603050405020304" pitchFamily="18" charset="0"/>
                      </a:endParaRPr>
                    </a:p>
                  </a:txBody>
                  <a:tcPr marL="108000" anchor="ctr"/>
                </a:tc>
                <a:tc>
                  <a:txBody>
                    <a:bodyPr/>
                    <a:lstStyle/>
                    <a:p>
                      <a:pPr>
                        <a:buNone/>
                      </a:pPr>
                      <a:r>
                        <a:rPr lang="en-IN" sz="1800" b="1" dirty="0"/>
                        <a:t>Value</a:t>
                      </a:r>
                      <a:endParaRPr lang="en-IN" sz="1800" b="1" dirty="0">
                        <a:latin typeface="Times New Roman" panose="02020603050405020304" pitchFamily="18" charset="0"/>
                        <a:cs typeface="Times New Roman" panose="02020603050405020304" pitchFamily="18" charset="0"/>
                      </a:endParaRPr>
                    </a:p>
                  </a:txBody>
                  <a:tcPr marL="108000" anchor="ctr"/>
                </a:tc>
                <a:extLst>
                  <a:ext uri="{0D108BD9-81ED-4DB2-BD59-A6C34878D82A}">
                    <a16:rowId xmlns:a16="http://schemas.microsoft.com/office/drawing/2014/main" val="2624884621"/>
                  </a:ext>
                </a:extLst>
              </a:tr>
              <a:tr h="0">
                <a:tc>
                  <a:txBody>
                    <a:bodyPr/>
                    <a:lstStyle/>
                    <a:p>
                      <a:pPr>
                        <a:buNone/>
                      </a:pPr>
                      <a:r>
                        <a:rPr lang="en-IN" sz="1800" dirty="0"/>
                        <a:t>0</a:t>
                      </a:r>
                      <a:endParaRPr lang="en-IN" sz="1800" dirty="0">
                        <a:latin typeface="Times New Roman" panose="02020603050405020304" pitchFamily="18" charset="0"/>
                        <a:cs typeface="Times New Roman" panose="02020603050405020304" pitchFamily="18" charset="0"/>
                      </a:endParaRPr>
                    </a:p>
                  </a:txBody>
                  <a:tcPr marL="108000" anchor="ctr"/>
                </a:tc>
                <a:tc>
                  <a:txBody>
                    <a:bodyPr/>
                    <a:lstStyle/>
                    <a:p>
                      <a:pPr>
                        <a:buNone/>
                      </a:pPr>
                      <a:r>
                        <a:rPr lang="en-IN" sz="1800" dirty="0"/>
                        <a:t>?</a:t>
                      </a:r>
                      <a:endParaRPr lang="en-IN" sz="1800" dirty="0">
                        <a:latin typeface="Times New Roman" panose="02020603050405020304" pitchFamily="18" charset="0"/>
                        <a:cs typeface="Times New Roman" panose="02020603050405020304" pitchFamily="18" charset="0"/>
                      </a:endParaRPr>
                    </a:p>
                  </a:txBody>
                  <a:tcPr marL="108000" anchor="ctr"/>
                </a:tc>
                <a:extLst>
                  <a:ext uri="{0D108BD9-81ED-4DB2-BD59-A6C34878D82A}">
                    <a16:rowId xmlns:a16="http://schemas.microsoft.com/office/drawing/2014/main" val="3004745316"/>
                  </a:ext>
                </a:extLst>
              </a:tr>
              <a:tr h="0">
                <a:tc>
                  <a:txBody>
                    <a:bodyPr/>
                    <a:lstStyle/>
                    <a:p>
                      <a:pPr>
                        <a:buNone/>
                      </a:pPr>
                      <a:r>
                        <a:rPr lang="en-IN" sz="1800"/>
                        <a:t>1</a:t>
                      </a:r>
                      <a:endParaRPr lang="en-IN" sz="1800">
                        <a:latin typeface="Times New Roman" panose="02020603050405020304" pitchFamily="18" charset="0"/>
                        <a:cs typeface="Times New Roman" panose="02020603050405020304" pitchFamily="18" charset="0"/>
                      </a:endParaRPr>
                    </a:p>
                  </a:txBody>
                  <a:tcPr marL="108000" anchor="ctr"/>
                </a:tc>
                <a:tc>
                  <a:txBody>
                    <a:bodyPr/>
                    <a:lstStyle/>
                    <a:p>
                      <a:pPr>
                        <a:buNone/>
                      </a:pPr>
                      <a:r>
                        <a:rPr lang="en-IN" sz="1800" dirty="0"/>
                        <a:t>?</a:t>
                      </a:r>
                      <a:endParaRPr lang="en-IN" sz="1800" dirty="0">
                        <a:latin typeface="Times New Roman" panose="02020603050405020304" pitchFamily="18" charset="0"/>
                        <a:cs typeface="Times New Roman" panose="02020603050405020304" pitchFamily="18" charset="0"/>
                      </a:endParaRPr>
                    </a:p>
                  </a:txBody>
                  <a:tcPr marL="108000" anchor="ctr"/>
                </a:tc>
                <a:extLst>
                  <a:ext uri="{0D108BD9-81ED-4DB2-BD59-A6C34878D82A}">
                    <a16:rowId xmlns:a16="http://schemas.microsoft.com/office/drawing/2014/main" val="1595471749"/>
                  </a:ext>
                </a:extLst>
              </a:tr>
              <a:tr h="0">
                <a:tc>
                  <a:txBody>
                    <a:bodyPr/>
                    <a:lstStyle/>
                    <a:p>
                      <a:pPr>
                        <a:buNone/>
                      </a:pPr>
                      <a:r>
                        <a:rPr lang="en-IN" sz="1800"/>
                        <a:t>2</a:t>
                      </a:r>
                      <a:endParaRPr lang="en-IN" sz="1800">
                        <a:latin typeface="Times New Roman" panose="02020603050405020304" pitchFamily="18" charset="0"/>
                        <a:cs typeface="Times New Roman" panose="02020603050405020304" pitchFamily="18" charset="0"/>
                      </a:endParaRPr>
                    </a:p>
                  </a:txBody>
                  <a:tcPr marL="108000" anchor="ctr"/>
                </a:tc>
                <a:tc>
                  <a:txBody>
                    <a:bodyPr/>
                    <a:lstStyle/>
                    <a:p>
                      <a:pPr>
                        <a:buNone/>
                      </a:pPr>
                      <a:r>
                        <a:rPr lang="en-IN" sz="1800" dirty="0"/>
                        <a:t>?</a:t>
                      </a:r>
                      <a:endParaRPr lang="en-IN" sz="1800" dirty="0">
                        <a:latin typeface="Times New Roman" panose="02020603050405020304" pitchFamily="18" charset="0"/>
                        <a:cs typeface="Times New Roman" panose="02020603050405020304" pitchFamily="18" charset="0"/>
                      </a:endParaRPr>
                    </a:p>
                  </a:txBody>
                  <a:tcPr marL="108000" anchor="ctr"/>
                </a:tc>
                <a:extLst>
                  <a:ext uri="{0D108BD9-81ED-4DB2-BD59-A6C34878D82A}">
                    <a16:rowId xmlns:a16="http://schemas.microsoft.com/office/drawing/2014/main" val="2286776888"/>
                  </a:ext>
                </a:extLst>
              </a:tr>
            </a:tbl>
          </a:graphicData>
        </a:graphic>
      </p:graphicFrame>
    </p:spTree>
    <p:extLst>
      <p:ext uri="{BB962C8B-B14F-4D97-AF65-F5344CB8AC3E}">
        <p14:creationId xmlns:p14="http://schemas.microsoft.com/office/powerpoint/2010/main" val="13766045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BC9FA-EC75-029E-AE45-6F64C4A5CAA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B6BAC8E-3E60-6A12-AF20-B56A9F584E3E}"/>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B2F64C1B-0872-A657-3DFF-F6DE44F68167}"/>
              </a:ext>
            </a:extLst>
          </p:cNvPr>
          <p:cNvCxnSpPr/>
          <p:nvPr/>
        </p:nvCxnSpPr>
        <p:spPr>
          <a:xfrm>
            <a:off x="-36513"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BE85E50-8DBC-8519-BB99-C7AEE3F33B3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4F28BCDC-6A7A-B457-42F7-5C845677D780}"/>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DDD1EC63-C2E9-E337-AABD-5A47BA87D1C7}"/>
              </a:ext>
            </a:extLst>
          </p:cNvPr>
          <p:cNvSpPr>
            <a:spLocks noChangeArrowheads="1"/>
          </p:cNvSpPr>
          <p:nvPr/>
        </p:nvSpPr>
        <p:spPr bwMode="auto">
          <a:xfrm>
            <a:off x="259014" y="349862"/>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Practice Questions</a:t>
            </a:r>
          </a:p>
        </p:txBody>
      </p:sp>
      <p:pic>
        <p:nvPicPr>
          <p:cNvPr id="1026" name="Picture 2" descr="Ezoic">
            <a:extLst>
              <a:ext uri="{FF2B5EF4-FFF2-40B4-BE49-F238E27FC236}">
                <a16:creationId xmlns:a16="http://schemas.microsoft.com/office/drawing/2014/main" id="{2095AD58-8D10-A45A-3A75-5FF727DD9F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7458BF26-73BD-DB69-86F2-C71EF3FA585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D76C5C48-92A5-8B11-DFC7-D6069D2159EB}"/>
              </a:ext>
            </a:extLst>
          </p:cNvPr>
          <p:cNvSpPr txBox="1"/>
          <p:nvPr/>
        </p:nvSpPr>
        <p:spPr>
          <a:xfrm>
            <a:off x="187091" y="1393934"/>
            <a:ext cx="8705389" cy="1687963"/>
          </a:xfrm>
          <a:prstGeom prst="rect">
            <a:avLst/>
          </a:prstGeom>
          <a:noFill/>
        </p:spPr>
        <p:txBody>
          <a:bodyPr wrap="square">
            <a:spAutoFit/>
          </a:bodyPr>
          <a:lstStyle/>
          <a:p>
            <a:pPr marL="268288" lvl="0" indent="-268288"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Write Python code to create an array with 3 numbers</a:t>
            </a:r>
          </a:p>
          <a:p>
            <a:pPr marL="268288" lvl="0" indent="-268288"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Print the first element</a:t>
            </a:r>
          </a:p>
          <a:p>
            <a:pPr marL="268288" lvl="0" indent="-268288"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Print the last element</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99195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36513" y="110777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Two-dimensional Array(2-D Array)</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2677656"/>
          </a:xfrm>
          <a:prstGeom prst="rect">
            <a:avLst/>
          </a:prstGeom>
        </p:spPr>
        <p:txBody>
          <a:bodyPr wrap="square">
            <a:spAutoFit/>
          </a:bodyPr>
          <a:lstStyle/>
          <a:p>
            <a:pPr marL="342900" lvl="0" indent="-342900" algn="just">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Array of arrays</a:t>
            </a:r>
          </a:p>
          <a:p>
            <a:pPr marL="342900" lvl="0" indent="-342900" algn="just">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Consists of rows and columns</a:t>
            </a:r>
          </a:p>
          <a:p>
            <a:pPr marL="342900" lvl="0" indent="-342900" algn="just">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A 2-D array stores data in rows and columns</a:t>
            </a:r>
          </a:p>
          <a:p>
            <a:pPr marL="342900" lvl="0" indent="-342900" algn="just">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Also called a matrix</a:t>
            </a:r>
          </a:p>
          <a:p>
            <a:pPr marL="342900" lvl="0" indent="-342900" algn="just">
              <a:buFont typeface="Wingdings" panose="05000000000000000000" pitchFamily="2" charset="2"/>
              <a:buChar char="§"/>
              <a:defRPr/>
            </a:pPr>
            <a:endParaRPr lang="en-US" sz="2400" dirty="0">
              <a:solidFill>
                <a:srgbClr val="273239"/>
              </a:solidFill>
              <a:highlight>
                <a:srgbClr val="FFFFFF"/>
              </a:highlight>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
              <a:defRPr/>
            </a:pPr>
            <a:endParaRPr lang="en-US" sz="2400" dirty="0">
              <a:solidFill>
                <a:prstClr val="black"/>
              </a:solidFill>
              <a:latin typeface="Times New Roman" panose="02020603050405020304" pitchFamily="18" charset="0"/>
              <a:cs typeface="Times New Roman" panose="02020603050405020304" pitchFamily="18" charset="0"/>
            </a:endParaRPr>
          </a:p>
          <a:p>
            <a:pPr lvl="0" algn="ju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2" name="Picture 11"/>
          <p:cNvPicPr>
            <a:picLocks noChangeAspect="1"/>
          </p:cNvPicPr>
          <p:nvPr/>
        </p:nvPicPr>
        <p:blipFill>
          <a:blip r:embed="rId6"/>
          <a:srcRect l="23811" t="1665" r="24209" b="10291"/>
          <a:stretch>
            <a:fillRect/>
          </a:stretch>
        </p:blipFill>
        <p:spPr>
          <a:xfrm>
            <a:off x="5481550" y="2786480"/>
            <a:ext cx="3033659" cy="3018784"/>
          </a:xfrm>
          <a:prstGeom prst="rect">
            <a:avLst/>
          </a:prstGeom>
        </p:spPr>
      </p:pic>
      <p:sp>
        <p:nvSpPr>
          <p:cNvPr id="13" name="TextBox 12"/>
          <p:cNvSpPr txBox="1"/>
          <p:nvPr/>
        </p:nvSpPr>
        <p:spPr>
          <a:xfrm>
            <a:off x="467544" y="5805264"/>
            <a:ext cx="6264696"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Fig.8 (a):  Examples of Two-dimensional Array</a:t>
            </a:r>
          </a:p>
        </p:txBody>
      </p:sp>
      <p:pic>
        <p:nvPicPr>
          <p:cNvPr id="11" name="Picture 10"/>
          <p:cNvPicPr>
            <a:picLocks noChangeAspect="1"/>
          </p:cNvPicPr>
          <p:nvPr/>
        </p:nvPicPr>
        <p:blipFill>
          <a:blip r:embed="rId7"/>
          <a:stretch>
            <a:fillRect/>
          </a:stretch>
        </p:blipFill>
        <p:spPr>
          <a:xfrm>
            <a:off x="467544" y="2898670"/>
            <a:ext cx="4740561" cy="2436737"/>
          </a:xfrm>
          <a:prstGeom prst="rect">
            <a:avLst/>
          </a:prstGeom>
        </p:spPr>
      </p:pic>
    </p:spTree>
    <p:extLst>
      <p:ext uri="{BB962C8B-B14F-4D97-AF65-F5344CB8AC3E}">
        <p14:creationId xmlns:p14="http://schemas.microsoft.com/office/powerpoint/2010/main" val="21887433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2CE2E-F485-7535-0433-C7E92436491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B4A8B9A-2796-74D2-7AC2-BC850C2BCEF6}"/>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45C927A5-5537-7AE7-DDA2-EF2B58960785}"/>
              </a:ext>
            </a:extLst>
          </p:cNvPr>
          <p:cNvCxnSpPr/>
          <p:nvPr/>
        </p:nvCxnSpPr>
        <p:spPr>
          <a:xfrm>
            <a:off x="-36513"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02B310D-3F4D-3CFE-FFCC-BD619A87D13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814BD29-6AC3-ABB9-3757-54428698D437}"/>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3DD144B8-4B59-7B3E-CD3F-565F2141E7C8}"/>
              </a:ext>
            </a:extLst>
          </p:cNvPr>
          <p:cNvSpPr>
            <a:spLocks noChangeArrowheads="1"/>
          </p:cNvSpPr>
          <p:nvPr/>
        </p:nvSpPr>
        <p:spPr bwMode="auto">
          <a:xfrm>
            <a:off x="179512" y="330378"/>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2-D Array Memory Layout</a:t>
            </a:r>
          </a:p>
        </p:txBody>
      </p:sp>
      <p:sp>
        <p:nvSpPr>
          <p:cNvPr id="3" name="TextBox 2">
            <a:extLst>
              <a:ext uri="{FF2B5EF4-FFF2-40B4-BE49-F238E27FC236}">
                <a16:creationId xmlns:a16="http://schemas.microsoft.com/office/drawing/2014/main" id="{1F5A794A-9549-2B45-C46B-2104A72733E8}"/>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2B87EBB2-156E-B20E-B7E7-F818F83B700B}"/>
              </a:ext>
            </a:extLst>
          </p:cNvPr>
          <p:cNvSpPr/>
          <p:nvPr/>
        </p:nvSpPr>
        <p:spPr>
          <a:xfrm>
            <a:off x="123825" y="1308433"/>
            <a:ext cx="8784976" cy="5078313"/>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b="1" dirty="0">
                <a:highlight>
                  <a:srgbClr val="FFFFFF"/>
                </a:highlight>
                <a:latin typeface="Times New Roman" panose="02020603050405020304" pitchFamily="18" charset="0"/>
                <a:cs typeface="Times New Roman" panose="02020603050405020304" pitchFamily="18" charset="0"/>
              </a:rPr>
              <a:t>Rows and Columns</a:t>
            </a:r>
          </a:p>
          <a:p>
            <a:pPr marL="360363">
              <a:lnSpc>
                <a:spcPct val="150000"/>
              </a:lnSpc>
            </a:pPr>
            <a:r>
              <a:rPr lang="en-US" sz="2400" dirty="0">
                <a:highlight>
                  <a:srgbClr val="FFFFFF"/>
                </a:highlight>
                <a:latin typeface="Times New Roman" panose="02020603050405020304" pitchFamily="18" charset="0"/>
                <a:cs typeface="Times New Roman" panose="02020603050405020304" pitchFamily="18" charset="0"/>
              </a:rPr>
              <a:t>Rows → Horizontal</a:t>
            </a:r>
          </a:p>
          <a:p>
            <a:pPr marL="360363">
              <a:lnSpc>
                <a:spcPct val="150000"/>
              </a:lnSpc>
            </a:pPr>
            <a:r>
              <a:rPr lang="en-US" sz="2400" dirty="0">
                <a:highlight>
                  <a:srgbClr val="FFFFFF"/>
                </a:highlight>
                <a:latin typeface="Times New Roman" panose="02020603050405020304" pitchFamily="18" charset="0"/>
                <a:cs typeface="Times New Roman" panose="02020603050405020304" pitchFamily="18" charset="0"/>
              </a:rPr>
              <a:t>Columns → Vertical</a:t>
            </a:r>
          </a:p>
          <a:p>
            <a:pPr marL="342900" indent="-342900">
              <a:lnSpc>
                <a:spcPct val="150000"/>
              </a:lnSpc>
              <a:buFont typeface="Arial" panose="020B0604020202020204" pitchFamily="34" charset="0"/>
              <a:buChar char="•"/>
            </a:pPr>
            <a:r>
              <a:rPr lang="en-US" sz="2400" b="1" dirty="0">
                <a:highlight>
                  <a:srgbClr val="FFFFFF"/>
                </a:highlight>
                <a:latin typeface="Times New Roman" panose="02020603050405020304" pitchFamily="18" charset="0"/>
                <a:cs typeface="Times New Roman" panose="02020603050405020304" pitchFamily="18" charset="0"/>
              </a:rPr>
              <a:t>Index Format</a:t>
            </a:r>
          </a:p>
          <a:p>
            <a:pPr marL="360363">
              <a:lnSpc>
                <a:spcPct val="150000"/>
              </a:lnSpc>
            </a:pPr>
            <a:r>
              <a:rPr lang="en-US" sz="2400" dirty="0">
                <a:highlight>
                  <a:srgbClr val="FFFFFF"/>
                </a:highlight>
                <a:latin typeface="Times New Roman" panose="02020603050405020304" pitchFamily="18" charset="0"/>
                <a:cs typeface="Times New Roman" panose="02020603050405020304" pitchFamily="18" charset="0"/>
              </a:rPr>
              <a:t>array[row][column]</a:t>
            </a:r>
          </a:p>
          <a:p>
            <a:pPr marL="360363" indent="-360363">
              <a:lnSpc>
                <a:spcPct val="150000"/>
              </a:lnSpc>
              <a:buFont typeface="Arial" panose="020B0604020202020204" pitchFamily="34" charset="0"/>
              <a:buChar char="•"/>
            </a:pPr>
            <a:r>
              <a:rPr lang="en-US" sz="2400" b="1" dirty="0">
                <a:highlight>
                  <a:srgbClr val="FFFFFF"/>
                </a:highlight>
                <a:latin typeface="Times New Roman" panose="02020603050405020304" pitchFamily="18" charset="0"/>
                <a:cs typeface="Times New Roman" panose="02020603050405020304" pitchFamily="18" charset="0"/>
              </a:rPr>
              <a:t>Example:</a:t>
            </a:r>
          </a:p>
          <a:p>
            <a:pPr marL="360363">
              <a:lnSpc>
                <a:spcPct val="150000"/>
              </a:lnSpc>
            </a:pPr>
            <a:r>
              <a:rPr lang="en-US" sz="2400" dirty="0">
                <a:highlight>
                  <a:srgbClr val="FFFFFF"/>
                </a:highlight>
                <a:latin typeface="Times New Roman" panose="02020603050405020304" pitchFamily="18" charset="0"/>
                <a:cs typeface="Times New Roman" panose="02020603050405020304" pitchFamily="18" charset="0"/>
              </a:rPr>
              <a:t>matrix[1][2]</a:t>
            </a:r>
          </a:p>
          <a:p>
            <a:pPr marL="342900" lvl="0" indent="-342900" algn="just">
              <a:buFont typeface="Wingdings" panose="05000000000000000000" pitchFamily="2" charset="2"/>
              <a:buChar char="§"/>
              <a:defRPr/>
            </a:pPr>
            <a:endParaRPr lang="en-US" sz="2400" dirty="0">
              <a:solidFill>
                <a:srgbClr val="273239"/>
              </a:solidFill>
              <a:highlight>
                <a:srgbClr val="FFFFFF"/>
              </a:highlight>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
              <a:defRPr/>
            </a:pPr>
            <a:endParaRPr lang="en-US" sz="2400" dirty="0">
              <a:solidFill>
                <a:prstClr val="black"/>
              </a:solidFill>
              <a:latin typeface="Times New Roman" panose="02020603050405020304" pitchFamily="18" charset="0"/>
              <a:cs typeface="Times New Roman" panose="02020603050405020304" pitchFamily="18" charset="0"/>
            </a:endParaRPr>
          </a:p>
          <a:p>
            <a:pPr lvl="0" algn="ju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6D695D4E-BC2C-73D8-26DB-76272E919E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FB3C1598-88FE-3062-5A75-9D73F327E9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8" name="Picture 7">
            <a:extLst>
              <a:ext uri="{FF2B5EF4-FFF2-40B4-BE49-F238E27FC236}">
                <a16:creationId xmlns:a16="http://schemas.microsoft.com/office/drawing/2014/main" id="{8D5A5325-4DE6-7763-B722-75CC6255EDE9}"/>
              </a:ext>
            </a:extLst>
          </p:cNvPr>
          <p:cNvPicPr>
            <a:picLocks noChangeAspect="1"/>
          </p:cNvPicPr>
          <p:nvPr/>
        </p:nvPicPr>
        <p:blipFill>
          <a:blip r:embed="rId6"/>
          <a:srcRect l="23811" t="1665" r="24209" b="10291"/>
          <a:stretch>
            <a:fillRect/>
          </a:stretch>
        </p:blipFill>
        <p:spPr>
          <a:xfrm>
            <a:off x="4754357" y="1698513"/>
            <a:ext cx="3033659" cy="3018784"/>
          </a:xfrm>
          <a:prstGeom prst="rect">
            <a:avLst/>
          </a:prstGeom>
        </p:spPr>
      </p:pic>
      <p:sp>
        <p:nvSpPr>
          <p:cNvPr id="12" name="TextBox 11">
            <a:extLst>
              <a:ext uri="{FF2B5EF4-FFF2-40B4-BE49-F238E27FC236}">
                <a16:creationId xmlns:a16="http://schemas.microsoft.com/office/drawing/2014/main" id="{2F86DB04-D1B6-981F-C1D3-A8527AB63012}"/>
              </a:ext>
            </a:extLst>
          </p:cNvPr>
          <p:cNvSpPr txBox="1"/>
          <p:nvPr/>
        </p:nvSpPr>
        <p:spPr>
          <a:xfrm>
            <a:off x="3971332" y="4883581"/>
            <a:ext cx="4599708" cy="369332"/>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Fig.8 (b):  Example of Two-dimensional Array</a:t>
            </a:r>
          </a:p>
        </p:txBody>
      </p:sp>
    </p:spTree>
    <p:extLst>
      <p:ext uri="{BB962C8B-B14F-4D97-AF65-F5344CB8AC3E}">
        <p14:creationId xmlns:p14="http://schemas.microsoft.com/office/powerpoint/2010/main" val="26287996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6E44F72-4EF7-DE2F-24F7-FDC04B77B953}"/>
              </a:ext>
            </a:extLst>
          </p:cNvPr>
          <p:cNvPicPr>
            <a:picLocks noChangeAspect="1"/>
          </p:cNvPicPr>
          <p:nvPr/>
        </p:nvPicPr>
        <p:blipFill>
          <a:blip r:embed="rId3"/>
          <a:stretch>
            <a:fillRect/>
          </a:stretch>
        </p:blipFill>
        <p:spPr>
          <a:xfrm>
            <a:off x="0" y="6063"/>
            <a:ext cx="9144000" cy="6845873"/>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810" y="6348529"/>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88160" y="310044"/>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Worked Example – 2-D Array</a:t>
            </a: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TextBox 24">
            <a:extLst>
              <a:ext uri="{FF2B5EF4-FFF2-40B4-BE49-F238E27FC236}">
                <a16:creationId xmlns:a16="http://schemas.microsoft.com/office/drawing/2014/main" id="{92DAFF31-C190-E088-45BB-B06279E9FCD0}"/>
              </a:ext>
            </a:extLst>
          </p:cNvPr>
          <p:cNvSpPr txBox="1"/>
          <p:nvPr/>
        </p:nvSpPr>
        <p:spPr>
          <a:xfrm>
            <a:off x="187091" y="1165778"/>
            <a:ext cx="4536504" cy="5216813"/>
          </a:xfrm>
          <a:prstGeom prst="rect">
            <a:avLst/>
          </a:prstGeom>
          <a:noFill/>
        </p:spPr>
        <p:txBody>
          <a:bodyPr wrap="square">
            <a:spAutoFit/>
          </a:bodyPr>
          <a:lstStyle/>
          <a:p>
            <a:pPr>
              <a:lnSpc>
                <a:spcPct val="150000"/>
              </a:lnSpc>
            </a:pPr>
            <a:r>
              <a:rPr lang="fr-FR" dirty="0"/>
              <a:t>matrix = [</a:t>
            </a:r>
          </a:p>
          <a:p>
            <a:pPr>
              <a:lnSpc>
                <a:spcPct val="150000"/>
              </a:lnSpc>
            </a:pPr>
            <a:r>
              <a:rPr lang="fr-FR" dirty="0"/>
              <a:t>    [1, 2],</a:t>
            </a:r>
          </a:p>
          <a:p>
            <a:pPr>
              <a:lnSpc>
                <a:spcPct val="150000"/>
              </a:lnSpc>
            </a:pPr>
            <a:r>
              <a:rPr lang="fr-FR" dirty="0"/>
              <a:t>    [3, 4]</a:t>
            </a:r>
          </a:p>
          <a:p>
            <a:pPr>
              <a:lnSpc>
                <a:spcPct val="150000"/>
              </a:lnSpc>
            </a:pPr>
            <a:r>
              <a:rPr lang="fr-FR" dirty="0"/>
              <a:t>]</a:t>
            </a:r>
          </a:p>
          <a:p>
            <a:pPr>
              <a:lnSpc>
                <a:spcPct val="150000"/>
              </a:lnSpc>
            </a:pPr>
            <a:endParaRPr lang="fr-FR" dirty="0"/>
          </a:p>
          <a:p>
            <a:pPr>
              <a:lnSpc>
                <a:spcPct val="150000"/>
              </a:lnSpc>
            </a:pPr>
            <a:r>
              <a:rPr lang="en-US" b="1" i="1" dirty="0"/>
              <a:t>#Traversal Using Loops</a:t>
            </a:r>
          </a:p>
          <a:p>
            <a:pPr>
              <a:lnSpc>
                <a:spcPct val="150000"/>
              </a:lnSpc>
            </a:pPr>
            <a:r>
              <a:rPr lang="en-US" dirty="0"/>
              <a:t>for </a:t>
            </a:r>
            <a:r>
              <a:rPr lang="en-US" dirty="0" err="1"/>
              <a:t>i</a:t>
            </a:r>
            <a:r>
              <a:rPr lang="en-US" dirty="0"/>
              <a:t> in range(2):</a:t>
            </a:r>
          </a:p>
          <a:p>
            <a:pPr>
              <a:lnSpc>
                <a:spcPct val="150000"/>
              </a:lnSpc>
            </a:pPr>
            <a:r>
              <a:rPr lang="en-US" dirty="0"/>
              <a:t>    for j in range(2):</a:t>
            </a:r>
          </a:p>
          <a:p>
            <a:pPr>
              <a:lnSpc>
                <a:spcPct val="150000"/>
              </a:lnSpc>
            </a:pPr>
            <a:r>
              <a:rPr lang="en-US" dirty="0"/>
              <a:t>        print(matrix[</a:t>
            </a:r>
            <a:r>
              <a:rPr lang="en-US" dirty="0" err="1"/>
              <a:t>i</a:t>
            </a:r>
            <a:r>
              <a:rPr lang="en-US" dirty="0"/>
              <a:t>][j])</a:t>
            </a:r>
          </a:p>
          <a:p>
            <a:pPr>
              <a:lnSpc>
                <a:spcPct val="150000"/>
              </a:lnSpc>
            </a:pPr>
            <a:endParaRPr lang="en-US" dirty="0"/>
          </a:p>
          <a:p>
            <a:pPr>
              <a:lnSpc>
                <a:spcPct val="150000"/>
              </a:lnSpc>
            </a:pPr>
            <a:r>
              <a:rPr lang="en-US" b="1" dirty="0"/>
              <a:t>OUTPUT:</a:t>
            </a:r>
          </a:p>
          <a:p>
            <a:r>
              <a:rPr lang="en-US" dirty="0"/>
              <a:t>1 2</a:t>
            </a:r>
          </a:p>
          <a:p>
            <a:r>
              <a:rPr lang="en-US" dirty="0"/>
              <a:t>3 4</a:t>
            </a:r>
          </a:p>
        </p:txBody>
      </p:sp>
      <p:sp>
        <p:nvSpPr>
          <p:cNvPr id="27" name="TextBox 26">
            <a:extLst>
              <a:ext uri="{FF2B5EF4-FFF2-40B4-BE49-F238E27FC236}">
                <a16:creationId xmlns:a16="http://schemas.microsoft.com/office/drawing/2014/main" id="{F7397248-70C2-9D8A-EFD5-D8C62E2B635C}"/>
              </a:ext>
            </a:extLst>
          </p:cNvPr>
          <p:cNvSpPr txBox="1"/>
          <p:nvPr/>
        </p:nvSpPr>
        <p:spPr>
          <a:xfrm>
            <a:off x="3491880" y="1260981"/>
            <a:ext cx="5317915" cy="4801314"/>
          </a:xfrm>
          <a:prstGeom prst="rect">
            <a:avLst/>
          </a:prstGeom>
          <a:solidFill>
            <a:schemeClr val="accent3">
              <a:lumMod val="40000"/>
              <a:lumOff val="60000"/>
            </a:schemeClr>
          </a:solidFill>
        </p:spPr>
        <p:txBody>
          <a:bodyPr wrap="square">
            <a:spAutoFit/>
          </a:bodyPr>
          <a:lstStyle/>
          <a:p>
            <a:r>
              <a:rPr lang="en-US" dirty="0"/>
              <a:t>Explanation:</a:t>
            </a:r>
          </a:p>
          <a:p>
            <a:endParaRPr lang="en-US" dirty="0"/>
          </a:p>
          <a:p>
            <a:pPr algn="just"/>
            <a:r>
              <a:rPr lang="en-US" b="1" dirty="0"/>
              <a:t>2D Array Declaration and Initialization: </a:t>
            </a:r>
            <a:r>
              <a:rPr lang="en-US" dirty="0"/>
              <a:t>The variable matrix is declared as a </a:t>
            </a:r>
            <a:r>
              <a:rPr lang="en-US" b="1" dirty="0"/>
              <a:t>2-dimensional array (list of lists)</a:t>
            </a:r>
            <a:r>
              <a:rPr lang="en-US" dirty="0"/>
              <a:t> and initialized with integers arranged in a </a:t>
            </a:r>
            <a:r>
              <a:rPr lang="en-US" b="1" dirty="0"/>
              <a:t>2 × 2 format</a:t>
            </a:r>
            <a:r>
              <a:rPr lang="en-US" dirty="0"/>
              <a:t>. This represents a simple matrix with </a:t>
            </a:r>
            <a:r>
              <a:rPr lang="en-US" b="1" dirty="0"/>
              <a:t>2 rows and 2 columns</a:t>
            </a:r>
            <a:r>
              <a:rPr lang="en-US" dirty="0"/>
              <a:t>.</a:t>
            </a:r>
          </a:p>
          <a:p>
            <a:r>
              <a:rPr lang="en-US" b="1" dirty="0"/>
              <a:t>Traversal Using Nested Loops:</a:t>
            </a:r>
          </a:p>
          <a:p>
            <a:r>
              <a:rPr lang="en-US" dirty="0"/>
              <a:t>Two nested for loops are used to traverse the matrix.</a:t>
            </a:r>
          </a:p>
          <a:p>
            <a:r>
              <a:rPr lang="en-US" dirty="0"/>
              <a:t>The outer loop (</a:t>
            </a:r>
            <a:r>
              <a:rPr lang="en-US" dirty="0" err="1"/>
              <a:t>i</a:t>
            </a:r>
            <a:r>
              <a:rPr lang="en-US" dirty="0"/>
              <a:t>) iterates through the </a:t>
            </a:r>
            <a:r>
              <a:rPr lang="en-US" b="1" dirty="0"/>
              <a:t>rows</a:t>
            </a:r>
            <a:r>
              <a:rPr lang="en-US" dirty="0"/>
              <a:t>.</a:t>
            </a:r>
          </a:p>
          <a:p>
            <a:r>
              <a:rPr lang="en-US" dirty="0"/>
              <a:t>The inner loop (j) iterates through the </a:t>
            </a:r>
            <a:r>
              <a:rPr lang="en-US" b="1" dirty="0"/>
              <a:t>columns</a:t>
            </a:r>
            <a:r>
              <a:rPr lang="en-US" dirty="0"/>
              <a:t>.</a:t>
            </a:r>
            <a:br>
              <a:rPr lang="en-US" dirty="0"/>
            </a:br>
            <a:r>
              <a:rPr lang="en-US" dirty="0"/>
              <a:t>Each element is accessed using matrix[</a:t>
            </a:r>
            <a:r>
              <a:rPr lang="en-US" dirty="0" err="1"/>
              <a:t>i</a:t>
            </a:r>
            <a:r>
              <a:rPr lang="en-US" dirty="0"/>
              <a:t>][j].</a:t>
            </a:r>
          </a:p>
          <a:p>
            <a:r>
              <a:rPr lang="en-US" b="1" dirty="0"/>
              <a:t>Output:</a:t>
            </a:r>
            <a:br>
              <a:rPr lang="en-US" dirty="0"/>
            </a:br>
            <a:r>
              <a:rPr lang="en-US" dirty="0"/>
              <a:t>The program prints all elements of the matrix </a:t>
            </a:r>
            <a:r>
              <a:rPr lang="en-US" b="1" dirty="0"/>
              <a:t>row by row</a:t>
            </a:r>
            <a:r>
              <a:rPr lang="en-US" dirty="0"/>
              <a:t>.</a:t>
            </a:r>
            <a:br>
              <a:rPr lang="en-US" dirty="0"/>
            </a:br>
            <a:r>
              <a:rPr lang="en-US" dirty="0"/>
              <a:t>As a result, the values 1 2 are printed from the first row and 3 4 from the second row.</a:t>
            </a:r>
          </a:p>
        </p:txBody>
      </p:sp>
    </p:spTree>
    <p:extLst>
      <p:ext uri="{BB962C8B-B14F-4D97-AF65-F5344CB8AC3E}">
        <p14:creationId xmlns:p14="http://schemas.microsoft.com/office/powerpoint/2010/main" val="20752105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32445-AA77-C36A-D1FB-D19EE0C71E6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B91B060-052F-6A24-785E-934F395DF28F}"/>
              </a:ext>
            </a:extLst>
          </p:cNvPr>
          <p:cNvPicPr>
            <a:picLocks noChangeAspect="1"/>
          </p:cNvPicPr>
          <p:nvPr/>
        </p:nvPicPr>
        <p:blipFill>
          <a:blip r:embed="rId3"/>
          <a:stretch>
            <a:fillRect/>
          </a:stretch>
        </p:blipFill>
        <p:spPr>
          <a:xfrm>
            <a:off x="0" y="6063"/>
            <a:ext cx="9144000" cy="6845873"/>
          </a:xfrm>
          <a:prstGeom prst="rect">
            <a:avLst/>
          </a:prstGeom>
        </p:spPr>
      </p:pic>
      <p:pic>
        <p:nvPicPr>
          <p:cNvPr id="9" name="Picture 8">
            <a:extLst>
              <a:ext uri="{FF2B5EF4-FFF2-40B4-BE49-F238E27FC236}">
                <a16:creationId xmlns:a16="http://schemas.microsoft.com/office/drawing/2014/main" id="{E00E54FE-65B1-5560-0296-C74907CF86E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511" y="6356350"/>
            <a:ext cx="2411760" cy="346691"/>
          </a:xfrm>
          <a:prstGeom prst="rect">
            <a:avLst/>
          </a:prstGeom>
        </p:spPr>
      </p:pic>
      <p:sp>
        <p:nvSpPr>
          <p:cNvPr id="6" name="TextBox 5">
            <a:extLst>
              <a:ext uri="{FF2B5EF4-FFF2-40B4-BE49-F238E27FC236}">
                <a16:creationId xmlns:a16="http://schemas.microsoft.com/office/drawing/2014/main" id="{880F3BEC-F680-5EE7-3DCE-11D336339617}"/>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399A0D57-291E-3BC0-FBC0-DAAECFB54F8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Two-dimensional Array (2-D Array)</a:t>
            </a:r>
          </a:p>
        </p:txBody>
      </p:sp>
      <p:pic>
        <p:nvPicPr>
          <p:cNvPr id="1026" name="Picture 2" descr="Ezoic">
            <a:extLst>
              <a:ext uri="{FF2B5EF4-FFF2-40B4-BE49-F238E27FC236}">
                <a16:creationId xmlns:a16="http://schemas.microsoft.com/office/drawing/2014/main" id="{9609F6F4-FCE6-CD56-76F7-C8BE78A4B0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2044DB05-1C70-C7B0-93B4-9F1F1F025F59}"/>
              </a:ext>
            </a:extLst>
          </p:cNvPr>
          <p:cNvSpPr txBox="1"/>
          <p:nvPr/>
        </p:nvSpPr>
        <p:spPr>
          <a:xfrm>
            <a:off x="4881696" y="1200062"/>
            <a:ext cx="4172548" cy="5493812"/>
          </a:xfrm>
          <a:prstGeom prst="rect">
            <a:avLst/>
          </a:prstGeom>
          <a:solidFill>
            <a:schemeClr val="accent3">
              <a:lumMod val="40000"/>
              <a:lumOff val="60000"/>
            </a:schemeClr>
          </a:solidFill>
        </p:spPr>
        <p:txBody>
          <a:bodyPr wrap="square">
            <a:spAutoFit/>
          </a:bodyPr>
          <a:lstStyle/>
          <a:p>
            <a:r>
              <a:rPr lang="en-US" dirty="0"/>
              <a:t>Explanation:</a:t>
            </a:r>
          </a:p>
          <a:p>
            <a:endParaRPr lang="en-US" dirty="0"/>
          </a:p>
          <a:p>
            <a:pPr algn="just"/>
            <a:r>
              <a:rPr lang="en-US" sz="1500" b="1" dirty="0"/>
              <a:t>2D Array Declaration and Initialization:</a:t>
            </a:r>
            <a:br>
              <a:rPr lang="en-US" sz="1500" dirty="0"/>
            </a:br>
            <a:r>
              <a:rPr lang="en-US" sz="1500" dirty="0"/>
              <a:t>The variable matrix is declared as a </a:t>
            </a:r>
            <a:r>
              <a:rPr lang="en-US" sz="1500" b="1" dirty="0"/>
              <a:t>2-dimensional array</a:t>
            </a:r>
            <a:r>
              <a:rPr lang="en-US" sz="1500" dirty="0"/>
              <a:t> and initialized with integers arranged in a </a:t>
            </a:r>
            <a:r>
              <a:rPr lang="en-US" sz="1500" b="1" dirty="0"/>
              <a:t>3 × 3 layout</a:t>
            </a:r>
            <a:r>
              <a:rPr lang="en-US" sz="1500" dirty="0"/>
              <a:t>. This represents a simple </a:t>
            </a:r>
            <a:r>
              <a:rPr lang="en-US" sz="1500" b="1" dirty="0"/>
              <a:t>square matrix</a:t>
            </a:r>
            <a:r>
              <a:rPr lang="en-US" sz="1500" dirty="0"/>
              <a:t> with three rows and three columns.</a:t>
            </a:r>
          </a:p>
          <a:p>
            <a:pPr algn="just"/>
            <a:r>
              <a:rPr lang="en-US" sz="1500" b="1" dirty="0"/>
              <a:t>Transpose Calculation:</a:t>
            </a:r>
          </a:p>
          <a:p>
            <a:pPr algn="just"/>
            <a:r>
              <a:rPr lang="en-US" sz="1500" dirty="0"/>
              <a:t>Another 2D array named transpose is created to store the transposed matrix.</a:t>
            </a:r>
            <a:br>
              <a:rPr lang="en-US" sz="1500" dirty="0"/>
            </a:br>
            <a:r>
              <a:rPr lang="en-US" sz="1500" dirty="0"/>
              <a:t>A pair of </a:t>
            </a:r>
            <a:r>
              <a:rPr lang="en-US" sz="1500" b="1" dirty="0"/>
              <a:t>nested loops</a:t>
            </a:r>
            <a:r>
              <a:rPr lang="en-US" sz="1500" dirty="0"/>
              <a:t> is used to compute the transpose:</a:t>
            </a:r>
          </a:p>
          <a:p>
            <a:pPr algn="just"/>
            <a:r>
              <a:rPr lang="en-US" sz="1500" dirty="0"/>
              <a:t>The outer loop (</a:t>
            </a:r>
            <a:r>
              <a:rPr lang="en-US" sz="1500" dirty="0" err="1"/>
              <a:t>i</a:t>
            </a:r>
            <a:r>
              <a:rPr lang="en-US" sz="1500" dirty="0"/>
              <a:t>) iterates through the rows of the original matrix.</a:t>
            </a:r>
          </a:p>
          <a:p>
            <a:pPr algn="just"/>
            <a:r>
              <a:rPr lang="en-US" sz="1500" dirty="0"/>
              <a:t>The inner loop (j) iterates through the columns.</a:t>
            </a:r>
            <a:br>
              <a:rPr lang="en-US" sz="1500" dirty="0"/>
            </a:br>
            <a:r>
              <a:rPr lang="en-US" sz="1500" dirty="0"/>
              <a:t>Each element at position matrix[</a:t>
            </a:r>
            <a:r>
              <a:rPr lang="en-US" sz="1500" dirty="0" err="1"/>
              <a:t>i</a:t>
            </a:r>
            <a:r>
              <a:rPr lang="en-US" sz="1500" dirty="0"/>
              <a:t>][j] is assigned to transpose[j][</a:t>
            </a:r>
            <a:r>
              <a:rPr lang="en-US" sz="1500" dirty="0" err="1"/>
              <a:t>i</a:t>
            </a:r>
            <a:r>
              <a:rPr lang="en-US" sz="1500" dirty="0"/>
              <a:t>], effectively </a:t>
            </a:r>
            <a:r>
              <a:rPr lang="en-US" sz="1500" b="1" dirty="0"/>
              <a:t>swapping rows and columns</a:t>
            </a:r>
            <a:r>
              <a:rPr lang="en-US" sz="1500" dirty="0"/>
              <a:t>.</a:t>
            </a:r>
          </a:p>
          <a:p>
            <a:r>
              <a:rPr lang="en-US" sz="1500" b="1" dirty="0"/>
              <a:t>Output:</a:t>
            </a:r>
            <a:br>
              <a:rPr lang="en-US" sz="1500" dirty="0"/>
            </a:br>
            <a:r>
              <a:rPr lang="en-US" sz="1500" dirty="0"/>
              <a:t>The program prints the </a:t>
            </a:r>
            <a:r>
              <a:rPr lang="en-US" sz="1500" b="1" dirty="0"/>
              <a:t>transposed matrix</a:t>
            </a:r>
            <a:r>
              <a:rPr lang="en-US" sz="1500" dirty="0"/>
              <a:t> row by row.</a:t>
            </a:r>
            <a:br>
              <a:rPr lang="en-US" sz="1500" dirty="0"/>
            </a:br>
            <a:r>
              <a:rPr lang="en-US" sz="1500" dirty="0"/>
              <a:t>Each element is accessed using its </a:t>
            </a:r>
            <a:r>
              <a:rPr lang="en-US" sz="1500" b="1" dirty="0"/>
              <a:t>row (</a:t>
            </a:r>
            <a:r>
              <a:rPr lang="en-US" sz="1500" b="1" dirty="0" err="1"/>
              <a:t>i</a:t>
            </a:r>
            <a:r>
              <a:rPr lang="en-US" sz="1500" b="1" dirty="0"/>
              <a:t>) and column (j) indices</a:t>
            </a:r>
            <a:r>
              <a:rPr lang="en-US" sz="1500" dirty="0"/>
              <a:t>, resulting in the output.</a:t>
            </a:r>
          </a:p>
        </p:txBody>
      </p:sp>
      <p:sp>
        <p:nvSpPr>
          <p:cNvPr id="10" name="Slide Number Placeholder 9">
            <a:extLst>
              <a:ext uri="{FF2B5EF4-FFF2-40B4-BE49-F238E27FC236}">
                <a16:creationId xmlns:a16="http://schemas.microsoft.com/office/drawing/2014/main" id="{2D4B3FBE-6ADC-E3B5-447A-33891789B1B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TextBox 24">
            <a:extLst>
              <a:ext uri="{FF2B5EF4-FFF2-40B4-BE49-F238E27FC236}">
                <a16:creationId xmlns:a16="http://schemas.microsoft.com/office/drawing/2014/main" id="{283FCB56-5F85-7357-92C6-67729D8A5DEE}"/>
              </a:ext>
            </a:extLst>
          </p:cNvPr>
          <p:cNvSpPr txBox="1"/>
          <p:nvPr/>
        </p:nvSpPr>
        <p:spPr>
          <a:xfrm>
            <a:off x="162271" y="1031710"/>
            <a:ext cx="5040560" cy="5078313"/>
          </a:xfrm>
          <a:prstGeom prst="rect">
            <a:avLst/>
          </a:prstGeom>
          <a:noFill/>
        </p:spPr>
        <p:txBody>
          <a:bodyPr wrap="square">
            <a:spAutoFit/>
          </a:bodyPr>
          <a:lstStyle/>
          <a:p>
            <a:r>
              <a:rPr lang="en-US" b="1" dirty="0"/>
              <a:t># Declare and initialize a 2D array (3x3 matrix)</a:t>
            </a:r>
          </a:p>
          <a:p>
            <a:r>
              <a:rPr lang="en-US" dirty="0"/>
              <a:t>matrix = [</a:t>
            </a:r>
          </a:p>
          <a:p>
            <a:r>
              <a:rPr lang="en-US" dirty="0"/>
              <a:t>    [1, 2, 3],</a:t>
            </a:r>
          </a:p>
          <a:p>
            <a:r>
              <a:rPr lang="en-US" dirty="0"/>
              <a:t>    [4, 5, 6],</a:t>
            </a:r>
          </a:p>
          <a:p>
            <a:r>
              <a:rPr lang="en-US" dirty="0"/>
              <a:t>    [7, 8, 9]</a:t>
            </a:r>
          </a:p>
          <a:p>
            <a:r>
              <a:rPr lang="en-US" dirty="0"/>
              <a:t>]</a:t>
            </a:r>
          </a:p>
          <a:p>
            <a:r>
              <a:rPr lang="en-US" b="1" dirty="0"/>
              <a:t># Declare a 2D array to store the transpose</a:t>
            </a:r>
          </a:p>
          <a:p>
            <a:r>
              <a:rPr lang="en-US" dirty="0"/>
              <a:t>transpose = [[0 for _ in range(3)] for _ in range(3)]</a:t>
            </a:r>
          </a:p>
          <a:p>
            <a:endParaRPr lang="en-US" dirty="0"/>
          </a:p>
          <a:p>
            <a:r>
              <a:rPr lang="en-US" b="1" dirty="0"/>
              <a:t># Compute the transpose of the matrix</a:t>
            </a:r>
          </a:p>
          <a:p>
            <a:r>
              <a:rPr lang="en-US" dirty="0"/>
              <a:t>for </a:t>
            </a:r>
            <a:r>
              <a:rPr lang="en-US" dirty="0" err="1"/>
              <a:t>i</a:t>
            </a:r>
            <a:r>
              <a:rPr lang="en-US" dirty="0"/>
              <a:t> in range(3):</a:t>
            </a:r>
          </a:p>
          <a:p>
            <a:r>
              <a:rPr lang="en-US" dirty="0"/>
              <a:t>    for j in range(3):</a:t>
            </a:r>
          </a:p>
          <a:p>
            <a:r>
              <a:rPr lang="en-US" dirty="0"/>
              <a:t>        transpose[j][</a:t>
            </a:r>
            <a:r>
              <a:rPr lang="en-US" dirty="0" err="1"/>
              <a:t>i</a:t>
            </a:r>
            <a:r>
              <a:rPr lang="en-US" dirty="0"/>
              <a:t>] = matrix[</a:t>
            </a:r>
            <a:r>
              <a:rPr lang="en-US" dirty="0" err="1"/>
              <a:t>i</a:t>
            </a:r>
            <a:r>
              <a:rPr lang="en-US" dirty="0"/>
              <a:t>][j]</a:t>
            </a:r>
          </a:p>
          <a:p>
            <a:endParaRPr lang="en-US" dirty="0"/>
          </a:p>
          <a:p>
            <a:r>
              <a:rPr lang="en-US" b="1" dirty="0"/>
              <a:t># Print the transpose matrix</a:t>
            </a:r>
          </a:p>
          <a:p>
            <a:r>
              <a:rPr lang="en-US" dirty="0"/>
              <a:t>print("Transpose of the matrix:")</a:t>
            </a:r>
          </a:p>
          <a:p>
            <a:r>
              <a:rPr lang="en-US" dirty="0"/>
              <a:t>for row in transpose:</a:t>
            </a:r>
          </a:p>
          <a:p>
            <a:r>
              <a:rPr lang="en-US" dirty="0"/>
              <a:t>    print(row)</a:t>
            </a:r>
          </a:p>
        </p:txBody>
      </p:sp>
      <p:sp>
        <p:nvSpPr>
          <p:cNvPr id="5" name="TextBox 4">
            <a:extLst>
              <a:ext uri="{FF2B5EF4-FFF2-40B4-BE49-F238E27FC236}">
                <a16:creationId xmlns:a16="http://schemas.microsoft.com/office/drawing/2014/main" id="{35A6DDC9-9F96-027C-FF9F-18CC4B28AA0A}"/>
              </a:ext>
            </a:extLst>
          </p:cNvPr>
          <p:cNvSpPr txBox="1"/>
          <p:nvPr/>
        </p:nvSpPr>
        <p:spPr>
          <a:xfrm>
            <a:off x="2329368" y="5509426"/>
            <a:ext cx="2588332" cy="1200329"/>
          </a:xfrm>
          <a:prstGeom prst="rect">
            <a:avLst/>
          </a:prstGeom>
          <a:solidFill>
            <a:schemeClr val="accent6">
              <a:lumMod val="40000"/>
              <a:lumOff val="60000"/>
            </a:schemeClr>
          </a:solidFill>
        </p:spPr>
        <p:txBody>
          <a:bodyPr wrap="square">
            <a:spAutoFit/>
          </a:bodyPr>
          <a:lstStyle/>
          <a:p>
            <a:r>
              <a:rPr lang="en-IN" b="1" dirty="0"/>
              <a:t>Transpose of the matrix:</a:t>
            </a:r>
          </a:p>
          <a:p>
            <a:r>
              <a:rPr lang="en-IN" dirty="0"/>
              <a:t>[1, 4, 7]</a:t>
            </a:r>
          </a:p>
          <a:p>
            <a:r>
              <a:rPr lang="en-IN" dirty="0"/>
              <a:t>[2, 5, 8]</a:t>
            </a:r>
          </a:p>
          <a:p>
            <a:r>
              <a:rPr lang="en-IN" dirty="0"/>
              <a:t>[3, 6, 9]</a:t>
            </a:r>
          </a:p>
        </p:txBody>
      </p:sp>
    </p:spTree>
    <p:extLst>
      <p:ext uri="{BB962C8B-B14F-4D97-AF65-F5344CB8AC3E}">
        <p14:creationId xmlns:p14="http://schemas.microsoft.com/office/powerpoint/2010/main" val="55264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B1875-FCB0-2FB9-A39A-BD873B00B5A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00E45BB-E05C-A4E8-2B23-E500226D74C2}"/>
              </a:ext>
            </a:extLst>
          </p:cNvPr>
          <p:cNvPicPr>
            <a:picLocks noChangeAspect="1"/>
          </p:cNvPicPr>
          <p:nvPr/>
        </p:nvPicPr>
        <p:blipFill>
          <a:blip r:embed="rId3"/>
          <a:stretch>
            <a:fillRect/>
          </a:stretch>
        </p:blipFill>
        <p:spPr>
          <a:xfrm>
            <a:off x="0" y="6063"/>
            <a:ext cx="9144000" cy="6845873"/>
          </a:xfrm>
          <a:prstGeom prst="rect">
            <a:avLst/>
          </a:prstGeom>
        </p:spPr>
      </p:pic>
      <p:pic>
        <p:nvPicPr>
          <p:cNvPr id="9" name="Picture 8">
            <a:extLst>
              <a:ext uri="{FF2B5EF4-FFF2-40B4-BE49-F238E27FC236}">
                <a16:creationId xmlns:a16="http://schemas.microsoft.com/office/drawing/2014/main" id="{00644F8D-C733-E65C-F733-D326765CDED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079" y="6372186"/>
            <a:ext cx="2411760" cy="346691"/>
          </a:xfrm>
          <a:prstGeom prst="rect">
            <a:avLst/>
          </a:prstGeom>
        </p:spPr>
      </p:pic>
      <p:sp>
        <p:nvSpPr>
          <p:cNvPr id="6" name="TextBox 5">
            <a:extLst>
              <a:ext uri="{FF2B5EF4-FFF2-40B4-BE49-F238E27FC236}">
                <a16:creationId xmlns:a16="http://schemas.microsoft.com/office/drawing/2014/main" id="{957C76DE-99F4-0160-83E8-368CD53DD8A9}"/>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92998538-0A41-5F37-C02A-A0408E28F005}"/>
              </a:ext>
            </a:extLst>
          </p:cNvPr>
          <p:cNvSpPr>
            <a:spLocks noChangeArrowheads="1"/>
          </p:cNvSpPr>
          <p:nvPr/>
        </p:nvSpPr>
        <p:spPr bwMode="auto">
          <a:xfrm>
            <a:off x="233264" y="27130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Quick Check</a:t>
            </a:r>
          </a:p>
        </p:txBody>
      </p:sp>
      <p:pic>
        <p:nvPicPr>
          <p:cNvPr id="1026" name="Picture 2" descr="Ezoic">
            <a:extLst>
              <a:ext uri="{FF2B5EF4-FFF2-40B4-BE49-F238E27FC236}">
                <a16:creationId xmlns:a16="http://schemas.microsoft.com/office/drawing/2014/main" id="{688C3E45-56ED-9ED7-E0A8-BA7BF542CA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BDA56B02-50F6-BD4B-FBE1-1106E7D8F46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TextBox 24">
            <a:extLst>
              <a:ext uri="{FF2B5EF4-FFF2-40B4-BE49-F238E27FC236}">
                <a16:creationId xmlns:a16="http://schemas.microsoft.com/office/drawing/2014/main" id="{C352FD8D-CE9E-4D7C-C5F0-1567A0BAA5AA}"/>
              </a:ext>
            </a:extLst>
          </p:cNvPr>
          <p:cNvSpPr txBox="1"/>
          <p:nvPr/>
        </p:nvSpPr>
        <p:spPr>
          <a:xfrm>
            <a:off x="180806" y="1274438"/>
            <a:ext cx="8639665" cy="3165290"/>
          </a:xfrm>
          <a:prstGeom prst="rect">
            <a:avLst/>
          </a:prstGeom>
          <a:noFill/>
        </p:spPr>
        <p:txBody>
          <a:bodyPr wrap="square">
            <a:spAutoFit/>
          </a:bodyPr>
          <a:lstStyle/>
          <a:p>
            <a:pPr>
              <a:lnSpc>
                <a:spcPct val="150000"/>
              </a:lnSpc>
            </a:pPr>
            <a:r>
              <a:rPr lang="en-US" sz="2400" dirty="0">
                <a:latin typeface="Times New Roman" panose="02020603050405020304" pitchFamily="18" charset="0"/>
                <a:cs typeface="Times New Roman" panose="02020603050405020304" pitchFamily="18" charset="0"/>
              </a:rPr>
              <a:t>Q. Trace the Matrix</a:t>
            </a:r>
          </a:p>
          <a:p>
            <a:pPr algn="ctr"/>
            <a:r>
              <a:rPr lang="en-US" sz="2400" dirty="0">
                <a:latin typeface="Times New Roman" panose="02020603050405020304" pitchFamily="18" charset="0"/>
                <a:cs typeface="Times New Roman" panose="02020603050405020304" pitchFamily="18" charset="0"/>
              </a:rPr>
              <a:t>5  6</a:t>
            </a:r>
          </a:p>
          <a:p>
            <a:pPr algn="ctr">
              <a:lnSpc>
                <a:spcPct val="150000"/>
              </a:lnSpc>
            </a:pPr>
            <a:r>
              <a:rPr lang="en-US" sz="2400" dirty="0">
                <a:latin typeface="Times New Roman" panose="02020603050405020304" pitchFamily="18" charset="0"/>
                <a:cs typeface="Times New Roman" panose="02020603050405020304" pitchFamily="18" charset="0"/>
              </a:rPr>
              <a:t>7  8</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is the value at matrix[1][0]?</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is the value at matrix[0][1]?</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is the value at matrix[1][2]?</a:t>
            </a:r>
          </a:p>
        </p:txBody>
      </p:sp>
    </p:spTree>
    <p:extLst>
      <p:ext uri="{BB962C8B-B14F-4D97-AF65-F5344CB8AC3E}">
        <p14:creationId xmlns:p14="http://schemas.microsoft.com/office/powerpoint/2010/main" val="5965638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FE68F-9927-A85F-6BC5-2C238F05A013}"/>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7C6C909-7C3B-3841-27B1-4F346235D680}"/>
              </a:ext>
            </a:extLst>
          </p:cNvPr>
          <p:cNvPicPr>
            <a:picLocks noChangeAspect="1"/>
          </p:cNvPicPr>
          <p:nvPr/>
        </p:nvPicPr>
        <p:blipFill>
          <a:blip r:embed="rId3"/>
          <a:stretch>
            <a:fillRect/>
          </a:stretch>
        </p:blipFill>
        <p:spPr>
          <a:xfrm>
            <a:off x="0" y="6063"/>
            <a:ext cx="9144000" cy="6845873"/>
          </a:xfrm>
          <a:prstGeom prst="rect">
            <a:avLst/>
          </a:prstGeom>
        </p:spPr>
      </p:pic>
      <p:pic>
        <p:nvPicPr>
          <p:cNvPr id="9" name="Picture 8">
            <a:extLst>
              <a:ext uri="{FF2B5EF4-FFF2-40B4-BE49-F238E27FC236}">
                <a16:creationId xmlns:a16="http://schemas.microsoft.com/office/drawing/2014/main" id="{284A19F5-3FD4-BBE9-37FF-066BFE4AA72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356350"/>
            <a:ext cx="2411760" cy="346691"/>
          </a:xfrm>
          <a:prstGeom prst="rect">
            <a:avLst/>
          </a:prstGeom>
        </p:spPr>
      </p:pic>
      <p:sp>
        <p:nvSpPr>
          <p:cNvPr id="6" name="TextBox 5">
            <a:extLst>
              <a:ext uri="{FF2B5EF4-FFF2-40B4-BE49-F238E27FC236}">
                <a16:creationId xmlns:a16="http://schemas.microsoft.com/office/drawing/2014/main" id="{897E32C2-30DA-09EC-6667-CACE23592864}"/>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1B64CE3F-8D81-E958-0971-E6403A9BCA17}"/>
              </a:ext>
            </a:extLst>
          </p:cNvPr>
          <p:cNvSpPr>
            <a:spLocks noChangeArrowheads="1"/>
          </p:cNvSpPr>
          <p:nvPr/>
        </p:nvSpPr>
        <p:spPr bwMode="auto">
          <a:xfrm>
            <a:off x="233264" y="345826"/>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Practice Questions</a:t>
            </a:r>
          </a:p>
        </p:txBody>
      </p:sp>
      <p:pic>
        <p:nvPicPr>
          <p:cNvPr id="1026" name="Picture 2" descr="Ezoic">
            <a:extLst>
              <a:ext uri="{FF2B5EF4-FFF2-40B4-BE49-F238E27FC236}">
                <a16:creationId xmlns:a16="http://schemas.microsoft.com/office/drawing/2014/main" id="{547D6B3B-2F0E-D6D9-D092-A86FD27D26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F7CA2B16-50FC-CAD1-CBB4-F5CB4EA521B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TextBox 24">
            <a:extLst>
              <a:ext uri="{FF2B5EF4-FFF2-40B4-BE49-F238E27FC236}">
                <a16:creationId xmlns:a16="http://schemas.microsoft.com/office/drawing/2014/main" id="{2AB3BFA1-736F-F5D6-E92B-8ABA3E60F877}"/>
              </a:ext>
            </a:extLst>
          </p:cNvPr>
          <p:cNvSpPr txBox="1"/>
          <p:nvPr/>
        </p:nvSpPr>
        <p:spPr>
          <a:xfrm>
            <a:off x="180806" y="1274438"/>
            <a:ext cx="8639665" cy="2793842"/>
          </a:xfrm>
          <a:prstGeom prst="rect">
            <a:avLst/>
          </a:prstGeom>
          <a:noFill/>
        </p:spPr>
        <p:txBody>
          <a:bodyPr wrap="square">
            <a:spAutoFit/>
          </a:bodyPr>
          <a:lstStyle/>
          <a:p>
            <a:pPr marL="268288" lvl="0" indent="-268288"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Write a program to:</a:t>
            </a:r>
          </a:p>
          <a:p>
            <a:pPr marL="720725" lvl="0" indent="-452438" eaLnBrk="0" fontAlgn="base" hangingPunct="0">
              <a:lnSpc>
                <a:spcPct val="150000"/>
              </a:lnSpc>
              <a:spcBef>
                <a:spcPct val="0"/>
              </a:spcBef>
              <a:spcAft>
                <a:spcPct val="0"/>
              </a:spcAft>
              <a:buFont typeface="Wingdings" panose="05000000000000000000" pitchFamily="2" charset="2"/>
              <a:buChar char="q"/>
            </a:pPr>
            <a:r>
              <a:rPr lang="en-US" altLang="en-US" sz="2400" dirty="0">
                <a:latin typeface="Times New Roman" panose="02020603050405020304" pitchFamily="18" charset="0"/>
                <a:cs typeface="Times New Roman" panose="02020603050405020304" pitchFamily="18" charset="0"/>
              </a:rPr>
              <a:t>Store 5 elements in a 1-D array</a:t>
            </a:r>
          </a:p>
          <a:p>
            <a:pPr marL="720725" lvl="0" indent="-452438" eaLnBrk="0" fontAlgn="base" hangingPunct="0">
              <a:lnSpc>
                <a:spcPct val="150000"/>
              </a:lnSpc>
              <a:spcBef>
                <a:spcPct val="0"/>
              </a:spcBef>
              <a:spcAft>
                <a:spcPct val="0"/>
              </a:spcAft>
              <a:buFont typeface="Wingdings" panose="05000000000000000000" pitchFamily="2" charset="2"/>
              <a:buChar char="q"/>
            </a:pPr>
            <a:r>
              <a:rPr lang="en-US" altLang="en-US" sz="2400" dirty="0">
                <a:latin typeface="Times New Roman" panose="02020603050405020304" pitchFamily="18" charset="0"/>
                <a:cs typeface="Times New Roman" panose="02020603050405020304" pitchFamily="18" charset="0"/>
              </a:rPr>
              <a:t>Find their sum</a:t>
            </a:r>
          </a:p>
          <a:p>
            <a:pPr marL="268288" lvl="0" indent="-268288"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Write a program to:</a:t>
            </a:r>
          </a:p>
          <a:p>
            <a:pPr marL="720725" lvl="0" indent="-452438" eaLnBrk="0" fontAlgn="base" hangingPunct="0">
              <a:lnSpc>
                <a:spcPct val="150000"/>
              </a:lnSpc>
              <a:spcBef>
                <a:spcPct val="0"/>
              </a:spcBef>
              <a:spcAft>
                <a:spcPct val="0"/>
              </a:spcAft>
              <a:buFont typeface="Wingdings" panose="05000000000000000000" pitchFamily="2" charset="2"/>
              <a:buChar char="q"/>
            </a:pPr>
            <a:r>
              <a:rPr lang="en-US" altLang="en-US" sz="2400" dirty="0">
                <a:latin typeface="Times New Roman" panose="02020603050405020304" pitchFamily="18" charset="0"/>
                <a:cs typeface="Times New Roman" panose="02020603050405020304" pitchFamily="18" charset="0"/>
              </a:rPr>
              <a:t>Add all elements of a 2-D array</a:t>
            </a:r>
          </a:p>
        </p:txBody>
      </p:sp>
    </p:spTree>
    <p:extLst>
      <p:ext uri="{BB962C8B-B14F-4D97-AF65-F5344CB8AC3E}">
        <p14:creationId xmlns:p14="http://schemas.microsoft.com/office/powerpoint/2010/main" val="30706103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E6FD9-65B9-F006-C688-13D435713DF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FD17EFC-FA89-A90B-648A-EAAB4427046D}"/>
              </a:ext>
            </a:extLst>
          </p:cNvPr>
          <p:cNvPicPr>
            <a:picLocks noChangeAspect="1"/>
          </p:cNvPicPr>
          <p:nvPr/>
        </p:nvPicPr>
        <p:blipFill>
          <a:blip r:embed="rId3"/>
          <a:stretch>
            <a:fillRect/>
          </a:stretch>
        </p:blipFill>
        <p:spPr>
          <a:xfrm>
            <a:off x="0" y="6063"/>
            <a:ext cx="9144000" cy="6845873"/>
          </a:xfrm>
          <a:prstGeom prst="rect">
            <a:avLst/>
          </a:prstGeom>
        </p:spPr>
      </p:pic>
      <p:pic>
        <p:nvPicPr>
          <p:cNvPr id="9" name="Picture 8">
            <a:extLst>
              <a:ext uri="{FF2B5EF4-FFF2-40B4-BE49-F238E27FC236}">
                <a16:creationId xmlns:a16="http://schemas.microsoft.com/office/drawing/2014/main" id="{D7C0781B-FCF8-B39D-8EC9-C72DD17F7D5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356350"/>
            <a:ext cx="2411760" cy="346691"/>
          </a:xfrm>
          <a:prstGeom prst="rect">
            <a:avLst/>
          </a:prstGeom>
        </p:spPr>
      </p:pic>
      <p:sp>
        <p:nvSpPr>
          <p:cNvPr id="6" name="TextBox 5">
            <a:extLst>
              <a:ext uri="{FF2B5EF4-FFF2-40B4-BE49-F238E27FC236}">
                <a16:creationId xmlns:a16="http://schemas.microsoft.com/office/drawing/2014/main" id="{03FAC48E-AE4D-153A-FD46-B1F9B514F289}"/>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027FFC87-08F1-F004-9884-DDCED6F3E655}"/>
              </a:ext>
            </a:extLst>
          </p:cNvPr>
          <p:cNvSpPr>
            <a:spLocks noChangeArrowheads="1"/>
          </p:cNvSpPr>
          <p:nvPr/>
        </p:nvSpPr>
        <p:spPr bwMode="auto">
          <a:xfrm>
            <a:off x="233264" y="345826"/>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Comparison &amp; Review</a:t>
            </a:r>
          </a:p>
        </p:txBody>
      </p:sp>
      <p:pic>
        <p:nvPicPr>
          <p:cNvPr id="1026" name="Picture 2" descr="Ezoic">
            <a:extLst>
              <a:ext uri="{FF2B5EF4-FFF2-40B4-BE49-F238E27FC236}">
                <a16:creationId xmlns:a16="http://schemas.microsoft.com/office/drawing/2014/main" id="{0A84FA51-54C9-54A6-EE62-1D86F10B02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0B89D364-6A6D-316F-37FD-992DB021283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3" name="Table 2">
            <a:extLst>
              <a:ext uri="{FF2B5EF4-FFF2-40B4-BE49-F238E27FC236}">
                <a16:creationId xmlns:a16="http://schemas.microsoft.com/office/drawing/2014/main" id="{6D7DACDF-B4B7-E5E9-CF5C-7D1B0569F822}"/>
              </a:ext>
            </a:extLst>
          </p:cNvPr>
          <p:cNvGraphicFramePr>
            <a:graphicFrameLocks noGrp="1"/>
          </p:cNvGraphicFramePr>
          <p:nvPr>
            <p:extLst>
              <p:ext uri="{D42A27DB-BD31-4B8C-83A1-F6EECF244321}">
                <p14:modId xmlns:p14="http://schemas.microsoft.com/office/powerpoint/2010/main" val="2025907224"/>
              </p:ext>
            </p:extLst>
          </p:nvPr>
        </p:nvGraphicFramePr>
        <p:xfrm>
          <a:off x="385838" y="4128199"/>
          <a:ext cx="8229600" cy="1463040"/>
        </p:xfrm>
        <a:graphic>
          <a:graphicData uri="http://schemas.openxmlformats.org/drawingml/2006/table">
            <a:tbl>
              <a:tblPr/>
              <a:tblGrid>
                <a:gridCol w="2743200">
                  <a:extLst>
                    <a:ext uri="{9D8B030D-6E8A-4147-A177-3AD203B41FA5}">
                      <a16:colId xmlns:a16="http://schemas.microsoft.com/office/drawing/2014/main" val="440702482"/>
                    </a:ext>
                  </a:extLst>
                </a:gridCol>
                <a:gridCol w="2743200">
                  <a:extLst>
                    <a:ext uri="{9D8B030D-6E8A-4147-A177-3AD203B41FA5}">
                      <a16:colId xmlns:a16="http://schemas.microsoft.com/office/drawing/2014/main" val="2071128510"/>
                    </a:ext>
                  </a:extLst>
                </a:gridCol>
                <a:gridCol w="2743200">
                  <a:extLst>
                    <a:ext uri="{9D8B030D-6E8A-4147-A177-3AD203B41FA5}">
                      <a16:colId xmlns:a16="http://schemas.microsoft.com/office/drawing/2014/main" val="790845330"/>
                    </a:ext>
                  </a:extLst>
                </a:gridCol>
              </a:tblGrid>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2800629303"/>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2273654726"/>
                  </a:ext>
                </a:extLst>
              </a:tr>
              <a:tr h="0">
                <a:tc>
                  <a:txBody>
                    <a:bodyPr/>
                    <a:lstStyle/>
                    <a:p>
                      <a:pPr>
                        <a:buNone/>
                      </a:pPr>
                      <a:endParaRPr lang="en-IN" dirty="0"/>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1466238312"/>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2456402281"/>
                  </a:ext>
                </a:extLst>
              </a:tr>
            </a:tbl>
          </a:graphicData>
        </a:graphic>
      </p:graphicFrame>
      <p:graphicFrame>
        <p:nvGraphicFramePr>
          <p:cNvPr id="4" name="Table 3">
            <a:extLst>
              <a:ext uri="{FF2B5EF4-FFF2-40B4-BE49-F238E27FC236}">
                <a16:creationId xmlns:a16="http://schemas.microsoft.com/office/drawing/2014/main" id="{635F9F94-BF01-0A95-0E73-7965C9468BCF}"/>
              </a:ext>
            </a:extLst>
          </p:cNvPr>
          <p:cNvGraphicFramePr>
            <a:graphicFrameLocks noGrp="1"/>
          </p:cNvGraphicFramePr>
          <p:nvPr>
            <p:extLst>
              <p:ext uri="{D42A27DB-BD31-4B8C-83A1-F6EECF244321}">
                <p14:modId xmlns:p14="http://schemas.microsoft.com/office/powerpoint/2010/main" val="1219632652"/>
              </p:ext>
            </p:extLst>
          </p:nvPr>
        </p:nvGraphicFramePr>
        <p:xfrm>
          <a:off x="875145" y="2082127"/>
          <a:ext cx="7393710" cy="2496980"/>
        </p:xfrm>
        <a:graphic>
          <a:graphicData uri="http://schemas.openxmlformats.org/drawingml/2006/table">
            <a:tbl>
              <a:tblPr firstRow="1" bandRow="1">
                <a:tableStyleId>{5C22544A-7EE6-4342-B048-85BDC9FD1C3A}</a:tableStyleId>
              </a:tblPr>
              <a:tblGrid>
                <a:gridCol w="2464570">
                  <a:extLst>
                    <a:ext uri="{9D8B030D-6E8A-4147-A177-3AD203B41FA5}">
                      <a16:colId xmlns:a16="http://schemas.microsoft.com/office/drawing/2014/main" val="544537182"/>
                    </a:ext>
                  </a:extLst>
                </a:gridCol>
                <a:gridCol w="2464570">
                  <a:extLst>
                    <a:ext uri="{9D8B030D-6E8A-4147-A177-3AD203B41FA5}">
                      <a16:colId xmlns:a16="http://schemas.microsoft.com/office/drawing/2014/main" val="1331096820"/>
                    </a:ext>
                  </a:extLst>
                </a:gridCol>
                <a:gridCol w="2464570">
                  <a:extLst>
                    <a:ext uri="{9D8B030D-6E8A-4147-A177-3AD203B41FA5}">
                      <a16:colId xmlns:a16="http://schemas.microsoft.com/office/drawing/2014/main" val="1935408447"/>
                    </a:ext>
                  </a:extLst>
                </a:gridCol>
              </a:tblGrid>
              <a:tr h="624245">
                <a:tc>
                  <a:txBody>
                    <a:bodyPr/>
                    <a:lstStyle/>
                    <a:p>
                      <a:pPr>
                        <a:buNone/>
                      </a:pPr>
                      <a:r>
                        <a:rPr lang="en-IN" sz="2400" dirty="0">
                          <a:latin typeface="Times New Roman" panose="02020603050405020304" pitchFamily="18" charset="0"/>
                          <a:cs typeface="Times New Roman" panose="02020603050405020304" pitchFamily="18" charset="0"/>
                        </a:rPr>
                        <a:t>Feature</a:t>
                      </a:r>
                    </a:p>
                  </a:txBody>
                  <a:tcPr anchor="ctr"/>
                </a:tc>
                <a:tc>
                  <a:txBody>
                    <a:bodyPr/>
                    <a:lstStyle/>
                    <a:p>
                      <a:pPr>
                        <a:buNone/>
                      </a:pPr>
                      <a:r>
                        <a:rPr lang="en-IN" sz="2400" dirty="0">
                          <a:latin typeface="Times New Roman" panose="02020603050405020304" pitchFamily="18" charset="0"/>
                          <a:cs typeface="Times New Roman" panose="02020603050405020304" pitchFamily="18" charset="0"/>
                        </a:rPr>
                        <a:t>1-D Array</a:t>
                      </a:r>
                    </a:p>
                  </a:txBody>
                  <a:tcPr anchor="ctr"/>
                </a:tc>
                <a:tc>
                  <a:txBody>
                    <a:bodyPr/>
                    <a:lstStyle/>
                    <a:p>
                      <a:pPr>
                        <a:buNone/>
                      </a:pPr>
                      <a:r>
                        <a:rPr lang="en-IN" sz="2400">
                          <a:latin typeface="Times New Roman" panose="02020603050405020304" pitchFamily="18" charset="0"/>
                          <a:cs typeface="Times New Roman" panose="02020603050405020304" pitchFamily="18" charset="0"/>
                        </a:rPr>
                        <a:t>2-D Array</a:t>
                      </a:r>
                    </a:p>
                  </a:txBody>
                  <a:tcPr anchor="ctr"/>
                </a:tc>
                <a:extLst>
                  <a:ext uri="{0D108BD9-81ED-4DB2-BD59-A6C34878D82A}">
                    <a16:rowId xmlns:a16="http://schemas.microsoft.com/office/drawing/2014/main" val="1609952679"/>
                  </a:ext>
                </a:extLst>
              </a:tr>
              <a:tr h="624245">
                <a:tc>
                  <a:txBody>
                    <a:bodyPr/>
                    <a:lstStyle/>
                    <a:p>
                      <a:pPr>
                        <a:buNone/>
                      </a:pPr>
                      <a:r>
                        <a:rPr lang="en-IN" sz="2400">
                          <a:latin typeface="Times New Roman" panose="02020603050405020304" pitchFamily="18" charset="0"/>
                          <a:cs typeface="Times New Roman" panose="02020603050405020304" pitchFamily="18" charset="0"/>
                        </a:rPr>
                        <a:t>Indexing</a:t>
                      </a:r>
                    </a:p>
                  </a:txBody>
                  <a:tcPr anchor="ctr"/>
                </a:tc>
                <a:tc>
                  <a:txBody>
                    <a:bodyPr/>
                    <a:lstStyle/>
                    <a:p>
                      <a:pPr>
                        <a:buNone/>
                      </a:pPr>
                      <a:r>
                        <a:rPr lang="en-IN" sz="2400">
                          <a:latin typeface="Times New Roman" panose="02020603050405020304" pitchFamily="18" charset="0"/>
                          <a:cs typeface="Times New Roman" panose="02020603050405020304" pitchFamily="18" charset="0"/>
                        </a:rPr>
                        <a:t>Single</a:t>
                      </a:r>
                    </a:p>
                  </a:txBody>
                  <a:tcPr anchor="ctr"/>
                </a:tc>
                <a:tc>
                  <a:txBody>
                    <a:bodyPr/>
                    <a:lstStyle/>
                    <a:p>
                      <a:pPr>
                        <a:buNone/>
                      </a:pPr>
                      <a:r>
                        <a:rPr lang="en-IN" sz="2400">
                          <a:latin typeface="Times New Roman" panose="02020603050405020304" pitchFamily="18" charset="0"/>
                          <a:cs typeface="Times New Roman" panose="02020603050405020304" pitchFamily="18" charset="0"/>
                        </a:rPr>
                        <a:t>Row &amp; Column</a:t>
                      </a:r>
                    </a:p>
                  </a:txBody>
                  <a:tcPr anchor="ctr"/>
                </a:tc>
                <a:extLst>
                  <a:ext uri="{0D108BD9-81ED-4DB2-BD59-A6C34878D82A}">
                    <a16:rowId xmlns:a16="http://schemas.microsoft.com/office/drawing/2014/main" val="415184926"/>
                  </a:ext>
                </a:extLst>
              </a:tr>
              <a:tr h="624245">
                <a:tc>
                  <a:txBody>
                    <a:bodyPr/>
                    <a:lstStyle/>
                    <a:p>
                      <a:pPr>
                        <a:buNone/>
                      </a:pPr>
                      <a:r>
                        <a:rPr lang="en-IN" sz="2400" dirty="0">
                          <a:latin typeface="Times New Roman" panose="02020603050405020304" pitchFamily="18" charset="0"/>
                          <a:cs typeface="Times New Roman" panose="02020603050405020304" pitchFamily="18" charset="0"/>
                        </a:rPr>
                        <a:t>Structure</a:t>
                      </a:r>
                    </a:p>
                  </a:txBody>
                  <a:tcPr anchor="ctr"/>
                </a:tc>
                <a:tc>
                  <a:txBody>
                    <a:bodyPr/>
                    <a:lstStyle/>
                    <a:p>
                      <a:pPr>
                        <a:buNone/>
                      </a:pPr>
                      <a:r>
                        <a:rPr lang="en-IN" sz="2400">
                          <a:latin typeface="Times New Roman" panose="02020603050405020304" pitchFamily="18" charset="0"/>
                          <a:cs typeface="Times New Roman" panose="02020603050405020304" pitchFamily="18" charset="0"/>
                        </a:rPr>
                        <a:t>Linear</a:t>
                      </a:r>
                    </a:p>
                  </a:txBody>
                  <a:tcPr anchor="ctr"/>
                </a:tc>
                <a:tc>
                  <a:txBody>
                    <a:bodyPr/>
                    <a:lstStyle/>
                    <a:p>
                      <a:pPr>
                        <a:buNone/>
                      </a:pPr>
                      <a:r>
                        <a:rPr lang="en-IN" sz="2400">
                          <a:latin typeface="Times New Roman" panose="02020603050405020304" pitchFamily="18" charset="0"/>
                          <a:cs typeface="Times New Roman" panose="02020603050405020304" pitchFamily="18" charset="0"/>
                        </a:rPr>
                        <a:t>Matrix/Table</a:t>
                      </a:r>
                    </a:p>
                  </a:txBody>
                  <a:tcPr anchor="ctr"/>
                </a:tc>
                <a:extLst>
                  <a:ext uri="{0D108BD9-81ED-4DB2-BD59-A6C34878D82A}">
                    <a16:rowId xmlns:a16="http://schemas.microsoft.com/office/drawing/2014/main" val="1460887727"/>
                  </a:ext>
                </a:extLst>
              </a:tr>
              <a:tr h="624245">
                <a:tc>
                  <a:txBody>
                    <a:bodyPr/>
                    <a:lstStyle/>
                    <a:p>
                      <a:pPr>
                        <a:buNone/>
                      </a:pPr>
                      <a:r>
                        <a:rPr lang="en-IN" sz="2400">
                          <a:latin typeface="Times New Roman" panose="02020603050405020304" pitchFamily="18" charset="0"/>
                          <a:cs typeface="Times New Roman" panose="02020603050405020304" pitchFamily="18" charset="0"/>
                        </a:rPr>
                        <a:t>Usage</a:t>
                      </a:r>
                    </a:p>
                  </a:txBody>
                  <a:tcPr anchor="ctr"/>
                </a:tc>
                <a:tc>
                  <a:txBody>
                    <a:bodyPr/>
                    <a:lstStyle/>
                    <a:p>
                      <a:pPr>
                        <a:buNone/>
                      </a:pPr>
                      <a:r>
                        <a:rPr lang="en-IN" sz="2400">
                          <a:latin typeface="Times New Roman" panose="02020603050405020304" pitchFamily="18" charset="0"/>
                          <a:cs typeface="Times New Roman" panose="02020603050405020304" pitchFamily="18" charset="0"/>
                        </a:rPr>
                        <a:t>List of items</a:t>
                      </a:r>
                    </a:p>
                  </a:txBody>
                  <a:tcPr anchor="ctr"/>
                </a:tc>
                <a:tc>
                  <a:txBody>
                    <a:bodyPr/>
                    <a:lstStyle/>
                    <a:p>
                      <a:pPr>
                        <a:buNone/>
                      </a:pPr>
                      <a:r>
                        <a:rPr lang="en-IN" sz="2400" dirty="0">
                          <a:latin typeface="Times New Roman" panose="02020603050405020304" pitchFamily="18" charset="0"/>
                          <a:cs typeface="Times New Roman" panose="02020603050405020304" pitchFamily="18" charset="0"/>
                        </a:rPr>
                        <a:t>Tables, grids</a:t>
                      </a:r>
                    </a:p>
                  </a:txBody>
                  <a:tcPr anchor="ctr"/>
                </a:tc>
                <a:extLst>
                  <a:ext uri="{0D108BD9-81ED-4DB2-BD59-A6C34878D82A}">
                    <a16:rowId xmlns:a16="http://schemas.microsoft.com/office/drawing/2014/main" val="1515600097"/>
                  </a:ext>
                </a:extLst>
              </a:tr>
            </a:tbl>
          </a:graphicData>
        </a:graphic>
      </p:graphicFrame>
    </p:spTree>
    <p:extLst>
      <p:ext uri="{BB962C8B-B14F-4D97-AF65-F5344CB8AC3E}">
        <p14:creationId xmlns:p14="http://schemas.microsoft.com/office/powerpoint/2010/main" val="16561619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18257" y="1098330"/>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Three-dimensional Array (3-D Array)</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1569660"/>
          </a:xfrm>
          <a:prstGeom prst="rect">
            <a:avLst/>
          </a:prstGeom>
        </p:spPr>
        <p:txBody>
          <a:bodyPr wrap="square">
            <a:spAutoFit/>
          </a:bodyPr>
          <a:lstStyle/>
          <a:p>
            <a:pPr marL="342900" lvl="0" indent="-342900" algn="just">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Three dimensions</a:t>
            </a:r>
          </a:p>
          <a:p>
            <a:pPr marL="342900" lvl="0" indent="-342900" algn="just">
              <a:buFont typeface="Wingdings" panose="05000000000000000000" pitchFamily="2" charset="2"/>
              <a:buChar char="§"/>
              <a:defRPr/>
            </a:pPr>
            <a:endParaRPr lang="en-US" sz="2400" dirty="0">
              <a:solidFill>
                <a:srgbClr val="273239"/>
              </a:solidFill>
              <a:highlight>
                <a:srgbClr val="FFFFFF"/>
              </a:highlight>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An array of 2-dimensional arrays.</a:t>
            </a:r>
            <a:endParaRPr lang="en-US" sz="2400" dirty="0">
              <a:solidFill>
                <a:prstClr val="black"/>
              </a:solidFill>
              <a:latin typeface="Times New Roman" panose="02020603050405020304" pitchFamily="18" charset="0"/>
              <a:cs typeface="Times New Roman" panose="02020603050405020304" pitchFamily="18" charset="0"/>
            </a:endParaRPr>
          </a:p>
          <a:p>
            <a:pPr lvl="0" algn="ju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1266" name="Picture 2" descr="https://media.geeksforgeeks.org/wp-content/uploads/3D-array.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78697" y="2464467"/>
            <a:ext cx="7008713" cy="3188867"/>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539552" y="5713252"/>
            <a:ext cx="4444550"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Fig.9:  Examples of Three -dimensional Array</a:t>
            </a:r>
          </a:p>
        </p:txBody>
      </p:sp>
    </p:spTree>
    <p:extLst>
      <p:ext uri="{BB962C8B-B14F-4D97-AF65-F5344CB8AC3E}">
        <p14:creationId xmlns:p14="http://schemas.microsoft.com/office/powerpoint/2010/main" val="34722297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17280-545F-53FC-FEDC-0BE76F235BA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BBCE939-4E7B-EDE0-D803-4AE36155815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3B910BBD-2B63-8046-4356-519B5A64B208}"/>
              </a:ext>
            </a:extLst>
          </p:cNvPr>
          <p:cNvCxnSpPr/>
          <p:nvPr/>
        </p:nvCxnSpPr>
        <p:spPr>
          <a:xfrm>
            <a:off x="-18257" y="1098330"/>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9C0E593-B27C-BAEB-0F23-5FE316E167B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D943039-6B46-955E-1AE0-EF9B1F5A1FA6}"/>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AA24B31-EBCD-F328-F14A-EC22756F8B72}"/>
              </a:ext>
            </a:extLst>
          </p:cNvPr>
          <p:cNvSpPr>
            <a:spLocks noChangeArrowheads="1"/>
          </p:cNvSpPr>
          <p:nvPr/>
        </p:nvSpPr>
        <p:spPr bwMode="auto">
          <a:xfrm>
            <a:off x="179512" y="356119"/>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Key Takeaways (Summary)</a:t>
            </a:r>
          </a:p>
        </p:txBody>
      </p:sp>
      <p:sp>
        <p:nvSpPr>
          <p:cNvPr id="3" name="TextBox 2">
            <a:extLst>
              <a:ext uri="{FF2B5EF4-FFF2-40B4-BE49-F238E27FC236}">
                <a16:creationId xmlns:a16="http://schemas.microsoft.com/office/drawing/2014/main" id="{93A9DD31-51F5-A06E-E099-7EB66509B178}"/>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63135ABA-1B0E-88B9-43AE-33429CFC1137}"/>
              </a:ext>
            </a:extLst>
          </p:cNvPr>
          <p:cNvSpPr/>
          <p:nvPr/>
        </p:nvSpPr>
        <p:spPr>
          <a:xfrm>
            <a:off x="282545" y="1399824"/>
            <a:ext cx="8784976" cy="3349956"/>
          </a:xfrm>
          <a:prstGeom prst="rect">
            <a:avLst/>
          </a:prstGeom>
        </p:spPr>
        <p:txBody>
          <a:bodyPr wrap="square">
            <a:spAutoFit/>
          </a:bodyPr>
          <a:lstStyle/>
          <a:p>
            <a:pPr marL="176213" lvl="0" indent="-176213" eaLnBrk="0" fontAlgn="base" hangingPunct="0">
              <a:lnSpc>
                <a:spcPct val="150000"/>
              </a:lnSpc>
              <a:spcBef>
                <a:spcPct val="0"/>
              </a:spcBef>
              <a:spcAft>
                <a:spcPct val="0"/>
              </a:spcAft>
              <a:buFontTx/>
              <a:buChar char="•"/>
            </a:pPr>
            <a:r>
              <a:rPr lang="en-US" altLang="en-US" sz="2400" dirty="0">
                <a:highlight>
                  <a:srgbClr val="FFFFFF"/>
                </a:highlight>
                <a:latin typeface="Times New Roman" panose="02020603050405020304" pitchFamily="18" charset="0"/>
                <a:cs typeface="Times New Roman" panose="02020603050405020304" pitchFamily="18" charset="0"/>
              </a:rPr>
              <a:t>1-D arrays store data in a </a:t>
            </a:r>
            <a:r>
              <a:rPr lang="en-US" altLang="en-US" sz="2400" b="1" dirty="0">
                <a:highlight>
                  <a:srgbClr val="FFFFFF"/>
                </a:highlight>
                <a:latin typeface="Times New Roman" panose="02020603050405020304" pitchFamily="18" charset="0"/>
                <a:cs typeface="Times New Roman" panose="02020603050405020304" pitchFamily="18" charset="0"/>
              </a:rPr>
              <a:t>single line</a:t>
            </a:r>
            <a:endParaRPr lang="en-US" altLang="en-US" sz="2400" dirty="0">
              <a:highlight>
                <a:srgbClr val="FFFFFF"/>
              </a:highlight>
              <a:latin typeface="Times New Roman" panose="02020603050405020304" pitchFamily="18" charset="0"/>
              <a:cs typeface="Times New Roman" panose="02020603050405020304" pitchFamily="18" charset="0"/>
            </a:endParaRPr>
          </a:p>
          <a:p>
            <a:pPr marL="176213" lvl="0" indent="-176213" eaLnBrk="0" fontAlgn="base" hangingPunct="0">
              <a:lnSpc>
                <a:spcPct val="150000"/>
              </a:lnSpc>
              <a:spcBef>
                <a:spcPct val="0"/>
              </a:spcBef>
              <a:spcAft>
                <a:spcPct val="0"/>
              </a:spcAft>
              <a:buFontTx/>
              <a:buChar char="•"/>
            </a:pPr>
            <a:r>
              <a:rPr lang="en-US" altLang="en-US" sz="2400" dirty="0">
                <a:highlight>
                  <a:srgbClr val="FFFFFF"/>
                </a:highlight>
                <a:latin typeface="Times New Roman" panose="02020603050405020304" pitchFamily="18" charset="0"/>
                <a:cs typeface="Times New Roman" panose="02020603050405020304" pitchFamily="18" charset="0"/>
              </a:rPr>
              <a:t>2-D arrays store data in </a:t>
            </a:r>
            <a:r>
              <a:rPr lang="en-US" altLang="en-US" sz="2400" b="1" dirty="0">
                <a:highlight>
                  <a:srgbClr val="FFFFFF"/>
                </a:highlight>
                <a:latin typeface="Times New Roman" panose="02020603050405020304" pitchFamily="18" charset="0"/>
                <a:cs typeface="Times New Roman" panose="02020603050405020304" pitchFamily="18" charset="0"/>
              </a:rPr>
              <a:t>rows and columns</a:t>
            </a:r>
            <a:endParaRPr lang="en-US" altLang="en-US" sz="2400" dirty="0">
              <a:highlight>
                <a:srgbClr val="FFFFFF"/>
              </a:highlight>
              <a:latin typeface="Times New Roman" panose="02020603050405020304" pitchFamily="18" charset="0"/>
              <a:cs typeface="Times New Roman" panose="02020603050405020304" pitchFamily="18" charset="0"/>
            </a:endParaRPr>
          </a:p>
          <a:p>
            <a:pPr marL="176213" lvl="0" indent="-176213" eaLnBrk="0" fontAlgn="base" hangingPunct="0">
              <a:lnSpc>
                <a:spcPct val="150000"/>
              </a:lnSpc>
              <a:spcBef>
                <a:spcPct val="0"/>
              </a:spcBef>
              <a:spcAft>
                <a:spcPct val="0"/>
              </a:spcAft>
              <a:buFontTx/>
              <a:buChar char="•"/>
            </a:pPr>
            <a:r>
              <a:rPr lang="en-US" altLang="en-US" sz="2400" dirty="0">
                <a:highlight>
                  <a:srgbClr val="FFFFFF"/>
                </a:highlight>
                <a:latin typeface="Times New Roman" panose="02020603050405020304" pitchFamily="18" charset="0"/>
                <a:cs typeface="Times New Roman" panose="02020603050405020304" pitchFamily="18" charset="0"/>
              </a:rPr>
              <a:t>Indexing usually starts from </a:t>
            </a:r>
            <a:r>
              <a:rPr lang="en-US" altLang="en-US" sz="2400" b="1" dirty="0">
                <a:highlight>
                  <a:srgbClr val="FFFFFF"/>
                </a:highlight>
                <a:latin typeface="Times New Roman" panose="02020603050405020304" pitchFamily="18" charset="0"/>
                <a:cs typeface="Times New Roman" panose="02020603050405020304" pitchFamily="18" charset="0"/>
              </a:rPr>
              <a:t>0</a:t>
            </a:r>
            <a:endParaRPr lang="en-US" altLang="en-US" sz="2400" dirty="0">
              <a:highlight>
                <a:srgbClr val="FFFFFF"/>
              </a:highlight>
              <a:latin typeface="Times New Roman" panose="02020603050405020304" pitchFamily="18" charset="0"/>
              <a:cs typeface="Times New Roman" panose="02020603050405020304" pitchFamily="18" charset="0"/>
            </a:endParaRPr>
          </a:p>
          <a:p>
            <a:pPr marL="176213" lvl="0" indent="-176213" eaLnBrk="0" fontAlgn="base" hangingPunct="0">
              <a:lnSpc>
                <a:spcPct val="150000"/>
              </a:lnSpc>
              <a:spcBef>
                <a:spcPct val="0"/>
              </a:spcBef>
              <a:spcAft>
                <a:spcPct val="0"/>
              </a:spcAft>
              <a:buFontTx/>
              <a:buChar char="•"/>
            </a:pPr>
            <a:r>
              <a:rPr lang="en-US" altLang="en-US" sz="2400" dirty="0">
                <a:highlight>
                  <a:srgbClr val="FFFFFF"/>
                </a:highlight>
                <a:latin typeface="Times New Roman" panose="02020603050405020304" pitchFamily="18" charset="0"/>
                <a:cs typeface="Times New Roman" panose="02020603050405020304" pitchFamily="18" charset="0"/>
              </a:rPr>
              <a:t>Correct indexing avoids </a:t>
            </a:r>
            <a:r>
              <a:rPr lang="en-US" altLang="en-US" sz="2400" b="1" dirty="0">
                <a:highlight>
                  <a:srgbClr val="FFFFFF"/>
                </a:highlight>
                <a:latin typeface="Times New Roman" panose="02020603050405020304" pitchFamily="18" charset="0"/>
                <a:cs typeface="Times New Roman" panose="02020603050405020304" pitchFamily="18" charset="0"/>
              </a:rPr>
              <a:t>errors</a:t>
            </a:r>
            <a:endParaRPr lang="en-US" altLang="en-US" sz="2400" dirty="0">
              <a:highlight>
                <a:srgbClr val="FFFFFF"/>
              </a:highlight>
              <a:latin typeface="Times New Roman" panose="02020603050405020304" pitchFamily="18" charset="0"/>
              <a:cs typeface="Times New Roman" panose="02020603050405020304" pitchFamily="18" charset="0"/>
            </a:endParaRPr>
          </a:p>
          <a:p>
            <a:pPr marL="176213" lvl="0" indent="-176213" eaLnBrk="0" fontAlgn="base" hangingPunct="0">
              <a:lnSpc>
                <a:spcPct val="150000"/>
              </a:lnSpc>
              <a:spcBef>
                <a:spcPct val="0"/>
              </a:spcBef>
              <a:spcAft>
                <a:spcPct val="0"/>
              </a:spcAft>
              <a:buFontTx/>
              <a:buChar char="•"/>
            </a:pPr>
            <a:r>
              <a:rPr lang="en-US" altLang="en-US" sz="2400" dirty="0">
                <a:highlight>
                  <a:srgbClr val="FFFFFF"/>
                </a:highlight>
                <a:latin typeface="Times New Roman" panose="02020603050405020304" pitchFamily="18" charset="0"/>
                <a:cs typeface="Times New Roman" panose="02020603050405020304" pitchFamily="18" charset="0"/>
              </a:rPr>
              <a:t>Arrays make programs </a:t>
            </a:r>
            <a:r>
              <a:rPr lang="en-US" altLang="en-US" sz="2400" b="1" dirty="0">
                <a:highlight>
                  <a:srgbClr val="FFFFFF"/>
                </a:highlight>
                <a:latin typeface="Times New Roman" panose="02020603050405020304" pitchFamily="18" charset="0"/>
                <a:cs typeface="Times New Roman" panose="02020603050405020304" pitchFamily="18" charset="0"/>
              </a:rPr>
              <a:t>organized and efficient</a:t>
            </a:r>
          </a:p>
          <a:p>
            <a:pPr marL="176213" lvl="0" indent="-176213" eaLnBrk="0" fontAlgn="base" hangingPunct="0">
              <a:lnSpc>
                <a:spcPct val="150000"/>
              </a:lnSpc>
              <a:spcBef>
                <a:spcPct val="0"/>
              </a:spcBef>
              <a:spcAft>
                <a:spcPct val="0"/>
              </a:spcAft>
              <a:buFontTx/>
              <a:buChar char="•"/>
            </a:pPr>
            <a:r>
              <a:rPr lang="en-US" altLang="en-US" sz="2400" b="1" dirty="0">
                <a:highlight>
                  <a:srgbClr val="FFFFFF"/>
                </a:highlight>
                <a:latin typeface="Times New Roman" panose="02020603050405020304" pitchFamily="18" charset="0"/>
                <a:cs typeface="Times New Roman" panose="02020603050405020304" pitchFamily="18" charset="0"/>
              </a:rPr>
              <a:t>3-D Arrays </a:t>
            </a:r>
            <a:r>
              <a:rPr lang="en-US" altLang="en-US" sz="2400" dirty="0">
                <a:highlight>
                  <a:srgbClr val="FFFFFF"/>
                </a:highlight>
                <a:latin typeface="Times New Roman" panose="02020603050405020304" pitchFamily="18" charset="0"/>
                <a:cs typeface="Times New Roman" panose="02020603050405020304" pitchFamily="18" charset="0"/>
              </a:rPr>
              <a:t>are arrays of 2-D arrays</a:t>
            </a:r>
          </a:p>
        </p:txBody>
      </p:sp>
      <p:pic>
        <p:nvPicPr>
          <p:cNvPr id="1026" name="Picture 2" descr="Ezoic">
            <a:extLst>
              <a:ext uri="{FF2B5EF4-FFF2-40B4-BE49-F238E27FC236}">
                <a16:creationId xmlns:a16="http://schemas.microsoft.com/office/drawing/2014/main" id="{31A03011-D15C-4033-2AA2-62F8848D0E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90359C36-75A5-7E59-537E-913B3BB9BEA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12402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Multiple Choice Questions</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13151" y="1419904"/>
            <a:ext cx="8391298" cy="4524315"/>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Q1 What is an array?</a:t>
            </a:r>
          </a:p>
          <a:p>
            <a:pPr marL="442913" algn="just"/>
            <a:r>
              <a:rPr lang="en-US" sz="2400" dirty="0">
                <a:latin typeface="Times New Roman" panose="02020603050405020304" pitchFamily="18" charset="0"/>
                <a:cs typeface="Times New Roman" panose="02020603050405020304" pitchFamily="18" charset="0"/>
              </a:rPr>
              <a:t>a) A linear data structure</a:t>
            </a:r>
          </a:p>
          <a:p>
            <a:pPr marL="442913" algn="just"/>
            <a:r>
              <a:rPr lang="en-US" sz="2400" dirty="0">
                <a:latin typeface="Times New Roman" panose="02020603050405020304" pitchFamily="18" charset="0"/>
                <a:cs typeface="Times New Roman" panose="02020603050405020304" pitchFamily="18" charset="0"/>
              </a:rPr>
              <a:t>b) A collection of elements of the same type</a:t>
            </a:r>
          </a:p>
          <a:p>
            <a:pPr marL="442913" algn="just"/>
            <a:r>
              <a:rPr lang="en-US" sz="2400" dirty="0">
                <a:latin typeface="Times New Roman" panose="02020603050405020304" pitchFamily="18" charset="0"/>
                <a:cs typeface="Times New Roman" panose="02020603050405020304" pitchFamily="18" charset="0"/>
              </a:rPr>
              <a:t>c) A container that stores elements in a contiguous memory block</a:t>
            </a:r>
          </a:p>
          <a:p>
            <a:pPr marL="442913" algn="just"/>
            <a:r>
              <a:rPr lang="en-US" sz="2400" dirty="0">
                <a:latin typeface="Times New Roman" panose="02020603050405020304" pitchFamily="18" charset="0"/>
                <a:cs typeface="Times New Roman" panose="02020603050405020304" pitchFamily="18" charset="0"/>
              </a:rPr>
              <a:t>d) All of the above</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Q2 What is the index of the first element in an array?</a:t>
            </a:r>
          </a:p>
          <a:p>
            <a:pPr marL="442913" algn="just"/>
            <a:r>
              <a:rPr lang="en-US" sz="2400" dirty="0">
                <a:latin typeface="Times New Roman" panose="02020603050405020304" pitchFamily="18" charset="0"/>
                <a:cs typeface="Times New Roman" panose="02020603050405020304" pitchFamily="18" charset="0"/>
              </a:rPr>
              <a:t>a) 0</a:t>
            </a:r>
          </a:p>
          <a:p>
            <a:pPr marL="442913" algn="just"/>
            <a:r>
              <a:rPr lang="en-US" sz="2400" dirty="0">
                <a:latin typeface="Times New Roman" panose="02020603050405020304" pitchFamily="18" charset="0"/>
                <a:cs typeface="Times New Roman" panose="02020603050405020304" pitchFamily="18" charset="0"/>
              </a:rPr>
              <a:t>b) 1</a:t>
            </a:r>
          </a:p>
          <a:p>
            <a:pPr marL="442913" algn="just"/>
            <a:r>
              <a:rPr lang="en-US" sz="2400" dirty="0">
                <a:latin typeface="Times New Roman" panose="02020603050405020304" pitchFamily="18" charset="0"/>
                <a:cs typeface="Times New Roman" panose="02020603050405020304" pitchFamily="18" charset="0"/>
              </a:rPr>
              <a:t>c) -1</a:t>
            </a:r>
          </a:p>
          <a:p>
            <a:pPr marL="442913" algn="just"/>
            <a:r>
              <a:rPr lang="en-US" sz="2400" dirty="0">
                <a:latin typeface="Times New Roman" panose="02020603050405020304" pitchFamily="18" charset="0"/>
                <a:cs typeface="Times New Roman" panose="02020603050405020304" pitchFamily="18" charset="0"/>
              </a:rPr>
              <a:t>d) It depends on the programming language</a:t>
            </a:r>
            <a:endParaRPr lang="en-IN" sz="2400" dirty="0">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421C46D-3F04-4F73-BF36-E6D9DA5AE143}" type="slidenum">
              <a:rPr lang="en-IN" smtClean="0"/>
              <a:t>38</a:t>
            </a:fld>
            <a:endParaRPr lang="en-IN"/>
          </a:p>
        </p:txBody>
      </p:sp>
    </p:spTree>
    <p:extLst>
      <p:ext uri="{BB962C8B-B14F-4D97-AF65-F5344CB8AC3E}">
        <p14:creationId xmlns:p14="http://schemas.microsoft.com/office/powerpoint/2010/main" val="33676050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Multiple Choice Questions (Cont..)</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16025" y="1295074"/>
            <a:ext cx="8316416" cy="4524315"/>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Q3 Which of the following statements is true about arrays?</a:t>
            </a:r>
          </a:p>
          <a:p>
            <a:pPr marL="442913" algn="just"/>
            <a:r>
              <a:rPr lang="en-US" sz="2400" dirty="0">
                <a:latin typeface="Times New Roman" panose="02020603050405020304" pitchFamily="18" charset="0"/>
                <a:cs typeface="Times New Roman" panose="02020603050405020304" pitchFamily="18" charset="0"/>
              </a:rPr>
              <a:t>a) Arrays can store elements of different data types.</a:t>
            </a:r>
          </a:p>
          <a:p>
            <a:pPr marL="442913" algn="just"/>
            <a:r>
              <a:rPr lang="en-US" sz="2400" dirty="0">
                <a:latin typeface="Times New Roman" panose="02020603050405020304" pitchFamily="18" charset="0"/>
                <a:cs typeface="Times New Roman" panose="02020603050405020304" pitchFamily="18" charset="0"/>
              </a:rPr>
              <a:t>b) Arrays can automatically resize themselves to accommodate more elements.</a:t>
            </a:r>
          </a:p>
          <a:p>
            <a:pPr marL="442913" algn="just"/>
            <a:r>
              <a:rPr lang="en-US" sz="2400" dirty="0">
                <a:latin typeface="Times New Roman" panose="02020603050405020304" pitchFamily="18" charset="0"/>
                <a:cs typeface="Times New Roman" panose="02020603050405020304" pitchFamily="18" charset="0"/>
              </a:rPr>
              <a:t>c) Arrays have a fixed size determined at compile time.</a:t>
            </a:r>
          </a:p>
          <a:p>
            <a:pPr marL="442913" algn="just"/>
            <a:r>
              <a:rPr lang="en-US" sz="2400" dirty="0">
                <a:latin typeface="Times New Roman" panose="02020603050405020304" pitchFamily="18" charset="0"/>
                <a:cs typeface="Times New Roman" panose="02020603050405020304" pitchFamily="18" charset="0"/>
              </a:rPr>
              <a:t>d) Arrays are not supported in programming languages.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Q4  Which of the following is an example of a dynamic array?</a:t>
            </a:r>
          </a:p>
          <a:p>
            <a:pPr marL="442913" algn="just"/>
            <a:r>
              <a:rPr lang="en-US" sz="2400" dirty="0">
                <a:latin typeface="Times New Roman" panose="02020603050405020304" pitchFamily="18" charset="0"/>
                <a:cs typeface="Times New Roman" panose="02020603050405020304" pitchFamily="18" charset="0"/>
              </a:rPr>
              <a:t>a) </a:t>
            </a:r>
            <a:r>
              <a:rPr lang="en-US" sz="2400" dirty="0" err="1">
                <a:latin typeface="Times New Roman" panose="02020603050405020304" pitchFamily="18" charset="0"/>
                <a:cs typeface="Times New Roman" panose="02020603050405020304" pitchFamily="18" charset="0"/>
              </a:rPr>
              <a:t>ArrayList</a:t>
            </a:r>
            <a:r>
              <a:rPr lang="en-US" sz="2400" dirty="0">
                <a:latin typeface="Times New Roman" panose="02020603050405020304" pitchFamily="18" charset="0"/>
                <a:cs typeface="Times New Roman" panose="02020603050405020304" pitchFamily="18" charset="0"/>
              </a:rPr>
              <a:t> in Java</a:t>
            </a:r>
          </a:p>
          <a:p>
            <a:pPr marL="442913" algn="just"/>
            <a:r>
              <a:rPr lang="en-US" sz="2400" dirty="0">
                <a:latin typeface="Times New Roman" panose="02020603050405020304" pitchFamily="18" charset="0"/>
                <a:cs typeface="Times New Roman" panose="02020603050405020304" pitchFamily="18" charset="0"/>
              </a:rPr>
              <a:t>b) </a:t>
            </a:r>
            <a:r>
              <a:rPr lang="en-US" sz="2400" dirty="0" err="1">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array[10] in C++</a:t>
            </a:r>
          </a:p>
          <a:p>
            <a:pPr marL="442913" algn="just"/>
            <a:r>
              <a:rPr lang="en-US" sz="2400" dirty="0">
                <a:latin typeface="Times New Roman" panose="02020603050405020304" pitchFamily="18" charset="0"/>
                <a:cs typeface="Times New Roman" panose="02020603050405020304" pitchFamily="18" charset="0"/>
              </a:rPr>
              <a:t>c) </a:t>
            </a:r>
            <a:r>
              <a:rPr lang="en-US" sz="2400" dirty="0" err="1">
                <a:latin typeface="Times New Roman" panose="02020603050405020304" pitchFamily="18" charset="0"/>
                <a:cs typeface="Times New Roman" panose="02020603050405020304" pitchFamily="18" charset="0"/>
              </a:rPr>
              <a:t>Arrays.copyOf</a:t>
            </a:r>
            <a:r>
              <a:rPr lang="en-US" sz="2400" dirty="0">
                <a:latin typeface="Times New Roman" panose="02020603050405020304" pitchFamily="18" charset="0"/>
                <a:cs typeface="Times New Roman" panose="02020603050405020304" pitchFamily="18" charset="0"/>
              </a:rPr>
              <a:t>() in Python</a:t>
            </a:r>
          </a:p>
          <a:p>
            <a:pPr marL="442913" algn="just"/>
            <a:r>
              <a:rPr lang="en-US" sz="2400" dirty="0">
                <a:latin typeface="Times New Roman" panose="02020603050405020304" pitchFamily="18" charset="0"/>
                <a:cs typeface="Times New Roman" panose="02020603050405020304" pitchFamily="18" charset="0"/>
              </a:rPr>
              <a:t>d) None of the above</a:t>
            </a:r>
            <a:endParaRPr lang="en-IN" sz="2400" dirty="0">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421C46D-3F04-4F73-BF36-E6D9DA5AE143}" type="slidenum">
              <a:rPr lang="en-IN" smtClean="0"/>
              <a:t>39</a:t>
            </a:fld>
            <a:endParaRPr lang="en-IN"/>
          </a:p>
        </p:txBody>
      </p:sp>
    </p:spTree>
    <p:extLst>
      <p:ext uri="{BB962C8B-B14F-4D97-AF65-F5344CB8AC3E}">
        <p14:creationId xmlns:p14="http://schemas.microsoft.com/office/powerpoint/2010/main" val="2550435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Situation- Based Questions</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16025" y="1253683"/>
            <a:ext cx="8748463" cy="4278094"/>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Q1 You are working on a scientific simulation that involves modeling weather patterns across a geographical area. Each grid cell in the simulation has various weather attributes, but many cells have default values due to the sparse nature of weather phenomena. Which type of array would you use to represent the weather data efficiently?</a:t>
            </a:r>
          </a:p>
          <a:p>
            <a:pPr algn="just"/>
            <a:endParaRPr lang="en-US" sz="32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Q2 You are developing a game where players move around on a game board represented by a grid. Each cell in the grid can either be empty or contain an obstacle. How would you represent this game board using arrays, and which type of array would be most appropriate?</a:t>
            </a:r>
          </a:p>
          <a:p>
            <a:pPr algn="just"/>
            <a:endParaRPr lang="en-US" sz="2400" dirty="0">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421C46D-3F04-4F73-BF36-E6D9DA5AE143}" type="slidenum">
              <a:rPr lang="en-IN" smtClean="0"/>
              <a:t>40</a:t>
            </a:fld>
            <a:endParaRPr lang="en-IN"/>
          </a:p>
        </p:txBody>
      </p:sp>
    </p:spTree>
    <p:extLst>
      <p:ext uri="{BB962C8B-B14F-4D97-AF65-F5344CB8AC3E}">
        <p14:creationId xmlns:p14="http://schemas.microsoft.com/office/powerpoint/2010/main" val="11183022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Situation- Based Questions</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16025" y="1253683"/>
            <a:ext cx="8748463" cy="1569660"/>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Q3 You are developing a program to manage a library's collection of books. Each book has a different number of authors, and you want to efficiently store this information. Which type of array would you select for representing the authors of each book?</a:t>
            </a:r>
          </a:p>
        </p:txBody>
      </p:sp>
      <p:sp>
        <p:nvSpPr>
          <p:cNvPr id="8" name="Slide Number Placeholder 7"/>
          <p:cNvSpPr>
            <a:spLocks noGrp="1"/>
          </p:cNvSpPr>
          <p:nvPr>
            <p:ph type="sldNum" sz="quarter" idx="12"/>
          </p:nvPr>
        </p:nvSpPr>
        <p:spPr/>
        <p:txBody>
          <a:bodyPr/>
          <a:lstStyle/>
          <a:p>
            <a:fld id="{C421C46D-3F04-4F73-BF36-E6D9DA5AE143}" type="slidenum">
              <a:rPr lang="en-IN" smtClean="0"/>
              <a:t>41</a:t>
            </a:fld>
            <a:endParaRPr lang="en-IN"/>
          </a:p>
        </p:txBody>
      </p:sp>
    </p:spTree>
    <p:extLst>
      <p:ext uri="{BB962C8B-B14F-4D97-AF65-F5344CB8AC3E}">
        <p14:creationId xmlns:p14="http://schemas.microsoft.com/office/powerpoint/2010/main" val="42354100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Multiple Choice Questions (Answers)</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16024" y="1480231"/>
            <a:ext cx="8748463" cy="3046988"/>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A1:  d) All of the above</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A2:  a) 0a) Array</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A3: c) Arrays have a fixed size determined at compile time.</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A4: a) </a:t>
            </a:r>
            <a:r>
              <a:rPr lang="en-US" sz="2400" dirty="0" err="1">
                <a:latin typeface="Times New Roman" panose="02020603050405020304" pitchFamily="18" charset="0"/>
                <a:cs typeface="Times New Roman" panose="02020603050405020304" pitchFamily="18" charset="0"/>
              </a:rPr>
              <a:t>ArrayList</a:t>
            </a:r>
            <a:r>
              <a:rPr lang="en-US" sz="2400" dirty="0">
                <a:latin typeface="Times New Roman" panose="02020603050405020304" pitchFamily="18" charset="0"/>
                <a:cs typeface="Times New Roman" panose="02020603050405020304" pitchFamily="18" charset="0"/>
              </a:rPr>
              <a:t> in Java</a:t>
            </a:r>
          </a:p>
          <a:p>
            <a:endParaRPr lang="en-US" sz="2400" dirty="0">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421C46D-3F04-4F73-BF36-E6D9DA5AE143}" type="slidenum">
              <a:rPr lang="en-IN" smtClean="0"/>
              <a:t>42</a:t>
            </a:fld>
            <a:endParaRPr lang="en-IN"/>
          </a:p>
        </p:txBody>
      </p:sp>
    </p:spTree>
    <p:extLst>
      <p:ext uri="{BB962C8B-B14F-4D97-AF65-F5344CB8AC3E}">
        <p14:creationId xmlns:p14="http://schemas.microsoft.com/office/powerpoint/2010/main" val="22158993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Situation- Based Questions (</a:t>
            </a:r>
            <a:r>
              <a:rPr lang="en-IN" sz="3200" b="1" dirty="0">
                <a:solidFill>
                  <a:srgbClr val="E31E24"/>
                </a:solidFill>
                <a:cs typeface="Times New Roman" panose="02020603050405020304" pitchFamily="18" charset="0"/>
                <a:sym typeface="Arial"/>
              </a:rPr>
              <a:t>Answers)</a:t>
            </a:r>
            <a:endParaRPr lang="en-US"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16025" y="1253683"/>
            <a:ext cx="8748463" cy="3539430"/>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A1: Sparse array, as it efficiently handles datasets with many default or empty values, which is common in weather simulations.</a:t>
            </a:r>
          </a:p>
          <a:p>
            <a:pPr algn="just"/>
            <a:endParaRPr lang="en-US" sz="32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A2: 2D array, as it provides a grid-like structure that matches the layout of the game board.</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A3: Dynamic array (</a:t>
            </a:r>
            <a:r>
              <a:rPr lang="en-US" sz="2400" dirty="0" err="1">
                <a:latin typeface="Times New Roman" panose="02020603050405020304" pitchFamily="18" charset="0"/>
                <a:cs typeface="Times New Roman" panose="02020603050405020304" pitchFamily="18" charset="0"/>
              </a:rPr>
              <a:t>ArrayList</a:t>
            </a:r>
            <a:r>
              <a:rPr lang="en-US" sz="2400" dirty="0">
                <a:latin typeface="Times New Roman" panose="02020603050405020304" pitchFamily="18" charset="0"/>
                <a:cs typeface="Times New Roman" panose="02020603050405020304" pitchFamily="18" charset="0"/>
              </a:rPr>
              <a:t> in Java, list in Python), as it can dynamically resize to accommodate varying numbers of authors for each book.</a:t>
            </a:r>
          </a:p>
        </p:txBody>
      </p:sp>
      <p:sp>
        <p:nvSpPr>
          <p:cNvPr id="8" name="Slide Number Placeholder 7"/>
          <p:cNvSpPr>
            <a:spLocks noGrp="1"/>
          </p:cNvSpPr>
          <p:nvPr>
            <p:ph type="sldNum" sz="quarter" idx="12"/>
          </p:nvPr>
        </p:nvSpPr>
        <p:spPr/>
        <p:txBody>
          <a:bodyPr/>
          <a:lstStyle/>
          <a:p>
            <a:fld id="{C421C46D-3F04-4F73-BF36-E6D9DA5AE143}" type="slidenum">
              <a:rPr lang="en-IN" smtClean="0"/>
              <a:t>43</a:t>
            </a:fld>
            <a:endParaRPr lang="en-IN"/>
          </a:p>
        </p:txBody>
      </p:sp>
    </p:spTree>
    <p:extLst>
      <p:ext uri="{BB962C8B-B14F-4D97-AF65-F5344CB8AC3E}">
        <p14:creationId xmlns:p14="http://schemas.microsoft.com/office/powerpoint/2010/main" val="38134585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D9C3D-3F30-A3F3-A545-26CB145F082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3DC34CE-387F-2349-2368-E7AB329920C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AECC9169-F46C-9DFF-074B-9042CA367D1C}"/>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References</a:t>
            </a:r>
            <a:endParaRPr lang="en-US"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29D4E920-65A2-CCE7-FEA5-14D91F60AAAE}"/>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E0C2226-8947-177E-6706-83378DA8A4D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9E818B84-F150-B1E2-D936-7FC20CE87C0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5475B91-F517-A8A8-3443-03C2FD642B05}"/>
              </a:ext>
            </a:extLst>
          </p:cNvPr>
          <p:cNvSpPr txBox="1"/>
          <p:nvPr/>
        </p:nvSpPr>
        <p:spPr>
          <a:xfrm>
            <a:off x="216025" y="1253683"/>
            <a:ext cx="8748463" cy="5170646"/>
          </a:xfrm>
          <a:prstGeom prst="rect">
            <a:avLst/>
          </a:prstGeom>
          <a:noFill/>
        </p:spPr>
        <p:txBody>
          <a:bodyPr wrap="square" rtlCol="0">
            <a:spAutoFit/>
          </a:bodyPr>
          <a:lstStyle/>
          <a:p>
            <a:pPr algn="just">
              <a:spcBef>
                <a:spcPts val="600"/>
              </a:spcBef>
            </a:pPr>
            <a:r>
              <a:rPr lang="en-IN" b="1" dirty="0">
                <a:latin typeface="Times New Roman" panose="02020603050405020304" pitchFamily="18" charset="0"/>
                <a:cs typeface="Times New Roman" panose="02020603050405020304" pitchFamily="18" charset="0"/>
              </a:rPr>
              <a:t>Textbooks</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Cormen</a:t>
            </a:r>
            <a:r>
              <a:rPr lang="en-IN" dirty="0">
                <a:latin typeface="Times New Roman" panose="02020603050405020304" pitchFamily="18" charset="0"/>
                <a:cs typeface="Times New Roman" panose="02020603050405020304" pitchFamily="18" charset="0"/>
              </a:rPr>
              <a:t>, T. H., </a:t>
            </a:r>
            <a:r>
              <a:rPr lang="en-IN" dirty="0" err="1">
                <a:latin typeface="Times New Roman" panose="02020603050405020304" pitchFamily="18" charset="0"/>
                <a:cs typeface="Times New Roman" panose="02020603050405020304" pitchFamily="18" charset="0"/>
              </a:rPr>
              <a:t>Leiserson</a:t>
            </a:r>
            <a:r>
              <a:rPr lang="en-IN" dirty="0">
                <a:latin typeface="Times New Roman" panose="02020603050405020304" pitchFamily="18" charset="0"/>
                <a:cs typeface="Times New Roman" panose="02020603050405020304" pitchFamily="18" charset="0"/>
              </a:rPr>
              <a:t>, C. E., Rivest, R. L., &amp; Stein, C., </a:t>
            </a:r>
            <a:r>
              <a:rPr lang="en-IN" i="1" dirty="0">
                <a:latin typeface="Times New Roman" panose="02020603050405020304" pitchFamily="18" charset="0"/>
                <a:cs typeface="Times New Roman" panose="02020603050405020304" pitchFamily="18" charset="0"/>
              </a:rPr>
              <a:t>Introduction to Algorithms</a:t>
            </a:r>
            <a:r>
              <a:rPr lang="en-IN" dirty="0">
                <a:latin typeface="Times New Roman" panose="02020603050405020304" pitchFamily="18" charset="0"/>
                <a:cs typeface="Times New Roman" panose="02020603050405020304" pitchFamily="18" charset="0"/>
              </a:rPr>
              <a:t>, MIT Press.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Lipschutz, S., </a:t>
            </a:r>
            <a:r>
              <a:rPr lang="en-IN" i="1" dirty="0">
                <a:latin typeface="Times New Roman" panose="02020603050405020304" pitchFamily="18" charset="0"/>
                <a:cs typeface="Times New Roman" panose="02020603050405020304" pitchFamily="18" charset="0"/>
              </a:rPr>
              <a:t>Schaum’s Outline of Data Structures with C++</a:t>
            </a:r>
            <a:r>
              <a:rPr lang="en-IN" dirty="0">
                <a:latin typeface="Times New Roman" panose="02020603050405020304" pitchFamily="18" charset="0"/>
                <a:cs typeface="Times New Roman" panose="02020603050405020304" pitchFamily="18" charset="0"/>
              </a:rPr>
              <a:t>, McGraw-Hill Education.</a:t>
            </a:r>
          </a:p>
          <a:p>
            <a:pPr algn="just">
              <a:spcBef>
                <a:spcPts val="600"/>
              </a:spcBef>
            </a:pPr>
            <a:r>
              <a:rPr lang="en-IN" b="1" dirty="0">
                <a:latin typeface="Times New Roman" panose="02020603050405020304" pitchFamily="18" charset="0"/>
                <a:cs typeface="Times New Roman" panose="02020603050405020304" pitchFamily="18" charset="0"/>
              </a:rPr>
              <a:t>Reference Books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Weiss, M. A., </a:t>
            </a:r>
            <a:r>
              <a:rPr lang="en-IN" i="1" dirty="0">
                <a:latin typeface="Times New Roman" panose="02020603050405020304" pitchFamily="18" charset="0"/>
                <a:cs typeface="Times New Roman" panose="02020603050405020304" pitchFamily="18" charset="0"/>
              </a:rPr>
              <a:t>Data Structures and Algorithm Analysis in C++</a:t>
            </a:r>
            <a:r>
              <a:rPr lang="en-IN" dirty="0">
                <a:latin typeface="Times New Roman" panose="02020603050405020304" pitchFamily="18" charset="0"/>
                <a:cs typeface="Times New Roman" panose="02020603050405020304" pitchFamily="18" charset="0"/>
              </a:rPr>
              <a:t>, 5th Edition, Pearson Education.</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Skiena</a:t>
            </a:r>
            <a:r>
              <a:rPr lang="en-IN" dirty="0">
                <a:latin typeface="Times New Roman" panose="02020603050405020304" pitchFamily="18" charset="0"/>
                <a:cs typeface="Times New Roman" panose="02020603050405020304" pitchFamily="18" charset="0"/>
              </a:rPr>
              <a:t>, S. S., </a:t>
            </a:r>
            <a:r>
              <a:rPr lang="en-IN" i="1" dirty="0">
                <a:latin typeface="Times New Roman" panose="02020603050405020304" pitchFamily="18" charset="0"/>
                <a:cs typeface="Times New Roman" panose="02020603050405020304" pitchFamily="18" charset="0"/>
              </a:rPr>
              <a:t>The Algorithm Design Manual</a:t>
            </a:r>
            <a:r>
              <a:rPr lang="en-IN" dirty="0">
                <a:latin typeface="Times New Roman" panose="02020603050405020304" pitchFamily="18" charset="0"/>
                <a:cs typeface="Times New Roman" panose="02020603050405020304" pitchFamily="18" charset="0"/>
              </a:rPr>
              <a:t>, 3rd Edition, Springer.</a:t>
            </a:r>
          </a:p>
          <a:p>
            <a:pPr algn="just">
              <a:spcBef>
                <a:spcPts val="600"/>
              </a:spcBef>
            </a:pPr>
            <a:r>
              <a:rPr lang="en-IN" b="1" dirty="0">
                <a:latin typeface="Times New Roman" panose="02020603050405020304" pitchFamily="18" charset="0"/>
                <a:cs typeface="Times New Roman" panose="02020603050405020304" pitchFamily="18" charset="0"/>
              </a:rPr>
              <a:t>Online Resources</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GeeksforGeeks</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Arrays in Data Structures</a:t>
            </a:r>
          </a:p>
          <a:p>
            <a:pPr marL="268288" algn="just">
              <a:spcBef>
                <a:spcPts val="600"/>
              </a:spcBef>
            </a:pPr>
            <a:r>
              <a:rPr lang="en-IN" dirty="0">
                <a:latin typeface="Times New Roman" panose="02020603050405020304" pitchFamily="18" charset="0"/>
                <a:cs typeface="Times New Roman" panose="02020603050405020304" pitchFamily="18" charset="0"/>
                <a:hlinkClick r:id="rId5"/>
              </a:rPr>
              <a:t>https://www.geeksforgeeks.org/array-data-structure/</a:t>
            </a:r>
            <a:endParaRPr lang="en-IN" dirty="0">
              <a:latin typeface="Times New Roman" panose="02020603050405020304" pitchFamily="18" charset="0"/>
              <a:cs typeface="Times New Roman" panose="02020603050405020304" pitchFamily="18" charset="0"/>
            </a:endParaRP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TutorialsPoint</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Data Structures – Arrays</a:t>
            </a:r>
          </a:p>
          <a:p>
            <a:pPr marL="268288" algn="just">
              <a:spcBef>
                <a:spcPts val="600"/>
              </a:spcBef>
            </a:pPr>
            <a:r>
              <a:rPr lang="en-IN" dirty="0">
                <a:latin typeface="Times New Roman" panose="02020603050405020304" pitchFamily="18" charset="0"/>
                <a:cs typeface="Times New Roman" panose="02020603050405020304" pitchFamily="18" charset="0"/>
                <a:hlinkClick r:id="rId6"/>
              </a:rPr>
              <a:t>https://www.tutorialspoint.com/data_structures_algorithms/array_data_structure.htm</a:t>
            </a:r>
            <a:endParaRPr lang="en-IN" dirty="0">
              <a:latin typeface="Times New Roman" panose="02020603050405020304" pitchFamily="18" charset="0"/>
              <a:cs typeface="Times New Roman" panose="02020603050405020304" pitchFamily="18" charset="0"/>
            </a:endParaRP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MIT </a:t>
            </a:r>
            <a:r>
              <a:rPr lang="en-IN" dirty="0" err="1">
                <a:latin typeface="Times New Roman" panose="02020603050405020304" pitchFamily="18" charset="0"/>
                <a:cs typeface="Times New Roman" panose="02020603050405020304" pitchFamily="18" charset="0"/>
              </a:rPr>
              <a:t>OpenCourseWare</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Introduction to Algorithms</a:t>
            </a:r>
          </a:p>
          <a:p>
            <a:pPr marL="268288" algn="just">
              <a:spcBef>
                <a:spcPts val="600"/>
              </a:spcBef>
            </a:pPr>
            <a:r>
              <a:rPr lang="en-IN" dirty="0">
                <a:latin typeface="Times New Roman" panose="02020603050405020304" pitchFamily="18" charset="0"/>
                <a:cs typeface="Times New Roman" panose="02020603050405020304" pitchFamily="18" charset="0"/>
                <a:hlinkClick r:id="rId7"/>
              </a:rPr>
              <a:t>https://ocw.mit.edu</a:t>
            </a:r>
            <a:endParaRPr lang="en-IN"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B1399E0A-2CFF-1DD0-69C4-94E7F4E77087}"/>
              </a:ext>
            </a:extLst>
          </p:cNvPr>
          <p:cNvSpPr>
            <a:spLocks noGrp="1"/>
          </p:cNvSpPr>
          <p:nvPr>
            <p:ph type="sldNum" sz="quarter" idx="12"/>
          </p:nvPr>
        </p:nvSpPr>
        <p:spPr/>
        <p:txBody>
          <a:bodyPr/>
          <a:lstStyle/>
          <a:p>
            <a:fld id="{C421C46D-3F04-4F73-BF36-E6D9DA5AE143}" type="slidenum">
              <a:rPr lang="en-IN" smtClean="0"/>
              <a:t>44</a:t>
            </a:fld>
            <a:endParaRPr lang="en-IN"/>
          </a:p>
        </p:txBody>
      </p:sp>
    </p:spTree>
    <p:extLst>
      <p:ext uri="{BB962C8B-B14F-4D97-AF65-F5344CB8AC3E}">
        <p14:creationId xmlns:p14="http://schemas.microsoft.com/office/powerpoint/2010/main" val="28328304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
        <p:nvSpPr>
          <p:cNvPr id="5" name="Slide Number Placeholder 4"/>
          <p:cNvSpPr>
            <a:spLocks noGrp="1"/>
          </p:cNvSpPr>
          <p:nvPr>
            <p:ph type="sldNum" sz="quarter" idx="12"/>
          </p:nvPr>
        </p:nvSpPr>
        <p:spPr/>
        <p:txBody>
          <a:bodyPr/>
          <a:lstStyle/>
          <a:p>
            <a:fld id="{C421C46D-3F04-4F73-BF36-E6D9DA5AE143}" type="slidenum">
              <a:rPr lang="en-IN" smtClean="0"/>
              <a:t>45</a:t>
            </a:fld>
            <a:endParaRPr lang="en-IN"/>
          </a:p>
        </p:txBody>
      </p:sp>
    </p:spTree>
    <p:extLst>
      <p:ext uri="{BB962C8B-B14F-4D97-AF65-F5344CB8AC3E}">
        <p14:creationId xmlns:p14="http://schemas.microsoft.com/office/powerpoint/2010/main" val="3858198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18827</TotalTime>
  <Words>3382</Words>
  <Application>Microsoft Office PowerPoint</Application>
  <PresentationFormat>On-screen Show (4:3)</PresentationFormat>
  <Paragraphs>579</Paragraphs>
  <Slides>45</Slides>
  <Notes>43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Arial</vt:lpstr>
      <vt:lpstr>Calibri</vt:lpstr>
      <vt:lpstr>Garamond</vt:lpstr>
      <vt:lpstr>Sylfaen</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Aarti Sangwan</cp:lastModifiedBy>
  <cp:revision>1285</cp:revision>
  <cp:lastPrinted>2022-09-05T08:43:44Z</cp:lastPrinted>
  <dcterms:created xsi:type="dcterms:W3CDTF">2020-01-16T09:05:56Z</dcterms:created>
  <dcterms:modified xsi:type="dcterms:W3CDTF">2026-01-09T06:45:14Z</dcterms:modified>
</cp:coreProperties>
</file>