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1011" r:id="rId2"/>
    <p:sldId id="993" r:id="rId3"/>
    <p:sldId id="1012" r:id="rId4"/>
    <p:sldId id="691" r:id="rId5"/>
    <p:sldId id="1027" r:id="rId6"/>
    <p:sldId id="1071" r:id="rId7"/>
    <p:sldId id="930" r:id="rId8"/>
    <p:sldId id="1013" r:id="rId9"/>
    <p:sldId id="1061" r:id="rId10"/>
    <p:sldId id="1062" r:id="rId11"/>
    <p:sldId id="1063" r:id="rId12"/>
    <p:sldId id="1064" r:id="rId13"/>
    <p:sldId id="1065" r:id="rId14"/>
    <p:sldId id="1066" r:id="rId15"/>
    <p:sldId id="1067" r:id="rId16"/>
    <p:sldId id="1068" r:id="rId17"/>
    <p:sldId id="1077" r:id="rId18"/>
    <p:sldId id="1078" r:id="rId19"/>
    <p:sldId id="259" r:id="rId20"/>
    <p:sldId id="260" r:id="rId21"/>
    <p:sldId id="1028" r:id="rId22"/>
    <p:sldId id="262" r:id="rId23"/>
    <p:sldId id="264" r:id="rId24"/>
    <p:sldId id="265" r:id="rId25"/>
    <p:sldId id="266" r:id="rId26"/>
    <p:sldId id="267" r:id="rId27"/>
    <p:sldId id="281" r:id="rId28"/>
    <p:sldId id="282" r:id="rId29"/>
    <p:sldId id="283" r:id="rId30"/>
    <p:sldId id="284" r:id="rId31"/>
    <p:sldId id="1072" r:id="rId32"/>
    <p:sldId id="285" r:id="rId33"/>
    <p:sldId id="286" r:id="rId34"/>
    <p:sldId id="287" r:id="rId35"/>
    <p:sldId id="288" r:id="rId36"/>
    <p:sldId id="289" r:id="rId37"/>
    <p:sldId id="268" r:id="rId38"/>
    <p:sldId id="1029" r:id="rId39"/>
    <p:sldId id="270" r:id="rId40"/>
    <p:sldId id="271" r:id="rId41"/>
    <p:sldId id="294" r:id="rId42"/>
    <p:sldId id="295" r:id="rId43"/>
    <p:sldId id="296" r:id="rId44"/>
    <p:sldId id="272" r:id="rId45"/>
    <p:sldId id="273" r:id="rId46"/>
    <p:sldId id="274" r:id="rId47"/>
    <p:sldId id="275" r:id="rId48"/>
    <p:sldId id="276" r:id="rId49"/>
    <p:sldId id="277" r:id="rId50"/>
    <p:sldId id="1033" r:id="rId51"/>
    <p:sldId id="1034" r:id="rId52"/>
    <p:sldId id="1035" r:id="rId53"/>
    <p:sldId id="1036" r:id="rId54"/>
    <p:sldId id="300" r:id="rId55"/>
    <p:sldId id="263" r:id="rId56"/>
    <p:sldId id="1037" r:id="rId57"/>
    <p:sldId id="1038" r:id="rId58"/>
    <p:sldId id="1039" r:id="rId59"/>
    <p:sldId id="1040" r:id="rId60"/>
    <p:sldId id="1041" r:id="rId61"/>
    <p:sldId id="1042" r:id="rId62"/>
    <p:sldId id="1043" r:id="rId63"/>
    <p:sldId id="1044" r:id="rId64"/>
    <p:sldId id="1045" r:id="rId65"/>
    <p:sldId id="1046" r:id="rId66"/>
    <p:sldId id="1047" r:id="rId67"/>
    <p:sldId id="1048" r:id="rId68"/>
    <p:sldId id="279" r:id="rId69"/>
    <p:sldId id="1049" r:id="rId70"/>
    <p:sldId id="1050" r:id="rId71"/>
    <p:sldId id="1051" r:id="rId72"/>
    <p:sldId id="1073" r:id="rId73"/>
    <p:sldId id="1074" r:id="rId74"/>
    <p:sldId id="1075" r:id="rId75"/>
    <p:sldId id="1052" r:id="rId76"/>
    <p:sldId id="1053" r:id="rId77"/>
    <p:sldId id="1054" r:id="rId78"/>
    <p:sldId id="1079" r:id="rId79"/>
    <p:sldId id="1080" r:id="rId80"/>
    <p:sldId id="1055" r:id="rId81"/>
    <p:sldId id="298" r:id="rId82"/>
    <p:sldId id="297" r:id="rId83"/>
    <p:sldId id="1056" r:id="rId84"/>
    <p:sldId id="1057" r:id="rId85"/>
    <p:sldId id="1076" r:id="rId86"/>
    <p:sldId id="1069" r:id="rId87"/>
    <p:sldId id="1070" r:id="rId88"/>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B3"/>
    <a:srgbClr val="E31E24"/>
    <a:srgbClr val="4B0993"/>
    <a:srgbClr val="E83030"/>
    <a:srgbClr val="0060AA"/>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54" autoAdjust="0"/>
    <p:restoredTop sz="93883" autoAdjust="0"/>
  </p:normalViewPr>
  <p:slideViewPr>
    <p:cSldViewPr>
      <p:cViewPr varScale="1">
        <p:scale>
          <a:sx n="69" d="100"/>
          <a:sy n="69" d="100"/>
        </p:scale>
        <p:origin x="968" y="56"/>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4B1ED7-D672-4101-B2AA-9A45811BA99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C3BB24C3-A629-46E7-9479-3B41D511850B}">
      <dgm:prSet phldrT="[Text]" phldr="0" custT="1"/>
      <dgm:spPr/>
      <dgm:t>
        <a:bodyPr/>
        <a:lstStyle/>
        <a:p>
          <a:r>
            <a:rPr lang="en-IN" sz="3200" dirty="0">
              <a:latin typeface="Times New Roman" panose="02020603050405020304" pitchFamily="18" charset="0"/>
              <a:cs typeface="Times New Roman" panose="02020603050405020304" pitchFamily="18" charset="0"/>
            </a:rPr>
            <a:t>Priority Order</a:t>
          </a:r>
        </a:p>
      </dgm:t>
    </dgm:pt>
    <dgm:pt modelId="{43E6BD47-D5FE-4687-8C37-0F663342D7C5}" type="parTrans" cxnId="{E713062C-088F-4E0E-BD58-C171917C8937}">
      <dgm:prSet/>
      <dgm:spPr/>
      <dgm:t>
        <a:bodyPr/>
        <a:lstStyle/>
        <a:p>
          <a:endParaRPr lang="en-IN"/>
        </a:p>
      </dgm:t>
    </dgm:pt>
    <dgm:pt modelId="{499EA8CB-7723-40C4-9C76-CCA01AC8CAE9}" type="sibTrans" cxnId="{E713062C-088F-4E0E-BD58-C171917C8937}">
      <dgm:prSet/>
      <dgm:spPr/>
      <dgm:t>
        <a:bodyPr/>
        <a:lstStyle/>
        <a:p>
          <a:endParaRPr lang="en-IN"/>
        </a:p>
      </dgm:t>
    </dgm:pt>
    <dgm:pt modelId="{E9FC6428-7FA9-43CE-A20C-95A44D2B4902}">
      <dgm:prSet phldrT="[Text]" phldr="0" custT="1"/>
      <dgm:spPr/>
      <dgm:t>
        <a:bodyPr/>
        <a:lstStyle/>
        <a:p>
          <a:r>
            <a:rPr lang="en-IN" sz="3200" dirty="0">
              <a:latin typeface="Times New Roman" panose="02020603050405020304" pitchFamily="18" charset="0"/>
              <a:cs typeface="Times New Roman" panose="02020603050405020304" pitchFamily="18" charset="0"/>
            </a:rPr>
            <a:t>Ascending Order</a:t>
          </a:r>
        </a:p>
      </dgm:t>
    </dgm:pt>
    <dgm:pt modelId="{99742060-3BF8-469D-B475-F6E97DD2BE08}" type="parTrans" cxnId="{C624080D-019C-442D-A641-1EE0375AFB11}">
      <dgm:prSet/>
      <dgm:spPr/>
      <dgm:t>
        <a:bodyPr/>
        <a:lstStyle/>
        <a:p>
          <a:endParaRPr lang="en-IN"/>
        </a:p>
      </dgm:t>
    </dgm:pt>
    <dgm:pt modelId="{758A9567-BC0A-4E0C-906A-9D3F845DEB1E}" type="sibTrans" cxnId="{C624080D-019C-442D-A641-1EE0375AFB11}">
      <dgm:prSet/>
      <dgm:spPr/>
      <dgm:t>
        <a:bodyPr/>
        <a:lstStyle/>
        <a:p>
          <a:endParaRPr lang="en-IN"/>
        </a:p>
      </dgm:t>
    </dgm:pt>
    <dgm:pt modelId="{97107C1A-B6F9-435B-93D9-0285583BE275}">
      <dgm:prSet phldrT="[Text]" phldr="0" custT="1"/>
      <dgm:spPr/>
      <dgm:t>
        <a:bodyPr/>
        <a:lstStyle/>
        <a:p>
          <a:r>
            <a:rPr lang="en-IN" sz="3200" dirty="0">
              <a:latin typeface="Times New Roman" panose="02020603050405020304" pitchFamily="18" charset="0"/>
              <a:cs typeface="Times New Roman" panose="02020603050405020304" pitchFamily="18" charset="0"/>
            </a:rPr>
            <a:t>Descending Order</a:t>
          </a:r>
        </a:p>
      </dgm:t>
    </dgm:pt>
    <dgm:pt modelId="{2F81E490-CB97-4774-A520-5E85136DA850}" type="parTrans" cxnId="{119A2D72-282B-4DBF-9697-BDF05F8AA6F8}">
      <dgm:prSet/>
      <dgm:spPr/>
      <dgm:t>
        <a:bodyPr/>
        <a:lstStyle/>
        <a:p>
          <a:endParaRPr lang="en-IN"/>
        </a:p>
      </dgm:t>
    </dgm:pt>
    <dgm:pt modelId="{19405BFF-71B9-451C-AA92-81B34F919232}" type="sibTrans" cxnId="{119A2D72-282B-4DBF-9697-BDF05F8AA6F8}">
      <dgm:prSet/>
      <dgm:spPr/>
      <dgm:t>
        <a:bodyPr/>
        <a:lstStyle/>
        <a:p>
          <a:endParaRPr lang="en-IN"/>
        </a:p>
      </dgm:t>
    </dgm:pt>
    <dgm:pt modelId="{C54FA8BC-FD3C-4289-B586-6194C158893A}" type="pres">
      <dgm:prSet presAssocID="{1A4B1ED7-D672-4101-B2AA-9A45811BA997}" presName="hierChild1" presStyleCnt="0">
        <dgm:presLayoutVars>
          <dgm:orgChart val="1"/>
          <dgm:chPref val="1"/>
          <dgm:dir/>
          <dgm:animOne val="branch"/>
          <dgm:animLvl val="lvl"/>
          <dgm:resizeHandles/>
        </dgm:presLayoutVars>
      </dgm:prSet>
      <dgm:spPr/>
    </dgm:pt>
    <dgm:pt modelId="{3DCDD6E0-0AF8-485C-B6C0-DF058F9BA821}" type="pres">
      <dgm:prSet presAssocID="{C3BB24C3-A629-46E7-9479-3B41D511850B}" presName="hierRoot1" presStyleCnt="0">
        <dgm:presLayoutVars>
          <dgm:hierBranch val="init"/>
        </dgm:presLayoutVars>
      </dgm:prSet>
      <dgm:spPr/>
    </dgm:pt>
    <dgm:pt modelId="{02B038DB-A609-45D5-ADE5-B884A55E8CD8}" type="pres">
      <dgm:prSet presAssocID="{C3BB24C3-A629-46E7-9479-3B41D511850B}" presName="rootComposite1" presStyleCnt="0"/>
      <dgm:spPr/>
    </dgm:pt>
    <dgm:pt modelId="{D53EBE76-66A9-479A-AD45-03DC56D62CD9}" type="pres">
      <dgm:prSet presAssocID="{C3BB24C3-A629-46E7-9479-3B41D511850B}" presName="rootText1" presStyleLbl="node0" presStyleIdx="0" presStyleCnt="1">
        <dgm:presLayoutVars>
          <dgm:chPref val="3"/>
        </dgm:presLayoutVars>
      </dgm:prSet>
      <dgm:spPr/>
    </dgm:pt>
    <dgm:pt modelId="{BDFD64BD-C993-4B05-8393-54C64D73513F}" type="pres">
      <dgm:prSet presAssocID="{C3BB24C3-A629-46E7-9479-3B41D511850B}" presName="rootConnector1" presStyleLbl="node1" presStyleIdx="0" presStyleCnt="0"/>
      <dgm:spPr/>
    </dgm:pt>
    <dgm:pt modelId="{A5450EE2-5A6A-49CD-9714-2AB288D7239B}" type="pres">
      <dgm:prSet presAssocID="{C3BB24C3-A629-46E7-9479-3B41D511850B}" presName="hierChild2" presStyleCnt="0"/>
      <dgm:spPr/>
    </dgm:pt>
    <dgm:pt modelId="{8B21DEE3-4C18-4016-952B-038FDF8788D0}" type="pres">
      <dgm:prSet presAssocID="{99742060-3BF8-469D-B475-F6E97DD2BE08}" presName="Name37" presStyleLbl="parChTrans1D2" presStyleIdx="0" presStyleCnt="2"/>
      <dgm:spPr/>
    </dgm:pt>
    <dgm:pt modelId="{F0707551-EC32-441F-93C8-4A0A823EA7D7}" type="pres">
      <dgm:prSet presAssocID="{E9FC6428-7FA9-43CE-A20C-95A44D2B4902}" presName="hierRoot2" presStyleCnt="0">
        <dgm:presLayoutVars>
          <dgm:hierBranch val="init"/>
        </dgm:presLayoutVars>
      </dgm:prSet>
      <dgm:spPr/>
    </dgm:pt>
    <dgm:pt modelId="{28FCE38A-06EB-44F4-8F7B-48B35FA3E6C4}" type="pres">
      <dgm:prSet presAssocID="{E9FC6428-7FA9-43CE-A20C-95A44D2B4902}" presName="rootComposite" presStyleCnt="0"/>
      <dgm:spPr/>
    </dgm:pt>
    <dgm:pt modelId="{4425AF2B-016B-426B-BAF3-7F11B4DB9E73}" type="pres">
      <dgm:prSet presAssocID="{E9FC6428-7FA9-43CE-A20C-95A44D2B4902}" presName="rootText" presStyleLbl="node2" presStyleIdx="0" presStyleCnt="2">
        <dgm:presLayoutVars>
          <dgm:chPref val="3"/>
        </dgm:presLayoutVars>
      </dgm:prSet>
      <dgm:spPr/>
    </dgm:pt>
    <dgm:pt modelId="{0CAE7341-E464-4846-9A3B-AAEC54624753}" type="pres">
      <dgm:prSet presAssocID="{E9FC6428-7FA9-43CE-A20C-95A44D2B4902}" presName="rootConnector" presStyleLbl="node2" presStyleIdx="0" presStyleCnt="2"/>
      <dgm:spPr/>
    </dgm:pt>
    <dgm:pt modelId="{C4ED19A7-9C14-4D2F-859D-60CF86D9E080}" type="pres">
      <dgm:prSet presAssocID="{E9FC6428-7FA9-43CE-A20C-95A44D2B4902}" presName="hierChild4" presStyleCnt="0"/>
      <dgm:spPr/>
    </dgm:pt>
    <dgm:pt modelId="{B6590C20-2F08-4279-B183-1473FCC96393}" type="pres">
      <dgm:prSet presAssocID="{E9FC6428-7FA9-43CE-A20C-95A44D2B4902}" presName="hierChild5" presStyleCnt="0"/>
      <dgm:spPr/>
    </dgm:pt>
    <dgm:pt modelId="{B5EF47CF-F35F-4D1E-871D-E40BA4A83730}" type="pres">
      <dgm:prSet presAssocID="{2F81E490-CB97-4774-A520-5E85136DA850}" presName="Name37" presStyleLbl="parChTrans1D2" presStyleIdx="1" presStyleCnt="2"/>
      <dgm:spPr/>
    </dgm:pt>
    <dgm:pt modelId="{6CCFFB7F-DC79-4CB2-9A76-00357E406960}" type="pres">
      <dgm:prSet presAssocID="{97107C1A-B6F9-435B-93D9-0285583BE275}" presName="hierRoot2" presStyleCnt="0">
        <dgm:presLayoutVars>
          <dgm:hierBranch val="init"/>
        </dgm:presLayoutVars>
      </dgm:prSet>
      <dgm:spPr/>
    </dgm:pt>
    <dgm:pt modelId="{4E8442A6-392F-4B16-81D5-EC39891EC625}" type="pres">
      <dgm:prSet presAssocID="{97107C1A-B6F9-435B-93D9-0285583BE275}" presName="rootComposite" presStyleCnt="0"/>
      <dgm:spPr/>
    </dgm:pt>
    <dgm:pt modelId="{23CF6994-8A54-4851-A49A-6E37D087C93D}" type="pres">
      <dgm:prSet presAssocID="{97107C1A-B6F9-435B-93D9-0285583BE275}" presName="rootText" presStyleLbl="node2" presStyleIdx="1" presStyleCnt="2">
        <dgm:presLayoutVars>
          <dgm:chPref val="3"/>
        </dgm:presLayoutVars>
      </dgm:prSet>
      <dgm:spPr/>
    </dgm:pt>
    <dgm:pt modelId="{1F728D9E-C6CB-46C2-86E2-273833FB83B7}" type="pres">
      <dgm:prSet presAssocID="{97107C1A-B6F9-435B-93D9-0285583BE275}" presName="rootConnector" presStyleLbl="node2" presStyleIdx="1" presStyleCnt="2"/>
      <dgm:spPr/>
    </dgm:pt>
    <dgm:pt modelId="{C61504F5-B71D-4320-BFDE-E0280F37DA72}" type="pres">
      <dgm:prSet presAssocID="{97107C1A-B6F9-435B-93D9-0285583BE275}" presName="hierChild4" presStyleCnt="0"/>
      <dgm:spPr/>
    </dgm:pt>
    <dgm:pt modelId="{5B54D639-8674-41B4-9680-D1AEE4812AC0}" type="pres">
      <dgm:prSet presAssocID="{97107C1A-B6F9-435B-93D9-0285583BE275}" presName="hierChild5" presStyleCnt="0"/>
      <dgm:spPr/>
    </dgm:pt>
    <dgm:pt modelId="{D1A926B5-713D-491C-8225-4022DB461845}" type="pres">
      <dgm:prSet presAssocID="{C3BB24C3-A629-46E7-9479-3B41D511850B}" presName="hierChild3" presStyleCnt="0"/>
      <dgm:spPr/>
    </dgm:pt>
  </dgm:ptLst>
  <dgm:cxnLst>
    <dgm:cxn modelId="{503F9501-79E9-49B6-A6DF-9743A0A9B467}" type="presOf" srcId="{99742060-3BF8-469D-B475-F6E97DD2BE08}" destId="{8B21DEE3-4C18-4016-952B-038FDF8788D0}" srcOrd="0" destOrd="0" presId="urn:microsoft.com/office/officeart/2005/8/layout/orgChart1"/>
    <dgm:cxn modelId="{C624080D-019C-442D-A641-1EE0375AFB11}" srcId="{C3BB24C3-A629-46E7-9479-3B41D511850B}" destId="{E9FC6428-7FA9-43CE-A20C-95A44D2B4902}" srcOrd="0" destOrd="0" parTransId="{99742060-3BF8-469D-B475-F6E97DD2BE08}" sibTransId="{758A9567-BC0A-4E0C-906A-9D3F845DEB1E}"/>
    <dgm:cxn modelId="{0FAD890F-05D8-4E86-B160-7B33ED156CF1}" type="presOf" srcId="{2F81E490-CB97-4774-A520-5E85136DA850}" destId="{B5EF47CF-F35F-4D1E-871D-E40BA4A83730}" srcOrd="0" destOrd="0" presId="urn:microsoft.com/office/officeart/2005/8/layout/orgChart1"/>
    <dgm:cxn modelId="{68BC1829-4666-442B-97B4-EE3BC73103B4}" type="presOf" srcId="{1A4B1ED7-D672-4101-B2AA-9A45811BA997}" destId="{C54FA8BC-FD3C-4289-B586-6194C158893A}" srcOrd="0" destOrd="0" presId="urn:microsoft.com/office/officeart/2005/8/layout/orgChart1"/>
    <dgm:cxn modelId="{E713062C-088F-4E0E-BD58-C171917C8937}" srcId="{1A4B1ED7-D672-4101-B2AA-9A45811BA997}" destId="{C3BB24C3-A629-46E7-9479-3B41D511850B}" srcOrd="0" destOrd="0" parTransId="{43E6BD47-D5FE-4687-8C37-0F663342D7C5}" sibTransId="{499EA8CB-7723-40C4-9C76-CCA01AC8CAE9}"/>
    <dgm:cxn modelId="{EAE2684D-6F9B-43DF-B4D7-F230A3AE56C8}" type="presOf" srcId="{C3BB24C3-A629-46E7-9479-3B41D511850B}" destId="{D53EBE76-66A9-479A-AD45-03DC56D62CD9}" srcOrd="0" destOrd="0" presId="urn:microsoft.com/office/officeart/2005/8/layout/orgChart1"/>
    <dgm:cxn modelId="{119A2D72-282B-4DBF-9697-BDF05F8AA6F8}" srcId="{C3BB24C3-A629-46E7-9479-3B41D511850B}" destId="{97107C1A-B6F9-435B-93D9-0285583BE275}" srcOrd="1" destOrd="0" parTransId="{2F81E490-CB97-4774-A520-5E85136DA850}" sibTransId="{19405BFF-71B9-451C-AA92-81B34F919232}"/>
    <dgm:cxn modelId="{1AEC3779-1A3F-4E21-97E1-EA56D03CB478}" type="presOf" srcId="{97107C1A-B6F9-435B-93D9-0285583BE275}" destId="{23CF6994-8A54-4851-A49A-6E37D087C93D}" srcOrd="0" destOrd="0" presId="urn:microsoft.com/office/officeart/2005/8/layout/orgChart1"/>
    <dgm:cxn modelId="{3A531E9E-5ABA-444F-A87D-C090D65AB435}" type="presOf" srcId="{E9FC6428-7FA9-43CE-A20C-95A44D2B4902}" destId="{0CAE7341-E464-4846-9A3B-AAEC54624753}" srcOrd="1" destOrd="0" presId="urn:microsoft.com/office/officeart/2005/8/layout/orgChart1"/>
    <dgm:cxn modelId="{902E1F9F-DC1D-4755-AAB8-912B158B1114}" type="presOf" srcId="{97107C1A-B6F9-435B-93D9-0285583BE275}" destId="{1F728D9E-C6CB-46C2-86E2-273833FB83B7}" srcOrd="1" destOrd="0" presId="urn:microsoft.com/office/officeart/2005/8/layout/orgChart1"/>
    <dgm:cxn modelId="{A072A7CF-E9BB-46A7-8F3C-3AB9BE2CDEFE}" type="presOf" srcId="{C3BB24C3-A629-46E7-9479-3B41D511850B}" destId="{BDFD64BD-C993-4B05-8393-54C64D73513F}" srcOrd="1" destOrd="0" presId="urn:microsoft.com/office/officeart/2005/8/layout/orgChart1"/>
    <dgm:cxn modelId="{2D2B36DF-29C0-4D9B-A81B-18473AF135BA}" type="presOf" srcId="{E9FC6428-7FA9-43CE-A20C-95A44D2B4902}" destId="{4425AF2B-016B-426B-BAF3-7F11B4DB9E73}" srcOrd="0" destOrd="0" presId="urn:microsoft.com/office/officeart/2005/8/layout/orgChart1"/>
    <dgm:cxn modelId="{AAD68680-BDBD-43BB-859C-1FC69F519957}" type="presParOf" srcId="{C54FA8BC-FD3C-4289-B586-6194C158893A}" destId="{3DCDD6E0-0AF8-485C-B6C0-DF058F9BA821}" srcOrd="0" destOrd="0" presId="urn:microsoft.com/office/officeart/2005/8/layout/orgChart1"/>
    <dgm:cxn modelId="{1F3D2EAE-1329-4EFC-8617-58C83BD62682}" type="presParOf" srcId="{3DCDD6E0-0AF8-485C-B6C0-DF058F9BA821}" destId="{02B038DB-A609-45D5-ADE5-B884A55E8CD8}" srcOrd="0" destOrd="0" presId="urn:microsoft.com/office/officeart/2005/8/layout/orgChart1"/>
    <dgm:cxn modelId="{4499C4E1-C548-4C39-82C4-E9EF54E51E42}" type="presParOf" srcId="{02B038DB-A609-45D5-ADE5-B884A55E8CD8}" destId="{D53EBE76-66A9-479A-AD45-03DC56D62CD9}" srcOrd="0" destOrd="0" presId="urn:microsoft.com/office/officeart/2005/8/layout/orgChart1"/>
    <dgm:cxn modelId="{A628C940-641E-4B3F-8CC2-E1A22D840C3C}" type="presParOf" srcId="{02B038DB-A609-45D5-ADE5-B884A55E8CD8}" destId="{BDFD64BD-C993-4B05-8393-54C64D73513F}" srcOrd="1" destOrd="0" presId="urn:microsoft.com/office/officeart/2005/8/layout/orgChart1"/>
    <dgm:cxn modelId="{6AC92C58-F274-484E-8CDA-38A11A444472}" type="presParOf" srcId="{3DCDD6E0-0AF8-485C-B6C0-DF058F9BA821}" destId="{A5450EE2-5A6A-49CD-9714-2AB288D7239B}" srcOrd="1" destOrd="0" presId="urn:microsoft.com/office/officeart/2005/8/layout/orgChart1"/>
    <dgm:cxn modelId="{06AE1D09-E15A-46D4-B83A-96FFFD586559}" type="presParOf" srcId="{A5450EE2-5A6A-49CD-9714-2AB288D7239B}" destId="{8B21DEE3-4C18-4016-952B-038FDF8788D0}" srcOrd="0" destOrd="0" presId="urn:microsoft.com/office/officeart/2005/8/layout/orgChart1"/>
    <dgm:cxn modelId="{DB4BBF31-ADD7-40B3-B5AF-B476811B37C6}" type="presParOf" srcId="{A5450EE2-5A6A-49CD-9714-2AB288D7239B}" destId="{F0707551-EC32-441F-93C8-4A0A823EA7D7}" srcOrd="1" destOrd="0" presId="urn:microsoft.com/office/officeart/2005/8/layout/orgChart1"/>
    <dgm:cxn modelId="{4CE6F7E5-F732-4835-8984-BFF187EA5234}" type="presParOf" srcId="{F0707551-EC32-441F-93C8-4A0A823EA7D7}" destId="{28FCE38A-06EB-44F4-8F7B-48B35FA3E6C4}" srcOrd="0" destOrd="0" presId="urn:microsoft.com/office/officeart/2005/8/layout/orgChart1"/>
    <dgm:cxn modelId="{D472A1DB-E5A6-4D3F-986C-5BC450E5F186}" type="presParOf" srcId="{28FCE38A-06EB-44F4-8F7B-48B35FA3E6C4}" destId="{4425AF2B-016B-426B-BAF3-7F11B4DB9E73}" srcOrd="0" destOrd="0" presId="urn:microsoft.com/office/officeart/2005/8/layout/orgChart1"/>
    <dgm:cxn modelId="{EE5985E7-86CC-4A48-8ABB-E12FCC0C5ABA}" type="presParOf" srcId="{28FCE38A-06EB-44F4-8F7B-48B35FA3E6C4}" destId="{0CAE7341-E464-4846-9A3B-AAEC54624753}" srcOrd="1" destOrd="0" presId="urn:microsoft.com/office/officeart/2005/8/layout/orgChart1"/>
    <dgm:cxn modelId="{0A0191B5-D28E-4E90-A58A-33EA9B0CAA0E}" type="presParOf" srcId="{F0707551-EC32-441F-93C8-4A0A823EA7D7}" destId="{C4ED19A7-9C14-4D2F-859D-60CF86D9E080}" srcOrd="1" destOrd="0" presId="urn:microsoft.com/office/officeart/2005/8/layout/orgChart1"/>
    <dgm:cxn modelId="{352F5300-7600-4537-8477-F1E96ECF334C}" type="presParOf" srcId="{F0707551-EC32-441F-93C8-4A0A823EA7D7}" destId="{B6590C20-2F08-4279-B183-1473FCC96393}" srcOrd="2" destOrd="0" presId="urn:microsoft.com/office/officeart/2005/8/layout/orgChart1"/>
    <dgm:cxn modelId="{FA4D1AD5-9902-46D4-AF7A-3C9E6DDC4B56}" type="presParOf" srcId="{A5450EE2-5A6A-49CD-9714-2AB288D7239B}" destId="{B5EF47CF-F35F-4D1E-871D-E40BA4A83730}" srcOrd="2" destOrd="0" presId="urn:microsoft.com/office/officeart/2005/8/layout/orgChart1"/>
    <dgm:cxn modelId="{B3BDE05A-95F6-469C-B7E3-19BB169BDCC8}" type="presParOf" srcId="{A5450EE2-5A6A-49CD-9714-2AB288D7239B}" destId="{6CCFFB7F-DC79-4CB2-9A76-00357E406960}" srcOrd="3" destOrd="0" presId="urn:microsoft.com/office/officeart/2005/8/layout/orgChart1"/>
    <dgm:cxn modelId="{888B5317-C901-41A3-9652-0CCF88D164E9}" type="presParOf" srcId="{6CCFFB7F-DC79-4CB2-9A76-00357E406960}" destId="{4E8442A6-392F-4B16-81D5-EC39891EC625}" srcOrd="0" destOrd="0" presId="urn:microsoft.com/office/officeart/2005/8/layout/orgChart1"/>
    <dgm:cxn modelId="{D10BFE96-21A2-4FF1-9FD7-AA248DACFF48}" type="presParOf" srcId="{4E8442A6-392F-4B16-81D5-EC39891EC625}" destId="{23CF6994-8A54-4851-A49A-6E37D087C93D}" srcOrd="0" destOrd="0" presId="urn:microsoft.com/office/officeart/2005/8/layout/orgChart1"/>
    <dgm:cxn modelId="{BAF8C75F-1848-44B5-B39B-9CF8525052DC}" type="presParOf" srcId="{4E8442A6-392F-4B16-81D5-EC39891EC625}" destId="{1F728D9E-C6CB-46C2-86E2-273833FB83B7}" srcOrd="1" destOrd="0" presId="urn:microsoft.com/office/officeart/2005/8/layout/orgChart1"/>
    <dgm:cxn modelId="{897280EF-6741-4459-88A9-CF7404B9DEEE}" type="presParOf" srcId="{6CCFFB7F-DC79-4CB2-9A76-00357E406960}" destId="{C61504F5-B71D-4320-BFDE-E0280F37DA72}" srcOrd="1" destOrd="0" presId="urn:microsoft.com/office/officeart/2005/8/layout/orgChart1"/>
    <dgm:cxn modelId="{CC6FFD6C-E8BF-4EF4-B357-D77D90DD02FE}" type="presParOf" srcId="{6CCFFB7F-DC79-4CB2-9A76-00357E406960}" destId="{5B54D639-8674-41B4-9680-D1AEE4812AC0}" srcOrd="2" destOrd="0" presId="urn:microsoft.com/office/officeart/2005/8/layout/orgChart1"/>
    <dgm:cxn modelId="{3F88DD64-33A7-460B-B8D5-BFA948027944}" type="presParOf" srcId="{3DCDD6E0-0AF8-485C-B6C0-DF058F9BA821}" destId="{D1A926B5-713D-491C-8225-4022DB461845}"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EF47CF-F35F-4D1E-871D-E40BA4A83730}">
      <dsp:nvSpPr>
        <dsp:cNvPr id="0" name=""/>
        <dsp:cNvSpPr/>
      </dsp:nvSpPr>
      <dsp:spPr>
        <a:xfrm>
          <a:off x="3048000" y="1742510"/>
          <a:ext cx="1668009" cy="578978"/>
        </a:xfrm>
        <a:custGeom>
          <a:avLst/>
          <a:gdLst/>
          <a:ahLst/>
          <a:cxnLst/>
          <a:rect l="0" t="0" r="0" b="0"/>
          <a:pathLst>
            <a:path>
              <a:moveTo>
                <a:pt x="0" y="0"/>
              </a:moveTo>
              <a:lnTo>
                <a:pt x="0" y="289489"/>
              </a:lnTo>
              <a:lnTo>
                <a:pt x="1668009" y="289489"/>
              </a:lnTo>
              <a:lnTo>
                <a:pt x="1668009" y="57897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21DEE3-4C18-4016-952B-038FDF8788D0}">
      <dsp:nvSpPr>
        <dsp:cNvPr id="0" name=""/>
        <dsp:cNvSpPr/>
      </dsp:nvSpPr>
      <dsp:spPr>
        <a:xfrm>
          <a:off x="1379990" y="1742510"/>
          <a:ext cx="1668009" cy="578978"/>
        </a:xfrm>
        <a:custGeom>
          <a:avLst/>
          <a:gdLst/>
          <a:ahLst/>
          <a:cxnLst/>
          <a:rect l="0" t="0" r="0" b="0"/>
          <a:pathLst>
            <a:path>
              <a:moveTo>
                <a:pt x="1668009" y="0"/>
              </a:moveTo>
              <a:lnTo>
                <a:pt x="1668009" y="289489"/>
              </a:lnTo>
              <a:lnTo>
                <a:pt x="0" y="289489"/>
              </a:lnTo>
              <a:lnTo>
                <a:pt x="0" y="57897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3EBE76-66A9-479A-AD45-03DC56D62CD9}">
      <dsp:nvSpPr>
        <dsp:cNvPr id="0" name=""/>
        <dsp:cNvSpPr/>
      </dsp:nvSpPr>
      <dsp:spPr>
        <a:xfrm>
          <a:off x="1669479" y="363990"/>
          <a:ext cx="2757041" cy="13785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kern="1200" dirty="0">
              <a:latin typeface="Times New Roman" panose="02020603050405020304" pitchFamily="18" charset="0"/>
              <a:cs typeface="Times New Roman" panose="02020603050405020304" pitchFamily="18" charset="0"/>
            </a:rPr>
            <a:t>Priority Order</a:t>
          </a:r>
        </a:p>
      </dsp:txBody>
      <dsp:txXfrm>
        <a:off x="1669479" y="363990"/>
        <a:ext cx="2757041" cy="1378520"/>
      </dsp:txXfrm>
    </dsp:sp>
    <dsp:sp modelId="{4425AF2B-016B-426B-BAF3-7F11B4DB9E73}">
      <dsp:nvSpPr>
        <dsp:cNvPr id="0" name=""/>
        <dsp:cNvSpPr/>
      </dsp:nvSpPr>
      <dsp:spPr>
        <a:xfrm>
          <a:off x="1469" y="2321489"/>
          <a:ext cx="2757041" cy="13785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kern="1200" dirty="0">
              <a:latin typeface="Times New Roman" panose="02020603050405020304" pitchFamily="18" charset="0"/>
              <a:cs typeface="Times New Roman" panose="02020603050405020304" pitchFamily="18" charset="0"/>
            </a:rPr>
            <a:t>Ascending Order</a:t>
          </a:r>
        </a:p>
      </dsp:txBody>
      <dsp:txXfrm>
        <a:off x="1469" y="2321489"/>
        <a:ext cx="2757041" cy="1378520"/>
      </dsp:txXfrm>
    </dsp:sp>
    <dsp:sp modelId="{23CF6994-8A54-4851-A49A-6E37D087C93D}">
      <dsp:nvSpPr>
        <dsp:cNvPr id="0" name=""/>
        <dsp:cNvSpPr/>
      </dsp:nvSpPr>
      <dsp:spPr>
        <a:xfrm>
          <a:off x="3337489" y="2321489"/>
          <a:ext cx="2757041" cy="13785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kern="1200" dirty="0">
              <a:latin typeface="Times New Roman" panose="02020603050405020304" pitchFamily="18" charset="0"/>
              <a:cs typeface="Times New Roman" panose="02020603050405020304" pitchFamily="18" charset="0"/>
            </a:rPr>
            <a:t>Descending Order</a:t>
          </a:r>
        </a:p>
      </dsp:txBody>
      <dsp:txXfrm>
        <a:off x="3337489" y="2321489"/>
        <a:ext cx="2757041" cy="137852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12-01-2026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9E662-1915-34F3-092F-EE04EBF59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30333-E2BE-88A3-BD52-8AE8F345B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9C4226-A502-EE9C-DAF9-4CAD257F2A9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91C38F0-2D63-8523-9004-AACFE6E38A6D}"/>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1726560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2910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61EDF-9350-A0AA-1930-87E304B34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A3AFB-48EB-4A4A-E3B5-C8D49CAD8A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57E3B-420A-F83C-5EFB-80E27E42D07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ED83EDA-003D-E7C0-C17C-2F32C020A497}"/>
              </a:ext>
            </a:extLst>
          </p:cNvPr>
          <p:cNvSpPr>
            <a:spLocks noGrp="1"/>
          </p:cNvSpPr>
          <p:nvPr>
            <p:ph type="sldNum" sz="quarter" idx="5"/>
          </p:nvPr>
        </p:nvSpPr>
        <p:spPr/>
        <p:txBody>
          <a:bodyPr/>
          <a:lstStyle/>
          <a:p>
            <a:fld id="{DAB949B3-C4AB-4FB2-8B24-B07A558BD59F}" type="slidenum">
              <a:rPr lang="en-IN" smtClean="0"/>
              <a:pPr/>
              <a:t>9</a:t>
            </a:fld>
            <a:endParaRPr lang="en-IN"/>
          </a:p>
        </p:txBody>
      </p:sp>
      <p:sp>
        <p:nvSpPr>
          <p:cNvPr id="5" name="Footer Placeholder 4">
            <a:extLst>
              <a:ext uri="{FF2B5EF4-FFF2-40B4-BE49-F238E27FC236}">
                <a16:creationId xmlns:a16="http://schemas.microsoft.com/office/drawing/2014/main" id="{AD21F4A8-66AA-B3C5-4BAE-69CC015319C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F100996-2168-F08A-7AD9-FBD90F75C55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07304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3A691-BF94-0DC4-3D3D-72913C5CB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FBB08-B524-9A25-82E9-F1B9CA652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39AB12-5829-D79D-7C07-07389AF0914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6E29FE3-4C0F-A1F6-0125-A9F89ACCDEB8}"/>
              </a:ext>
            </a:extLst>
          </p:cNvPr>
          <p:cNvSpPr>
            <a:spLocks noGrp="1"/>
          </p:cNvSpPr>
          <p:nvPr>
            <p:ph type="sldNum" sz="quarter" idx="5"/>
          </p:nvPr>
        </p:nvSpPr>
        <p:spPr/>
        <p:txBody>
          <a:bodyPr/>
          <a:lstStyle/>
          <a:p>
            <a:fld id="{DAB949B3-C4AB-4FB2-8B24-B07A558BD59F}" type="slidenum">
              <a:rPr lang="en-IN" smtClean="0"/>
              <a:pPr/>
              <a:t>10</a:t>
            </a:fld>
            <a:endParaRPr lang="en-IN"/>
          </a:p>
        </p:txBody>
      </p:sp>
      <p:sp>
        <p:nvSpPr>
          <p:cNvPr id="5" name="Footer Placeholder 4">
            <a:extLst>
              <a:ext uri="{FF2B5EF4-FFF2-40B4-BE49-F238E27FC236}">
                <a16:creationId xmlns:a16="http://schemas.microsoft.com/office/drawing/2014/main" id="{278EB3C5-0563-8E1B-5DFA-8E6072B7252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2CAD065-AFEC-E0E3-9BBC-9295C2BE09B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865479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13EF-893B-62D8-6116-8F85F38C2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495C4-9ACC-C202-0227-FACC69F7B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09EBA4-EA8B-DF42-0294-B50A09420E6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8F15C13-DC61-7DFB-9FD7-4FB7F651786D}"/>
              </a:ext>
            </a:extLst>
          </p:cNvPr>
          <p:cNvSpPr>
            <a:spLocks noGrp="1"/>
          </p:cNvSpPr>
          <p:nvPr>
            <p:ph type="sldNum" sz="quarter" idx="5"/>
          </p:nvPr>
        </p:nvSpPr>
        <p:spPr/>
        <p:txBody>
          <a:bodyPr/>
          <a:lstStyle/>
          <a:p>
            <a:fld id="{DAB949B3-C4AB-4FB2-8B24-B07A558BD59F}" type="slidenum">
              <a:rPr lang="en-IN" smtClean="0"/>
              <a:pPr/>
              <a:t>11</a:t>
            </a:fld>
            <a:endParaRPr lang="en-IN"/>
          </a:p>
        </p:txBody>
      </p:sp>
      <p:sp>
        <p:nvSpPr>
          <p:cNvPr id="5" name="Footer Placeholder 4">
            <a:extLst>
              <a:ext uri="{FF2B5EF4-FFF2-40B4-BE49-F238E27FC236}">
                <a16:creationId xmlns:a16="http://schemas.microsoft.com/office/drawing/2014/main" id="{5C613A3D-0C19-0042-FB3A-EBAEAF0A4B2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F22A841-6FF0-2647-1895-93873B265D73}"/>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13564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156EA-C055-BC36-FC64-C129A6A56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0C217-1493-CD3D-7D49-C1994D196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C5615-01FF-1990-F4DF-73F01C2E55B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4A7DF67-AC53-0F2D-43DA-740F88BCAA42}"/>
              </a:ext>
            </a:extLst>
          </p:cNvPr>
          <p:cNvSpPr>
            <a:spLocks noGrp="1"/>
          </p:cNvSpPr>
          <p:nvPr>
            <p:ph type="sldNum" sz="quarter" idx="5"/>
          </p:nvPr>
        </p:nvSpPr>
        <p:spPr/>
        <p:txBody>
          <a:bodyPr/>
          <a:lstStyle/>
          <a:p>
            <a:fld id="{DAB949B3-C4AB-4FB2-8B24-B07A558BD59F}" type="slidenum">
              <a:rPr lang="en-IN" smtClean="0"/>
              <a:pPr/>
              <a:t>12</a:t>
            </a:fld>
            <a:endParaRPr lang="en-IN"/>
          </a:p>
        </p:txBody>
      </p:sp>
      <p:sp>
        <p:nvSpPr>
          <p:cNvPr id="5" name="Footer Placeholder 4">
            <a:extLst>
              <a:ext uri="{FF2B5EF4-FFF2-40B4-BE49-F238E27FC236}">
                <a16:creationId xmlns:a16="http://schemas.microsoft.com/office/drawing/2014/main" id="{52470250-20C2-9FA6-C4D5-5C4D3D431B0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B2B2C5D-F5BB-E97D-8755-C5E39C8259BE}"/>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28436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C5D34-3573-4509-21DC-25D0713090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7A182-1A74-12AC-CE6E-F4F91C8502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6B47D-5E53-0F80-0AA9-DAE5ACB9A84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B5D3DA-DD0E-F488-11C6-CAD4BE2A9C28}"/>
              </a:ext>
            </a:extLst>
          </p:cNvPr>
          <p:cNvSpPr>
            <a:spLocks noGrp="1"/>
          </p:cNvSpPr>
          <p:nvPr>
            <p:ph type="sldNum" sz="quarter" idx="5"/>
          </p:nvPr>
        </p:nvSpPr>
        <p:spPr/>
        <p:txBody>
          <a:bodyPr/>
          <a:lstStyle/>
          <a:p>
            <a:fld id="{DAB949B3-C4AB-4FB2-8B24-B07A558BD59F}" type="slidenum">
              <a:rPr lang="en-IN" smtClean="0"/>
              <a:pPr/>
              <a:t>13</a:t>
            </a:fld>
            <a:endParaRPr lang="en-IN"/>
          </a:p>
        </p:txBody>
      </p:sp>
      <p:sp>
        <p:nvSpPr>
          <p:cNvPr id="5" name="Footer Placeholder 4">
            <a:extLst>
              <a:ext uri="{FF2B5EF4-FFF2-40B4-BE49-F238E27FC236}">
                <a16:creationId xmlns:a16="http://schemas.microsoft.com/office/drawing/2014/main" id="{2D700695-4B26-AECC-E771-A163141DC58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26C4B64-C933-1A08-BA3F-F1CA7CBB65C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915496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40FDC-E315-7A03-7444-6F4B7667B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3C01A-ECCB-42FB-9248-80259C9A5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E0CF0-4B11-10A6-6F9F-593B050D5AF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782ACCA-0892-1639-519B-48B6B204A49D}"/>
              </a:ext>
            </a:extLst>
          </p:cNvPr>
          <p:cNvSpPr>
            <a:spLocks noGrp="1"/>
          </p:cNvSpPr>
          <p:nvPr>
            <p:ph type="sldNum" sz="quarter" idx="5"/>
          </p:nvPr>
        </p:nvSpPr>
        <p:spPr/>
        <p:txBody>
          <a:bodyPr/>
          <a:lstStyle/>
          <a:p>
            <a:fld id="{DAB949B3-C4AB-4FB2-8B24-B07A558BD59F}" type="slidenum">
              <a:rPr lang="en-IN" smtClean="0"/>
              <a:pPr/>
              <a:t>14</a:t>
            </a:fld>
            <a:endParaRPr lang="en-IN"/>
          </a:p>
        </p:txBody>
      </p:sp>
      <p:sp>
        <p:nvSpPr>
          <p:cNvPr id="5" name="Footer Placeholder 4">
            <a:extLst>
              <a:ext uri="{FF2B5EF4-FFF2-40B4-BE49-F238E27FC236}">
                <a16:creationId xmlns:a16="http://schemas.microsoft.com/office/drawing/2014/main" id="{1B9D35E5-627E-E9CD-0412-3D0185E1E62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EEC1BB4-DDE3-01A4-B3C1-CD915087215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56155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9D51D-9CD3-E4B1-DC8A-DCA4E1BC6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394F19-5A64-5078-5727-2D4D56B20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E95FC4-9E50-449D-A9D0-7EAE1BB03CD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BE79B4C-0D2B-B532-1CFB-8D1718117833}"/>
              </a:ext>
            </a:extLst>
          </p:cNvPr>
          <p:cNvSpPr>
            <a:spLocks noGrp="1"/>
          </p:cNvSpPr>
          <p:nvPr>
            <p:ph type="sldNum" sz="quarter" idx="5"/>
          </p:nvPr>
        </p:nvSpPr>
        <p:spPr/>
        <p:txBody>
          <a:bodyPr/>
          <a:lstStyle/>
          <a:p>
            <a:fld id="{DAB949B3-C4AB-4FB2-8B24-B07A558BD59F}" type="slidenum">
              <a:rPr lang="en-IN" smtClean="0"/>
              <a:pPr/>
              <a:t>15</a:t>
            </a:fld>
            <a:endParaRPr lang="en-IN"/>
          </a:p>
        </p:txBody>
      </p:sp>
      <p:sp>
        <p:nvSpPr>
          <p:cNvPr id="5" name="Footer Placeholder 4">
            <a:extLst>
              <a:ext uri="{FF2B5EF4-FFF2-40B4-BE49-F238E27FC236}">
                <a16:creationId xmlns:a16="http://schemas.microsoft.com/office/drawing/2014/main" id="{7B5E9E9C-D117-6C64-1C1C-31EE4416002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57A1783-6649-74FF-52CC-6688DCB03BE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1092279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A216-DA51-4011-2560-D642EF472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28125-3927-F700-985E-AFF2360A6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7F0F1-45EC-56FA-E5B2-BA9F597B9DE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70FA263-3365-DDD9-E70D-A059DC51262F}"/>
              </a:ext>
            </a:extLst>
          </p:cNvPr>
          <p:cNvSpPr>
            <a:spLocks noGrp="1"/>
          </p:cNvSpPr>
          <p:nvPr>
            <p:ph type="sldNum" sz="quarter" idx="5"/>
          </p:nvPr>
        </p:nvSpPr>
        <p:spPr/>
        <p:txBody>
          <a:bodyPr/>
          <a:lstStyle/>
          <a:p>
            <a:fld id="{DAB949B3-C4AB-4FB2-8B24-B07A558BD59F}" type="slidenum">
              <a:rPr lang="en-IN" smtClean="0"/>
              <a:pPr/>
              <a:t>16</a:t>
            </a:fld>
            <a:endParaRPr lang="en-IN"/>
          </a:p>
        </p:txBody>
      </p:sp>
      <p:sp>
        <p:nvSpPr>
          <p:cNvPr id="5" name="Footer Placeholder 4">
            <a:extLst>
              <a:ext uri="{FF2B5EF4-FFF2-40B4-BE49-F238E27FC236}">
                <a16:creationId xmlns:a16="http://schemas.microsoft.com/office/drawing/2014/main" id="{199CFDB6-4BE6-B94F-B991-B00E6413CFA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B026D35-851F-3313-EEE5-D639BC7B7187}"/>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768597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32929-1D84-4325-2008-DAE31DDAD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C7BA7-B230-C911-F60C-DCEBC7F758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3B461-07B8-36A7-4FA6-FFC23FD0C24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E4F0195-A739-1426-3B18-E439FBA61FFA}"/>
              </a:ext>
            </a:extLst>
          </p:cNvPr>
          <p:cNvSpPr>
            <a:spLocks noGrp="1"/>
          </p:cNvSpPr>
          <p:nvPr>
            <p:ph type="sldNum" sz="quarter" idx="5"/>
          </p:nvPr>
        </p:nvSpPr>
        <p:spPr/>
        <p:txBody>
          <a:bodyPr/>
          <a:lstStyle/>
          <a:p>
            <a:fld id="{DAB949B3-C4AB-4FB2-8B24-B07A558BD59F}" type="slidenum">
              <a:rPr lang="en-IN" smtClean="0"/>
              <a:pPr/>
              <a:t>17</a:t>
            </a:fld>
            <a:endParaRPr lang="en-IN"/>
          </a:p>
        </p:txBody>
      </p:sp>
      <p:sp>
        <p:nvSpPr>
          <p:cNvPr id="5" name="Footer Placeholder 4">
            <a:extLst>
              <a:ext uri="{FF2B5EF4-FFF2-40B4-BE49-F238E27FC236}">
                <a16:creationId xmlns:a16="http://schemas.microsoft.com/office/drawing/2014/main" id="{DD7779F8-D801-E5DB-BDE6-2E66115F6A3A}"/>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DF9BA49-20A1-27C1-F999-482D48D77BC1}"/>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08468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A64EA-5BCD-E634-1037-518F67640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12C94-1115-94EF-13E6-610F75CAB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A64CE-DB6B-9154-E0F1-9FBF7EB9401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EF941C5-DEE3-AD03-084A-B06D1D99541F}"/>
              </a:ext>
            </a:extLst>
          </p:cNvPr>
          <p:cNvSpPr>
            <a:spLocks noGrp="1"/>
          </p:cNvSpPr>
          <p:nvPr>
            <p:ph type="sldNum" sz="quarter" idx="5"/>
          </p:nvPr>
        </p:nvSpPr>
        <p:spPr/>
        <p:txBody>
          <a:bodyPr/>
          <a:lstStyle/>
          <a:p>
            <a:fld id="{DAB949B3-C4AB-4FB2-8B24-B07A558BD59F}" type="slidenum">
              <a:rPr lang="en-IN" smtClean="0"/>
              <a:pPr/>
              <a:t>18</a:t>
            </a:fld>
            <a:endParaRPr lang="en-IN"/>
          </a:p>
        </p:txBody>
      </p:sp>
      <p:sp>
        <p:nvSpPr>
          <p:cNvPr id="5" name="Footer Placeholder 4">
            <a:extLst>
              <a:ext uri="{FF2B5EF4-FFF2-40B4-BE49-F238E27FC236}">
                <a16:creationId xmlns:a16="http://schemas.microsoft.com/office/drawing/2014/main" id="{D406FF0C-FF70-35E1-6144-EA40CB86636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19571CE1-0856-AE0A-1AB0-3D214277764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60388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19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36CCC-3A32-D398-7945-178CD77FEA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58557-4F6A-1B38-0976-3E8FBF3B7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F83CD-071F-D011-ECC6-47DB7A20447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429A2-2171-53F5-C78F-2A1D1DC6FCE3}"/>
              </a:ext>
            </a:extLst>
          </p:cNvPr>
          <p:cNvSpPr>
            <a:spLocks noGrp="1"/>
          </p:cNvSpPr>
          <p:nvPr>
            <p:ph type="sldNum" sz="quarter" idx="5"/>
          </p:nvPr>
        </p:nvSpPr>
        <p:spPr/>
        <p:txBody>
          <a:bodyPr/>
          <a:lstStyle/>
          <a:p>
            <a:fld id="{DAB949B3-C4AB-4FB2-8B24-B07A558BD59F}" type="slidenum">
              <a:rPr lang="en-IN" smtClean="0"/>
              <a:pPr/>
              <a:t>31</a:t>
            </a:fld>
            <a:endParaRPr lang="en-IN"/>
          </a:p>
        </p:txBody>
      </p:sp>
      <p:sp>
        <p:nvSpPr>
          <p:cNvPr id="5" name="Footer Placeholder 4">
            <a:extLst>
              <a:ext uri="{FF2B5EF4-FFF2-40B4-BE49-F238E27FC236}">
                <a16:creationId xmlns:a16="http://schemas.microsoft.com/office/drawing/2014/main" id="{E240E3C2-AB5D-E6FA-B7FA-D3648C48C9C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E4841E3-037F-FDAE-86D8-EE36BA61216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9982587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41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42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43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70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71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3ACBF-40C7-4828-DA68-8BC072AC9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D69138-1F0E-4B22-FDED-A25C695E1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B4449-0E41-4F6A-CD91-AFF45C580CC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C0DB564-529E-0837-610C-AFC32BC66839}"/>
              </a:ext>
            </a:extLst>
          </p:cNvPr>
          <p:cNvSpPr>
            <a:spLocks noGrp="1"/>
          </p:cNvSpPr>
          <p:nvPr>
            <p:ph type="sldNum" sz="quarter" idx="5"/>
          </p:nvPr>
        </p:nvSpPr>
        <p:spPr/>
        <p:txBody>
          <a:bodyPr/>
          <a:lstStyle/>
          <a:p>
            <a:fld id="{DAB949B3-C4AB-4FB2-8B24-B07A558BD59F}" type="slidenum">
              <a:rPr lang="en-IN" smtClean="0"/>
              <a:pPr/>
              <a:t>72</a:t>
            </a:fld>
            <a:endParaRPr lang="en-IN"/>
          </a:p>
        </p:txBody>
      </p:sp>
      <p:sp>
        <p:nvSpPr>
          <p:cNvPr id="5" name="Footer Placeholder 4">
            <a:extLst>
              <a:ext uri="{FF2B5EF4-FFF2-40B4-BE49-F238E27FC236}">
                <a16:creationId xmlns:a16="http://schemas.microsoft.com/office/drawing/2014/main" id="{BE4F811B-1AEF-D5BC-A7AE-0658F820C8D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C1525B3-1FC2-BEC2-631D-F74F3E5E90F7}"/>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5790512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F7318-1B1C-7CD4-C369-33D3EED11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19AA7-5232-8DE2-FBF5-1728F10CA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622623-DBCC-1A1B-87E1-A2AB0F677EB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AF83B7D-A615-89C3-88DC-0D320F6A2114}"/>
              </a:ext>
            </a:extLst>
          </p:cNvPr>
          <p:cNvSpPr>
            <a:spLocks noGrp="1"/>
          </p:cNvSpPr>
          <p:nvPr>
            <p:ph type="sldNum" sz="quarter" idx="5"/>
          </p:nvPr>
        </p:nvSpPr>
        <p:spPr/>
        <p:txBody>
          <a:bodyPr/>
          <a:lstStyle/>
          <a:p>
            <a:fld id="{DAB949B3-C4AB-4FB2-8B24-B07A558BD59F}" type="slidenum">
              <a:rPr lang="en-IN" smtClean="0"/>
              <a:pPr/>
              <a:t>73</a:t>
            </a:fld>
            <a:endParaRPr lang="en-IN"/>
          </a:p>
        </p:txBody>
      </p:sp>
      <p:sp>
        <p:nvSpPr>
          <p:cNvPr id="5" name="Footer Placeholder 4">
            <a:extLst>
              <a:ext uri="{FF2B5EF4-FFF2-40B4-BE49-F238E27FC236}">
                <a16:creationId xmlns:a16="http://schemas.microsoft.com/office/drawing/2014/main" id="{713148B0-CF90-C752-FBF5-F6052B92114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40C48FF-B01A-F335-DFAD-745CE2D7EB7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3717403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33F08-4593-2C9D-7F79-79C03271E3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D93C6-998B-6326-22A5-9AD157016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18A069-2EEE-5886-7473-8CB9C9A6D7C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142C8BA-A5C5-3D24-4D96-CFB51722CD3C}"/>
              </a:ext>
            </a:extLst>
          </p:cNvPr>
          <p:cNvSpPr>
            <a:spLocks noGrp="1"/>
          </p:cNvSpPr>
          <p:nvPr>
            <p:ph type="sldNum" sz="quarter" idx="5"/>
          </p:nvPr>
        </p:nvSpPr>
        <p:spPr/>
        <p:txBody>
          <a:bodyPr/>
          <a:lstStyle/>
          <a:p>
            <a:fld id="{DAB949B3-C4AB-4FB2-8B24-B07A558BD59F}" type="slidenum">
              <a:rPr lang="en-IN" smtClean="0"/>
              <a:pPr/>
              <a:t>74</a:t>
            </a:fld>
            <a:endParaRPr lang="en-IN"/>
          </a:p>
        </p:txBody>
      </p:sp>
      <p:sp>
        <p:nvSpPr>
          <p:cNvPr id="5" name="Footer Placeholder 4">
            <a:extLst>
              <a:ext uri="{FF2B5EF4-FFF2-40B4-BE49-F238E27FC236}">
                <a16:creationId xmlns:a16="http://schemas.microsoft.com/office/drawing/2014/main" id="{43B4220A-4333-B68F-A242-B235C82330D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7DE16D88-B145-800E-2815-A702EA5436BE}"/>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19754192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75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76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77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B3372-B38E-C2E2-762B-66F90CF9F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D156D-30C9-2D14-641B-9BB715AB4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45020-0F2C-609B-6988-934BBCA0EF8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E1EDB50-7349-6A99-8D2D-FCEC6351BE6D}"/>
              </a:ext>
            </a:extLst>
          </p:cNvPr>
          <p:cNvSpPr>
            <a:spLocks noGrp="1"/>
          </p:cNvSpPr>
          <p:nvPr>
            <p:ph type="sldNum" sz="quarter" idx="5"/>
          </p:nvPr>
        </p:nvSpPr>
        <p:spPr/>
        <p:txBody>
          <a:bodyPr/>
          <a:lstStyle/>
          <a:p>
            <a:fld id="{DAB949B3-C4AB-4FB2-8B24-B07A558BD59F}" type="slidenum">
              <a:rPr lang="en-IN" smtClean="0"/>
              <a:pPr/>
              <a:t>78</a:t>
            </a:fld>
            <a:endParaRPr lang="en-IN"/>
          </a:p>
        </p:txBody>
      </p:sp>
      <p:sp>
        <p:nvSpPr>
          <p:cNvPr id="5" name="Footer Placeholder 4">
            <a:extLst>
              <a:ext uri="{FF2B5EF4-FFF2-40B4-BE49-F238E27FC236}">
                <a16:creationId xmlns:a16="http://schemas.microsoft.com/office/drawing/2014/main" id="{BE46316F-D4AF-C66D-394D-EA32B222FFA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3CF2C2E-04AC-EDFE-103B-5FC241531E1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7564319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B07CF-4A0D-1067-FD13-C8392F647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785C8-EACF-7BB6-8E7F-64B7FDCBB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32D8A-CD75-DF03-101D-F218C327C72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0D0A3E6-40BB-E9F9-721C-7556272CB7AE}"/>
              </a:ext>
            </a:extLst>
          </p:cNvPr>
          <p:cNvSpPr>
            <a:spLocks noGrp="1"/>
          </p:cNvSpPr>
          <p:nvPr>
            <p:ph type="sldNum" sz="quarter" idx="5"/>
          </p:nvPr>
        </p:nvSpPr>
        <p:spPr/>
        <p:txBody>
          <a:bodyPr/>
          <a:lstStyle/>
          <a:p>
            <a:fld id="{DAB949B3-C4AB-4FB2-8B24-B07A558BD59F}" type="slidenum">
              <a:rPr lang="en-IN" smtClean="0"/>
              <a:pPr/>
              <a:t>79</a:t>
            </a:fld>
            <a:endParaRPr lang="en-IN"/>
          </a:p>
        </p:txBody>
      </p:sp>
      <p:sp>
        <p:nvSpPr>
          <p:cNvPr id="5" name="Footer Placeholder 4">
            <a:extLst>
              <a:ext uri="{FF2B5EF4-FFF2-40B4-BE49-F238E27FC236}">
                <a16:creationId xmlns:a16="http://schemas.microsoft.com/office/drawing/2014/main" id="{E452BA03-4CF4-6A18-EFD5-F716F5B971C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ADFE9B53-6895-745C-0B5D-43544BCB4BAE}"/>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59654650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80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81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82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83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84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CC9E9-7CB4-4A70-0839-29FF7C5B3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1969C-BD51-21BE-3506-F0BD90AE2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2C8844-50D2-42F9-3966-48F0EA73AB8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EC87142-FAB4-DDF9-E192-1EA98F4ADF1E}"/>
              </a:ext>
            </a:extLst>
          </p:cNvPr>
          <p:cNvSpPr>
            <a:spLocks noGrp="1"/>
          </p:cNvSpPr>
          <p:nvPr>
            <p:ph type="sldNum" sz="quarter" idx="5"/>
          </p:nvPr>
        </p:nvSpPr>
        <p:spPr/>
        <p:txBody>
          <a:bodyPr/>
          <a:lstStyle/>
          <a:p>
            <a:fld id="{DAB949B3-C4AB-4FB2-8B24-B07A558BD59F}" type="slidenum">
              <a:rPr lang="en-IN" smtClean="0"/>
              <a:pPr/>
              <a:t>85</a:t>
            </a:fld>
            <a:endParaRPr lang="en-IN"/>
          </a:p>
        </p:txBody>
      </p:sp>
      <p:sp>
        <p:nvSpPr>
          <p:cNvPr id="5" name="Footer Placeholder 4">
            <a:extLst>
              <a:ext uri="{FF2B5EF4-FFF2-40B4-BE49-F238E27FC236}">
                <a16:creationId xmlns:a16="http://schemas.microsoft.com/office/drawing/2014/main" id="{897AD778-B099-2FD4-500E-A8B95AA3A7E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B1D33B2-CFAA-33A9-E1E1-56C7A9E52DF6}"/>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7309060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D5E08-3F4D-8767-E118-9E07EE07B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0DE44-2889-685E-BE33-BEBA2B6D25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C07D4-33C5-42CD-352E-9722488F377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11B7C11-8EEC-F84A-E835-6AB369694E5A}"/>
              </a:ext>
            </a:extLst>
          </p:cNvPr>
          <p:cNvSpPr>
            <a:spLocks noGrp="1"/>
          </p:cNvSpPr>
          <p:nvPr>
            <p:ph type="sldNum" sz="quarter" idx="5"/>
          </p:nvPr>
        </p:nvSpPr>
        <p:spPr/>
        <p:txBody>
          <a:bodyPr/>
          <a:lstStyle/>
          <a:p>
            <a:fld id="{DAB949B3-C4AB-4FB2-8B24-B07A558BD59F}" type="slidenum">
              <a:rPr lang="en-IN" smtClean="0"/>
              <a:t>86</a:t>
            </a:fld>
            <a:endParaRPr lang="en-IN"/>
          </a:p>
        </p:txBody>
      </p:sp>
    </p:spTree>
    <p:extLst>
      <p:ext uri="{BB962C8B-B14F-4D97-AF65-F5344CB8AC3E}">
        <p14:creationId xmlns:p14="http://schemas.microsoft.com/office/powerpoint/2010/main" val="1204626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smtClean="0"/>
              <a:t>12-01-2026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smtClean="0"/>
              <a:t>12-01-2026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smtClean="0"/>
              <a:t>12-01-2026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www.javatpoint.com/data-structure-queue" TargetMode="Externa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www.scaler.com/topics/data-structures/queue-in-data-structure/" TargetMode="Externa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hyperlink" Target="https://www.youtube.com/watch?app=desktop&amp;v=gYxdHbbjn_8" TargetMode="Externa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https://www.youtube.com/watch?app=desktop&amp;v=gYxdHbbjn_8" TargetMode="Externa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www.geeksforgeeks.org/introduction-to-circular-queue/" TargetMode="External"/><Relationship Id="rId5" Type="http://schemas.openxmlformats.org/officeDocument/2006/relationships/image" Target="../media/image9.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hyperlink" Target="https://www.simplilearn.com/tutorials/data-structure-tutorial/priority-queue-in-data-structure" TargetMode="External"/><Relationship Id="rId5" Type="http://schemas.openxmlformats.org/officeDocument/2006/relationships/image" Target="../media/image1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hyperlink" Target="https://www.simplilearn.com/tutorials/data-structure-tutorial/priority-queue-in-data-structure" TargetMode="Externa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png"/><Relationship Id="rId9" Type="http://schemas.microsoft.com/office/2007/relationships/diagramDrawing" Target="../diagrams/drawing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hyperlink" Target="https://www.simplilearn.com/tutorials/data-structure-tutorial/priority-queue-in-data-structure" TargetMode="Externa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hyperlink" Target="https://www.simplilearn.com/tutorials/data-structure-tutorial/priority-queue-in-data-structure" TargetMode="Externa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hyperlink" Target="https://www.javatpoint.com/ds-priority-queue" TargetMode="External"/><Relationship Id="rId5" Type="http://schemas.openxmlformats.org/officeDocument/2006/relationships/image" Target="../media/image17.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hyperlink" Target="https://www.javatpoint.com/ds-priority-queue" TargetMode="Externa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hyperlink" Target="https://onlinegdb.com/qhU3cbMN6" TargetMode="Externa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8" Type="http://schemas.openxmlformats.org/officeDocument/2006/relationships/hyperlink" Target="https://www.simplilearn.com/tutorials/data-structure-tutorial/priority-queue-in-data-structure" TargetMode="External"/><Relationship Id="rId3" Type="http://schemas.openxmlformats.org/officeDocument/2006/relationships/image" Target="../media/image1.png"/><Relationship Id="rId7" Type="http://schemas.openxmlformats.org/officeDocument/2006/relationships/hyperlink" Target="https://www.scaler.com/topics/data-structures/queue-in-data-structure/" TargetMode="External"/><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hyperlink" Target="https://www.javatpoint.com/data-structure-queue" TargetMode="External"/><Relationship Id="rId5" Type="http://schemas.openxmlformats.org/officeDocument/2006/relationships/hyperlink" Target="https://www.geeksforgeeks.org/queue-data-structure/" TargetMode="External"/><Relationship Id="rId4" Type="http://schemas.openxmlformats.org/officeDocument/2006/relationships/image" Target="../media/image3.png"/><Relationship Id="rId9" Type="http://schemas.openxmlformats.org/officeDocument/2006/relationships/hyperlink" Target="https://www.programiz.com/dsa/queue"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952651" y="1303053"/>
            <a:ext cx="6588732" cy="5078313"/>
          </a:xfrm>
          <a:prstGeom prst="rect">
            <a:avLst/>
          </a:prstGeom>
          <a:noFill/>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Introduction to Queue Applications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Why FIFO is important for real systems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Applications of Queue – Overview</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CPU Scheduling</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Printer Spooling</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Process Synchronization</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Breadth-First Search (BFS)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Network Packet Handling</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Customer Service Systems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Traffic Management Systems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Circular Queue – Need &amp; Concept</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Circular Queue Operations &amp; Algorithms (Array)</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Complexity, Advantages &amp; Disadvantages of Circular Queue</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Applications of Circular Queue</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Priority Queue – Concept &amp; Operations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Priority Queue Implementations (Array/Heap/Linked List)</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Key Takeaways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References</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18</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Queue Applications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Queue ADT</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58245" y="1205129"/>
            <a:ext cx="8428555" cy="4457952"/>
          </a:xfrm>
          <a:prstGeom prst="rect">
            <a:avLst/>
          </a:prstGeom>
          <a:noFill/>
        </p:spPr>
        <p:txBody>
          <a:bodyPr wrap="square" rtlCol="0">
            <a:spAutoFit/>
          </a:bodyPr>
          <a:lstStyle/>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Queue follows the FIFO principle.</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Insertion is done using enqueue at the rear.</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Deletion is done using dequeue from the front.</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Implementations: array-based and linked-list-based.</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Overflow occurs when the queue is full; underflow occurs when it is empty.</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Queues are essential for scheduling, buffering, and graph traversal.</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4</a:t>
            </a:fld>
            <a:endParaRPr lang="en-IN"/>
          </a:p>
        </p:txBody>
      </p:sp>
    </p:spTree>
    <p:extLst>
      <p:ext uri="{BB962C8B-B14F-4D97-AF65-F5344CB8AC3E}">
        <p14:creationId xmlns:p14="http://schemas.microsoft.com/office/powerpoint/2010/main" val="750881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8009213-D4D2-E2C9-27C9-02B227D89D1F}"/>
              </a:ext>
            </a:extLst>
          </p:cNvPr>
          <p:cNvSpPr txBox="1"/>
          <p:nvPr/>
        </p:nvSpPr>
        <p:spPr>
          <a:xfrm>
            <a:off x="311511" y="1247687"/>
            <a:ext cx="8580969" cy="4924425"/>
          </a:xfrm>
          <a:prstGeom prst="rect">
            <a:avLst/>
          </a:prstGeom>
          <a:noFill/>
        </p:spPr>
        <p:txBody>
          <a:bodyPr wrap="square" rtlCol="0">
            <a:spAutoFit/>
          </a:bodyPr>
          <a:lstStyle/>
          <a:p>
            <a:pPr>
              <a:spcBef>
                <a:spcPts val="600"/>
              </a:spcBef>
            </a:pPr>
            <a:r>
              <a:rPr lang="en-US" sz="2400" b="1" dirty="0">
                <a:latin typeface="Times New Roman" panose="02020603050405020304" pitchFamily="18" charset="0"/>
                <a:cs typeface="Times New Roman" panose="02020603050405020304" pitchFamily="18" charset="0"/>
              </a:rPr>
              <a:t>Fill in the Blanks</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Queue follows the __________ principle.</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The pointer that indicates the first element is called __________.</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The operation used to insert an element is __________.</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Queue underflow occurs when __________.</a:t>
            </a:r>
          </a:p>
          <a:p>
            <a:pPr>
              <a:spcBef>
                <a:spcPts val="600"/>
              </a:spcBef>
            </a:pPr>
            <a:endParaRPr lang="en-US" sz="2400" b="1" dirty="0">
              <a:latin typeface="Times New Roman" panose="02020603050405020304" pitchFamily="18" charset="0"/>
              <a:cs typeface="Times New Roman" panose="02020603050405020304" pitchFamily="18" charset="0"/>
            </a:endParaRPr>
          </a:p>
          <a:p>
            <a:pPr>
              <a:spcBef>
                <a:spcPts val="600"/>
              </a:spcBef>
            </a:pPr>
            <a:r>
              <a:rPr lang="en-US" sz="2400" b="1" dirty="0">
                <a:latin typeface="Times New Roman" panose="02020603050405020304" pitchFamily="18" charset="0"/>
                <a:cs typeface="Times New Roman" panose="02020603050405020304" pitchFamily="18" charset="0"/>
              </a:rPr>
              <a:t>One-Word / Short Answer</a:t>
            </a:r>
          </a:p>
          <a:p>
            <a:pPr marL="457200" indent="-457200">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Which operation removes an element from a queue?</a:t>
            </a:r>
          </a:p>
          <a:p>
            <a:pPr marL="457200" indent="-457200">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Name one application of queue.</a:t>
            </a:r>
          </a:p>
          <a:p>
            <a:pPr marL="457200" indent="-457200">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Which implementation allows dynamic size?</a:t>
            </a:r>
          </a:p>
          <a:p>
            <a:pPr marL="457200" indent="-457200">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Which pointer is updated during enqueue?</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smtClean="0"/>
              <a:t>5</a:t>
            </a:fld>
            <a:endParaRPr lang="en-IN"/>
          </a:p>
        </p:txBody>
      </p:sp>
    </p:spTree>
    <p:extLst>
      <p:ext uri="{BB962C8B-B14F-4D97-AF65-F5344CB8AC3E}">
        <p14:creationId xmlns:p14="http://schemas.microsoft.com/office/powerpoint/2010/main" val="261809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E5738-0648-D4B4-6D45-12A7029C34E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5E98292-9832-D578-FDD8-F56CB48C76A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36ED2870-8236-6505-90B3-D98867550E89}"/>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7508C52-BD1A-E51F-CC8B-79B735C2B0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5C810C2B-709A-F402-3768-9FEC5662EFD5}"/>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D6259F9-37AB-1B5F-D63F-79CE324CFE85}"/>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96B2CFB-4180-89D5-7FF1-7549F5D026EC}"/>
              </a:ext>
            </a:extLst>
          </p:cNvPr>
          <p:cNvSpPr txBox="1"/>
          <p:nvPr/>
        </p:nvSpPr>
        <p:spPr>
          <a:xfrm>
            <a:off x="304786" y="1293834"/>
            <a:ext cx="8580969" cy="907941"/>
          </a:xfrm>
          <a:prstGeom prst="rect">
            <a:avLst/>
          </a:prstGeom>
          <a:noFill/>
        </p:spPr>
        <p:txBody>
          <a:bodyPr wrap="square" rtlCol="0">
            <a:spAutoFit/>
          </a:bodyPr>
          <a:lstStyle/>
          <a:p>
            <a:pPr marL="457200" indent="-457200">
              <a:spcBef>
                <a:spcPts val="600"/>
              </a:spcBef>
              <a:buFont typeface="+mj-lt"/>
              <a:buAutoNum type="arabicPeriod" startAt="9"/>
            </a:pPr>
            <a:r>
              <a:rPr lang="en-US" sz="2400" dirty="0">
                <a:latin typeface="Times New Roman" panose="02020603050405020304" pitchFamily="18" charset="0"/>
                <a:cs typeface="Times New Roman" panose="02020603050405020304" pitchFamily="18" charset="0"/>
              </a:rPr>
              <a:t>Why is queue suitable for CPU scheduling?</a:t>
            </a:r>
          </a:p>
          <a:p>
            <a:pPr marL="457200" indent="-457200">
              <a:spcBef>
                <a:spcPts val="600"/>
              </a:spcBef>
              <a:buFont typeface="+mj-lt"/>
              <a:buAutoNum type="arabicPeriod" startAt="9"/>
            </a:pPr>
            <a:r>
              <a:rPr lang="en-US" sz="2400" dirty="0">
                <a:latin typeface="Times New Roman" panose="02020603050405020304" pitchFamily="18" charset="0"/>
                <a:cs typeface="Times New Roman" panose="02020603050405020304" pitchFamily="18" charset="0"/>
              </a:rPr>
              <a:t>Why is array-based queue inefficient in some cases?</a:t>
            </a:r>
          </a:p>
        </p:txBody>
      </p:sp>
      <p:sp>
        <p:nvSpPr>
          <p:cNvPr id="5" name="Rectangle 4">
            <a:extLst>
              <a:ext uri="{FF2B5EF4-FFF2-40B4-BE49-F238E27FC236}">
                <a16:creationId xmlns:a16="http://schemas.microsoft.com/office/drawing/2014/main" id="{A53D2488-EE64-45A7-5A59-92708EE4DC74}"/>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43C26DD-A6D3-DA85-F537-34584470A8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9A6B15B-2538-8802-C52B-5A024B96F049}"/>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A58300AC-7BD8-7431-FFBA-D3B7EFDCC359}"/>
              </a:ext>
            </a:extLst>
          </p:cNvPr>
          <p:cNvSpPr>
            <a:spLocks noGrp="1"/>
          </p:cNvSpPr>
          <p:nvPr>
            <p:ph type="sldNum" sz="quarter" idx="12"/>
          </p:nvPr>
        </p:nvSpPr>
        <p:spPr/>
        <p:txBody>
          <a:bodyPr/>
          <a:lstStyle/>
          <a:p>
            <a:fld id="{C421C46D-3F04-4F73-BF36-E6D9DA5AE143}" type="slidenum">
              <a:rPr lang="en-IN" smtClean="0"/>
              <a:t>6</a:t>
            </a:fld>
            <a:endParaRPr lang="en-IN"/>
          </a:p>
        </p:txBody>
      </p:sp>
    </p:spTree>
    <p:extLst>
      <p:ext uri="{BB962C8B-B14F-4D97-AF65-F5344CB8AC3E}">
        <p14:creationId xmlns:p14="http://schemas.microsoft.com/office/powerpoint/2010/main" val="218740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8259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 (Answers)</a:t>
            </a:r>
          </a:p>
        </p:txBody>
      </p:sp>
      <p:sp>
        <p:nvSpPr>
          <p:cNvPr id="3" name="TextBox 2"/>
          <p:cNvSpPr txBox="1"/>
          <p:nvPr/>
        </p:nvSpPr>
        <p:spPr>
          <a:xfrm>
            <a:off x="323530" y="1235756"/>
            <a:ext cx="8640958" cy="4478149"/>
          </a:xfrm>
          <a:prstGeom prst="rect">
            <a:avLst/>
          </a:prstGeom>
          <a:noFill/>
        </p:spPr>
        <p:txBody>
          <a:bodyPr wrap="square" rtlCol="0">
            <a:spAutoFit/>
          </a:bodyPr>
          <a:lstStyle/>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FIFO</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Front</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Enqueue</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deleting from empty queue</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Dequeue</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printer spooling/CPU scheduling</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linked list</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Rear</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fairness/order</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fixed size &amp; memory wastage.</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7</a:t>
            </a:fld>
            <a:endParaRPr lang="en-IN"/>
          </a:p>
        </p:txBody>
      </p:sp>
    </p:spTree>
    <p:extLst>
      <p:ext uri="{BB962C8B-B14F-4D97-AF65-F5344CB8AC3E}">
        <p14:creationId xmlns:p14="http://schemas.microsoft.com/office/powerpoint/2010/main" val="127797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144905"/>
            <a:ext cx="8496942" cy="4524315"/>
          </a:xfrm>
          <a:prstGeom prst="rect">
            <a:avLst/>
          </a:prstGeom>
          <a:noFill/>
        </p:spPr>
        <p:txBody>
          <a:bodyPr wrap="square" rtlCol="0">
            <a:spAutoFit/>
          </a:bodyPr>
          <a:lstStyle/>
          <a:p>
            <a:pPr algn="just">
              <a:lnSpc>
                <a:spcPct val="150000"/>
              </a:lnSpc>
              <a:spcAft>
                <a:spcPts val="600"/>
              </a:spcAft>
            </a:pPr>
            <a:r>
              <a:rPr lang="en-US" sz="2400" dirty="0">
                <a:latin typeface="Times New Roman" panose="02020603050405020304" pitchFamily="18" charset="0"/>
                <a:cs typeface="Times New Roman" panose="02020603050405020304" pitchFamily="18" charset="0"/>
              </a:rPr>
              <a:t>After this lecture, students will be able to:</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Explain how queues are used in operating systems, networking, and algorithms</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Describe the role of FIFO in CPU scheduling, buffering, and BFS</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Differentiate between linear queue, circular queue, deque, and priority queue</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Apply queue operations to solve real-world problems</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Analyze time complexity of queue-based algorithms</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Choose an appropriate queue type for a given application</a:t>
            </a:r>
          </a:p>
        </p:txBody>
      </p:sp>
    </p:spTree>
    <p:extLst>
      <p:ext uri="{BB962C8B-B14F-4D97-AF65-F5344CB8AC3E}">
        <p14:creationId xmlns:p14="http://schemas.microsoft.com/office/powerpoint/2010/main" val="797958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5B245-7209-F2A3-E674-D1AB553811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ABECEE0-BDE1-AA5D-A3F9-F75C5119FB9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0D0B86D5-A4E7-5A36-758B-5577CFD5CF2F}"/>
              </a:ext>
            </a:extLst>
          </p:cNvPr>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Applications of Queue</a:t>
            </a:r>
          </a:p>
        </p:txBody>
      </p:sp>
      <p:cxnSp>
        <p:nvCxnSpPr>
          <p:cNvPr id="7" name="Straight Connector 6">
            <a:extLst>
              <a:ext uri="{FF2B5EF4-FFF2-40B4-BE49-F238E27FC236}">
                <a16:creationId xmlns:a16="http://schemas.microsoft.com/office/drawing/2014/main" id="{0570E5F6-EEE6-A733-BF5B-EDF661897FA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29DD233-F30B-9F67-1619-5F6C07E4937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6256884-BDED-7AB9-9AC6-033EBDE6850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7A90310-457C-A1FD-D2FF-3BAA8581C3DE}"/>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633C14BC-CC8B-1AA9-84A7-ED4F9DA528B5}"/>
              </a:ext>
            </a:extLst>
          </p:cNvPr>
          <p:cNvSpPr/>
          <p:nvPr/>
        </p:nvSpPr>
        <p:spPr>
          <a:xfrm>
            <a:off x="395536" y="1293834"/>
            <a:ext cx="8672262" cy="3903954"/>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CPU Scheduling</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Printer Spooling</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 Synchronization</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Breadth-First Search (BFS)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Network Packet Handling</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Customer Service Systems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Traffic Management System</a:t>
            </a:r>
          </a:p>
        </p:txBody>
      </p:sp>
    </p:spTree>
    <p:extLst>
      <p:ext uri="{BB962C8B-B14F-4D97-AF65-F5344CB8AC3E}">
        <p14:creationId xmlns:p14="http://schemas.microsoft.com/office/powerpoint/2010/main" val="3286472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A229F-6DAF-11C0-B898-A501F2D5031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76964E8-E422-CA39-3381-297780A885C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D956CFE9-0881-F8F2-C579-A04CDA7BC51E}"/>
              </a:ext>
            </a:extLst>
          </p:cNvPr>
          <p:cNvSpPr>
            <a:spLocks noChangeArrowheads="1"/>
          </p:cNvSpPr>
          <p:nvPr/>
        </p:nvSpPr>
        <p:spPr bwMode="auto">
          <a:xfrm>
            <a:off x="323527" y="381545"/>
            <a:ext cx="82538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CPU Scheduling Explanation</a:t>
            </a:r>
          </a:p>
        </p:txBody>
      </p:sp>
      <p:cxnSp>
        <p:nvCxnSpPr>
          <p:cNvPr id="7" name="Straight Connector 6">
            <a:extLst>
              <a:ext uri="{FF2B5EF4-FFF2-40B4-BE49-F238E27FC236}">
                <a16:creationId xmlns:a16="http://schemas.microsoft.com/office/drawing/2014/main" id="{9D0CD10D-6D32-FC56-F450-C5728086D10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0438439-0CA0-FB73-8CC6-55D02AAFEE0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F1FBCFF-39FA-32A6-CC26-C1E1884BC6A2}"/>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1F2FD53-0ADE-EB61-999D-1C68BC11838B}"/>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808D67E9-9D0C-4314-BC5B-D9FEEA04A0A6}"/>
              </a:ext>
            </a:extLst>
          </p:cNvPr>
          <p:cNvSpPr/>
          <p:nvPr/>
        </p:nvSpPr>
        <p:spPr>
          <a:xfrm>
            <a:off x="467544" y="1293834"/>
            <a:ext cx="7920880" cy="4478149"/>
          </a:xfrm>
          <a:prstGeom prst="rect">
            <a:avLst/>
          </a:prstGeom>
        </p:spPr>
        <p:txBody>
          <a:bodyPr wrap="square">
            <a:spAutoFit/>
          </a:bodyPr>
          <a:lstStyle/>
          <a:p>
            <a:pPr algn="just">
              <a:spcBef>
                <a:spcPts val="600"/>
              </a:spcBef>
              <a:spcAft>
                <a:spcPts val="600"/>
              </a:spcAft>
            </a:pPr>
            <a:r>
              <a:rPr lang="en-IN" sz="2400" dirty="0">
                <a:latin typeface="Times New Roman" panose="02020603050405020304" pitchFamily="18" charset="0"/>
                <a:cs typeface="Times New Roman" panose="02020603050405020304" pitchFamily="18" charset="0"/>
              </a:rPr>
              <a:t>In operating systems, multiple processes wait for CPU time. A </a:t>
            </a:r>
            <a:r>
              <a:rPr lang="en-IN" sz="2400" b="1" dirty="0">
                <a:latin typeface="Times New Roman" panose="02020603050405020304" pitchFamily="18" charset="0"/>
                <a:cs typeface="Times New Roman" panose="02020603050405020304" pitchFamily="18" charset="0"/>
              </a:rPr>
              <a:t>queue</a:t>
            </a:r>
            <a:r>
              <a:rPr lang="en-IN" sz="2400" dirty="0">
                <a:latin typeface="Times New Roman" panose="02020603050405020304" pitchFamily="18" charset="0"/>
                <a:cs typeface="Times New Roman" panose="02020603050405020304" pitchFamily="18" charset="0"/>
              </a:rPr>
              <a:t> stores ready processes in FIFO order. The CPU executes them one by one.</a:t>
            </a:r>
          </a:p>
          <a:p>
            <a:pPr algn="just">
              <a:spcBef>
                <a:spcPts val="600"/>
              </a:spcBef>
              <a:spcAft>
                <a:spcPts val="600"/>
              </a:spcAft>
            </a:pPr>
            <a:r>
              <a:rPr lang="en-IN" sz="2400" b="1" dirty="0">
                <a:latin typeface="Times New Roman" panose="02020603050405020304" pitchFamily="18" charset="0"/>
                <a:cs typeface="Times New Roman" panose="02020603050405020304" pitchFamily="18" charset="0"/>
              </a:rPr>
              <a:t>Queue </a:t>
            </a:r>
            <a:r>
              <a:rPr lang="en-IN" sz="2400" dirty="0">
                <a:latin typeface="Times New Roman" panose="02020603050405020304" pitchFamily="18" charset="0"/>
                <a:cs typeface="Times New Roman" panose="02020603050405020304" pitchFamily="18" charset="0"/>
              </a:rPr>
              <a:t>ensures </a:t>
            </a:r>
            <a:r>
              <a:rPr lang="en-IN" sz="2400" b="1" dirty="0">
                <a:latin typeface="Times New Roman" panose="02020603050405020304" pitchFamily="18" charset="0"/>
                <a:cs typeface="Times New Roman" panose="02020603050405020304" pitchFamily="18" charset="0"/>
              </a:rPr>
              <a:t>fairness</a:t>
            </a:r>
            <a:r>
              <a:rPr lang="en-IN" sz="2400" dirty="0">
                <a:latin typeface="Times New Roman" panose="02020603050405020304" pitchFamily="18" charset="0"/>
                <a:cs typeface="Times New Roman" panose="02020603050405020304" pitchFamily="18" charset="0"/>
              </a:rPr>
              <a:t> – first process to arrive gets executed first.</a:t>
            </a:r>
          </a:p>
          <a:p>
            <a:pPr algn="just"/>
            <a:endParaRPr lang="en-IN" sz="2400"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Process P1   P2   P3   P4</a:t>
            </a:r>
          </a:p>
          <a:p>
            <a:pPr algn="just"/>
            <a:r>
              <a:rPr lang="en-IN" dirty="0">
                <a:latin typeface="Times New Roman" panose="02020603050405020304" pitchFamily="18" charset="0"/>
                <a:cs typeface="Times New Roman" panose="02020603050405020304" pitchFamily="18" charset="0"/>
              </a:rPr>
              <a:t>     ↓    ↓    ↓    ↓</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   READY QUEUE    │  (FIFO)</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CPU</a:t>
            </a:r>
          </a:p>
        </p:txBody>
      </p:sp>
    </p:spTree>
    <p:extLst>
      <p:ext uri="{BB962C8B-B14F-4D97-AF65-F5344CB8AC3E}">
        <p14:creationId xmlns:p14="http://schemas.microsoft.com/office/powerpoint/2010/main" val="1745035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B4F08-B0E1-02FC-4A0C-A3476F1F0BE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54E6B64-95E5-6E85-15A4-A26A304DA8D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5435D147-A74D-494C-F4E9-53D9268C1508}"/>
              </a:ext>
            </a:extLst>
          </p:cNvPr>
          <p:cNvSpPr>
            <a:spLocks noChangeArrowheads="1"/>
          </p:cNvSpPr>
          <p:nvPr/>
        </p:nvSpPr>
        <p:spPr bwMode="auto">
          <a:xfrm>
            <a:off x="323527" y="381545"/>
            <a:ext cx="82538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Printer Spooling</a:t>
            </a:r>
          </a:p>
        </p:txBody>
      </p:sp>
      <p:cxnSp>
        <p:nvCxnSpPr>
          <p:cNvPr id="7" name="Straight Connector 6">
            <a:extLst>
              <a:ext uri="{FF2B5EF4-FFF2-40B4-BE49-F238E27FC236}">
                <a16:creationId xmlns:a16="http://schemas.microsoft.com/office/drawing/2014/main" id="{4E216214-BC8F-2883-76DC-35AD8843A89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09B2749-E409-7629-BF50-3F494EB181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A9B8863-4134-963D-A948-412AC5CB389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B3F6C40D-689A-B670-A83D-2FD69F9D9559}"/>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9174D919-AFE3-00B9-8897-ADEECCE0F02C}"/>
              </a:ext>
            </a:extLst>
          </p:cNvPr>
          <p:cNvSpPr/>
          <p:nvPr/>
        </p:nvSpPr>
        <p:spPr>
          <a:xfrm>
            <a:off x="323527" y="1293834"/>
            <a:ext cx="7992889" cy="3785652"/>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Print jobs are stored in a queue before printing. The printer processes them in the order received.</a:t>
            </a:r>
          </a:p>
          <a:p>
            <a:pPr algn="just"/>
            <a:endParaRPr lang="en-IN" sz="2400" b="1"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Queue </a:t>
            </a:r>
            <a:r>
              <a:rPr lang="en-IN" sz="2400" dirty="0">
                <a:latin typeface="Times New Roman" panose="02020603050405020304" pitchFamily="18" charset="0"/>
                <a:cs typeface="Times New Roman" panose="02020603050405020304" pitchFamily="18" charset="0"/>
              </a:rPr>
              <a:t>prevents job conflicts and maintains order.</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PC1   PC2   PC3</a:t>
            </a:r>
          </a:p>
          <a:p>
            <a:pPr algn="just"/>
            <a:r>
              <a:rPr lang="en-IN" dirty="0">
                <a:latin typeface="Times New Roman" panose="02020603050405020304" pitchFamily="18" charset="0"/>
                <a:cs typeface="Times New Roman" panose="02020603050405020304" pitchFamily="18" charset="0"/>
              </a:rPr>
              <a:t> ↓     ↓     ↓</a:t>
            </a:r>
          </a:p>
          <a:p>
            <a:pPr algn="just"/>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PRINT QUEUE    │</a:t>
            </a:r>
          </a:p>
          <a:p>
            <a:pPr algn="just"/>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Printer</a:t>
            </a:r>
          </a:p>
        </p:txBody>
      </p:sp>
    </p:spTree>
    <p:extLst>
      <p:ext uri="{BB962C8B-B14F-4D97-AF65-F5344CB8AC3E}">
        <p14:creationId xmlns:p14="http://schemas.microsoft.com/office/powerpoint/2010/main" val="3960489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25B99-BF1A-8BE3-85F3-77CC58B9FDD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A0C194B-035D-F71C-1892-42F4FA7BECA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E07742F0-E292-6D67-B0CE-0FBC8346CFD2}"/>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Process Synchronization</a:t>
            </a:r>
          </a:p>
        </p:txBody>
      </p:sp>
      <p:cxnSp>
        <p:nvCxnSpPr>
          <p:cNvPr id="7" name="Straight Connector 6">
            <a:extLst>
              <a:ext uri="{FF2B5EF4-FFF2-40B4-BE49-F238E27FC236}">
                <a16:creationId xmlns:a16="http://schemas.microsoft.com/office/drawing/2014/main" id="{D8D3DEB3-93D6-43FE-7F2A-48EA0689835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72A91B5-1E00-2372-56A0-32A2116453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9DE9871-1A51-88DF-9F6B-AD586C2B09F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67E004E4-4F5A-144E-53D3-729C2A4946C7}"/>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9DFE4C56-FD84-DF13-C09A-37D4D5E59DFA}"/>
              </a:ext>
            </a:extLst>
          </p:cNvPr>
          <p:cNvSpPr/>
          <p:nvPr/>
        </p:nvSpPr>
        <p:spPr>
          <a:xfrm>
            <a:off x="251520" y="1293834"/>
            <a:ext cx="8325889" cy="3785652"/>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When multiple processes need a shared resource (file, database, memory), they wait in a queue to access it safely.</a:t>
            </a:r>
          </a:p>
          <a:p>
            <a:pPr algn="just"/>
            <a:endParaRPr lang="en-IN" sz="2400" b="1"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Queue a</a:t>
            </a:r>
            <a:r>
              <a:rPr lang="en-IN" sz="2400" dirty="0">
                <a:latin typeface="Times New Roman" panose="02020603050405020304" pitchFamily="18" charset="0"/>
                <a:cs typeface="Times New Roman" panose="02020603050405020304" pitchFamily="18" charset="0"/>
              </a:rPr>
              <a:t>voids </a:t>
            </a:r>
            <a:r>
              <a:rPr lang="en-IN" sz="2400" b="1" dirty="0">
                <a:latin typeface="Times New Roman" panose="02020603050405020304" pitchFamily="18" charset="0"/>
                <a:cs typeface="Times New Roman" panose="02020603050405020304" pitchFamily="18" charset="0"/>
              </a:rPr>
              <a:t>race conditions</a:t>
            </a:r>
            <a:r>
              <a:rPr lang="en-IN" sz="2400" dirty="0">
                <a:latin typeface="Times New Roman" panose="02020603050405020304" pitchFamily="18" charset="0"/>
                <a:cs typeface="Times New Roman" panose="02020603050405020304" pitchFamily="18" charset="0"/>
              </a:rPr>
              <a:t> and ensures orderly access.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Process A  Process B  Process C</a:t>
            </a:r>
          </a:p>
          <a:p>
            <a:pPr algn="just"/>
            <a:r>
              <a:rPr lang="en-IN" dirty="0">
                <a:latin typeface="Times New Roman" panose="02020603050405020304" pitchFamily="18" charset="0"/>
                <a:cs typeface="Times New Roman" panose="02020603050405020304" pitchFamily="18" charset="0"/>
              </a:rPr>
              <a:t>     ↓         ↓         ↓</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   RESOURCE QUEUE     │</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Shared Resource</a:t>
            </a:r>
          </a:p>
        </p:txBody>
      </p:sp>
    </p:spTree>
    <p:extLst>
      <p:ext uri="{BB962C8B-B14F-4D97-AF65-F5344CB8AC3E}">
        <p14:creationId xmlns:p14="http://schemas.microsoft.com/office/powerpoint/2010/main" val="2426449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3D329-EB9C-C7A0-54C9-C0BFDB773E4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72A546A-6720-8EF7-8BBC-6345E0CC2EC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CEF157CE-ABF9-CC42-2676-0E471C782BCA}"/>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Breadth-First Search (BFS)</a:t>
            </a:r>
          </a:p>
        </p:txBody>
      </p:sp>
      <p:cxnSp>
        <p:nvCxnSpPr>
          <p:cNvPr id="7" name="Straight Connector 6">
            <a:extLst>
              <a:ext uri="{FF2B5EF4-FFF2-40B4-BE49-F238E27FC236}">
                <a16:creationId xmlns:a16="http://schemas.microsoft.com/office/drawing/2014/main" id="{63320D2D-39E2-4982-6684-4CF1CA5C0B3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2374B44-D7D2-F061-AA45-0006842902E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AFA965C-9DFC-8F35-9F20-8032BEA25AC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38DF9605-B652-352D-E671-88A011725DC2}"/>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20EDB6DE-22C9-1ABD-77A0-732FB2413825}"/>
              </a:ext>
            </a:extLst>
          </p:cNvPr>
          <p:cNvSpPr/>
          <p:nvPr/>
        </p:nvSpPr>
        <p:spPr>
          <a:xfrm>
            <a:off x="251520" y="1293834"/>
            <a:ext cx="7848872" cy="3970318"/>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BFS uses a queue to explore graph nodes </a:t>
            </a:r>
            <a:r>
              <a:rPr lang="en-IN" sz="2400" b="1" dirty="0">
                <a:latin typeface="Times New Roman" panose="02020603050405020304" pitchFamily="18" charset="0"/>
                <a:cs typeface="Times New Roman" panose="02020603050405020304" pitchFamily="18" charset="0"/>
              </a:rPr>
              <a:t>level by level</a:t>
            </a:r>
            <a:r>
              <a:rPr lang="en-IN" sz="2400" dirty="0">
                <a:latin typeface="Times New Roman" panose="02020603050405020304" pitchFamily="18" charset="0"/>
                <a:cs typeface="Times New Roman" panose="02020603050405020304" pitchFamily="18" charset="0"/>
              </a:rPr>
              <a:t>.</a:t>
            </a:r>
          </a:p>
          <a:p>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Queue m</a:t>
            </a:r>
            <a:r>
              <a:rPr lang="en-IN" sz="2400" dirty="0">
                <a:latin typeface="Times New Roman" panose="02020603050405020304" pitchFamily="18" charset="0"/>
                <a:cs typeface="Times New Roman" panose="02020603050405020304" pitchFamily="18" charset="0"/>
              </a:rPr>
              <a:t>aintains correct visiting order.</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Graph Levels:</a:t>
            </a:r>
          </a:p>
          <a:p>
            <a:r>
              <a:rPr lang="en-IN" dirty="0">
                <a:latin typeface="Times New Roman" panose="02020603050405020304" pitchFamily="18" charset="0"/>
                <a:cs typeface="Times New Roman" panose="02020603050405020304" pitchFamily="18" charset="0"/>
              </a:rPr>
              <a:t>    A</a:t>
            </a:r>
          </a:p>
          <a:p>
            <a:r>
              <a:rPr lang="en-IN" dirty="0">
                <a:latin typeface="Times New Roman" panose="02020603050405020304" pitchFamily="18" charset="0"/>
                <a:cs typeface="Times New Roman" panose="02020603050405020304" pitchFamily="18" charset="0"/>
              </a:rPr>
              <a:t>  /   \</a:t>
            </a:r>
          </a:p>
          <a:p>
            <a:r>
              <a:rPr lang="en-IN" dirty="0">
                <a:latin typeface="Times New Roman" panose="02020603050405020304" pitchFamily="18" charset="0"/>
                <a:cs typeface="Times New Roman" panose="02020603050405020304" pitchFamily="18" charset="0"/>
              </a:rPr>
              <a:t> B     C</a:t>
            </a:r>
          </a:p>
          <a:p>
            <a:r>
              <a:rPr lang="en-IN" dirty="0">
                <a:latin typeface="Times New Roman" panose="02020603050405020304" pitchFamily="18" charset="0"/>
                <a:cs typeface="Times New Roman" panose="02020603050405020304" pitchFamily="18" charset="0"/>
              </a:rPr>
              <a:t> |     |</a:t>
            </a:r>
          </a:p>
          <a:p>
            <a:r>
              <a:rPr lang="en-IN" dirty="0">
                <a:latin typeface="Times New Roman" panose="02020603050405020304" pitchFamily="18" charset="0"/>
                <a:cs typeface="Times New Roman" panose="02020603050405020304" pitchFamily="18" charset="0"/>
              </a:rPr>
              <a:t> D     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Queue during BFS:</a:t>
            </a:r>
          </a:p>
          <a:p>
            <a:r>
              <a:rPr lang="en-IN" dirty="0">
                <a:latin typeface="Times New Roman" panose="02020603050405020304" pitchFamily="18" charset="0"/>
                <a:cs typeface="Times New Roman" panose="02020603050405020304" pitchFamily="18" charset="0"/>
              </a:rPr>
              <a:t>Front → [A, B, C, D, E] → Rear</a:t>
            </a:r>
          </a:p>
        </p:txBody>
      </p:sp>
    </p:spTree>
    <p:extLst>
      <p:ext uri="{BB962C8B-B14F-4D97-AF65-F5344CB8AC3E}">
        <p14:creationId xmlns:p14="http://schemas.microsoft.com/office/powerpoint/2010/main" val="51145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F9F73-CCAC-7EBD-C597-A1ED99BF466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634AC47-B33B-769A-E26E-3BB214EAAD4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7A9B711C-454F-EC30-41A8-A1435DA0A0CA}"/>
              </a:ext>
            </a:extLst>
          </p:cNvPr>
          <p:cNvSpPr>
            <a:spLocks noChangeArrowheads="1"/>
          </p:cNvSpPr>
          <p:nvPr/>
        </p:nvSpPr>
        <p:spPr bwMode="auto">
          <a:xfrm>
            <a:off x="323527" y="381545"/>
            <a:ext cx="82538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Network Packet Handling</a:t>
            </a:r>
          </a:p>
        </p:txBody>
      </p:sp>
      <p:cxnSp>
        <p:nvCxnSpPr>
          <p:cNvPr id="7" name="Straight Connector 6">
            <a:extLst>
              <a:ext uri="{FF2B5EF4-FFF2-40B4-BE49-F238E27FC236}">
                <a16:creationId xmlns:a16="http://schemas.microsoft.com/office/drawing/2014/main" id="{DA16F82B-12EF-453A-85DE-0B0AD4F741B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78E30C0-FC7D-6F25-ED6F-490C735D1D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281CE80-1D7F-7C53-704F-4AAEDBD83EA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CBCD8455-DB80-8043-4CF3-C83DEDA66648}"/>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580EE00D-09B2-9780-8D7F-A512DA38D7CB}"/>
              </a:ext>
            </a:extLst>
          </p:cNvPr>
          <p:cNvSpPr/>
          <p:nvPr/>
        </p:nvSpPr>
        <p:spPr>
          <a:xfrm>
            <a:off x="323528" y="1293834"/>
            <a:ext cx="8253881" cy="4062651"/>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Routers store incoming data packets in a queue before sending them to the destination.</a:t>
            </a:r>
          </a:p>
          <a:p>
            <a:pPr algn="just"/>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Queue </a:t>
            </a:r>
            <a:r>
              <a:rPr lang="en-IN" sz="2400" dirty="0">
                <a:latin typeface="Times New Roman" panose="02020603050405020304" pitchFamily="18" charset="0"/>
                <a:cs typeface="Times New Roman" panose="02020603050405020304" pitchFamily="18" charset="0"/>
              </a:rPr>
              <a:t>controls traffic and avoids data loss.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Incoming Packets</a:t>
            </a:r>
          </a:p>
          <a:p>
            <a:pPr algn="just"/>
            <a:r>
              <a:rPr lang="en-IN" dirty="0">
                <a:latin typeface="Times New Roman" panose="02020603050405020304" pitchFamily="18" charset="0"/>
                <a:cs typeface="Times New Roman" panose="02020603050405020304" pitchFamily="18" charset="0"/>
              </a:rPr>
              <a:t>P1  P2  P3  P4</a:t>
            </a:r>
          </a:p>
          <a:p>
            <a:pPr algn="just"/>
            <a:r>
              <a:rPr lang="en-IN" dirty="0">
                <a:latin typeface="Times New Roman" panose="02020603050405020304" pitchFamily="18" charset="0"/>
                <a:cs typeface="Times New Roman" panose="02020603050405020304" pitchFamily="18" charset="0"/>
              </a:rPr>
              <a:t> ↓   ↓   ↓   ↓</a:t>
            </a:r>
          </a:p>
          <a:p>
            <a:pPr algn="just"/>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PACKET QUEUE     │</a:t>
            </a:r>
          </a:p>
          <a:p>
            <a:pPr algn="just"/>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Network Link</a:t>
            </a:r>
          </a:p>
        </p:txBody>
      </p:sp>
    </p:spTree>
    <p:extLst>
      <p:ext uri="{BB962C8B-B14F-4D97-AF65-F5344CB8AC3E}">
        <p14:creationId xmlns:p14="http://schemas.microsoft.com/office/powerpoint/2010/main" val="3752943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DB515-0177-16D1-0D13-D97F0105DF9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BDB16DF-C7AE-B9CF-9472-A9C59389BA9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617A2B4A-4428-8475-9E6F-98624CCB21D5}"/>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Customer Service Systems</a:t>
            </a:r>
          </a:p>
        </p:txBody>
      </p:sp>
      <p:cxnSp>
        <p:nvCxnSpPr>
          <p:cNvPr id="7" name="Straight Connector 6">
            <a:extLst>
              <a:ext uri="{FF2B5EF4-FFF2-40B4-BE49-F238E27FC236}">
                <a16:creationId xmlns:a16="http://schemas.microsoft.com/office/drawing/2014/main" id="{AF5898D7-8D22-26B6-6F34-AD0EF62EB3E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6D9A357-DC67-C351-9005-85F2E5ACBB2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99E2C32-9A11-D202-07C3-73EAB7AF71D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CBA1717B-66B8-AE7F-0599-E0831C44A81A}"/>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B74057AF-5F94-91F3-A745-4165071802E7}"/>
              </a:ext>
            </a:extLst>
          </p:cNvPr>
          <p:cNvSpPr/>
          <p:nvPr/>
        </p:nvSpPr>
        <p:spPr>
          <a:xfrm>
            <a:off x="282822" y="1293834"/>
            <a:ext cx="8393634" cy="3693319"/>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Customers wait in a queue at banks, ticket counters, or call </a:t>
            </a:r>
            <a:r>
              <a:rPr lang="en-IN" sz="2400" dirty="0" err="1">
                <a:latin typeface="Times New Roman" panose="02020603050405020304" pitchFamily="18" charset="0"/>
                <a:cs typeface="Times New Roman" panose="02020603050405020304" pitchFamily="18" charset="0"/>
              </a:rPr>
              <a:t>centers</a:t>
            </a:r>
            <a:r>
              <a:rPr lang="en-IN" sz="2400" dirty="0">
                <a:latin typeface="Times New Roman" panose="02020603050405020304" pitchFamily="18" charset="0"/>
                <a:cs typeface="Times New Roman" panose="02020603050405020304" pitchFamily="18" charset="0"/>
              </a:rPr>
              <a:t>.</a:t>
            </a:r>
          </a:p>
          <a:p>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Queue </a:t>
            </a:r>
            <a:r>
              <a:rPr lang="en-IN" sz="2400" dirty="0">
                <a:latin typeface="Times New Roman" panose="02020603050405020304" pitchFamily="18" charset="0"/>
                <a:cs typeface="Times New Roman" panose="02020603050405020304" pitchFamily="18" charset="0"/>
              </a:rPr>
              <a:t>implements </a:t>
            </a:r>
            <a:r>
              <a:rPr lang="en-IN" sz="2400" b="1" dirty="0">
                <a:latin typeface="Times New Roman" panose="02020603050405020304" pitchFamily="18" charset="0"/>
                <a:cs typeface="Times New Roman" panose="02020603050405020304" pitchFamily="18" charset="0"/>
              </a:rPr>
              <a:t>first-come, first-served</a:t>
            </a:r>
            <a:r>
              <a:rPr lang="en-IN" sz="2400" dirty="0">
                <a:latin typeface="Times New Roman" panose="02020603050405020304" pitchFamily="18" charset="0"/>
                <a:cs typeface="Times New Roman" panose="02020603050405020304" pitchFamily="18" charset="0"/>
              </a:rPr>
              <a:t> service.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Customers:</a:t>
            </a:r>
          </a:p>
          <a:p>
            <a:r>
              <a:rPr lang="en-IN" dirty="0">
                <a:latin typeface="Times New Roman" panose="02020603050405020304" pitchFamily="18" charset="0"/>
                <a:cs typeface="Times New Roman" panose="02020603050405020304" pitchFamily="18" charset="0"/>
              </a:rPr>
              <a:t>C1 → C2 → C3 → C4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  QUEUE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Service Desk</a:t>
            </a:r>
          </a:p>
        </p:txBody>
      </p:sp>
    </p:spTree>
    <p:extLst>
      <p:ext uri="{BB962C8B-B14F-4D97-AF65-F5344CB8AC3E}">
        <p14:creationId xmlns:p14="http://schemas.microsoft.com/office/powerpoint/2010/main" val="2707205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1D7C7-284F-863C-6D40-F7BC3EFE5B1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C5B5FFD-34EB-6F51-3A22-C5D6ACA0A7F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CE742FAE-5B9B-0093-575E-ACF622834B2C}"/>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Traffic Management Systems</a:t>
            </a:r>
          </a:p>
        </p:txBody>
      </p:sp>
      <p:cxnSp>
        <p:nvCxnSpPr>
          <p:cNvPr id="7" name="Straight Connector 6">
            <a:extLst>
              <a:ext uri="{FF2B5EF4-FFF2-40B4-BE49-F238E27FC236}">
                <a16:creationId xmlns:a16="http://schemas.microsoft.com/office/drawing/2014/main" id="{397DA9D0-2966-F542-D8B3-F16C0403EBE9}"/>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6B0EEF6-E1EC-880A-A16F-94E18D6616D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E0F844D-57C3-5902-505C-6C624826CA7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BDFF217-D117-7905-A737-30EABB0343CB}"/>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D13081E2-DD85-3715-DF05-C76BEBB470DF}"/>
              </a:ext>
            </a:extLst>
          </p:cNvPr>
          <p:cNvSpPr/>
          <p:nvPr/>
        </p:nvSpPr>
        <p:spPr>
          <a:xfrm>
            <a:off x="282822" y="1293834"/>
            <a:ext cx="7601546" cy="3693319"/>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Vehicles at traffic signals are treated as a queue.</a:t>
            </a:r>
          </a:p>
          <a:p>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Queue </a:t>
            </a:r>
            <a:r>
              <a:rPr lang="en-IN" sz="2400" dirty="0">
                <a:latin typeface="Times New Roman" panose="02020603050405020304" pitchFamily="18" charset="0"/>
                <a:cs typeface="Times New Roman" panose="02020603050405020304" pitchFamily="18" charset="0"/>
              </a:rPr>
              <a:t>maintains order and smooth traffic flow.</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Cars:</a:t>
            </a:r>
          </a:p>
          <a:p>
            <a:r>
              <a:rPr lang="en-IN" dirty="0">
                <a:latin typeface="Times New Roman" panose="02020603050405020304" pitchFamily="18" charset="0"/>
                <a:cs typeface="Times New Roman" panose="02020603050405020304" pitchFamily="18" charset="0"/>
              </a:rPr>
              <a:t>🚗 → 🚙 → 🚕 →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  QUEUE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Traffic Signal</a:t>
            </a:r>
          </a:p>
        </p:txBody>
      </p:sp>
    </p:spTree>
    <p:extLst>
      <p:ext uri="{BB962C8B-B14F-4D97-AF65-F5344CB8AC3E}">
        <p14:creationId xmlns:p14="http://schemas.microsoft.com/office/powerpoint/2010/main" val="1782284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C8DC4-FD33-5519-340F-66BD4CC68B8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01E9431-491F-C3EE-0E85-310EBBF6A45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6FCD72CB-4A43-3928-633D-435F61B93C8F}"/>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Check Your Understanding</a:t>
            </a:r>
          </a:p>
        </p:txBody>
      </p:sp>
      <p:cxnSp>
        <p:nvCxnSpPr>
          <p:cNvPr id="7" name="Straight Connector 6">
            <a:extLst>
              <a:ext uri="{FF2B5EF4-FFF2-40B4-BE49-F238E27FC236}">
                <a16:creationId xmlns:a16="http://schemas.microsoft.com/office/drawing/2014/main" id="{D4AECBFD-AC98-E9F0-B470-3490EB6DF0E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3A77339-0139-558D-1407-2490E1AD00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D87CC80-ECCF-A309-BC17-5CD138CC8F1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58BFD5C-5852-1547-CFC4-C8C2984CBC26}"/>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0AF14C40-961E-34A4-DA24-C828316AE5AE}"/>
              </a:ext>
            </a:extLst>
          </p:cNvPr>
          <p:cNvSpPr/>
          <p:nvPr/>
        </p:nvSpPr>
        <p:spPr>
          <a:xfrm>
            <a:off x="282822" y="1293834"/>
            <a:ext cx="8177610" cy="4493538"/>
          </a:xfrm>
          <a:prstGeom prst="rect">
            <a:avLst/>
          </a:prstGeom>
        </p:spPr>
        <p:txBody>
          <a:bodyPr wrap="square">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Fill in the blanks</a:t>
            </a:r>
            <a:endParaRPr lang="en-US" sz="2400" dirty="0">
              <a:latin typeface="Times New Roman" panose="02020603050405020304" pitchFamily="18" charset="0"/>
              <a:cs typeface="Times New Roman" panose="02020603050405020304" pitchFamily="18" charset="0"/>
            </a:endParaRP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Queue follows the __________ principle.</a:t>
            </a: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CPU scheduling, processes wait in the __________ queue.</a:t>
            </a: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BFS explores nodes __________ by __________.</a:t>
            </a: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printer spooling, print jobs are processed in __________ order.</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Short answer</a:t>
            </a:r>
            <a:endParaRPr lang="en-US" sz="2400" dirty="0">
              <a:latin typeface="Times New Roman" panose="02020603050405020304" pitchFamily="18" charset="0"/>
              <a:cs typeface="Times New Roman" panose="02020603050405020304" pitchFamily="18" charset="0"/>
            </a:endParaRP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Why is queue suitable for customer service systems?</a:t>
            </a: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Name one networking application of queue.</a:t>
            </a:r>
          </a:p>
        </p:txBody>
      </p:sp>
    </p:spTree>
    <p:extLst>
      <p:ext uri="{BB962C8B-B14F-4D97-AF65-F5344CB8AC3E}">
        <p14:creationId xmlns:p14="http://schemas.microsoft.com/office/powerpoint/2010/main" val="1067477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8D6D1-0C3C-A14E-B5CD-00A213E3841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50CB931-1EC5-B564-8C3C-F97C844691C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cxnSp>
        <p:nvCxnSpPr>
          <p:cNvPr id="7" name="Straight Connector 6">
            <a:extLst>
              <a:ext uri="{FF2B5EF4-FFF2-40B4-BE49-F238E27FC236}">
                <a16:creationId xmlns:a16="http://schemas.microsoft.com/office/drawing/2014/main" id="{6BE2A35D-38D2-0A49-AB01-768B251A471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FBBEB58-E364-EE44-46C5-8A435BB27F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748822B-A612-BFED-46EF-F6DC117FD22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BD45E308-C9A8-71FE-F3D1-CC6DC2D1621C}"/>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F207BBD0-9904-2780-6B9D-BDC0B472350A}"/>
              </a:ext>
            </a:extLst>
          </p:cNvPr>
          <p:cNvSpPr/>
          <p:nvPr/>
        </p:nvSpPr>
        <p:spPr>
          <a:xfrm>
            <a:off x="282822" y="1293834"/>
            <a:ext cx="7601546" cy="3349956"/>
          </a:xfrm>
          <a:prstGeom prst="rect">
            <a:avLst/>
          </a:prstGeom>
        </p:spPr>
        <p:txBody>
          <a:bodyPr wrap="square">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FIFO</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Ready</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level by level</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arrival/FIFO</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Fairness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packet buffering/routing.</a:t>
            </a:r>
          </a:p>
        </p:txBody>
      </p:sp>
      <p:sp>
        <p:nvSpPr>
          <p:cNvPr id="2" name="Rectangle 1">
            <a:extLst>
              <a:ext uri="{FF2B5EF4-FFF2-40B4-BE49-F238E27FC236}">
                <a16:creationId xmlns:a16="http://schemas.microsoft.com/office/drawing/2014/main" id="{F17043AC-A388-E9BF-B768-D5B280F964EE}"/>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Check Your Understanding (Answers)</a:t>
            </a:r>
          </a:p>
        </p:txBody>
      </p:sp>
    </p:spTree>
    <p:extLst>
      <p:ext uri="{BB962C8B-B14F-4D97-AF65-F5344CB8AC3E}">
        <p14:creationId xmlns:p14="http://schemas.microsoft.com/office/powerpoint/2010/main" val="3446010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50779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Why was the circular queue</a:t>
            </a:r>
            <a:r>
              <a:rPr lang="en-US" sz="3200" dirty="0">
                <a:solidFill>
                  <a:srgbClr val="FF0000"/>
                </a:solidFill>
              </a:rPr>
              <a:t>?</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179512" y="1006951"/>
            <a:ext cx="8583488" cy="1569660"/>
          </a:xfrm>
          <a:prstGeom prst="rect">
            <a:avLst/>
          </a:prstGeom>
        </p:spPr>
        <p:txBody>
          <a:bodyPr wrap="square">
            <a:spAutoFit/>
          </a:bodyPr>
          <a:lstStyle/>
          <a:p>
            <a:pPr marL="285750" indent="-285750" algn="just">
              <a:buFont typeface="Wingdings" pitchFamily="2" charset="2"/>
              <a:buChar char="Ø"/>
            </a:pPr>
            <a:r>
              <a:rPr lang="en-IN" sz="2400" dirty="0">
                <a:latin typeface="Times New Roman" panose="02020603050405020304" pitchFamily="18" charset="0"/>
                <a:cs typeface="Times New Roman" panose="02020603050405020304" pitchFamily="18" charset="0"/>
              </a:rPr>
              <a:t> If the rear reaches to the end position of the Queue then there might be possibility that some vacant spaces are left in the beginning which cannot be utilized. So, to overcome such limitations, the concept of the circular queue was introduced.</a:t>
            </a:r>
          </a:p>
        </p:txBody>
      </p:sp>
      <p:sp>
        <p:nvSpPr>
          <p:cNvPr id="10" name="Rectangle 9"/>
          <p:cNvSpPr/>
          <p:nvPr/>
        </p:nvSpPr>
        <p:spPr>
          <a:xfrm>
            <a:off x="1197270" y="5713894"/>
            <a:ext cx="7539013" cy="369332"/>
          </a:xfrm>
          <a:prstGeom prst="rect">
            <a:avLst/>
          </a:prstGeom>
        </p:spPr>
        <p:txBody>
          <a:bodyPr wrap="square">
            <a:spAutoFit/>
          </a:bodyPr>
          <a:lstStyle/>
          <a:p>
            <a:r>
              <a:rPr lang="en-IN" dirty="0">
                <a:hlinkClick r:id="rId5"/>
              </a:rPr>
              <a:t>https://www.javatpoint.com/data-structure-queue</a:t>
            </a:r>
            <a:endParaRPr lang="en-IN" dirty="0"/>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6333" y="2849735"/>
            <a:ext cx="470344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4301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286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294061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Circular Queue?</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251520" y="953869"/>
            <a:ext cx="8367464" cy="1569660"/>
          </a:xfrm>
          <a:prstGeom prst="rect">
            <a:avLst/>
          </a:prstGeom>
        </p:spPr>
        <p:txBody>
          <a:bodyPr wrap="square">
            <a:spAutoFit/>
          </a:bodyPr>
          <a:lstStyle/>
          <a:p>
            <a:pPr marL="285750" indent="-285750" algn="just">
              <a:buFont typeface="Wingdings" pitchFamily="2" charset="2"/>
              <a:buChar char="Ø"/>
            </a:pPr>
            <a:r>
              <a:rPr lang="en-IN" sz="2400" dirty="0"/>
              <a:t> </a:t>
            </a:r>
            <a:r>
              <a:rPr lang="en-IN" sz="2400" dirty="0">
                <a:latin typeface="Times New Roman" panose="02020603050405020304" pitchFamily="18" charset="0"/>
                <a:cs typeface="Times New Roman" panose="02020603050405020304" pitchFamily="18" charset="0"/>
              </a:rPr>
              <a:t>It is also based on the FIFO (First In First Out) principle except that the last position is connected to the first position in a circular queue that forms a circle. It is also known as a </a:t>
            </a:r>
            <a:r>
              <a:rPr lang="en-IN" sz="2400" b="1" i="1" dirty="0">
                <a:latin typeface="Times New Roman" panose="02020603050405020304" pitchFamily="18" charset="0"/>
                <a:cs typeface="Times New Roman" panose="02020603050405020304" pitchFamily="18" charset="0"/>
              </a:rPr>
              <a:t>Ring Buffer</a:t>
            </a:r>
            <a:r>
              <a:rPr lang="en-IN" sz="2400" dirty="0">
                <a:latin typeface="Times New Roman" panose="02020603050405020304" pitchFamily="18" charset="0"/>
                <a:cs typeface="Times New Roman" panose="02020603050405020304" pitchFamily="18" charset="0"/>
              </a:rPr>
              <a:t>.</a:t>
            </a:r>
          </a:p>
        </p:txBody>
      </p:sp>
      <p:sp>
        <p:nvSpPr>
          <p:cNvPr id="10" name="Rectangle 9"/>
          <p:cNvSpPr/>
          <p:nvPr/>
        </p:nvSpPr>
        <p:spPr>
          <a:xfrm>
            <a:off x="1058007" y="5417918"/>
            <a:ext cx="7539013" cy="646331"/>
          </a:xfrm>
          <a:prstGeom prst="rect">
            <a:avLst/>
          </a:prstGeom>
        </p:spPr>
        <p:txBody>
          <a:bodyPr wrap="square">
            <a:spAutoFit/>
          </a:bodyPr>
          <a:lstStyle/>
          <a:p>
            <a:r>
              <a:rPr lang="en-IN" dirty="0">
                <a:hlinkClick r:id="rId5"/>
              </a:rPr>
              <a:t>https://www.scaler.com/topics/data-structures/queue-in-data-structure/</a:t>
            </a:r>
            <a:endParaRPr lang="en-IN" dirty="0"/>
          </a:p>
          <a:p>
            <a:endParaRPr lang="en-IN" dirty="0"/>
          </a:p>
        </p:txBody>
      </p:sp>
      <p:pic>
        <p:nvPicPr>
          <p:cNvPr id="512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9818" y="2286000"/>
            <a:ext cx="4578366"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7219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51965"/>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21121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Operations</a:t>
            </a:r>
            <a:endParaRPr lang="en-US" sz="28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395536" y="1143000"/>
            <a:ext cx="8367464" cy="3277820"/>
          </a:xfrm>
          <a:prstGeom prst="rect">
            <a:avLst/>
          </a:prstGeom>
        </p:spPr>
        <p:txBody>
          <a:bodyPr wrap="square">
            <a:spAutoFit/>
          </a:bodyPr>
          <a:lstStyle/>
          <a:p>
            <a:pPr marL="342900" indent="-342900" algn="just">
              <a:spcBef>
                <a:spcPts val="600"/>
              </a:spcBef>
              <a:buFont typeface="Wingdings" pitchFamily="2" charset="2"/>
              <a:buChar char="Ø"/>
            </a:pPr>
            <a:r>
              <a:rPr lang="en-IN" sz="2400" b="1" dirty="0">
                <a:latin typeface="Times New Roman" panose="02020603050405020304" pitchFamily="18" charset="0"/>
                <a:cs typeface="Times New Roman" panose="02020603050405020304" pitchFamily="18" charset="0"/>
              </a:rPr>
              <a:t>Front:</a:t>
            </a:r>
            <a:r>
              <a:rPr lang="en-IN" sz="2400" dirty="0">
                <a:latin typeface="Times New Roman" panose="02020603050405020304" pitchFamily="18" charset="0"/>
                <a:cs typeface="Times New Roman" panose="02020603050405020304" pitchFamily="18" charset="0"/>
              </a:rPr>
              <a:t> It is used to get the front element from the Queue.</a:t>
            </a:r>
          </a:p>
          <a:p>
            <a:pPr marL="342900" indent="-342900" algn="just">
              <a:spcBef>
                <a:spcPts val="600"/>
              </a:spcBef>
              <a:buFont typeface="Wingdings" pitchFamily="2" charset="2"/>
              <a:buChar char="Ø"/>
            </a:pPr>
            <a:r>
              <a:rPr lang="en-IN" sz="2400" b="1" dirty="0">
                <a:latin typeface="Times New Roman" panose="02020603050405020304" pitchFamily="18" charset="0"/>
                <a:cs typeface="Times New Roman" panose="02020603050405020304" pitchFamily="18" charset="0"/>
              </a:rPr>
              <a:t>Rear:</a:t>
            </a:r>
            <a:r>
              <a:rPr lang="en-IN" sz="2400" dirty="0">
                <a:latin typeface="Times New Roman" panose="02020603050405020304" pitchFamily="18" charset="0"/>
                <a:cs typeface="Times New Roman" panose="02020603050405020304" pitchFamily="18" charset="0"/>
              </a:rPr>
              <a:t> It is used to get the rear element from the Queue.</a:t>
            </a:r>
          </a:p>
          <a:p>
            <a:pPr marL="342900" indent="-342900" algn="just">
              <a:spcBef>
                <a:spcPts val="600"/>
              </a:spcBef>
              <a:buFont typeface="Wingdings" pitchFamily="2" charset="2"/>
              <a:buChar char="Ø"/>
            </a:pPr>
            <a:r>
              <a:rPr lang="en-IN" sz="2400" b="1" dirty="0" err="1">
                <a:latin typeface="Times New Roman" panose="02020603050405020304" pitchFamily="18" charset="0"/>
                <a:cs typeface="Times New Roman" panose="02020603050405020304" pitchFamily="18" charset="0"/>
              </a:rPr>
              <a:t>EnQueue</a:t>
            </a:r>
            <a:r>
              <a:rPr lang="en-IN" sz="2400" b="1" dirty="0">
                <a:latin typeface="Times New Roman" panose="02020603050405020304" pitchFamily="18" charset="0"/>
                <a:cs typeface="Times New Roman" panose="02020603050405020304" pitchFamily="18" charset="0"/>
              </a:rPr>
              <a:t>(value):</a:t>
            </a:r>
            <a:r>
              <a:rPr lang="en-IN" sz="2400" dirty="0">
                <a:latin typeface="Times New Roman" panose="02020603050405020304" pitchFamily="18" charset="0"/>
                <a:cs typeface="Times New Roman" panose="02020603050405020304" pitchFamily="18" charset="0"/>
              </a:rPr>
              <a:t> This function is used to insert the new value in the Queue. The new element is always inserted from the rear end.</a:t>
            </a:r>
          </a:p>
          <a:p>
            <a:pPr marL="342900" indent="-342900" algn="just">
              <a:spcBef>
                <a:spcPts val="600"/>
              </a:spcBef>
              <a:buFont typeface="Wingdings" pitchFamily="2" charset="2"/>
              <a:buChar char="Ø"/>
            </a:pPr>
            <a:r>
              <a:rPr lang="en-IN" sz="2400" b="1" dirty="0" err="1">
                <a:latin typeface="Times New Roman" panose="02020603050405020304" pitchFamily="18" charset="0"/>
                <a:cs typeface="Times New Roman" panose="02020603050405020304" pitchFamily="18" charset="0"/>
              </a:rPr>
              <a:t>DeQueue</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This function deletes an element from the Queue. The deletion in a Queue always takes place from the front end.</a:t>
            </a:r>
          </a:p>
          <a:p>
            <a:pPr algn="just"/>
            <a:endParaRPr lang="en-IN" sz="2400" dirty="0"/>
          </a:p>
        </p:txBody>
      </p:sp>
      <p:sp>
        <p:nvSpPr>
          <p:cNvPr id="2" name="Rectangle 1"/>
          <p:cNvSpPr/>
          <p:nvPr/>
        </p:nvSpPr>
        <p:spPr>
          <a:xfrm>
            <a:off x="742157" y="4140192"/>
            <a:ext cx="76962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Id5"/>
              </a:rPr>
              <a:t>https://www.youtube.com/watch?app=desktop&amp;v=gYxdHbbjn_8</a:t>
            </a:r>
            <a:endParaRPr lang="en-IN" dirty="0"/>
          </a:p>
        </p:txBody>
      </p:sp>
    </p:spTree>
    <p:extLst>
      <p:ext uri="{BB962C8B-B14F-4D97-AF65-F5344CB8AC3E}">
        <p14:creationId xmlns:p14="http://schemas.microsoft.com/office/powerpoint/2010/main" val="1019302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10"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8206" y="36871"/>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46863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3200" dirty="0">
                <a:solidFill>
                  <a:srgbClr val="FF0000"/>
                </a:solidFill>
              </a:rPr>
              <a:t>Representation using Array</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179512" y="1143000"/>
            <a:ext cx="8583488" cy="461665"/>
          </a:xfrm>
          <a:prstGeom prst="rect">
            <a:avLst/>
          </a:prstGeom>
        </p:spPr>
        <p:txBody>
          <a:bodyPr wrap="square">
            <a:spAutoFit/>
          </a:bodyPr>
          <a:lstStyle/>
          <a:p>
            <a:pPr algn="just"/>
            <a:endParaRPr lang="en-IN" sz="2400" dirty="0"/>
          </a:p>
        </p:txBody>
      </p:sp>
      <p:sp>
        <p:nvSpPr>
          <p:cNvPr id="2" name="Rectangle 1"/>
          <p:cNvSpPr/>
          <p:nvPr/>
        </p:nvSpPr>
        <p:spPr>
          <a:xfrm>
            <a:off x="609600" y="5943600"/>
            <a:ext cx="7696200" cy="646331"/>
          </a:xfrm>
          <a:prstGeom prst="rect">
            <a:avLst/>
          </a:prstGeom>
        </p:spPr>
        <p:txBody>
          <a:bodyPr wrap="square">
            <a:spAutoFit/>
          </a:bodyPr>
          <a:lstStyle/>
          <a:p>
            <a:r>
              <a:rPr lang="en-IN" dirty="0">
                <a:hlinkClick r:id="rId5"/>
              </a:rPr>
              <a:t>https://www.youtube.com/watch?app=desktop&amp;v=gYxdHbbjn_8</a:t>
            </a:r>
            <a:endParaRPr lang="en-IN" dirty="0"/>
          </a:p>
          <a:p>
            <a:endParaRPr lang="en-IN" dirty="0"/>
          </a:p>
        </p:txBody>
      </p:sp>
      <p:pic>
        <p:nvPicPr>
          <p:cNvPr id="3074"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l="9612" t="5582" r="8434" b="15267"/>
          <a:stretch>
            <a:fillRect/>
          </a:stretch>
        </p:blipFill>
        <p:spPr bwMode="auto">
          <a:xfrm>
            <a:off x="1217340" y="1164609"/>
            <a:ext cx="6480720" cy="452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4665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27384"/>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467544" y="151593"/>
            <a:ext cx="74888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Implement Circular Queue using Array:</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6" name="Rectangle 5"/>
          <p:cNvSpPr/>
          <p:nvPr/>
        </p:nvSpPr>
        <p:spPr>
          <a:xfrm>
            <a:off x="467544" y="922234"/>
            <a:ext cx="7711959" cy="5432256"/>
          </a:xfrm>
          <a:prstGeom prst="rect">
            <a:avLst/>
          </a:prstGeom>
        </p:spPr>
        <p:txBody>
          <a:bodyPr wrap="square">
            <a:spAutoFit/>
          </a:bodyPr>
          <a:lstStyle/>
          <a:p>
            <a:pPr algn="just">
              <a:spcBef>
                <a:spcPts val="600"/>
              </a:spcBef>
            </a:pPr>
            <a:r>
              <a:rPr lang="en-IN" sz="2800" b="1" dirty="0">
                <a:latin typeface="Times New Roman" panose="02020603050405020304" pitchFamily="18" charset="0"/>
                <a:cs typeface="Times New Roman" panose="02020603050405020304" pitchFamily="18" charset="0"/>
              </a:rPr>
              <a:t>Insertion</a:t>
            </a:r>
          </a:p>
          <a:p>
            <a:pPr algn="just">
              <a:spcBef>
                <a:spcPts val="600"/>
              </a:spcBef>
            </a:pPr>
            <a:r>
              <a:rPr lang="en-IN" sz="2400" dirty="0">
                <a:latin typeface="Times New Roman" panose="02020603050405020304" pitchFamily="18" charset="0"/>
                <a:cs typeface="Times New Roman" panose="02020603050405020304" pitchFamily="18" charset="0"/>
              </a:rPr>
              <a:t>Step 1 : If FRONT = (REAR + 1) % MAXSIZE : then</a:t>
            </a:r>
          </a:p>
          <a:p>
            <a:pPr algn="just">
              <a:spcBef>
                <a:spcPts val="600"/>
              </a:spcBef>
            </a:pPr>
            <a:r>
              <a:rPr lang="en-IN" sz="2400" dirty="0">
                <a:latin typeface="Times New Roman" panose="02020603050405020304" pitchFamily="18" charset="0"/>
                <a:cs typeface="Times New Roman" panose="02020603050405020304" pitchFamily="18" charset="0"/>
              </a:rPr>
              <a:t> Write : “Queue Overflow” and return.</a:t>
            </a:r>
          </a:p>
          <a:p>
            <a:pPr algn="just">
              <a:spcBef>
                <a:spcPts val="600"/>
              </a:spcBef>
            </a:pPr>
            <a:r>
              <a:rPr lang="en-IN" sz="2400" dirty="0">
                <a:latin typeface="Times New Roman" panose="02020603050405020304" pitchFamily="18" charset="0"/>
                <a:cs typeface="Times New Roman" panose="02020603050405020304" pitchFamily="18" charset="0"/>
              </a:rPr>
              <a:t> [End of If structure]</a:t>
            </a:r>
          </a:p>
          <a:p>
            <a:pPr algn="just">
              <a:spcBef>
                <a:spcPts val="600"/>
              </a:spcBef>
            </a:pPr>
            <a:r>
              <a:rPr lang="en-IN" sz="2400" dirty="0">
                <a:latin typeface="Times New Roman" panose="02020603050405020304" pitchFamily="18" charset="0"/>
                <a:cs typeface="Times New Roman" panose="02020603050405020304" pitchFamily="18" charset="0"/>
              </a:rPr>
              <a:t>Step 2 : Read NUM to be inserted in Circular Queue.</a:t>
            </a:r>
          </a:p>
          <a:p>
            <a:pPr algn="just">
              <a:spcBef>
                <a:spcPts val="600"/>
              </a:spcBef>
            </a:pPr>
            <a:r>
              <a:rPr lang="en-IN" sz="2400" dirty="0">
                <a:latin typeface="Times New Roman" panose="02020603050405020304" pitchFamily="18" charset="0"/>
                <a:cs typeface="Times New Roman" panose="02020603050405020304" pitchFamily="18" charset="0"/>
              </a:rPr>
              <a:t>Step 3 : If FRONT= -1 : then</a:t>
            </a:r>
          </a:p>
          <a:p>
            <a:pPr algn="just">
              <a:spcBef>
                <a:spcPts val="600"/>
              </a:spcBef>
            </a:pPr>
            <a:r>
              <a:rPr lang="en-IN" sz="2400" dirty="0">
                <a:latin typeface="Times New Roman" panose="02020603050405020304" pitchFamily="18" charset="0"/>
                <a:cs typeface="Times New Roman" panose="02020603050405020304" pitchFamily="18" charset="0"/>
              </a:rPr>
              <a:t> Set FRONT = REAR =0.</a:t>
            </a:r>
          </a:p>
          <a:p>
            <a:pPr algn="just">
              <a:spcBef>
                <a:spcPts val="600"/>
              </a:spcBef>
            </a:pPr>
            <a:r>
              <a:rPr lang="en-IN" sz="2400" dirty="0">
                <a:latin typeface="Times New Roman" panose="02020603050405020304" pitchFamily="18" charset="0"/>
                <a:cs typeface="Times New Roman" panose="02020603050405020304" pitchFamily="18" charset="0"/>
              </a:rPr>
              <a:t> Else</a:t>
            </a:r>
          </a:p>
          <a:p>
            <a:pPr algn="just">
              <a:spcBef>
                <a:spcPts val="600"/>
              </a:spcBef>
            </a:pPr>
            <a:r>
              <a:rPr lang="en-IN" sz="2400" dirty="0">
                <a:latin typeface="Times New Roman" panose="02020603050405020304" pitchFamily="18" charset="0"/>
                <a:cs typeface="Times New Roman" panose="02020603050405020304" pitchFamily="18" charset="0"/>
              </a:rPr>
              <a:t> Set REAR=(REAR + 1) % MAXSIZE.</a:t>
            </a:r>
          </a:p>
          <a:p>
            <a:pPr algn="just">
              <a:spcBef>
                <a:spcPts val="600"/>
              </a:spcBef>
            </a:pPr>
            <a:r>
              <a:rPr lang="en-IN" sz="2400" dirty="0">
                <a:latin typeface="Times New Roman" panose="02020603050405020304" pitchFamily="18" charset="0"/>
                <a:cs typeface="Times New Roman" panose="02020603050405020304" pitchFamily="18" charset="0"/>
              </a:rPr>
              <a:t> [End of If Else structure]</a:t>
            </a:r>
          </a:p>
          <a:p>
            <a:pPr algn="just">
              <a:spcBef>
                <a:spcPts val="600"/>
              </a:spcBef>
            </a:pPr>
            <a:r>
              <a:rPr lang="en-IN" sz="2400" dirty="0">
                <a:latin typeface="Times New Roman" panose="02020603050405020304" pitchFamily="18" charset="0"/>
                <a:cs typeface="Times New Roman" panose="02020603050405020304" pitchFamily="18" charset="0"/>
              </a:rPr>
              <a:t>Step 4 : Set CQUEUE[REAR]=NUM;</a:t>
            </a:r>
          </a:p>
          <a:p>
            <a:pPr algn="just">
              <a:spcBef>
                <a:spcPts val="600"/>
              </a:spcBef>
            </a:pPr>
            <a:r>
              <a:rPr lang="en-IN" sz="2400" dirty="0">
                <a:latin typeface="Times New Roman" panose="02020603050405020304" pitchFamily="18" charset="0"/>
                <a:cs typeface="Times New Roman" panose="02020603050405020304" pitchFamily="18" charset="0"/>
              </a:rPr>
              <a:t>Step 5 : Exit </a:t>
            </a:r>
          </a:p>
        </p:txBody>
      </p:sp>
    </p:spTree>
    <p:extLst>
      <p:ext uri="{BB962C8B-B14F-4D97-AF65-F5344CB8AC3E}">
        <p14:creationId xmlns:p14="http://schemas.microsoft.com/office/powerpoint/2010/main" val="639339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345"/>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539552" y="151593"/>
            <a:ext cx="66967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t>
            </a:r>
            <a:r>
              <a:rPr lang="en-IN" sz="3200" dirty="0">
                <a:solidFill>
                  <a:srgbClr val="FF0000"/>
                </a:solidFill>
              </a:rPr>
              <a:t>Implement Circular Queue using Array:</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6" name="Rectangle 5"/>
          <p:cNvSpPr/>
          <p:nvPr/>
        </p:nvSpPr>
        <p:spPr>
          <a:xfrm>
            <a:off x="611560" y="1124744"/>
            <a:ext cx="8153400" cy="4924425"/>
          </a:xfrm>
          <a:prstGeom prst="rect">
            <a:avLst/>
          </a:prstGeom>
        </p:spPr>
        <p:txBody>
          <a:bodyPr wrap="square">
            <a:spAutoFit/>
          </a:bodyPr>
          <a:lstStyle/>
          <a:p>
            <a:pPr algn="just">
              <a:spcBef>
                <a:spcPts val="600"/>
              </a:spcBef>
            </a:pPr>
            <a:r>
              <a:rPr lang="en-IN" sz="2400" b="1" dirty="0">
                <a:latin typeface="Times New Roman" panose="02020603050405020304" pitchFamily="18" charset="0"/>
                <a:cs typeface="Times New Roman" panose="02020603050405020304" pitchFamily="18" charset="0"/>
              </a:rPr>
              <a:t>Deletion</a:t>
            </a:r>
            <a:endParaRPr lang="en-IN" sz="2400" dirty="0">
              <a:latin typeface="Times New Roman" panose="02020603050405020304" pitchFamily="18" charset="0"/>
              <a:cs typeface="Times New Roman" panose="02020603050405020304" pitchFamily="18" charset="0"/>
            </a:endParaRPr>
          </a:p>
          <a:p>
            <a:pPr algn="just">
              <a:spcBef>
                <a:spcPts val="600"/>
              </a:spcBef>
            </a:pPr>
            <a:r>
              <a:rPr lang="en-IN" sz="2400" dirty="0">
                <a:latin typeface="Times New Roman" panose="02020603050405020304" pitchFamily="18" charset="0"/>
                <a:cs typeface="Times New Roman" panose="02020603050405020304" pitchFamily="18" charset="0"/>
              </a:rPr>
              <a:t>Step 1 : If FRONT = - 1 : then</a:t>
            </a:r>
          </a:p>
          <a:p>
            <a:pPr algn="just">
              <a:spcBef>
                <a:spcPts val="600"/>
              </a:spcBef>
            </a:pPr>
            <a:r>
              <a:rPr lang="en-IN" sz="2400" dirty="0">
                <a:latin typeface="Times New Roman" panose="02020603050405020304" pitchFamily="18" charset="0"/>
                <a:cs typeface="Times New Roman" panose="02020603050405020304" pitchFamily="18" charset="0"/>
              </a:rPr>
              <a:t> Write : “Queue Underflow” and return.</a:t>
            </a:r>
          </a:p>
          <a:p>
            <a:pPr algn="just">
              <a:spcBef>
                <a:spcPts val="600"/>
              </a:spcBef>
            </a:pPr>
            <a:r>
              <a:rPr lang="en-IN" sz="2400" dirty="0">
                <a:latin typeface="Times New Roman" panose="02020603050405020304" pitchFamily="18" charset="0"/>
                <a:cs typeface="Times New Roman" panose="02020603050405020304" pitchFamily="18" charset="0"/>
              </a:rPr>
              <a:t> [End of If Structure]</a:t>
            </a:r>
          </a:p>
          <a:p>
            <a:pPr algn="just">
              <a:spcBef>
                <a:spcPts val="600"/>
              </a:spcBef>
            </a:pPr>
            <a:r>
              <a:rPr lang="en-IN" sz="2400" dirty="0">
                <a:latin typeface="Times New Roman" panose="02020603050405020304" pitchFamily="18" charset="0"/>
                <a:cs typeface="Times New Roman" panose="02020603050405020304" pitchFamily="18" charset="0"/>
              </a:rPr>
              <a:t>Step 2 : Set NUM = CQUEUE[FRONT].</a:t>
            </a:r>
          </a:p>
          <a:p>
            <a:pPr algn="just">
              <a:spcBef>
                <a:spcPts val="600"/>
              </a:spcBef>
            </a:pPr>
            <a:r>
              <a:rPr lang="en-IN" sz="2400" dirty="0">
                <a:latin typeface="Times New Roman" panose="02020603050405020304" pitchFamily="18" charset="0"/>
                <a:cs typeface="Times New Roman" panose="02020603050405020304" pitchFamily="18" charset="0"/>
              </a:rPr>
              <a:t>Step 3 : Write ‘Deleted element from circular queue is : ",NUM.</a:t>
            </a:r>
          </a:p>
          <a:p>
            <a:pPr algn="just">
              <a:spcBef>
                <a:spcPts val="600"/>
              </a:spcBef>
            </a:pPr>
            <a:r>
              <a:rPr lang="en-IN" sz="2400" dirty="0">
                <a:latin typeface="Times New Roman" panose="02020603050405020304" pitchFamily="18" charset="0"/>
                <a:cs typeface="Times New Roman" panose="02020603050405020304" pitchFamily="18" charset="0"/>
              </a:rPr>
              <a:t>Step 4 : If FRONT = REAR : then</a:t>
            </a:r>
          </a:p>
          <a:p>
            <a:pPr algn="just">
              <a:spcBef>
                <a:spcPts val="600"/>
              </a:spcBef>
            </a:pPr>
            <a:r>
              <a:rPr lang="en-IN" sz="2400" dirty="0">
                <a:latin typeface="Times New Roman" panose="02020603050405020304" pitchFamily="18" charset="0"/>
                <a:cs typeface="Times New Roman" panose="02020603050405020304" pitchFamily="18" charset="0"/>
              </a:rPr>
              <a:t> Set FRONT = REAR = -1;</a:t>
            </a:r>
          </a:p>
          <a:p>
            <a:pPr algn="just">
              <a:spcBef>
                <a:spcPts val="600"/>
              </a:spcBef>
            </a:pPr>
            <a:r>
              <a:rPr lang="en-IN" sz="2400" dirty="0">
                <a:latin typeface="Times New Roman" panose="02020603050405020304" pitchFamily="18" charset="0"/>
                <a:cs typeface="Times New Roman" panose="02020603050405020304" pitchFamily="18" charset="0"/>
              </a:rPr>
              <a:t> Else</a:t>
            </a:r>
          </a:p>
          <a:p>
            <a:pPr algn="just">
              <a:spcBef>
                <a:spcPts val="600"/>
              </a:spcBef>
            </a:pPr>
            <a:r>
              <a:rPr lang="en-IN" sz="2400" dirty="0">
                <a:latin typeface="Times New Roman" panose="02020603050405020304" pitchFamily="18" charset="0"/>
                <a:cs typeface="Times New Roman" panose="02020603050405020304" pitchFamily="18" charset="0"/>
              </a:rPr>
              <a:t> Set FRONT = (FRONT + 1) % MAXSIZE.</a:t>
            </a:r>
          </a:p>
          <a:p>
            <a:pPr algn="just">
              <a:spcBef>
                <a:spcPts val="600"/>
              </a:spcBef>
            </a:pPr>
            <a:r>
              <a:rPr lang="en-IN" sz="2400" dirty="0">
                <a:latin typeface="Times New Roman" panose="02020603050405020304" pitchFamily="18" charset="0"/>
                <a:cs typeface="Times New Roman" panose="02020603050405020304" pitchFamily="18" charset="0"/>
              </a:rPr>
              <a:t>Step 5 : Exit</a:t>
            </a:r>
          </a:p>
        </p:txBody>
      </p:sp>
    </p:spTree>
    <p:extLst>
      <p:ext uri="{BB962C8B-B14F-4D97-AF65-F5344CB8AC3E}">
        <p14:creationId xmlns:p14="http://schemas.microsoft.com/office/powerpoint/2010/main" val="1481728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467544" y="151593"/>
            <a:ext cx="7416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t>
            </a:r>
            <a:r>
              <a:rPr lang="en-IN" sz="3200" dirty="0">
                <a:solidFill>
                  <a:srgbClr val="FF0000"/>
                </a:solidFill>
              </a:rPr>
              <a:t>Illustration of Circular Queue Operations:</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6" y="1294791"/>
            <a:ext cx="7010400" cy="4267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277888" y="5836334"/>
            <a:ext cx="7332712" cy="646331"/>
          </a:xfrm>
          <a:prstGeom prst="rect">
            <a:avLst/>
          </a:prstGeom>
        </p:spPr>
        <p:txBody>
          <a:bodyPr wrap="square">
            <a:spAutoFit/>
          </a:bodyPr>
          <a:lstStyle/>
          <a:p>
            <a:r>
              <a:rPr lang="en-IN" dirty="0">
                <a:hlinkClick r:id="rId6"/>
              </a:rPr>
              <a:t>https://www.geeksforgeeks.org/introduction-to-circular-queue/</a:t>
            </a:r>
            <a:endParaRPr lang="en-IN" dirty="0"/>
          </a:p>
          <a:p>
            <a:endParaRPr lang="en-IN" dirty="0"/>
          </a:p>
        </p:txBody>
      </p:sp>
    </p:spTree>
    <p:extLst>
      <p:ext uri="{BB962C8B-B14F-4D97-AF65-F5344CB8AC3E}">
        <p14:creationId xmlns:p14="http://schemas.microsoft.com/office/powerpoint/2010/main" val="464527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88014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200" dirty="0">
                <a:solidFill>
                  <a:srgbClr val="FF0000"/>
                </a:solidFill>
              </a:rPr>
              <a:t> Complexity Analysis of Circular Queue Operations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294160" y="1034121"/>
            <a:ext cx="8686800" cy="2795958"/>
          </a:xfrm>
          <a:prstGeom prst="rect">
            <a:avLst/>
          </a:prstGeom>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Time Complexity: </a:t>
            </a:r>
          </a:p>
          <a:p>
            <a:pPr marL="17621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 Enqueue: O(1) because no loop is involved for a single enqueue.</a:t>
            </a:r>
          </a:p>
          <a:p>
            <a:pPr marL="17621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 Dequeue: O(1) because no loop is involved for one dequeue operation.</a:t>
            </a:r>
          </a:p>
          <a:p>
            <a:pPr>
              <a:lnSpc>
                <a:spcPct val="150000"/>
              </a:lnSpc>
            </a:pPr>
            <a:r>
              <a:rPr lang="en-US" sz="2400" b="1" dirty="0">
                <a:latin typeface="Times New Roman" panose="02020603050405020304" pitchFamily="18" charset="0"/>
                <a:cs typeface="Times New Roman" panose="02020603050405020304" pitchFamily="18" charset="0"/>
              </a:rPr>
              <a:t>Auxiliary Space: </a:t>
            </a:r>
            <a:r>
              <a:rPr lang="en-US" sz="2400" dirty="0">
                <a:latin typeface="Times New Roman" panose="02020603050405020304" pitchFamily="18" charset="0"/>
                <a:cs typeface="Times New Roman" panose="02020603050405020304" pitchFamily="18" charset="0"/>
              </a:rPr>
              <a:t>O(N) as the queue is of size N.</a:t>
            </a:r>
          </a:p>
        </p:txBody>
      </p:sp>
    </p:spTree>
    <p:extLst>
      <p:ext uri="{BB962C8B-B14F-4D97-AF65-F5344CB8AC3E}">
        <p14:creationId xmlns:p14="http://schemas.microsoft.com/office/powerpoint/2010/main" val="470879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151593"/>
            <a:ext cx="7416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Advantages of Circular Queue Operations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467544" y="909181"/>
            <a:ext cx="8136904" cy="3728393"/>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Advantages: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Efficient space utilization: Circular queues efficiently use the available memory space.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shifting of elements: Elements are continuously added and removed without the need to shift remaining elements.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Simple implementation: It's relatively straightforward to implement a circular queue using an array.</a:t>
            </a:r>
          </a:p>
        </p:txBody>
      </p:sp>
    </p:spTree>
    <p:extLst>
      <p:ext uri="{BB962C8B-B14F-4D97-AF65-F5344CB8AC3E}">
        <p14:creationId xmlns:p14="http://schemas.microsoft.com/office/powerpoint/2010/main" val="2711356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75557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200" dirty="0">
                <a:solidFill>
                  <a:srgbClr val="FF0000"/>
                </a:solidFill>
              </a:rPr>
              <a:t> Disadvantage  of Circular Queue Operations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00608" y="887961"/>
            <a:ext cx="8542784" cy="3349956"/>
          </a:xfrm>
          <a:prstGeom prst="rect">
            <a:avLst/>
          </a:prstGeom>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Disadvantages:</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Fixed size: </a:t>
            </a:r>
            <a:r>
              <a:rPr lang="en-US" sz="2400" dirty="0">
                <a:latin typeface="Times New Roman" panose="02020603050405020304" pitchFamily="18" charset="0"/>
                <a:cs typeface="Times New Roman" panose="02020603050405020304" pitchFamily="18" charset="0"/>
              </a:rPr>
              <a:t>Circular queues have a fixed capacity determined by the size of the underlying array.</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Potential for confusion: </a:t>
            </a:r>
            <a:r>
              <a:rPr lang="en-US" sz="2400" dirty="0">
                <a:latin typeface="Times New Roman" panose="02020603050405020304" pitchFamily="18" charset="0"/>
                <a:cs typeface="Times New Roman" panose="02020603050405020304" pitchFamily="18" charset="0"/>
              </a:rPr>
              <a:t>The circular nature of the queue can sometimes lead to confusion in understanding its behavior, especially with wraparound scenarios.</a:t>
            </a:r>
          </a:p>
        </p:txBody>
      </p:sp>
    </p:spTree>
    <p:extLst>
      <p:ext uri="{BB962C8B-B14F-4D97-AF65-F5344CB8AC3E}">
        <p14:creationId xmlns:p14="http://schemas.microsoft.com/office/powerpoint/2010/main" val="2077628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151593"/>
            <a:ext cx="77048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Applications  of Circular Queue Operations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467544" y="1219200"/>
            <a:ext cx="8398768" cy="3451394"/>
          </a:xfrm>
          <a:prstGeom prst="rect">
            <a:avLst/>
          </a:prstGeom>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Applications:</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Operating systems for managing task scheduling.</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Networking for managing packets in routers and switches.</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Memory management in embedded systems.</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Simulation of resource allocation scenarios</a:t>
            </a:r>
            <a:r>
              <a:rPr lang="en-US" sz="2800" dirty="0">
                <a:latin typeface="Times New Roman" panose="02020603050405020304" pitchFamily="18" charset="0"/>
                <a:cs typeface="Times New Roman" panose="02020603050405020304" pitchFamily="18" charset="0"/>
              </a:rPr>
              <a:t>.</a:t>
            </a:r>
          </a:p>
          <a:p>
            <a:pPr>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916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82370"/>
            <a:ext cx="87972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(Python)</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600736" y="1128653"/>
            <a:ext cx="3816424" cy="5016758"/>
          </a:xfrm>
          <a:prstGeom prst="rect">
            <a:avLst/>
          </a:prstGeom>
          <a:noFill/>
        </p:spPr>
        <p:txBody>
          <a:bodyPr wrap="square" rtlCol="0">
            <a:spAutoFit/>
          </a:bodyPr>
          <a:lstStyle/>
          <a:p>
            <a:pPr fontAlgn="base"/>
            <a:r>
              <a:rPr lang="en-US" sz="2000" dirty="0">
                <a:latin typeface="Times New Roman" panose="02020603050405020304" pitchFamily="18" charset="0"/>
                <a:cs typeface="Times New Roman" panose="02020603050405020304" pitchFamily="18" charset="0"/>
              </a:rPr>
              <a:t>queue = [0] * 5</a:t>
            </a:r>
          </a:p>
          <a:p>
            <a:pPr fontAlgn="base"/>
            <a:r>
              <a:rPr lang="en-US" sz="2000" dirty="0">
                <a:latin typeface="Times New Roman" panose="02020603050405020304" pitchFamily="18" charset="0"/>
                <a:cs typeface="Times New Roman" panose="02020603050405020304" pitchFamily="18" charset="0"/>
              </a:rPr>
              <a:t>front = -1</a:t>
            </a:r>
          </a:p>
          <a:p>
            <a:pPr fontAlgn="base"/>
            <a:r>
              <a:rPr lang="en-US" sz="2000" dirty="0">
                <a:latin typeface="Times New Roman" panose="02020603050405020304" pitchFamily="18" charset="0"/>
                <a:cs typeface="Times New Roman" panose="02020603050405020304" pitchFamily="18" charset="0"/>
              </a:rPr>
              <a:t>rear = -1</a:t>
            </a:r>
          </a:p>
          <a:p>
            <a:pPr fontAlgn="base"/>
            <a:r>
              <a:rPr lang="en-US" sz="2000" dirty="0">
                <a:latin typeface="Times New Roman" panose="02020603050405020304" pitchFamily="18" charset="0"/>
                <a:cs typeface="Times New Roman" panose="02020603050405020304" pitchFamily="18" charset="0"/>
              </a:rPr>
              <a:t>size = 5</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def enqueue(value):</a:t>
            </a:r>
          </a:p>
          <a:p>
            <a:pPr fontAlgn="base"/>
            <a:r>
              <a:rPr lang="en-US" sz="2000" dirty="0">
                <a:latin typeface="Times New Roman" panose="02020603050405020304" pitchFamily="18" charset="0"/>
                <a:cs typeface="Times New Roman" panose="02020603050405020304" pitchFamily="18" charset="0"/>
              </a:rPr>
              <a:t>    global front, rear</a:t>
            </a:r>
          </a:p>
          <a:p>
            <a:pPr fontAlgn="base"/>
            <a:r>
              <a:rPr lang="en-US" sz="2000" dirty="0">
                <a:latin typeface="Times New Roman" panose="02020603050405020304" pitchFamily="18" charset="0"/>
                <a:cs typeface="Times New Roman" panose="02020603050405020304" pitchFamily="18" charset="0"/>
              </a:rPr>
              <a:t>    if rear == size - 1:</a:t>
            </a:r>
          </a:p>
          <a:p>
            <a:pPr fontAlgn="base"/>
            <a:r>
              <a:rPr lang="en-US" sz="2000" dirty="0">
                <a:latin typeface="Times New Roman" panose="02020603050405020304" pitchFamily="18" charset="0"/>
                <a:cs typeface="Times New Roman" panose="02020603050405020304" pitchFamily="18" charset="0"/>
              </a:rPr>
              <a:t>        print("Queue Overflow")</a:t>
            </a:r>
          </a:p>
          <a:p>
            <a:pPr fontAlgn="base"/>
            <a:r>
              <a:rPr lang="en-US" sz="2000" dirty="0">
                <a:latin typeface="Times New Roman" panose="02020603050405020304" pitchFamily="18" charset="0"/>
                <a:cs typeface="Times New Roman" panose="02020603050405020304" pitchFamily="18" charset="0"/>
              </a:rPr>
              <a:t>    else:</a:t>
            </a:r>
          </a:p>
          <a:p>
            <a:pPr fontAlgn="base"/>
            <a:r>
              <a:rPr lang="en-US" sz="2000" dirty="0">
                <a:latin typeface="Times New Roman" panose="02020603050405020304" pitchFamily="18" charset="0"/>
                <a:cs typeface="Times New Roman" panose="02020603050405020304" pitchFamily="18" charset="0"/>
              </a:rPr>
              <a:t>        if front == -1:</a:t>
            </a:r>
          </a:p>
          <a:p>
            <a:pPr fontAlgn="base"/>
            <a:r>
              <a:rPr lang="en-US" sz="2000" dirty="0">
                <a:latin typeface="Times New Roman" panose="02020603050405020304" pitchFamily="18" charset="0"/>
                <a:cs typeface="Times New Roman" panose="02020603050405020304" pitchFamily="18" charset="0"/>
              </a:rPr>
              <a:t>            front = 0</a:t>
            </a:r>
          </a:p>
          <a:p>
            <a:pPr fontAlgn="base"/>
            <a:r>
              <a:rPr lang="en-US" sz="2000" dirty="0">
                <a:latin typeface="Times New Roman" panose="02020603050405020304" pitchFamily="18" charset="0"/>
                <a:cs typeface="Times New Roman" panose="02020603050405020304" pitchFamily="18" charset="0"/>
              </a:rPr>
              <a:t>        rear += 1</a:t>
            </a:r>
          </a:p>
          <a:p>
            <a:pPr fontAlgn="base"/>
            <a:r>
              <a:rPr lang="en-US" sz="2000" dirty="0">
                <a:latin typeface="Times New Roman" panose="02020603050405020304" pitchFamily="18" charset="0"/>
                <a:cs typeface="Times New Roman" panose="02020603050405020304" pitchFamily="18" charset="0"/>
              </a:rPr>
              <a:t>        queue[rear] = value</a:t>
            </a:r>
          </a:p>
          <a:p>
            <a:pPr fontAlgn="base"/>
            <a:r>
              <a:rPr lang="en-US" sz="2000" dirty="0">
                <a:latin typeface="Times New Roman" panose="02020603050405020304" pitchFamily="18" charset="0"/>
                <a:cs typeface="Times New Roman" panose="02020603050405020304" pitchFamily="18" charset="0"/>
              </a:rPr>
              <a:t>        print(value, "inserted")</a:t>
            </a:r>
          </a:p>
          <a:p>
            <a:pPr fontAlgn="base"/>
            <a:endParaRPr lang="en-US"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4A7F17A-9FDA-35E0-8BD0-C87DB3A658F2}"/>
              </a:ext>
            </a:extLst>
          </p:cNvPr>
          <p:cNvSpPr txBox="1"/>
          <p:nvPr/>
        </p:nvSpPr>
        <p:spPr>
          <a:xfrm>
            <a:off x="4583415" y="1128653"/>
            <a:ext cx="3959849" cy="5016758"/>
          </a:xfrm>
          <a:prstGeom prst="rect">
            <a:avLst/>
          </a:prstGeom>
          <a:noFill/>
        </p:spPr>
        <p:txBody>
          <a:bodyPr wrap="square">
            <a:spAutoFit/>
          </a:bodyPr>
          <a:lstStyle/>
          <a:p>
            <a:pPr fontAlgn="base"/>
            <a:r>
              <a:rPr lang="en-US" sz="2000" dirty="0">
                <a:latin typeface="Times New Roman" panose="02020603050405020304" pitchFamily="18" charset="0"/>
                <a:cs typeface="Times New Roman" panose="02020603050405020304" pitchFamily="18" charset="0"/>
              </a:rPr>
              <a:t>def dequeue():</a:t>
            </a:r>
          </a:p>
          <a:p>
            <a:pPr fontAlgn="base"/>
            <a:r>
              <a:rPr lang="en-US" sz="2000" dirty="0">
                <a:latin typeface="Times New Roman" panose="02020603050405020304" pitchFamily="18" charset="0"/>
                <a:cs typeface="Times New Roman" panose="02020603050405020304" pitchFamily="18" charset="0"/>
              </a:rPr>
              <a:t>    global front, rear</a:t>
            </a:r>
          </a:p>
          <a:p>
            <a:pPr fontAlgn="base"/>
            <a:r>
              <a:rPr lang="en-US" sz="2000" dirty="0">
                <a:latin typeface="Times New Roman" panose="02020603050405020304" pitchFamily="18" charset="0"/>
                <a:cs typeface="Times New Roman" panose="02020603050405020304" pitchFamily="18" charset="0"/>
              </a:rPr>
              <a:t>    if front == -1 or front &gt; rear:</a:t>
            </a:r>
          </a:p>
          <a:p>
            <a:pPr fontAlgn="base"/>
            <a:r>
              <a:rPr lang="en-US" sz="2000" dirty="0">
                <a:latin typeface="Times New Roman" panose="02020603050405020304" pitchFamily="18" charset="0"/>
                <a:cs typeface="Times New Roman" panose="02020603050405020304" pitchFamily="18" charset="0"/>
              </a:rPr>
              <a:t>        print("Queue Underflow")</a:t>
            </a:r>
          </a:p>
          <a:p>
            <a:pPr fontAlgn="base"/>
            <a:r>
              <a:rPr lang="en-US" sz="2000" dirty="0">
                <a:latin typeface="Times New Roman" panose="02020603050405020304" pitchFamily="18" charset="0"/>
                <a:cs typeface="Times New Roman" panose="02020603050405020304" pitchFamily="18" charset="0"/>
              </a:rPr>
              <a:t>    else:</a:t>
            </a:r>
          </a:p>
          <a:p>
            <a:pPr fontAlgn="base"/>
            <a:r>
              <a:rPr lang="en-US" sz="2000" dirty="0">
                <a:latin typeface="Times New Roman" panose="02020603050405020304" pitchFamily="18" charset="0"/>
                <a:cs typeface="Times New Roman" panose="02020603050405020304" pitchFamily="18" charset="0"/>
              </a:rPr>
              <a:t>        print("Deleted element:", queue[front])</a:t>
            </a:r>
          </a:p>
          <a:p>
            <a:pPr fontAlgn="base"/>
            <a:r>
              <a:rPr lang="en-US" sz="2000" dirty="0">
                <a:latin typeface="Times New Roman" panose="02020603050405020304" pitchFamily="18" charset="0"/>
                <a:cs typeface="Times New Roman" panose="02020603050405020304" pitchFamily="18" charset="0"/>
              </a:rPr>
              <a:t>        front += 1</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 Example usage</a:t>
            </a:r>
          </a:p>
          <a:p>
            <a:pPr fontAlgn="base"/>
            <a:r>
              <a:rPr lang="en-US" sz="2000" dirty="0">
                <a:latin typeface="Times New Roman" panose="02020603050405020304" pitchFamily="18" charset="0"/>
                <a:cs typeface="Times New Roman" panose="02020603050405020304" pitchFamily="18" charset="0"/>
              </a:rPr>
              <a:t>enqueue(10)</a:t>
            </a:r>
          </a:p>
          <a:p>
            <a:pPr fontAlgn="base"/>
            <a:r>
              <a:rPr lang="en-US" sz="2000" dirty="0">
                <a:latin typeface="Times New Roman" panose="02020603050405020304" pitchFamily="18" charset="0"/>
                <a:cs typeface="Times New Roman" panose="02020603050405020304" pitchFamily="18" charset="0"/>
              </a:rPr>
              <a:t>enqueue(20)</a:t>
            </a:r>
          </a:p>
          <a:p>
            <a:pPr fontAlgn="base"/>
            <a:r>
              <a:rPr lang="en-US" sz="2000" dirty="0">
                <a:latin typeface="Times New Roman" panose="02020603050405020304" pitchFamily="18" charset="0"/>
                <a:cs typeface="Times New Roman" panose="02020603050405020304" pitchFamily="18" charset="0"/>
              </a:rPr>
              <a:t>enqueue(30)</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dequeue()</a:t>
            </a:r>
          </a:p>
          <a:p>
            <a:pPr fontAlgn="base"/>
            <a:r>
              <a:rPr lang="en-US" sz="2000" dirty="0">
                <a:latin typeface="Times New Roman" panose="02020603050405020304" pitchFamily="18" charset="0"/>
                <a:cs typeface="Times New Roman" panose="02020603050405020304" pitchFamily="18" charset="0"/>
              </a:rPr>
              <a:t>dequeue()</a:t>
            </a:r>
          </a:p>
        </p:txBody>
      </p:sp>
    </p:spTree>
    <p:extLst>
      <p:ext uri="{BB962C8B-B14F-4D97-AF65-F5344CB8AC3E}">
        <p14:creationId xmlns:p14="http://schemas.microsoft.com/office/powerpoint/2010/main" val="420653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8FB96-6673-C05D-44EA-CC3D2677E8F5}"/>
            </a:ext>
          </a:extLst>
        </p:cNvPr>
        <p:cNvGrpSpPr/>
        <p:nvPr/>
      </p:nvGrpSpPr>
      <p:grpSpPr>
        <a:xfrm>
          <a:off x="0" y="0"/>
          <a:ext cx="0" cy="0"/>
          <a:chOff x="0" y="0"/>
          <a:chExt cx="0" cy="0"/>
        </a:xfrm>
      </p:grpSpPr>
      <p:pic>
        <p:nvPicPr>
          <p:cNvPr id="8" name="Content Placeholder 3">
            <a:extLst>
              <a:ext uri="{FF2B5EF4-FFF2-40B4-BE49-F238E27FC236}">
                <a16:creationId xmlns:a16="http://schemas.microsoft.com/office/drawing/2014/main" id="{F3093D48-9A4C-3CF8-7A17-65E6BB099C5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2DD081C4-4E48-63C4-63EF-F137BF077AA5}"/>
              </a:ext>
            </a:extLst>
          </p:cNvPr>
          <p:cNvSpPr>
            <a:spLocks noChangeArrowheads="1"/>
          </p:cNvSpPr>
          <p:nvPr/>
        </p:nvSpPr>
        <p:spPr bwMode="auto">
          <a:xfrm>
            <a:off x="179512" y="182370"/>
            <a:ext cx="8310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(C++)</a:t>
            </a:r>
          </a:p>
        </p:txBody>
      </p:sp>
      <p:cxnSp>
        <p:nvCxnSpPr>
          <p:cNvPr id="7" name="Straight Connector 6">
            <a:extLst>
              <a:ext uri="{FF2B5EF4-FFF2-40B4-BE49-F238E27FC236}">
                <a16:creationId xmlns:a16="http://schemas.microsoft.com/office/drawing/2014/main" id="{99CDE6BE-DBAF-1432-DDC1-666E54865DFF}"/>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1ED852C-4FA6-8DAC-F08B-092E2CFB766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a:extLst>
              <a:ext uri="{FF2B5EF4-FFF2-40B4-BE49-F238E27FC236}">
                <a16:creationId xmlns:a16="http://schemas.microsoft.com/office/drawing/2014/main" id="{422EFDBE-9651-2B6A-A0D1-B9FECE463A8F}"/>
              </a:ext>
            </a:extLst>
          </p:cNvPr>
          <p:cNvSpPr>
            <a:spLocks noGrp="1"/>
          </p:cNvSpPr>
          <p:nvPr>
            <p:ph type="ftr" sz="quarter" idx="11"/>
          </p:nvPr>
        </p:nvSpPr>
        <p:spPr/>
        <p:txBody>
          <a:bodyPr/>
          <a:lstStyle/>
          <a:p>
            <a:r>
              <a:rPr lang="en-IN"/>
              <a:t>Data  Structure         Unit2  </a:t>
            </a:r>
          </a:p>
        </p:txBody>
      </p:sp>
      <p:sp>
        <p:nvSpPr>
          <p:cNvPr id="10" name="Rectangle 9">
            <a:extLst>
              <a:ext uri="{FF2B5EF4-FFF2-40B4-BE49-F238E27FC236}">
                <a16:creationId xmlns:a16="http://schemas.microsoft.com/office/drawing/2014/main" id="{C5C84C88-C15D-9784-5B05-0E64EA0625A9}"/>
              </a:ext>
            </a:extLst>
          </p:cNvPr>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a:extLst>
              <a:ext uri="{FF2B5EF4-FFF2-40B4-BE49-F238E27FC236}">
                <a16:creationId xmlns:a16="http://schemas.microsoft.com/office/drawing/2014/main" id="{479ED6AC-FD06-865A-518F-78C9CDA85A46}"/>
              </a:ext>
            </a:extLst>
          </p:cNvPr>
          <p:cNvSpPr txBox="1"/>
          <p:nvPr/>
        </p:nvSpPr>
        <p:spPr>
          <a:xfrm>
            <a:off x="395536" y="1066800"/>
            <a:ext cx="8215064" cy="5016758"/>
          </a:xfrm>
          <a:prstGeom prst="rect">
            <a:avLst/>
          </a:prstGeom>
          <a:noFill/>
        </p:spPr>
        <p:txBody>
          <a:bodyPr wrap="square" rtlCol="0">
            <a:spAutoFit/>
          </a:bodyPr>
          <a:lstStyle/>
          <a:p>
            <a:pPr fontAlgn="base"/>
            <a:r>
              <a:rPr lang="en-US" sz="2000" b="1" dirty="0">
                <a:latin typeface="Times New Roman" panose="02020603050405020304" pitchFamily="18" charset="0"/>
                <a:cs typeface="Times New Roman" panose="02020603050405020304" pitchFamily="18" charset="0"/>
              </a:rPr>
              <a:t>// C++ program for insertion and</a:t>
            </a:r>
          </a:p>
          <a:p>
            <a:pPr fontAlgn="base"/>
            <a:r>
              <a:rPr lang="en-US" sz="2000" b="1" dirty="0">
                <a:latin typeface="Times New Roman" panose="02020603050405020304" pitchFamily="18" charset="0"/>
                <a:cs typeface="Times New Roman" panose="02020603050405020304" pitchFamily="18" charset="0"/>
              </a:rPr>
              <a:t>// deletion in Circular Queue</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#include &lt;bits/</a:t>
            </a:r>
            <a:r>
              <a:rPr lang="en-US" sz="2000" dirty="0" err="1">
                <a:latin typeface="Times New Roman" panose="02020603050405020304" pitchFamily="18" charset="0"/>
                <a:cs typeface="Times New Roman" panose="02020603050405020304" pitchFamily="18" charset="0"/>
              </a:rPr>
              <a:t>stdc</a:t>
            </a:r>
            <a:r>
              <a:rPr lang="en-US" sz="2000" dirty="0">
                <a:latin typeface="Times New Roman" panose="02020603050405020304" pitchFamily="18" charset="0"/>
                <a:cs typeface="Times New Roman" panose="02020603050405020304" pitchFamily="18" charset="0"/>
              </a:rPr>
              <a:t>++.h&gt;</a:t>
            </a:r>
          </a:p>
          <a:p>
            <a:pPr fontAlgn="base"/>
            <a:r>
              <a:rPr lang="en-US" sz="2000" dirty="0">
                <a:latin typeface="Times New Roman" panose="02020603050405020304" pitchFamily="18" charset="0"/>
                <a:cs typeface="Times New Roman" panose="02020603050405020304" pitchFamily="18" charset="0"/>
              </a:rPr>
              <a:t>using namespace </a:t>
            </a:r>
            <a:r>
              <a:rPr lang="en-US" sz="2000" dirty="0" err="1">
                <a:latin typeface="Times New Roman" panose="02020603050405020304" pitchFamily="18" charset="0"/>
                <a:cs typeface="Times New Roman" panose="02020603050405020304" pitchFamily="18" charset="0"/>
              </a:rPr>
              <a:t>std</a:t>
            </a:r>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Structure of a Node</a:t>
            </a:r>
          </a:p>
          <a:p>
            <a:pPr fontAlgn="base"/>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Node {</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data;</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Node* link;</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Queue {</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Node *front, *rear;</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24578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395536" y="1066800"/>
            <a:ext cx="8215064" cy="4401205"/>
          </a:xfrm>
          <a:prstGeom prst="rect">
            <a:avLst/>
          </a:prstGeom>
          <a:noFill/>
        </p:spPr>
        <p:txBody>
          <a:bodyPr wrap="square" rtlCol="0">
            <a:spAutoFit/>
          </a:bodyPr>
          <a:lstStyle/>
          <a:p>
            <a:pPr fontAlgn="base"/>
            <a:r>
              <a:rPr lang="en-US" sz="2000" dirty="0">
                <a:solidFill>
                  <a:srgbClr val="FF0000"/>
                </a:solidFill>
                <a:latin typeface="Times New Roman" panose="02020603050405020304" pitchFamily="18" charset="0"/>
                <a:cs typeface="Times New Roman" panose="02020603050405020304" pitchFamily="18" charset="0"/>
              </a:rPr>
              <a:t>// Function to create Circular queue</a:t>
            </a:r>
          </a:p>
          <a:p>
            <a:pPr fontAlgn="base"/>
            <a:r>
              <a:rPr lang="en-US" sz="2000" dirty="0">
                <a:latin typeface="Times New Roman" panose="02020603050405020304" pitchFamily="18" charset="0"/>
                <a:cs typeface="Times New Roman" panose="02020603050405020304" pitchFamily="18" charset="0"/>
              </a:rPr>
              <a:t>void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(Queue* q,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value)</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Node* temp = new Node;</a:t>
            </a:r>
          </a:p>
          <a:p>
            <a:pPr fontAlgn="base"/>
            <a:r>
              <a:rPr lang="en-US" sz="2000" dirty="0">
                <a:latin typeface="Times New Roman" panose="02020603050405020304" pitchFamily="18" charset="0"/>
                <a:cs typeface="Times New Roman" panose="02020603050405020304" pitchFamily="18" charset="0"/>
              </a:rPr>
              <a:t>    temp-&gt;data = value;</a:t>
            </a:r>
          </a:p>
          <a:p>
            <a:pPr fontAlgn="base"/>
            <a:r>
              <a:rPr lang="en-US" sz="2000" dirty="0">
                <a:latin typeface="Times New Roman" panose="02020603050405020304" pitchFamily="18" charset="0"/>
                <a:cs typeface="Times New Roman" panose="02020603050405020304" pitchFamily="18" charset="0"/>
              </a:rPr>
              <a:t>    if (q-&gt;front == NULL)</a:t>
            </a:r>
          </a:p>
          <a:p>
            <a:pPr fontAlgn="base"/>
            <a:r>
              <a:rPr lang="en-US" sz="2000" dirty="0">
                <a:latin typeface="Times New Roman" panose="02020603050405020304" pitchFamily="18" charset="0"/>
                <a:cs typeface="Times New Roman" panose="02020603050405020304" pitchFamily="18" charset="0"/>
              </a:rPr>
              <a:t>        q-&gt;front = temp;</a:t>
            </a:r>
          </a:p>
          <a:p>
            <a:pPr fontAlgn="base"/>
            <a:r>
              <a:rPr lang="en-US" sz="2000" dirty="0">
                <a:latin typeface="Times New Roman" panose="02020603050405020304" pitchFamily="18" charset="0"/>
                <a:cs typeface="Times New Roman" panose="02020603050405020304" pitchFamily="18" charset="0"/>
              </a:rPr>
              <a:t>    else</a:t>
            </a:r>
          </a:p>
          <a:p>
            <a:pPr fontAlgn="base"/>
            <a:r>
              <a:rPr lang="en-US" sz="2000" dirty="0">
                <a:latin typeface="Times New Roman" panose="02020603050405020304" pitchFamily="18" charset="0"/>
                <a:cs typeface="Times New Roman" panose="02020603050405020304" pitchFamily="18" charset="0"/>
              </a:rPr>
              <a:t>        q-&gt;rear-&gt;link = temp;</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q-&gt;rear = temp;</a:t>
            </a:r>
          </a:p>
          <a:p>
            <a:pPr fontAlgn="base"/>
            <a:r>
              <a:rPr lang="en-US" sz="2000" dirty="0">
                <a:latin typeface="Times New Roman" panose="02020603050405020304" pitchFamily="18" charset="0"/>
                <a:cs typeface="Times New Roman" panose="02020603050405020304" pitchFamily="18" charset="0"/>
              </a:rPr>
              <a:t>    q-&gt;rear-&gt;link = q-&gt;front;</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t> </a:t>
            </a:r>
          </a:p>
        </p:txBody>
      </p:sp>
      <p:sp>
        <p:nvSpPr>
          <p:cNvPr id="2" name="Rectangle 1">
            <a:extLst>
              <a:ext uri="{FF2B5EF4-FFF2-40B4-BE49-F238E27FC236}">
                <a16:creationId xmlns:a16="http://schemas.microsoft.com/office/drawing/2014/main" id="{E74F04AA-E65F-28CE-05D2-D33FF893AD94}"/>
              </a:ext>
            </a:extLst>
          </p:cNvPr>
          <p:cNvSpPr>
            <a:spLocks noChangeArrowheads="1"/>
          </p:cNvSpPr>
          <p:nvPr/>
        </p:nvSpPr>
        <p:spPr bwMode="auto">
          <a:xfrm>
            <a:off x="179512" y="182370"/>
            <a:ext cx="8310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(C++)</a:t>
            </a:r>
          </a:p>
        </p:txBody>
      </p:sp>
    </p:spTree>
    <p:extLst>
      <p:ext uri="{BB962C8B-B14F-4D97-AF65-F5344CB8AC3E}">
        <p14:creationId xmlns:p14="http://schemas.microsoft.com/office/powerpoint/2010/main" val="1222956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467544" y="914400"/>
            <a:ext cx="8143056" cy="5324535"/>
          </a:xfrm>
          <a:prstGeom prst="rect">
            <a:avLst/>
          </a:prstGeom>
          <a:noFill/>
        </p:spPr>
        <p:txBody>
          <a:bodyPr wrap="square" rtlCol="0">
            <a:spAutoFit/>
          </a:bodyPr>
          <a:lstStyle/>
          <a:p>
            <a:pPr fontAlgn="base"/>
            <a:r>
              <a:rPr lang="en-US" sz="2000" dirty="0">
                <a:solidFill>
                  <a:srgbClr val="FF0000"/>
                </a:solidFill>
                <a:latin typeface="Times New Roman" panose="02020603050405020304" pitchFamily="18" charset="0"/>
                <a:cs typeface="Times New Roman" panose="02020603050405020304" pitchFamily="18" charset="0"/>
              </a:rPr>
              <a:t>// Function to delete element from Circular Queue</a:t>
            </a:r>
          </a:p>
          <a:p>
            <a:pPr fontAlgn="base"/>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deQueue</a:t>
            </a:r>
            <a:r>
              <a:rPr lang="en-US" sz="2000" dirty="0">
                <a:latin typeface="Times New Roman" panose="02020603050405020304" pitchFamily="18" charset="0"/>
                <a:cs typeface="Times New Roman" panose="02020603050405020304" pitchFamily="18" charset="0"/>
              </a:rPr>
              <a:t>(Queue* q)</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if (q-&gt;front == NULL) {</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cout</a:t>
            </a:r>
            <a:r>
              <a:rPr lang="en-US" sz="2000" dirty="0">
                <a:latin typeface="Times New Roman" panose="02020603050405020304" pitchFamily="18" charset="0"/>
                <a:cs typeface="Times New Roman" panose="02020603050405020304" pitchFamily="18" charset="0"/>
              </a:rPr>
              <a:t> &lt;&lt; "Queue is empty";</a:t>
            </a:r>
          </a:p>
          <a:p>
            <a:pPr fontAlgn="base"/>
            <a:r>
              <a:rPr lang="en-US" sz="2000" dirty="0">
                <a:latin typeface="Times New Roman" panose="02020603050405020304" pitchFamily="18" charset="0"/>
                <a:cs typeface="Times New Roman" panose="02020603050405020304" pitchFamily="18" charset="0"/>
              </a:rPr>
              <a:t>        return INT_MIN;</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 If this is the last node to be deleted</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value; // Value to be </a:t>
            </a:r>
            <a:r>
              <a:rPr lang="en-US" sz="2000" dirty="0" err="1">
                <a:latin typeface="Times New Roman" panose="02020603050405020304" pitchFamily="18" charset="0"/>
                <a:cs typeface="Times New Roman" panose="02020603050405020304" pitchFamily="18" charset="0"/>
              </a:rPr>
              <a:t>dequeued</a:t>
            </a:r>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    if (q-&gt;front == q-&gt;rear) {</a:t>
            </a:r>
          </a:p>
          <a:p>
            <a:pPr fontAlgn="base"/>
            <a:r>
              <a:rPr lang="en-US" sz="2000" dirty="0">
                <a:latin typeface="Times New Roman" panose="02020603050405020304" pitchFamily="18" charset="0"/>
                <a:cs typeface="Times New Roman" panose="02020603050405020304" pitchFamily="18" charset="0"/>
              </a:rPr>
              <a:t>        value = q-&gt;front-&gt;data;</a:t>
            </a:r>
          </a:p>
          <a:p>
            <a:pPr fontAlgn="base"/>
            <a:r>
              <a:rPr lang="en-US" sz="2000" dirty="0">
                <a:latin typeface="Times New Roman" panose="02020603050405020304" pitchFamily="18" charset="0"/>
                <a:cs typeface="Times New Roman" panose="02020603050405020304" pitchFamily="18" charset="0"/>
              </a:rPr>
              <a:t>        free(q-&gt;front);</a:t>
            </a:r>
          </a:p>
          <a:p>
            <a:pPr fontAlgn="base"/>
            <a:r>
              <a:rPr lang="en-US" sz="2000" dirty="0">
                <a:latin typeface="Times New Roman" panose="02020603050405020304" pitchFamily="18" charset="0"/>
                <a:cs typeface="Times New Roman" panose="02020603050405020304" pitchFamily="18" charset="0"/>
              </a:rPr>
              <a:t>        q-&gt;front = NULL;</a:t>
            </a:r>
          </a:p>
          <a:p>
            <a:pPr fontAlgn="base"/>
            <a:r>
              <a:rPr lang="en-US" sz="2000" dirty="0">
                <a:latin typeface="Times New Roman" panose="02020603050405020304" pitchFamily="18" charset="0"/>
                <a:cs typeface="Times New Roman" panose="02020603050405020304" pitchFamily="18" charset="0"/>
              </a:rPr>
              <a:t>        q-&gt;rear = NULL;</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t>    </a:t>
            </a:r>
          </a:p>
        </p:txBody>
      </p:sp>
      <p:sp>
        <p:nvSpPr>
          <p:cNvPr id="2" name="Rectangle 1">
            <a:extLst>
              <a:ext uri="{FF2B5EF4-FFF2-40B4-BE49-F238E27FC236}">
                <a16:creationId xmlns:a16="http://schemas.microsoft.com/office/drawing/2014/main" id="{BE876A9A-BBB1-9B55-78C9-416A7B90819A}"/>
              </a:ext>
            </a:extLst>
          </p:cNvPr>
          <p:cNvSpPr>
            <a:spLocks noChangeArrowheads="1"/>
          </p:cNvSpPr>
          <p:nvPr/>
        </p:nvSpPr>
        <p:spPr bwMode="auto">
          <a:xfrm>
            <a:off x="179512" y="182370"/>
            <a:ext cx="8310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(C++)</a:t>
            </a:r>
          </a:p>
        </p:txBody>
      </p:sp>
    </p:spTree>
    <p:extLst>
      <p:ext uri="{BB962C8B-B14F-4D97-AF65-F5344CB8AC3E}">
        <p14:creationId xmlns:p14="http://schemas.microsoft.com/office/powerpoint/2010/main" val="29875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387589" y="1066800"/>
            <a:ext cx="3935288" cy="4401205"/>
          </a:xfrm>
          <a:prstGeom prst="rect">
            <a:avLst/>
          </a:prstGeom>
          <a:noFill/>
        </p:spPr>
        <p:txBody>
          <a:bodyPr wrap="square" rtlCol="0">
            <a:spAutoFit/>
          </a:bodyPr>
          <a:lstStyle/>
          <a:p>
            <a:pPr fontAlgn="base"/>
            <a:r>
              <a:rPr lang="en-US" sz="2000" dirty="0">
                <a:latin typeface="Times New Roman" panose="02020603050405020304" pitchFamily="18" charset="0"/>
                <a:cs typeface="Times New Roman" panose="02020603050405020304" pitchFamily="18" charset="0"/>
              </a:rPr>
              <a:t>else </a:t>
            </a:r>
            <a:r>
              <a:rPr lang="en-US" sz="2000" dirty="0">
                <a:solidFill>
                  <a:srgbClr val="FF0000"/>
                </a:solidFill>
                <a:latin typeface="Times New Roman" panose="02020603050405020304" pitchFamily="18" charset="0"/>
                <a:cs typeface="Times New Roman" panose="02020603050405020304" pitchFamily="18" charset="0"/>
              </a:rPr>
              <a:t>// There are more than one nodes</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Node* temp = q-&gt;front;</a:t>
            </a:r>
          </a:p>
          <a:p>
            <a:pPr fontAlgn="base"/>
            <a:r>
              <a:rPr lang="en-US" sz="2000" dirty="0">
                <a:latin typeface="Times New Roman" panose="02020603050405020304" pitchFamily="18" charset="0"/>
                <a:cs typeface="Times New Roman" panose="02020603050405020304" pitchFamily="18" charset="0"/>
              </a:rPr>
              <a:t>        value = temp-&gt;data;</a:t>
            </a:r>
          </a:p>
          <a:p>
            <a:pPr fontAlgn="base"/>
            <a:r>
              <a:rPr lang="en-US" sz="2000" dirty="0">
                <a:latin typeface="Times New Roman" panose="02020603050405020304" pitchFamily="18" charset="0"/>
                <a:cs typeface="Times New Roman" panose="02020603050405020304" pitchFamily="18" charset="0"/>
              </a:rPr>
              <a:t>        q-&gt;front = q-&gt;front-&gt;link;</a:t>
            </a:r>
          </a:p>
          <a:p>
            <a:pPr fontAlgn="base"/>
            <a:r>
              <a:rPr lang="en-US" sz="2000" dirty="0">
                <a:latin typeface="Times New Roman" panose="02020603050405020304" pitchFamily="18" charset="0"/>
                <a:cs typeface="Times New Roman" panose="02020603050405020304" pitchFamily="18" charset="0"/>
              </a:rPr>
              <a:t>        q-&gt;rear-&gt;link = q-&gt;front;</a:t>
            </a:r>
          </a:p>
          <a:p>
            <a:pPr fontAlgn="base"/>
            <a:r>
              <a:rPr lang="en-US" sz="2000" dirty="0">
                <a:latin typeface="Times New Roman" panose="02020603050405020304" pitchFamily="18" charset="0"/>
                <a:cs typeface="Times New Roman" panose="02020603050405020304" pitchFamily="18" charset="0"/>
              </a:rPr>
              <a:t>        free(temp);</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return value;</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t> </a:t>
            </a:r>
          </a:p>
          <a:p>
            <a:pPr fontAlgn="base"/>
            <a:r>
              <a:rPr lang="en-US" sz="2000" dirty="0"/>
              <a:t> </a:t>
            </a:r>
          </a:p>
        </p:txBody>
      </p:sp>
      <p:sp>
        <p:nvSpPr>
          <p:cNvPr id="2" name="TextBox 1"/>
          <p:cNvSpPr txBox="1"/>
          <p:nvPr/>
        </p:nvSpPr>
        <p:spPr>
          <a:xfrm>
            <a:off x="4522912" y="1066800"/>
            <a:ext cx="4011488" cy="3970318"/>
          </a:xfrm>
          <a:prstGeom prst="rect">
            <a:avLst/>
          </a:prstGeom>
          <a:noFill/>
        </p:spPr>
        <p:txBody>
          <a:bodyPr wrap="square" rtlCol="0">
            <a:spAutoFit/>
          </a:bodyPr>
          <a:lstStyle/>
          <a:p>
            <a:pPr fontAlgn="base"/>
            <a:r>
              <a:rPr lang="en-US" dirty="0">
                <a:solidFill>
                  <a:srgbClr val="FF0000"/>
                </a:solidFill>
                <a:latin typeface="Times New Roman" panose="02020603050405020304" pitchFamily="18" charset="0"/>
                <a:cs typeface="Times New Roman" panose="02020603050405020304" pitchFamily="18" charset="0"/>
              </a:rPr>
              <a:t>// Function displaying the elements of Circular Queue</a:t>
            </a:r>
          </a:p>
          <a:p>
            <a:pPr fontAlgn="base"/>
            <a:r>
              <a:rPr lang="en-US" dirty="0">
                <a:latin typeface="Times New Roman" panose="02020603050405020304" pitchFamily="18" charset="0"/>
                <a:cs typeface="Times New Roman" panose="02020603050405020304" pitchFamily="18" charset="0"/>
              </a:rPr>
              <a:t>void </a:t>
            </a:r>
            <a:r>
              <a:rPr lang="en-US" dirty="0" err="1">
                <a:latin typeface="Times New Roman" panose="02020603050405020304" pitchFamily="18" charset="0"/>
                <a:cs typeface="Times New Roman" panose="02020603050405020304" pitchFamily="18" charset="0"/>
              </a:rPr>
              <a:t>displayQueue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struct</a:t>
            </a:r>
            <a:r>
              <a:rPr lang="en-US" dirty="0">
                <a:latin typeface="Times New Roman" panose="02020603050405020304" pitchFamily="18" charset="0"/>
                <a:cs typeface="Times New Roman" panose="02020603050405020304" pitchFamily="18" charset="0"/>
              </a:rPr>
              <a:t> Queue* q)</a:t>
            </a:r>
          </a:p>
          <a:p>
            <a:pPr fontAlgn="base"/>
            <a:r>
              <a:rPr lang="en-US" dirty="0">
                <a:latin typeface="Times New Roman" panose="02020603050405020304" pitchFamily="18" charset="0"/>
                <a:cs typeface="Times New Roman" panose="02020603050405020304" pitchFamily="18" charset="0"/>
              </a:rPr>
              <a:t>{</a:t>
            </a:r>
          </a:p>
          <a:p>
            <a:pPr fontAlgn="base"/>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struct</a:t>
            </a:r>
            <a:r>
              <a:rPr lang="en-US" dirty="0">
                <a:latin typeface="Times New Roman" panose="02020603050405020304" pitchFamily="18" charset="0"/>
                <a:cs typeface="Times New Roman" panose="02020603050405020304" pitchFamily="18" charset="0"/>
              </a:rPr>
              <a:t> Node* temp = q-&gt;front;</a:t>
            </a:r>
          </a:p>
          <a:p>
            <a:pPr fontAlgn="base"/>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cout</a:t>
            </a:r>
            <a:r>
              <a:rPr lang="en-US" dirty="0">
                <a:latin typeface="Times New Roman" panose="02020603050405020304" pitchFamily="18" charset="0"/>
                <a:cs typeface="Times New Roman" panose="02020603050405020304" pitchFamily="18" charset="0"/>
              </a:rPr>
              <a:t> &lt;&lt; </a:t>
            </a:r>
            <a:r>
              <a:rPr lang="en-US" dirty="0" err="1">
                <a:latin typeface="Times New Roman" panose="02020603050405020304" pitchFamily="18" charset="0"/>
                <a:cs typeface="Times New Roman" panose="02020603050405020304" pitchFamily="18" charset="0"/>
              </a:rPr>
              <a:t>endl</a:t>
            </a:r>
            <a:r>
              <a:rPr lang="en-US" dirty="0">
                <a:latin typeface="Times New Roman" panose="02020603050405020304" pitchFamily="18" charset="0"/>
                <a:cs typeface="Times New Roman" panose="02020603050405020304" pitchFamily="18" charset="0"/>
              </a:rPr>
              <a:t> &lt;&lt; "Elements in Circular Queue are: ";</a:t>
            </a:r>
          </a:p>
          <a:p>
            <a:pPr fontAlgn="base"/>
            <a:r>
              <a:rPr lang="en-US" dirty="0">
                <a:latin typeface="Times New Roman" panose="02020603050405020304" pitchFamily="18" charset="0"/>
                <a:cs typeface="Times New Roman" panose="02020603050405020304" pitchFamily="18" charset="0"/>
              </a:rPr>
              <a:t>    while (temp-&gt;link != q-&gt;front) {</a:t>
            </a:r>
          </a:p>
          <a:p>
            <a:pPr fontAlgn="base"/>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cout</a:t>
            </a:r>
            <a:r>
              <a:rPr lang="en-US" dirty="0">
                <a:latin typeface="Times New Roman" panose="02020603050405020304" pitchFamily="18" charset="0"/>
                <a:cs typeface="Times New Roman" panose="02020603050405020304" pitchFamily="18" charset="0"/>
              </a:rPr>
              <a:t> &lt;&lt; temp-&gt;data &lt;&lt; " ";</a:t>
            </a:r>
          </a:p>
          <a:p>
            <a:pPr fontAlgn="base"/>
            <a:r>
              <a:rPr lang="en-US" dirty="0">
                <a:latin typeface="Times New Roman" panose="02020603050405020304" pitchFamily="18" charset="0"/>
                <a:cs typeface="Times New Roman" panose="02020603050405020304" pitchFamily="18" charset="0"/>
              </a:rPr>
              <a:t>        temp = temp-&gt;link;</a:t>
            </a:r>
          </a:p>
          <a:p>
            <a:pPr fontAlgn="base"/>
            <a:r>
              <a:rPr lang="en-US" dirty="0">
                <a:latin typeface="Times New Roman" panose="02020603050405020304" pitchFamily="18" charset="0"/>
                <a:cs typeface="Times New Roman" panose="02020603050405020304" pitchFamily="18" charset="0"/>
              </a:rPr>
              <a:t>    }</a:t>
            </a:r>
          </a:p>
          <a:p>
            <a:pPr fontAlgn="base"/>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cout</a:t>
            </a:r>
            <a:r>
              <a:rPr lang="en-US" dirty="0">
                <a:latin typeface="Times New Roman" panose="02020603050405020304" pitchFamily="18" charset="0"/>
                <a:cs typeface="Times New Roman" panose="02020603050405020304" pitchFamily="18" charset="0"/>
              </a:rPr>
              <a:t> &lt;&lt; temp-&gt;data;</a:t>
            </a:r>
          </a:p>
          <a:p>
            <a:pPr fontAlgn="base"/>
            <a:r>
              <a:rPr lang="en-US" dirty="0">
                <a:latin typeface="Times New Roman" panose="02020603050405020304" pitchFamily="18" charset="0"/>
                <a:cs typeface="Times New Roman" panose="02020603050405020304" pitchFamily="18" charset="0"/>
              </a:rPr>
              <a:t>}</a:t>
            </a:r>
          </a:p>
          <a:p>
            <a:endParaRPr lang="en-US" dirty="0"/>
          </a:p>
        </p:txBody>
      </p:sp>
      <p:sp>
        <p:nvSpPr>
          <p:cNvPr id="4" name="Rectangle 1">
            <a:extLst>
              <a:ext uri="{FF2B5EF4-FFF2-40B4-BE49-F238E27FC236}">
                <a16:creationId xmlns:a16="http://schemas.microsoft.com/office/drawing/2014/main" id="{208AEF28-3BE3-E28D-D4A1-B272C0F2710F}"/>
              </a:ext>
            </a:extLst>
          </p:cNvPr>
          <p:cNvSpPr>
            <a:spLocks noChangeArrowheads="1"/>
          </p:cNvSpPr>
          <p:nvPr/>
        </p:nvSpPr>
        <p:spPr bwMode="auto">
          <a:xfrm>
            <a:off x="179512" y="182370"/>
            <a:ext cx="8310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(C++)</a:t>
            </a:r>
          </a:p>
        </p:txBody>
      </p:sp>
    </p:spTree>
    <p:extLst>
      <p:ext uri="{BB962C8B-B14F-4D97-AF65-F5344CB8AC3E}">
        <p14:creationId xmlns:p14="http://schemas.microsoft.com/office/powerpoint/2010/main" val="12041389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620162" y="862149"/>
            <a:ext cx="3935288" cy="5632311"/>
          </a:xfrm>
          <a:prstGeom prst="rect">
            <a:avLst/>
          </a:prstGeom>
          <a:noFill/>
        </p:spPr>
        <p:txBody>
          <a:bodyPr wrap="square" rtlCol="0">
            <a:spAutoFit/>
          </a:bodyPr>
          <a:lstStyle/>
          <a:p>
            <a:pPr fontAlgn="base"/>
            <a:r>
              <a:rPr lang="en-US" sz="2000" dirty="0">
                <a:solidFill>
                  <a:srgbClr val="FF0000"/>
                </a:solidFill>
                <a:latin typeface="Times New Roman" panose="02020603050405020304" pitchFamily="18" charset="0"/>
                <a:cs typeface="Times New Roman" panose="02020603050405020304" pitchFamily="18" charset="0"/>
              </a:rPr>
              <a:t>/* Driver of the program */</a:t>
            </a:r>
          </a:p>
          <a:p>
            <a:pPr fontAlgn="base"/>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main()</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 Create a queue and initialize front and rear</a:t>
            </a:r>
          </a:p>
          <a:p>
            <a:pPr fontAlgn="base"/>
            <a:r>
              <a:rPr lang="en-US" sz="2000" dirty="0">
                <a:latin typeface="Times New Roman" panose="02020603050405020304" pitchFamily="18" charset="0"/>
                <a:cs typeface="Times New Roman" panose="02020603050405020304" pitchFamily="18" charset="0"/>
              </a:rPr>
              <a:t>    Queue* q = new Queue;</a:t>
            </a:r>
          </a:p>
          <a:p>
            <a:pPr fontAlgn="base"/>
            <a:r>
              <a:rPr lang="en-US" sz="2000" dirty="0">
                <a:latin typeface="Times New Roman" panose="02020603050405020304" pitchFamily="18" charset="0"/>
                <a:cs typeface="Times New Roman" panose="02020603050405020304" pitchFamily="18" charset="0"/>
              </a:rPr>
              <a:t>    q-&gt;front = q-&gt;rear = NULL;</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 Inserting elements in Circular Queue</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 14);</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 22);</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 6);</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 Display elements present in Circular Queue</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displayQueue</a:t>
            </a:r>
            <a:r>
              <a:rPr lang="en-US" sz="2000" dirty="0">
                <a:latin typeface="Times New Roman" panose="02020603050405020304" pitchFamily="18" charset="0"/>
                <a:cs typeface="Times New Roman" panose="02020603050405020304" pitchFamily="18" charset="0"/>
              </a:rPr>
              <a:t>(q); </a:t>
            </a:r>
          </a:p>
          <a:p>
            <a:pPr fontAlgn="base"/>
            <a:r>
              <a:rPr lang="en-US" sz="2000" dirty="0">
                <a:latin typeface="Times New Roman" panose="02020603050405020304" pitchFamily="18" charset="0"/>
                <a:cs typeface="Times New Roman" panose="02020603050405020304" pitchFamily="18" charset="0"/>
              </a:rPr>
              <a:t> </a:t>
            </a:r>
          </a:p>
        </p:txBody>
      </p:sp>
      <p:sp>
        <p:nvSpPr>
          <p:cNvPr id="2" name="TextBox 1"/>
          <p:cNvSpPr txBox="1"/>
          <p:nvPr/>
        </p:nvSpPr>
        <p:spPr>
          <a:xfrm>
            <a:off x="4522912" y="946030"/>
            <a:ext cx="4011488" cy="5632311"/>
          </a:xfrm>
          <a:prstGeom prst="rect">
            <a:avLst/>
          </a:prstGeom>
          <a:noFill/>
        </p:spPr>
        <p:txBody>
          <a:bodyPr wrap="square" rtlCol="0">
            <a:spAutoFit/>
          </a:bodyPr>
          <a:lstStyle/>
          <a:p>
            <a:pPr fontAlgn="base"/>
            <a:r>
              <a:rPr lang="en-US" sz="2000" dirty="0">
                <a:solidFill>
                  <a:srgbClr val="FF0000"/>
                </a:solidFill>
                <a:latin typeface="Times New Roman" panose="02020603050405020304" pitchFamily="18" charset="0"/>
                <a:cs typeface="Times New Roman" panose="02020603050405020304" pitchFamily="18" charset="0"/>
              </a:rPr>
              <a:t>// Deleting elements from Circular </a:t>
            </a:r>
            <a:r>
              <a:rPr lang="en-US" sz="2000" dirty="0">
                <a:latin typeface="Times New Roman" panose="02020603050405020304" pitchFamily="18" charset="0"/>
                <a:cs typeface="Times New Roman" panose="02020603050405020304" pitchFamily="18" charset="0"/>
              </a:rPr>
              <a:t>Queue</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cout</a:t>
            </a:r>
            <a:r>
              <a:rPr lang="en-US" sz="2000" dirty="0">
                <a:latin typeface="Times New Roman" panose="02020603050405020304" pitchFamily="18" charset="0"/>
                <a:cs typeface="Times New Roman" panose="02020603050405020304" pitchFamily="18" charset="0"/>
              </a:rPr>
              <a:t> &lt;&lt; </a:t>
            </a:r>
            <a:r>
              <a:rPr lang="en-US" sz="2000" dirty="0" err="1">
                <a:latin typeface="Times New Roman" panose="02020603050405020304" pitchFamily="18" charset="0"/>
                <a:cs typeface="Times New Roman" panose="02020603050405020304" pitchFamily="18" charset="0"/>
              </a:rPr>
              <a:t>endl</a:t>
            </a:r>
            <a:r>
              <a:rPr lang="en-US" sz="2000" dirty="0">
                <a:latin typeface="Times New Roman" panose="02020603050405020304" pitchFamily="18" charset="0"/>
                <a:cs typeface="Times New Roman" panose="02020603050405020304" pitchFamily="18" charset="0"/>
              </a:rPr>
              <a:t> &lt;&lt; "Deleted value = " &lt;&lt; </a:t>
            </a:r>
            <a:r>
              <a:rPr lang="en-US" sz="2000" dirty="0" err="1">
                <a:latin typeface="Times New Roman" panose="02020603050405020304" pitchFamily="18" charset="0"/>
                <a:cs typeface="Times New Roman" panose="02020603050405020304" pitchFamily="18" charset="0"/>
              </a:rPr>
              <a:t>deQueue</a:t>
            </a:r>
            <a:r>
              <a:rPr lang="en-US" sz="2000" dirty="0">
                <a:latin typeface="Times New Roman" panose="02020603050405020304" pitchFamily="18" charset="0"/>
                <a:cs typeface="Times New Roman" panose="02020603050405020304" pitchFamily="18" charset="0"/>
              </a:rPr>
              <a:t>(q);</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cout</a:t>
            </a:r>
            <a:r>
              <a:rPr lang="en-US" sz="2000" dirty="0">
                <a:latin typeface="Times New Roman" panose="02020603050405020304" pitchFamily="18" charset="0"/>
                <a:cs typeface="Times New Roman" panose="02020603050405020304" pitchFamily="18" charset="0"/>
              </a:rPr>
              <a:t> &lt;&lt; </a:t>
            </a:r>
            <a:r>
              <a:rPr lang="en-US" sz="2000" dirty="0" err="1">
                <a:latin typeface="Times New Roman" panose="02020603050405020304" pitchFamily="18" charset="0"/>
                <a:cs typeface="Times New Roman" panose="02020603050405020304" pitchFamily="18" charset="0"/>
              </a:rPr>
              <a:t>endl</a:t>
            </a:r>
            <a:r>
              <a:rPr lang="en-US" sz="2000" dirty="0">
                <a:latin typeface="Times New Roman" panose="02020603050405020304" pitchFamily="18" charset="0"/>
                <a:cs typeface="Times New Roman" panose="02020603050405020304" pitchFamily="18" charset="0"/>
              </a:rPr>
              <a:t> &lt;&lt; "Deleted value = " &lt;&lt; </a:t>
            </a:r>
            <a:r>
              <a:rPr lang="en-US" sz="2000" dirty="0" err="1">
                <a:latin typeface="Times New Roman" panose="02020603050405020304" pitchFamily="18" charset="0"/>
                <a:cs typeface="Times New Roman" panose="02020603050405020304" pitchFamily="18" charset="0"/>
              </a:rPr>
              <a:t>deQueue</a:t>
            </a:r>
            <a:r>
              <a:rPr lang="en-US" sz="2000" dirty="0">
                <a:latin typeface="Times New Roman" panose="02020603050405020304" pitchFamily="18" charset="0"/>
                <a:cs typeface="Times New Roman" panose="02020603050405020304" pitchFamily="18" charset="0"/>
              </a:rPr>
              <a:t>(q);</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 Remaining elements in Circular Queue</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displayQueue</a:t>
            </a:r>
            <a:r>
              <a:rPr lang="en-US" sz="2000" dirty="0">
                <a:latin typeface="Times New Roman" panose="02020603050405020304" pitchFamily="18" charset="0"/>
                <a:cs typeface="Times New Roman" panose="02020603050405020304" pitchFamily="18" charset="0"/>
              </a:rPr>
              <a:t>(q);</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 9);</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 20);</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displayQueue</a:t>
            </a:r>
            <a:r>
              <a:rPr lang="en-US" sz="2000" dirty="0">
                <a:latin typeface="Times New Roman" panose="02020603050405020304" pitchFamily="18" charset="0"/>
                <a:cs typeface="Times New Roman" panose="02020603050405020304" pitchFamily="18" charset="0"/>
              </a:rPr>
              <a:t>(q);</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return 0;</a:t>
            </a:r>
          </a:p>
          <a:p>
            <a:pPr fontAlgn="base"/>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8BEB334-6976-65EC-46AC-93D1A03E7E15}"/>
              </a:ext>
            </a:extLst>
          </p:cNvPr>
          <p:cNvSpPr>
            <a:spLocks noChangeArrowheads="1"/>
          </p:cNvSpPr>
          <p:nvPr/>
        </p:nvSpPr>
        <p:spPr bwMode="auto">
          <a:xfrm>
            <a:off x="179512" y="182370"/>
            <a:ext cx="8310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(C++)</a:t>
            </a:r>
          </a:p>
        </p:txBody>
      </p:sp>
    </p:spTree>
    <p:extLst>
      <p:ext uri="{BB962C8B-B14F-4D97-AF65-F5344CB8AC3E}">
        <p14:creationId xmlns:p14="http://schemas.microsoft.com/office/powerpoint/2010/main" val="1071955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467544" y="151593"/>
            <a:ext cx="15841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Output</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467544" y="914400"/>
            <a:ext cx="7609656" cy="4370427"/>
          </a:xfrm>
          <a:prstGeom prst="rect">
            <a:avLst/>
          </a:prstGeom>
          <a:noFill/>
        </p:spPr>
        <p:txBody>
          <a:bodyPr wrap="square" rtlCol="0">
            <a:spAutoFit/>
          </a:bodyPr>
          <a:lstStyle/>
          <a:p>
            <a:pPr fontAlgn="base">
              <a:lnSpc>
                <a:spcPct val="150000"/>
              </a:lnSpc>
            </a:pPr>
            <a:r>
              <a:rPr lang="en-US" sz="2400" dirty="0">
                <a:solidFill>
                  <a:schemeClr val="tx2"/>
                </a:solidFill>
                <a:latin typeface="Times New Roman" panose="02020603050405020304" pitchFamily="18" charset="0"/>
                <a:cs typeface="Times New Roman" panose="02020603050405020304" pitchFamily="18" charset="0"/>
              </a:rPr>
              <a:t>Elements in Circular Queue are: </a:t>
            </a:r>
          </a:p>
          <a:p>
            <a:pPr fontAlgn="base">
              <a:lnSpc>
                <a:spcPct val="150000"/>
              </a:lnSpc>
            </a:pPr>
            <a:r>
              <a:rPr lang="en-US" sz="2000" dirty="0">
                <a:latin typeface="Times New Roman" panose="02020603050405020304" pitchFamily="18" charset="0"/>
                <a:cs typeface="Times New Roman" panose="02020603050405020304" pitchFamily="18" charset="0"/>
              </a:rPr>
              <a:t>14 22 6 </a:t>
            </a:r>
          </a:p>
          <a:p>
            <a:pPr fontAlgn="base">
              <a:lnSpc>
                <a:spcPct val="150000"/>
              </a:lnSpc>
            </a:pPr>
            <a:r>
              <a:rPr lang="en-US" sz="2000" dirty="0">
                <a:latin typeface="Times New Roman" panose="02020603050405020304" pitchFamily="18" charset="0"/>
                <a:cs typeface="Times New Roman" panose="02020603050405020304" pitchFamily="18" charset="0"/>
              </a:rPr>
              <a:t>Deleted value = 14 </a:t>
            </a:r>
          </a:p>
          <a:p>
            <a:pPr fontAlgn="base">
              <a:lnSpc>
                <a:spcPct val="150000"/>
              </a:lnSpc>
            </a:pPr>
            <a:r>
              <a:rPr lang="en-US" sz="2000" dirty="0">
                <a:latin typeface="Times New Roman" panose="02020603050405020304" pitchFamily="18" charset="0"/>
                <a:cs typeface="Times New Roman" panose="02020603050405020304" pitchFamily="18" charset="0"/>
              </a:rPr>
              <a:t>Deleted value = 22 </a:t>
            </a:r>
          </a:p>
          <a:p>
            <a:pPr fontAlgn="base">
              <a:lnSpc>
                <a:spcPct val="150000"/>
              </a:lnSpc>
            </a:pPr>
            <a:r>
              <a:rPr lang="en-US" sz="2000" dirty="0">
                <a:latin typeface="Times New Roman" panose="02020603050405020304" pitchFamily="18" charset="0"/>
                <a:cs typeface="Times New Roman" panose="02020603050405020304" pitchFamily="18" charset="0"/>
              </a:rPr>
              <a:t>Elements in Circular Queue are: 6</a:t>
            </a:r>
          </a:p>
          <a:p>
            <a:pPr fontAlgn="base">
              <a:lnSpc>
                <a:spcPct val="150000"/>
              </a:lnSpc>
            </a:pPr>
            <a:r>
              <a:rPr lang="en-US" sz="2000" dirty="0">
                <a:latin typeface="Times New Roman" panose="02020603050405020304" pitchFamily="18" charset="0"/>
                <a:cs typeface="Times New Roman" panose="02020603050405020304" pitchFamily="18" charset="0"/>
              </a:rPr>
              <a:t>Elements in Circular Queue are: 6  9  20;</a:t>
            </a:r>
          </a:p>
          <a:p>
            <a:pPr fontAlgn="base">
              <a:lnSpc>
                <a:spcPct val="150000"/>
              </a:lnSpc>
            </a:pPr>
            <a:r>
              <a:rPr lang="en-US" sz="2400" dirty="0">
                <a:latin typeface="Times New Roman" panose="02020603050405020304" pitchFamily="18" charset="0"/>
                <a:cs typeface="Times New Roman" panose="02020603050405020304" pitchFamily="18" charset="0"/>
              </a:rPr>
              <a:t> </a:t>
            </a:r>
          </a:p>
          <a:p>
            <a:pPr fontAlgn="base">
              <a:lnSpc>
                <a:spcPct val="150000"/>
              </a:lnSpc>
            </a:pPr>
            <a:r>
              <a:rPr lang="en-US" sz="24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06593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04800" y="244330"/>
            <a:ext cx="518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Test Yourself</a:t>
            </a:r>
            <a:endParaRPr lang="en-US" sz="28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304801" y="951693"/>
            <a:ext cx="8155632" cy="3985706"/>
          </a:xfrm>
          <a:prstGeom prst="rect">
            <a:avLst/>
          </a:prstGeom>
        </p:spPr>
        <p:txBody>
          <a:bodyPr wrap="square">
            <a:spAutoFit/>
          </a:bodyPr>
          <a:lstStyle/>
          <a:p>
            <a:pPr algn="just"/>
            <a:r>
              <a:rPr lang="en-IN" sz="2300" b="1" dirty="0">
                <a:latin typeface="Times New Roman" panose="02020603050405020304" pitchFamily="18" charset="0"/>
                <a:cs typeface="Times New Roman" panose="02020603050405020304" pitchFamily="18" charset="0"/>
              </a:rPr>
              <a:t>The circular Queue of capacity (n - 1) is used in an array of n elements. Assume that insert and deletion functions are performed using REAR and FRONT as the variable index of Array, respectively. Initially, REAR = FORWARD = 0. The conditions for finding the Queue are full and empty.</a:t>
            </a:r>
          </a:p>
          <a:p>
            <a:pPr algn="just"/>
            <a:endParaRPr lang="en-IN" sz="2300" dirty="0">
              <a:latin typeface="Times New Roman" panose="02020603050405020304" pitchFamily="18" charset="0"/>
              <a:cs typeface="Times New Roman" panose="02020603050405020304" pitchFamily="18" charset="0"/>
            </a:endParaRPr>
          </a:p>
          <a:p>
            <a:pPr marL="914400" lvl="1" indent="-457200" algn="just">
              <a:buFont typeface="+mj-lt"/>
              <a:buAutoNum type="alphaLcParenR"/>
            </a:pPr>
            <a:r>
              <a:rPr lang="en-IN" sz="2300" dirty="0">
                <a:latin typeface="Times New Roman" panose="02020603050405020304" pitchFamily="18" charset="0"/>
                <a:cs typeface="Times New Roman" panose="02020603050405020304" pitchFamily="18" charset="0"/>
              </a:rPr>
              <a:t>(REAR+1) mod n == FRONT, empty: REAR == FRONT.</a:t>
            </a:r>
          </a:p>
          <a:p>
            <a:pPr marL="914400" lvl="1" indent="-457200" algn="just">
              <a:buFont typeface="+mj-lt"/>
              <a:buAutoNum type="alphaLcParenR"/>
            </a:pPr>
            <a:r>
              <a:rPr lang="en-IN" sz="2300" dirty="0">
                <a:latin typeface="Times New Roman" panose="02020603050405020304" pitchFamily="18" charset="0"/>
                <a:cs typeface="Times New Roman" panose="02020603050405020304" pitchFamily="18" charset="0"/>
              </a:rPr>
              <a:t>empty: (FRONT+1) mod n == REAR,(REAR+1) mod n == FRONT</a:t>
            </a:r>
          </a:p>
          <a:p>
            <a:pPr marL="914400" lvl="1" indent="-457200" algn="just">
              <a:buFont typeface="+mj-lt"/>
              <a:buAutoNum type="alphaLcParenR"/>
            </a:pPr>
            <a:r>
              <a:rPr lang="en-IN" sz="2300" dirty="0">
                <a:latin typeface="Times New Roman" panose="02020603050405020304" pitchFamily="18" charset="0"/>
                <a:cs typeface="Times New Roman" panose="02020603050405020304" pitchFamily="18" charset="0"/>
              </a:rPr>
              <a:t>empty: (REAR+1) mod n == FRONT, REAR == FRONT</a:t>
            </a:r>
          </a:p>
          <a:p>
            <a:pPr marL="914400" lvl="1" indent="-457200" algn="just">
              <a:buFont typeface="+mj-lt"/>
              <a:buAutoNum type="alphaLcParenR"/>
            </a:pPr>
            <a:r>
              <a:rPr lang="en-IN" sz="2300" dirty="0">
                <a:latin typeface="Times New Roman" panose="02020603050405020304" pitchFamily="18" charset="0"/>
                <a:cs typeface="Times New Roman" panose="02020603050405020304" pitchFamily="18" charset="0"/>
              </a:rPr>
              <a:t>(FRONT+1) mod n == REAR, empty: REAR == FRONT.</a:t>
            </a:r>
          </a:p>
        </p:txBody>
      </p:sp>
      <p:sp>
        <p:nvSpPr>
          <p:cNvPr id="6" name="Rectangle 5"/>
          <p:cNvSpPr/>
          <p:nvPr/>
        </p:nvSpPr>
        <p:spPr>
          <a:xfrm>
            <a:off x="755576" y="5114317"/>
            <a:ext cx="7924800" cy="400110"/>
          </a:xfrm>
          <a:prstGeom prst="rect">
            <a:avLst/>
          </a:prstGeom>
        </p:spPr>
        <p:txBody>
          <a:bodyPr wrap="square">
            <a:spAutoFit/>
          </a:bodyPr>
          <a:lstStyle/>
          <a:p>
            <a:r>
              <a:rPr lang="en-IN" sz="2000" b="1" dirty="0">
                <a:latin typeface="Times New Roman" panose="02020603050405020304" pitchFamily="18" charset="0"/>
                <a:cs typeface="Times New Roman" panose="02020603050405020304" pitchFamily="18" charset="0"/>
              </a:rPr>
              <a:t>Solution: a. (REAR+1) mod n == FRONT, empty: REAR == FRONT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3968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37216"/>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467544" y="902558"/>
            <a:ext cx="7992888" cy="4047262"/>
          </a:xfrm>
          <a:prstGeom prst="rect">
            <a:avLst/>
          </a:prstGeom>
        </p:spPr>
        <p:txBody>
          <a:bodyPr wrap="square">
            <a:spAutoFit/>
          </a:bodyPr>
          <a:lstStyle/>
          <a:p>
            <a:pPr algn="just">
              <a:spcBef>
                <a:spcPts val="600"/>
              </a:spcBef>
            </a:pPr>
            <a:r>
              <a:rPr lang="en-IN" sz="2200" b="1" dirty="0">
                <a:latin typeface="Times New Roman" panose="02020603050405020304" pitchFamily="18" charset="0"/>
                <a:cs typeface="Times New Roman" panose="02020603050405020304" pitchFamily="18" charset="0"/>
              </a:rPr>
              <a:t>A standard circular Queue 'q' implemented whose size is 11 from 0 to 10. The front &amp; rear pointers start to point at q[2]. The ninth element be added at which position?</a:t>
            </a:r>
          </a:p>
          <a:p>
            <a:pPr algn="just">
              <a:spcBef>
                <a:spcPts val="600"/>
              </a:spcBef>
            </a:pPr>
            <a:endParaRPr lang="en-IN" sz="2200" b="1" dirty="0">
              <a:latin typeface="Times New Roman" panose="02020603050405020304" pitchFamily="18" charset="0"/>
              <a:cs typeface="Times New Roman" panose="02020603050405020304" pitchFamily="18" charset="0"/>
            </a:endParaRP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q[0]</a:t>
            </a: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q[1]</a:t>
            </a: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q[9]</a:t>
            </a: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q[10]</a:t>
            </a:r>
          </a:p>
          <a:p>
            <a:pPr marL="360363" lvl="1" indent="-360363">
              <a:spcBef>
                <a:spcPts val="600"/>
              </a:spcBef>
              <a:buFont typeface="+mj-lt"/>
              <a:buAutoNum type="alphaLcParenR"/>
            </a:pPr>
            <a:endParaRPr lang="en-IN" sz="2200" dirty="0">
              <a:latin typeface="Times New Roman" panose="02020603050405020304" pitchFamily="18" charset="0"/>
              <a:cs typeface="Times New Roman" panose="02020603050405020304" pitchFamily="18" charset="0"/>
            </a:endParaRPr>
          </a:p>
          <a:p>
            <a:pPr marL="0" lvl="1">
              <a:spcBef>
                <a:spcPts val="600"/>
              </a:spcBef>
            </a:pPr>
            <a:r>
              <a:rPr lang="en-IN" sz="2400" b="1" dirty="0">
                <a:latin typeface="Times New Roman" panose="02020603050405020304" pitchFamily="18" charset="0"/>
                <a:cs typeface="Times New Roman" panose="02020603050405020304" pitchFamily="18" charset="0"/>
              </a:rPr>
              <a:t>Solution: a. q[0]</a:t>
            </a:r>
            <a:endParaRPr lang="en-IN" sz="22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0837EDB1-C0C9-3C1E-AF68-B41AC3BF2503}"/>
              </a:ext>
            </a:extLst>
          </p:cNvPr>
          <p:cNvSpPr>
            <a:spLocks noChangeArrowheads="1"/>
          </p:cNvSpPr>
          <p:nvPr/>
        </p:nvSpPr>
        <p:spPr bwMode="auto">
          <a:xfrm>
            <a:off x="304800" y="244330"/>
            <a:ext cx="518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Test Yourself</a:t>
            </a:r>
            <a:endParaRPr lang="en-US" sz="2800" dirty="0">
              <a:solidFill>
                <a:srgbClr val="FF0000"/>
              </a:solidFill>
            </a:endParaRPr>
          </a:p>
        </p:txBody>
      </p:sp>
    </p:spTree>
    <p:extLst>
      <p:ext uri="{BB962C8B-B14F-4D97-AF65-F5344CB8AC3E}">
        <p14:creationId xmlns:p14="http://schemas.microsoft.com/office/powerpoint/2010/main" val="27953506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834" y="-54423"/>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479996" y="774774"/>
            <a:ext cx="8253151" cy="4602029"/>
          </a:xfrm>
          <a:prstGeom prst="rect">
            <a:avLst/>
          </a:prstGeom>
        </p:spPr>
        <p:txBody>
          <a:bodyPr wrap="square">
            <a:spAutoFit/>
          </a:bodyPr>
          <a:lstStyle/>
          <a:p>
            <a:pPr>
              <a:lnSpc>
                <a:spcPct val="150000"/>
              </a:lnSpc>
            </a:pPr>
            <a:r>
              <a:rPr lang="en-IN" sz="2200" b="1" dirty="0">
                <a:latin typeface="Times New Roman" panose="02020603050405020304" pitchFamily="18" charset="0"/>
                <a:cs typeface="Times New Roman" panose="02020603050405020304" pitchFamily="18" charset="0"/>
              </a:rPr>
              <a:t> Choose the incorrect statement?</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If Queue is implemented through the linked list, keeping track of a front pointer will change only rear pointer "s" during insertion into non-empty Queue.</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The Queue can be used to implement the least recently used page fault algorithm and Quicksort algorithm.</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The Queue can be used to implement the Quicksort algorithm but not least recently used (LRU) page fault algorithm.</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Both (A) and (C)</a:t>
            </a:r>
          </a:p>
        </p:txBody>
      </p:sp>
      <p:sp>
        <p:nvSpPr>
          <p:cNvPr id="6" name="Rectangle 5"/>
          <p:cNvSpPr/>
          <p:nvPr/>
        </p:nvSpPr>
        <p:spPr>
          <a:xfrm>
            <a:off x="539552" y="5358107"/>
            <a:ext cx="8193595" cy="707886"/>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Solution: c. The Queue can be used to implement the Quicksort algorithm but not least recently used (LRU) page fault algorithm.</a:t>
            </a:r>
            <a:endParaRPr lang="en-IN" sz="20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F399AEC7-042F-4947-35FF-C5C058E72DA7}"/>
              </a:ext>
            </a:extLst>
          </p:cNvPr>
          <p:cNvSpPr>
            <a:spLocks noChangeArrowheads="1"/>
          </p:cNvSpPr>
          <p:nvPr/>
        </p:nvSpPr>
        <p:spPr bwMode="auto">
          <a:xfrm>
            <a:off x="304800" y="244330"/>
            <a:ext cx="518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Test Yourself</a:t>
            </a:r>
            <a:endParaRPr lang="en-US" sz="2800" dirty="0">
              <a:solidFill>
                <a:srgbClr val="FF0000"/>
              </a:solidFill>
            </a:endParaRPr>
          </a:p>
        </p:txBody>
      </p:sp>
    </p:spTree>
    <p:extLst>
      <p:ext uri="{BB962C8B-B14F-4D97-AF65-F5344CB8AC3E}">
        <p14:creationId xmlns:p14="http://schemas.microsoft.com/office/powerpoint/2010/main" val="37641333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1596" y="-27384"/>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395535" y="1001942"/>
            <a:ext cx="8280921" cy="2569934"/>
          </a:xfrm>
          <a:prstGeom prst="rect">
            <a:avLst/>
          </a:prstGeom>
        </p:spPr>
        <p:txBody>
          <a:bodyPr wrap="square">
            <a:spAutoFit/>
          </a:bodyPr>
          <a:lstStyle/>
          <a:p>
            <a:pPr algn="just"/>
            <a:r>
              <a:rPr lang="en-US" sz="2300" dirty="0">
                <a:latin typeface="Times New Roman" panose="02020603050405020304" pitchFamily="18" charset="0"/>
                <a:cs typeface="Times New Roman" panose="02020603050405020304" pitchFamily="18" charset="0"/>
              </a:rPr>
              <a:t>Consider the queues Q</a:t>
            </a:r>
            <a:r>
              <a:rPr lang="en-US" sz="2300" baseline="-25000" dirty="0">
                <a:latin typeface="Times New Roman" panose="02020603050405020304" pitchFamily="18" charset="0"/>
                <a:cs typeface="Times New Roman" panose="02020603050405020304" pitchFamily="18" charset="0"/>
              </a:rPr>
              <a:t>1</a:t>
            </a:r>
            <a:r>
              <a:rPr lang="en-US" sz="2300" dirty="0">
                <a:latin typeface="Times New Roman" panose="02020603050405020304" pitchFamily="18" charset="0"/>
                <a:cs typeface="Times New Roman" panose="02020603050405020304" pitchFamily="18" charset="0"/>
              </a:rPr>
              <a:t> containing four elements and Q</a:t>
            </a:r>
            <a:r>
              <a:rPr lang="en-US" sz="2300" baseline="-25000" dirty="0">
                <a:latin typeface="Times New Roman" panose="02020603050405020304" pitchFamily="18" charset="0"/>
                <a:cs typeface="Times New Roman" panose="02020603050405020304" pitchFamily="18" charset="0"/>
              </a:rPr>
              <a:t>2</a:t>
            </a:r>
            <a:r>
              <a:rPr lang="en-US" sz="2300" dirty="0">
                <a:latin typeface="Times New Roman" panose="02020603050405020304" pitchFamily="18" charset="0"/>
                <a:cs typeface="Times New Roman" panose="02020603050405020304" pitchFamily="18" charset="0"/>
              </a:rPr>
              <a:t> containing none (shown as the Initial State in the figure). The only operations allowed on these two queues are </a:t>
            </a:r>
            <a:r>
              <a:rPr lang="en-US" sz="2300" dirty="0" err="1">
                <a:latin typeface="Times New Roman" panose="02020603050405020304" pitchFamily="18" charset="0"/>
                <a:cs typeface="Times New Roman" panose="02020603050405020304" pitchFamily="18" charset="0"/>
              </a:rPr>
              <a:t>Enqueue</a:t>
            </a:r>
            <a:r>
              <a:rPr lang="en-US" sz="2300" dirty="0">
                <a:latin typeface="Times New Roman" panose="02020603050405020304" pitchFamily="18" charset="0"/>
                <a:cs typeface="Times New Roman" panose="02020603050405020304" pitchFamily="18" charset="0"/>
              </a:rPr>
              <a:t> (Q, element) and </a:t>
            </a:r>
            <a:r>
              <a:rPr lang="en-US" sz="2300" dirty="0" err="1">
                <a:latin typeface="Times New Roman" panose="02020603050405020304" pitchFamily="18" charset="0"/>
                <a:cs typeface="Times New Roman" panose="02020603050405020304" pitchFamily="18" charset="0"/>
              </a:rPr>
              <a:t>Dequeue</a:t>
            </a:r>
            <a:r>
              <a:rPr lang="en-US" sz="2300" dirty="0">
                <a:latin typeface="Times New Roman" panose="02020603050405020304" pitchFamily="18" charset="0"/>
                <a:cs typeface="Times New Roman" panose="02020603050405020304" pitchFamily="18" charset="0"/>
              </a:rPr>
              <a:t> (Q). The minimum number of </a:t>
            </a:r>
            <a:r>
              <a:rPr lang="en-US" sz="2300" dirty="0" err="1">
                <a:latin typeface="Times New Roman" panose="02020603050405020304" pitchFamily="18" charset="0"/>
                <a:cs typeface="Times New Roman" panose="02020603050405020304" pitchFamily="18" charset="0"/>
              </a:rPr>
              <a:t>Enqueue</a:t>
            </a:r>
            <a:r>
              <a:rPr lang="en-US" sz="2300" dirty="0">
                <a:latin typeface="Times New Roman" panose="02020603050405020304" pitchFamily="18" charset="0"/>
                <a:cs typeface="Times New Roman" panose="02020603050405020304" pitchFamily="18" charset="0"/>
              </a:rPr>
              <a:t> operations on Q</a:t>
            </a:r>
            <a:r>
              <a:rPr lang="en-US" sz="2300" baseline="-25000" dirty="0">
                <a:latin typeface="Times New Roman" panose="02020603050405020304" pitchFamily="18" charset="0"/>
                <a:cs typeface="Times New Roman" panose="02020603050405020304" pitchFamily="18" charset="0"/>
              </a:rPr>
              <a:t>1</a:t>
            </a:r>
            <a:r>
              <a:rPr lang="en-US" sz="2300" dirty="0">
                <a:latin typeface="Times New Roman" panose="02020603050405020304" pitchFamily="18" charset="0"/>
                <a:cs typeface="Times New Roman" panose="02020603050405020304" pitchFamily="18" charset="0"/>
              </a:rPr>
              <a:t> required to place the elements of Q</a:t>
            </a:r>
            <a:r>
              <a:rPr lang="en-US" sz="2300" baseline="-25000" dirty="0">
                <a:latin typeface="Times New Roman" panose="02020603050405020304" pitchFamily="18" charset="0"/>
                <a:cs typeface="Times New Roman" panose="02020603050405020304" pitchFamily="18" charset="0"/>
              </a:rPr>
              <a:t>1</a:t>
            </a:r>
            <a:r>
              <a:rPr lang="en-US" sz="2300" dirty="0">
                <a:latin typeface="Times New Roman" panose="02020603050405020304" pitchFamily="18" charset="0"/>
                <a:cs typeface="Times New Roman" panose="02020603050405020304" pitchFamily="18" charset="0"/>
              </a:rPr>
              <a:t> in Q</a:t>
            </a:r>
            <a:r>
              <a:rPr lang="en-US" sz="2300" baseline="-25000" dirty="0">
                <a:latin typeface="Times New Roman" panose="02020603050405020304" pitchFamily="18" charset="0"/>
                <a:cs typeface="Times New Roman" panose="02020603050405020304" pitchFamily="18" charset="0"/>
              </a:rPr>
              <a:t>2</a:t>
            </a:r>
            <a:r>
              <a:rPr lang="en-US" sz="2300" dirty="0">
                <a:latin typeface="Times New Roman" panose="02020603050405020304" pitchFamily="18" charset="0"/>
                <a:cs typeface="Times New Roman" panose="02020603050405020304" pitchFamily="18" charset="0"/>
              </a:rPr>
              <a:t> in reverse order (shown as the Final State in the figure) without using any additional storage is ______________.</a:t>
            </a:r>
            <a:endParaRPr lang="en-IN" sz="23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A8A9C37-CBC1-127B-0BAC-5EC9665FA9A1}"/>
              </a:ext>
            </a:extLst>
          </p:cNvPr>
          <p:cNvPicPr>
            <a:picLocks noChangeAspect="1"/>
          </p:cNvPicPr>
          <p:nvPr/>
        </p:nvPicPr>
        <p:blipFill>
          <a:blip r:embed="rId5"/>
          <a:srcRect t="18165" b="21740"/>
          <a:stretch>
            <a:fillRect/>
          </a:stretch>
        </p:blipFill>
        <p:spPr>
          <a:xfrm>
            <a:off x="1907704" y="3774992"/>
            <a:ext cx="5701439" cy="2284183"/>
          </a:xfrm>
          <a:prstGeom prst="rect">
            <a:avLst/>
          </a:prstGeom>
        </p:spPr>
      </p:pic>
      <p:sp>
        <p:nvSpPr>
          <p:cNvPr id="2" name="Rectangle 1">
            <a:extLst>
              <a:ext uri="{FF2B5EF4-FFF2-40B4-BE49-F238E27FC236}">
                <a16:creationId xmlns:a16="http://schemas.microsoft.com/office/drawing/2014/main" id="{7216253E-8974-71DF-1AE8-8E5B4160F945}"/>
              </a:ext>
            </a:extLst>
          </p:cNvPr>
          <p:cNvSpPr>
            <a:spLocks noChangeArrowheads="1"/>
          </p:cNvSpPr>
          <p:nvPr/>
        </p:nvSpPr>
        <p:spPr bwMode="auto">
          <a:xfrm>
            <a:off x="304800" y="244330"/>
            <a:ext cx="518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Test Yourself</a:t>
            </a:r>
            <a:endParaRPr lang="en-US" sz="2800" dirty="0">
              <a:solidFill>
                <a:srgbClr val="FF0000"/>
              </a:solidFill>
            </a:endParaRPr>
          </a:p>
        </p:txBody>
      </p:sp>
    </p:spTree>
    <p:extLst>
      <p:ext uri="{BB962C8B-B14F-4D97-AF65-F5344CB8AC3E}">
        <p14:creationId xmlns:p14="http://schemas.microsoft.com/office/powerpoint/2010/main" val="18470081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sym typeface="Arial"/>
              </a:rPr>
              <a:t>Doubly Ended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35842"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b="9562"/>
          <a:stretch>
            <a:fillRect/>
          </a:stretch>
        </p:blipFill>
        <p:spPr bwMode="auto">
          <a:xfrm>
            <a:off x="1099781" y="2055152"/>
            <a:ext cx="7019925" cy="1877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40296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57199" y="381545"/>
            <a:ext cx="81202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sym typeface="Arial"/>
              </a:rPr>
              <a:t>Doubly Ended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Rectangle 1"/>
          <p:cNvSpPr/>
          <p:nvPr/>
        </p:nvSpPr>
        <p:spPr>
          <a:xfrm>
            <a:off x="457200" y="1279146"/>
            <a:ext cx="4312568" cy="1503297"/>
          </a:xfrm>
          <a:prstGeom prst="rect">
            <a:avLst/>
          </a:prstGeom>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Types </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Input restricted queue</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Output restricted queue</a:t>
            </a:r>
          </a:p>
        </p:txBody>
      </p:sp>
      <p:pic>
        <p:nvPicPr>
          <p:cNvPr id="3686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672" y="3000140"/>
            <a:ext cx="6114034" cy="131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9493" y="4824978"/>
            <a:ext cx="6275040" cy="1070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6398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539551" y="381545"/>
            <a:ext cx="803785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sym typeface="Arial"/>
              </a:rPr>
              <a:t>Operations performed on Deque</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539552" y="1334777"/>
            <a:ext cx="8037856" cy="4401205"/>
          </a:xfrm>
          <a:prstGeom prst="rect">
            <a:avLst/>
          </a:prstGeom>
          <a:noFill/>
        </p:spPr>
        <p:txBody>
          <a:bodyPr wrap="square" rtlCol="0">
            <a:spAutoFit/>
          </a:bodyPr>
          <a:lstStyle/>
          <a:p>
            <a:pPr algn="just">
              <a:spcBef>
                <a:spcPts val="600"/>
              </a:spcBef>
            </a:pPr>
            <a:r>
              <a:rPr lang="en-IN" sz="2400" dirty="0">
                <a:latin typeface="Times New Roman" panose="02020603050405020304" pitchFamily="18" charset="0"/>
                <a:cs typeface="Times New Roman" panose="02020603050405020304" pitchFamily="18" charset="0"/>
              </a:rPr>
              <a:t>There are the following operations that can be applied on a deque -</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Insertion at front</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Insertion at rear</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Deletion at front</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Deletion at rear</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Get the front item from the deque</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Get the rear item from the deque</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Check whether the deque is full or not</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Checks whether the deque is empty or not</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1621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1260" y="-27384"/>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172925"/>
            <a:ext cx="518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2" name="Rectangle 1"/>
          <p:cNvSpPr/>
          <p:nvPr/>
        </p:nvSpPr>
        <p:spPr>
          <a:xfrm>
            <a:off x="304800" y="791154"/>
            <a:ext cx="8011616" cy="5586145"/>
          </a:xfrm>
          <a:prstGeom prst="rect">
            <a:avLst/>
          </a:prstGeom>
        </p:spPr>
        <p:txBody>
          <a:bodyPr wrap="square">
            <a:spAutoFit/>
          </a:bodyPr>
          <a:lstStyle/>
          <a:p>
            <a:pPr marL="457200" indent="-457200" algn="just">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Convert the given expression from infix to postfix </a:t>
            </a:r>
          </a:p>
          <a:p>
            <a:pPr marL="971550" lvl="1" indent="-514350" algn="just">
              <a:spcBef>
                <a:spcPts val="600"/>
              </a:spcBef>
              <a:buFont typeface="+mj-lt"/>
              <a:buAutoNum type="romanLcPeriod"/>
            </a:pPr>
            <a:r>
              <a:rPr lang="en-US" sz="2400" dirty="0">
                <a:latin typeface="Times New Roman" panose="02020603050405020304" pitchFamily="18" charset="0"/>
                <a:cs typeface="Times New Roman" panose="02020603050405020304" pitchFamily="18" charset="0"/>
              </a:rPr>
              <a:t>( a + b ) * ( c + d * e) * f </a:t>
            </a:r>
          </a:p>
          <a:p>
            <a:pPr marL="914400" lvl="1" indent="-457200" algn="just">
              <a:spcBef>
                <a:spcPts val="600"/>
              </a:spcBef>
              <a:buFont typeface="+mj-lt"/>
              <a:buAutoNum type="romanLcPeriod"/>
            </a:pPr>
            <a:r>
              <a:rPr lang="en-US" sz="2400" dirty="0">
                <a:latin typeface="Times New Roman" panose="02020603050405020304" pitchFamily="18" charset="0"/>
                <a:cs typeface="Times New Roman" panose="02020603050405020304" pitchFamily="18" charset="0"/>
              </a:rPr>
              <a:t> a – b * c / d + e </a:t>
            </a:r>
          </a:p>
          <a:p>
            <a:pPr marL="457200" indent="-457200" algn="just">
              <a:spcBef>
                <a:spcPts val="600"/>
              </a:spcBef>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lgn="just">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Evaluate the given postfix expression by using the stack concept</a:t>
            </a:r>
          </a:p>
          <a:p>
            <a:pPr marL="971550" lvl="1" indent="-514350" algn="just">
              <a:spcBef>
                <a:spcPts val="600"/>
              </a:spcBef>
              <a:buFont typeface="+mj-lt"/>
              <a:buAutoNum type="romanLcPeriod"/>
            </a:pPr>
            <a:r>
              <a:rPr lang="en-US" sz="2400" dirty="0">
                <a:latin typeface="Times New Roman" panose="02020603050405020304" pitchFamily="18" charset="0"/>
                <a:cs typeface="Times New Roman" panose="02020603050405020304" pitchFamily="18" charset="0"/>
              </a:rPr>
              <a:t>5 5 2 3 + 6 * + 3 + * </a:t>
            </a:r>
          </a:p>
          <a:p>
            <a:pPr marL="914400" lvl="1" indent="-457200" algn="just">
              <a:spcBef>
                <a:spcPts val="600"/>
              </a:spcBef>
              <a:buFont typeface="+mj-lt"/>
              <a:buAutoNum type="romanLcPeriod"/>
            </a:pPr>
            <a:r>
              <a:rPr lang="en-US" sz="2400" dirty="0">
                <a:latin typeface="Times New Roman" panose="02020603050405020304" pitchFamily="18" charset="0"/>
                <a:cs typeface="Times New Roman" panose="02020603050405020304" pitchFamily="18" charset="0"/>
              </a:rPr>
              <a:t>10 8 + 5 * - 2</a:t>
            </a:r>
          </a:p>
          <a:p>
            <a:pPr marL="457200" indent="-457200" algn="just">
              <a:spcBef>
                <a:spcPts val="600"/>
              </a:spcBef>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lgn="just">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a) Write the pseudo code for Push and pop operations from the stack. Give a suitable example.</a:t>
            </a:r>
          </a:p>
          <a:p>
            <a:pPr marL="442913" indent="-442913" algn="just">
              <a:spcBef>
                <a:spcPts val="600"/>
              </a:spcBef>
            </a:pPr>
            <a:r>
              <a:rPr lang="en-US" sz="2400" dirty="0">
                <a:latin typeface="Times New Roman" panose="02020603050405020304" pitchFamily="18" charset="0"/>
                <a:cs typeface="Times New Roman" panose="02020603050405020304" pitchFamily="18" charset="0"/>
              </a:rPr>
              <a:t>      b) Write the pseudo code for insertion and deletion from Queue.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92940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871"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431908" y="154250"/>
            <a:ext cx="518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6" name="Rectangle 5"/>
          <p:cNvSpPr/>
          <p:nvPr/>
        </p:nvSpPr>
        <p:spPr>
          <a:xfrm>
            <a:off x="431908" y="1021434"/>
            <a:ext cx="7924800" cy="4985980"/>
          </a:xfrm>
          <a:prstGeom prst="rect">
            <a:avLst/>
          </a:prstGeom>
        </p:spPr>
        <p:txBody>
          <a:bodyPr wrap="square">
            <a:spAutoFit/>
          </a:bodyPr>
          <a:lstStyle/>
          <a:p>
            <a:pPr marL="0" lvl="1" algn="just">
              <a:spcBef>
                <a:spcPts val="600"/>
              </a:spcBef>
            </a:pPr>
            <a:r>
              <a:rPr lang="en-US" sz="2400" b="1" dirty="0">
                <a:latin typeface="Times New Roman" panose="02020603050405020304" pitchFamily="18" charset="0"/>
                <a:cs typeface="Times New Roman" panose="02020603050405020304" pitchFamily="18" charset="0"/>
              </a:rPr>
              <a:t>4. Fill in the blank</a:t>
            </a:r>
          </a:p>
          <a:p>
            <a:pPr marL="0" lvl="1"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In a stack, the operation of removing an item is called _______.</a:t>
            </a:r>
          </a:p>
          <a:p>
            <a:pPr marL="0" lvl="1"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The basic principle of _______ is Last In, First Out (LIFO).</a:t>
            </a:r>
          </a:p>
          <a:p>
            <a:pPr algn="just">
              <a:spcBef>
                <a:spcPts val="600"/>
              </a:spcBef>
            </a:pPr>
            <a:endParaRPr lang="en-US" sz="2400" dirty="0">
              <a:latin typeface="Times New Roman" panose="02020603050405020304" pitchFamily="18" charset="0"/>
              <a:cs typeface="Times New Roman" panose="02020603050405020304" pitchFamily="18" charset="0"/>
            </a:endParaRPr>
          </a:p>
          <a:p>
            <a:pPr algn="just">
              <a:spcBef>
                <a:spcPts val="600"/>
              </a:spcBef>
            </a:pPr>
            <a:r>
              <a:rPr lang="en-US" sz="2400" dirty="0">
                <a:latin typeface="Times New Roman" panose="02020603050405020304" pitchFamily="18" charset="0"/>
                <a:cs typeface="Times New Roman" panose="02020603050405020304" pitchFamily="18" charset="0"/>
              </a:rPr>
              <a:t>5. Consider a stack that initially contains 5 elements. If you perform 3 push operations and 2 pop operations, what is the current size of the stack?</a:t>
            </a:r>
          </a:p>
          <a:p>
            <a:pPr algn="just">
              <a:spcBef>
                <a:spcPts val="600"/>
              </a:spcBef>
            </a:pPr>
            <a:endParaRPr lang="en-US" sz="2400" dirty="0">
              <a:latin typeface="Times New Roman" panose="02020603050405020304" pitchFamily="18" charset="0"/>
              <a:cs typeface="Times New Roman" panose="02020603050405020304" pitchFamily="18" charset="0"/>
            </a:endParaRPr>
          </a:p>
          <a:p>
            <a:pPr algn="just">
              <a:spcBef>
                <a:spcPts val="600"/>
              </a:spcBef>
            </a:pPr>
            <a:r>
              <a:rPr lang="en-US" sz="2400" dirty="0">
                <a:latin typeface="Times New Roman" panose="02020603050405020304" pitchFamily="18" charset="0"/>
                <a:cs typeface="Times New Roman" panose="02020603050405020304" pitchFamily="18" charset="0"/>
              </a:rPr>
              <a:t>6. If you have a queue with 10 elements and you perform 5 </a:t>
            </a:r>
            <a:r>
              <a:rPr lang="en-US" sz="2400" dirty="0" err="1">
                <a:latin typeface="Times New Roman" panose="02020603050405020304" pitchFamily="18" charset="0"/>
                <a:cs typeface="Times New Roman" panose="02020603050405020304" pitchFamily="18" charset="0"/>
              </a:rPr>
              <a:t>dequeue</a:t>
            </a:r>
            <a:r>
              <a:rPr lang="en-US" sz="2400" dirty="0">
                <a:latin typeface="Times New Roman" panose="02020603050405020304" pitchFamily="18" charset="0"/>
                <a:cs typeface="Times New Roman" panose="02020603050405020304" pitchFamily="18" charset="0"/>
              </a:rPr>
              <a:t> operations followed by 7 </a:t>
            </a:r>
            <a:r>
              <a:rPr lang="en-US" sz="2400" dirty="0" err="1">
                <a:latin typeface="Times New Roman" panose="02020603050405020304" pitchFamily="18" charset="0"/>
                <a:cs typeface="Times New Roman" panose="02020603050405020304" pitchFamily="18" charset="0"/>
              </a:rPr>
              <a:t>enqueue</a:t>
            </a:r>
            <a:r>
              <a:rPr lang="en-US" sz="2400" dirty="0">
                <a:latin typeface="Times New Roman" panose="02020603050405020304" pitchFamily="18" charset="0"/>
                <a:cs typeface="Times New Roman" panose="02020603050405020304" pitchFamily="18" charset="0"/>
              </a:rPr>
              <a:t> operations, how many elements does the queue contain now?</a:t>
            </a:r>
          </a:p>
        </p:txBody>
      </p:sp>
    </p:spTree>
    <p:extLst>
      <p:ext uri="{BB962C8B-B14F-4D97-AF65-F5344CB8AC3E}">
        <p14:creationId xmlns:p14="http://schemas.microsoft.com/office/powerpoint/2010/main" val="25191206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67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208615"/>
            <a:ext cx="518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304800" y="987557"/>
            <a:ext cx="8011616" cy="4524315"/>
          </a:xfrm>
          <a:prstGeom prst="rect">
            <a:avLst/>
          </a:prstGeom>
        </p:spPr>
        <p:txBody>
          <a:bodyPr wrap="square">
            <a:spAutoFit/>
          </a:bodyPr>
          <a:lstStyle/>
          <a:p>
            <a:pPr marL="457200" indent="-457200" algn="just">
              <a:buAutoNum type="arabicPeriod" startAt="7"/>
            </a:pPr>
            <a:r>
              <a:rPr lang="en-US" sz="2400" dirty="0">
                <a:latin typeface="Times New Roman" panose="02020603050405020304" pitchFamily="18" charset="0"/>
                <a:cs typeface="Times New Roman" panose="02020603050405020304" pitchFamily="18" charset="0"/>
              </a:rPr>
              <a:t>One way to implement a queue is to use a circular linked list. In a circular linked list, the last node’s next pointer points at the first node. Assume the list does not contain a header and that we can maintain, at most, one iterator corresponding to a node in the list. For which of the following representations can all basic queue operations be performed in constant worst-case time? Justify your answers. </a:t>
            </a:r>
          </a:p>
          <a:p>
            <a:pPr marL="914400" lvl="1" indent="-457200" algn="just">
              <a:buAutoNum type="alphaLcPeriod"/>
            </a:pPr>
            <a:r>
              <a:rPr lang="en-US" sz="2400" dirty="0">
                <a:latin typeface="Times New Roman" panose="02020603050405020304" pitchFamily="18" charset="0"/>
                <a:cs typeface="Times New Roman" panose="02020603050405020304" pitchFamily="18" charset="0"/>
              </a:rPr>
              <a:t>Maintain an iterator that corresponds to the first item in the list. </a:t>
            </a:r>
          </a:p>
          <a:p>
            <a:pPr marL="914400" lvl="1" indent="-457200" algn="just">
              <a:buAutoNum type="alphaLcPeriod"/>
            </a:pPr>
            <a:r>
              <a:rPr lang="en-US" sz="2400" dirty="0">
                <a:latin typeface="Times New Roman" panose="02020603050405020304" pitchFamily="18" charset="0"/>
                <a:cs typeface="Times New Roman" panose="02020603050405020304" pitchFamily="18" charset="0"/>
              </a:rPr>
              <a:t> Maintain an iterator that corresponds to the last item in the list</a:t>
            </a:r>
          </a:p>
        </p:txBody>
      </p:sp>
    </p:spTree>
    <p:extLst>
      <p:ext uri="{BB962C8B-B14F-4D97-AF65-F5344CB8AC3E}">
        <p14:creationId xmlns:p14="http://schemas.microsoft.com/office/powerpoint/2010/main" val="3100050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67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04800" y="201989"/>
            <a:ext cx="518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04800" y="980728"/>
            <a:ext cx="8458200" cy="3508653"/>
          </a:xfrm>
          <a:prstGeom prst="rect">
            <a:avLst/>
          </a:prstGeom>
        </p:spPr>
        <p:txBody>
          <a:bodyPr wrap="square">
            <a:spAutoFit/>
          </a:bodyPr>
          <a:lstStyle/>
          <a:p>
            <a:pPr marL="92075" lvl="1" algn="just">
              <a:spcBef>
                <a:spcPts val="600"/>
              </a:spcBef>
            </a:pPr>
            <a:r>
              <a:rPr lang="en-IN" sz="2400" dirty="0">
                <a:latin typeface="Times New Roman" panose="02020603050405020304" pitchFamily="18" charset="0"/>
                <a:cs typeface="Times New Roman" panose="02020603050405020304" pitchFamily="18" charset="0"/>
              </a:rPr>
              <a:t>8. Draw the queue structure in each case when the following operations are performed on an empty queue.</a:t>
            </a:r>
          </a:p>
          <a:p>
            <a:pPr marL="92075" lvl="1" algn="just">
              <a:spcBef>
                <a:spcPts val="600"/>
              </a:spcBef>
            </a:pPr>
            <a:r>
              <a:rPr lang="en-IN" sz="2400" dirty="0">
                <a:latin typeface="Times New Roman" panose="02020603050405020304" pitchFamily="18" charset="0"/>
                <a:cs typeface="Times New Roman" panose="02020603050405020304" pitchFamily="18" charset="0"/>
              </a:rPr>
              <a:t>(a) Add A, B, C, D, E, F</a:t>
            </a:r>
          </a:p>
          <a:p>
            <a:pPr marL="92075" lvl="2" algn="just">
              <a:spcBef>
                <a:spcPts val="600"/>
              </a:spcBef>
            </a:pPr>
            <a:r>
              <a:rPr lang="en-IN" sz="2400" dirty="0">
                <a:latin typeface="Times New Roman" panose="02020603050405020304" pitchFamily="18" charset="0"/>
                <a:cs typeface="Times New Roman" panose="02020603050405020304" pitchFamily="18" charset="0"/>
              </a:rPr>
              <a:t>(b) Delete two letters</a:t>
            </a:r>
          </a:p>
          <a:p>
            <a:pPr marL="92075" lvl="2" algn="just">
              <a:spcBef>
                <a:spcPts val="600"/>
              </a:spcBef>
            </a:pPr>
            <a:r>
              <a:rPr lang="en-IN" sz="2400" dirty="0">
                <a:latin typeface="Times New Roman" panose="02020603050405020304" pitchFamily="18" charset="0"/>
                <a:cs typeface="Times New Roman" panose="02020603050405020304" pitchFamily="18" charset="0"/>
              </a:rPr>
              <a:t>(c) Add G	 </a:t>
            </a:r>
          </a:p>
          <a:p>
            <a:pPr marL="92075" lvl="4" algn="just">
              <a:spcBef>
                <a:spcPts val="600"/>
              </a:spcBef>
            </a:pPr>
            <a:r>
              <a:rPr lang="en-IN" sz="2400" dirty="0">
                <a:latin typeface="Times New Roman" panose="02020603050405020304" pitchFamily="18" charset="0"/>
                <a:cs typeface="Times New Roman" panose="02020603050405020304" pitchFamily="18" charset="0"/>
              </a:rPr>
              <a:t>(d) Add H</a:t>
            </a:r>
          </a:p>
          <a:p>
            <a:pPr marL="92075" lvl="2" algn="just">
              <a:spcBef>
                <a:spcPts val="600"/>
              </a:spcBef>
            </a:pPr>
            <a:r>
              <a:rPr lang="en-IN" sz="2400" dirty="0">
                <a:latin typeface="Times New Roman" panose="02020603050405020304" pitchFamily="18" charset="0"/>
                <a:cs typeface="Times New Roman" panose="02020603050405020304" pitchFamily="18" charset="0"/>
              </a:rPr>
              <a:t>(e) Delete four letters	 </a:t>
            </a:r>
          </a:p>
          <a:p>
            <a:pPr marL="92075" lvl="4" algn="just">
              <a:spcBef>
                <a:spcPts val="600"/>
              </a:spcBef>
            </a:pPr>
            <a:r>
              <a:rPr lang="en-IN" sz="2400" dirty="0">
                <a:latin typeface="Times New Roman" panose="02020603050405020304" pitchFamily="18" charset="0"/>
                <a:cs typeface="Times New Roman" panose="02020603050405020304" pitchFamily="18" charset="0"/>
              </a:rPr>
              <a:t>(f) Add I</a:t>
            </a:r>
          </a:p>
        </p:txBody>
      </p:sp>
    </p:spTree>
    <p:extLst>
      <p:ext uri="{BB962C8B-B14F-4D97-AF65-F5344CB8AC3E}">
        <p14:creationId xmlns:p14="http://schemas.microsoft.com/office/powerpoint/2010/main" val="27996091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67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194782"/>
            <a:ext cx="518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467544" y="1042975"/>
            <a:ext cx="7992888" cy="4632037"/>
          </a:xfrm>
          <a:prstGeom prst="rect">
            <a:avLst/>
          </a:prstGeom>
        </p:spPr>
        <p:txBody>
          <a:bodyPr wrap="square">
            <a:spAutoFit/>
          </a:bodyPr>
          <a:lstStyle/>
          <a:p>
            <a:pPr lvl="0" algn="just">
              <a:spcBef>
                <a:spcPts val="600"/>
              </a:spcBef>
              <a:spcAft>
                <a:spcPts val="600"/>
              </a:spcAft>
            </a:pPr>
            <a:r>
              <a:rPr lang="en-US" sz="2400" dirty="0">
                <a:latin typeface="Times New Roman" panose="02020603050405020304" pitchFamily="18" charset="0"/>
                <a:cs typeface="Times New Roman" panose="02020603050405020304" pitchFamily="18" charset="0"/>
              </a:rPr>
              <a:t>9. Consider the following sequence of operations on an empty stack.</a:t>
            </a:r>
            <a:endParaRPr lang="en-IN" sz="2400" dirty="0">
              <a:latin typeface="Times New Roman" panose="02020603050405020304" pitchFamily="18" charset="0"/>
              <a:cs typeface="Times New Roman" panose="02020603050405020304" pitchFamily="18" charset="0"/>
            </a:endParaRPr>
          </a:p>
          <a:p>
            <a:pPr lvl="1" algn="just">
              <a:spcBef>
                <a:spcPts val="600"/>
              </a:spcBef>
              <a:spcAft>
                <a:spcPts val="600"/>
              </a:spcAft>
            </a:pPr>
            <a:r>
              <a:rPr lang="en-US" sz="2400" dirty="0">
                <a:latin typeface="Times New Roman" panose="02020603050405020304" pitchFamily="18" charset="0"/>
                <a:cs typeface="Times New Roman" panose="02020603050405020304" pitchFamily="18" charset="0"/>
              </a:rPr>
              <a:t>push(54); push(52); pop(); push(55); push(62); </a:t>
            </a:r>
            <a:r>
              <a:rPr lang="en-US" sz="2400" b="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 pop();</a:t>
            </a:r>
            <a:endParaRPr lang="en-IN" sz="2400" dirty="0">
              <a:latin typeface="Times New Roman" panose="02020603050405020304" pitchFamily="18" charset="0"/>
              <a:cs typeface="Times New Roman" panose="02020603050405020304" pitchFamily="18" charset="0"/>
            </a:endParaRPr>
          </a:p>
          <a:p>
            <a:pPr marL="0" lvl="1" algn="just">
              <a:spcBef>
                <a:spcPts val="600"/>
              </a:spcBef>
              <a:spcAft>
                <a:spcPts val="600"/>
              </a:spcAft>
            </a:pPr>
            <a:r>
              <a:rPr lang="en-US" sz="2400" dirty="0">
                <a:latin typeface="Times New Roman" panose="02020603050405020304" pitchFamily="18" charset="0"/>
                <a:cs typeface="Times New Roman" panose="02020603050405020304" pitchFamily="18" charset="0"/>
              </a:rPr>
              <a:t>Consider the following sequence of operations on an empty queue.</a:t>
            </a:r>
            <a:endParaRPr lang="en-IN" sz="2400" dirty="0">
              <a:latin typeface="Times New Roman" panose="02020603050405020304" pitchFamily="18" charset="0"/>
              <a:cs typeface="Times New Roman" panose="02020603050405020304" pitchFamily="18" charset="0"/>
            </a:endParaRPr>
          </a:p>
          <a:p>
            <a:pPr lvl="1" algn="just">
              <a:spcBef>
                <a:spcPts val="600"/>
              </a:spcBef>
              <a:spcAft>
                <a:spcPts val="600"/>
              </a:spcAft>
            </a:pPr>
            <a:r>
              <a:rPr lang="en-US" sz="2400" dirty="0" err="1">
                <a:latin typeface="Times New Roman" panose="02020603050405020304" pitchFamily="18" charset="0"/>
                <a:cs typeface="Times New Roman" panose="02020603050405020304" pitchFamily="18" charset="0"/>
              </a:rPr>
              <a:t>enqueue</a:t>
            </a:r>
            <a:r>
              <a:rPr lang="en-US" sz="2400" dirty="0">
                <a:latin typeface="Times New Roman" panose="02020603050405020304" pitchFamily="18" charset="0"/>
                <a:cs typeface="Times New Roman" panose="02020603050405020304" pitchFamily="18" charset="0"/>
              </a:rPr>
              <a:t>(21); </a:t>
            </a:r>
            <a:r>
              <a:rPr lang="en-US" sz="2400" dirty="0" err="1">
                <a:latin typeface="Times New Roman" panose="02020603050405020304" pitchFamily="18" charset="0"/>
                <a:cs typeface="Times New Roman" panose="02020603050405020304" pitchFamily="18" charset="0"/>
              </a:rPr>
              <a:t>enqueue</a:t>
            </a:r>
            <a:r>
              <a:rPr lang="en-US" sz="2400" dirty="0">
                <a:latin typeface="Times New Roman" panose="02020603050405020304" pitchFamily="18" charset="0"/>
                <a:cs typeface="Times New Roman" panose="02020603050405020304" pitchFamily="18" charset="0"/>
              </a:rPr>
              <a:t>(24); </a:t>
            </a:r>
            <a:r>
              <a:rPr lang="en-US" sz="2400" dirty="0" err="1">
                <a:latin typeface="Times New Roman" panose="02020603050405020304" pitchFamily="18" charset="0"/>
                <a:cs typeface="Times New Roman" panose="02020603050405020304" pitchFamily="18" charset="0"/>
              </a:rPr>
              <a:t>dequeue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enqueue</a:t>
            </a:r>
            <a:r>
              <a:rPr lang="en-US" sz="2400" dirty="0">
                <a:latin typeface="Times New Roman" panose="02020603050405020304" pitchFamily="18" charset="0"/>
                <a:cs typeface="Times New Roman" panose="02020603050405020304" pitchFamily="18" charset="0"/>
              </a:rPr>
              <a:t>(28); </a:t>
            </a:r>
            <a:r>
              <a:rPr lang="en-US" sz="2400" dirty="0" err="1">
                <a:latin typeface="Times New Roman" panose="02020603050405020304" pitchFamily="18" charset="0"/>
                <a:cs typeface="Times New Roman" panose="02020603050405020304" pitchFamily="18" charset="0"/>
              </a:rPr>
              <a:t>enqueue</a:t>
            </a:r>
            <a:r>
              <a:rPr lang="en-US" sz="2400" dirty="0">
                <a:latin typeface="Times New Roman" panose="02020603050405020304" pitchFamily="18" charset="0"/>
                <a:cs typeface="Times New Roman" panose="02020603050405020304" pitchFamily="18" charset="0"/>
              </a:rPr>
              <a:t>(32);</a:t>
            </a:r>
            <a:r>
              <a:rPr lang="en-US" sz="2400" b="1" dirty="0">
                <a:latin typeface="Times New Roman" panose="02020603050405020304" pitchFamily="18" charset="0"/>
                <a:cs typeface="Times New Roman" panose="02020603050405020304" pitchFamily="18" charset="0"/>
              </a:rPr>
              <a:t> q </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dequeue</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spcBef>
                <a:spcPts val="600"/>
              </a:spcBef>
              <a:spcAft>
                <a:spcPts val="600"/>
              </a:spcAft>
            </a:pPr>
            <a:r>
              <a:rPr lang="en-US" sz="2400" dirty="0">
                <a:latin typeface="Times New Roman" panose="02020603050405020304" pitchFamily="18" charset="0"/>
                <a:cs typeface="Times New Roman" panose="02020603050405020304" pitchFamily="18" charset="0"/>
              </a:rPr>
              <a:t> </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The value of s + q is ____</a:t>
            </a:r>
          </a:p>
          <a:p>
            <a:endParaRPr lang="en-IN" sz="2400" dirty="0"/>
          </a:p>
        </p:txBody>
      </p:sp>
    </p:spTree>
    <p:extLst>
      <p:ext uri="{BB962C8B-B14F-4D97-AF65-F5344CB8AC3E}">
        <p14:creationId xmlns:p14="http://schemas.microsoft.com/office/powerpoint/2010/main" val="10784022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9958" y="-164896"/>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04800" y="59664"/>
            <a:ext cx="51816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a:p>
            <a:endParaRPr lang="en-US" sz="28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04800" y="914400"/>
            <a:ext cx="8227640" cy="5262979"/>
          </a:xfrm>
          <a:prstGeom prst="rect">
            <a:avLst/>
          </a:prstGeom>
        </p:spPr>
        <p:txBody>
          <a:bodyPr wrap="square">
            <a:spAutoFit/>
          </a:bodyPr>
          <a:lstStyle/>
          <a:p>
            <a:pPr lvl="0" algn="just"/>
            <a:r>
              <a:rPr lang="en-US" sz="2000" dirty="0">
                <a:latin typeface="Times New Roman" panose="02020603050405020304" pitchFamily="18" charset="0"/>
                <a:cs typeface="Times New Roman" panose="02020603050405020304" pitchFamily="18" charset="0"/>
              </a:rPr>
              <a:t>10. </a:t>
            </a:r>
            <a:r>
              <a:rPr lang="en-US" sz="2400" dirty="0">
                <a:latin typeface="Times New Roman" panose="02020603050405020304" pitchFamily="18" charset="0"/>
                <a:cs typeface="Times New Roman" panose="02020603050405020304" pitchFamily="18" charset="0"/>
              </a:rPr>
              <a:t>Consider the following Circular queue where CIRCULAR QUEUE is allocated 6 memory cells:</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Front=2, Rear=5</a:t>
            </a:r>
          </a:p>
          <a:p>
            <a:pPr lvl="0" algn="just"/>
            <a:endParaRPr lang="en-IN"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QUEUE</a:t>
            </a:r>
            <a:r>
              <a:rPr lang="en-US" sz="2400" dirty="0">
                <a:latin typeface="Times New Roman" panose="02020603050405020304" pitchFamily="18" charset="0"/>
                <a:cs typeface="Times New Roman" panose="02020603050405020304" pitchFamily="18" charset="0"/>
              </a:rPr>
              <a:t>: __________, London, Berlin, Rome, Paris, _________</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Describe the Queue including FRONT and REAR as the following operations take place:</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Athens is added</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Two cities are deleted</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Madrid is added</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Moscow is added</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Three cities are deleted</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Oslo is added</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Write an algorithm to perform insertion of new element in Circular Queue?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03612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23528" y="370965"/>
            <a:ext cx="817341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br>
              <a:rPr lang="en-IN" sz="3200" dirty="0"/>
            </a:b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296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7047" y="1145459"/>
            <a:ext cx="7324725"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1295094" y="5184663"/>
            <a:ext cx="7086906" cy="923330"/>
          </a:xfrm>
          <a:prstGeom prst="rect">
            <a:avLst/>
          </a:prstGeom>
        </p:spPr>
        <p:txBody>
          <a:bodyPr wrap="square">
            <a:spAutoFit/>
          </a:bodyPr>
          <a:lstStyle/>
          <a:p>
            <a:r>
              <a:rPr lang="en-IN" dirty="0">
                <a:hlinkClick r:id="rId6"/>
              </a:rPr>
              <a:t>https://www.simplilearn.com/tutorials/data-structure-tutorial/priority-queue-in-data-structure</a:t>
            </a:r>
            <a:endParaRPr lang="en-IN" dirty="0"/>
          </a:p>
          <a:p>
            <a:endParaRPr lang="en-IN" dirty="0"/>
          </a:p>
        </p:txBody>
      </p:sp>
    </p:spTree>
    <p:extLst>
      <p:ext uri="{BB962C8B-B14F-4D97-AF65-F5344CB8AC3E}">
        <p14:creationId xmlns:p14="http://schemas.microsoft.com/office/powerpoint/2010/main" val="38982598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67544" y="370965"/>
            <a:ext cx="80294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br>
              <a:rPr lang="en-IN" sz="3200" dirty="0"/>
            </a:b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1295094" y="5184663"/>
            <a:ext cx="7086906" cy="923330"/>
          </a:xfrm>
          <a:prstGeom prst="rect">
            <a:avLst/>
          </a:prstGeom>
        </p:spPr>
        <p:txBody>
          <a:bodyPr wrap="square">
            <a:spAutoFit/>
          </a:bodyPr>
          <a:lstStyle/>
          <a:p>
            <a:r>
              <a:rPr lang="en-IN" dirty="0">
                <a:hlinkClick r:id="rId5"/>
              </a:rPr>
              <a:t>https://www.simplilearn.com/tutorials/data-structure-tutorial/priority-queue-in-data-structure</a:t>
            </a:r>
            <a:endParaRPr lang="en-IN" dirty="0"/>
          </a:p>
          <a:p>
            <a:endParaRPr lang="en-IN" dirty="0"/>
          </a:p>
        </p:txBody>
      </p:sp>
      <p:sp>
        <p:nvSpPr>
          <p:cNvPr id="2" name="Rectangle 1"/>
          <p:cNvSpPr/>
          <p:nvPr/>
        </p:nvSpPr>
        <p:spPr>
          <a:xfrm>
            <a:off x="467544" y="1314712"/>
            <a:ext cx="8029400" cy="1200329"/>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priority of elements determines the order of removal in a queue, i.e., the element with higher priority will leave the queue first, whereas the element with the lowest priority at last</a:t>
            </a:r>
            <a:endParaRPr lang="en-IN" sz="2800" dirty="0">
              <a:latin typeface="Times New Roman" panose="02020603050405020304" pitchFamily="18" charset="0"/>
              <a:cs typeface="Times New Roman" panose="02020603050405020304" pitchFamily="18" charset="0"/>
            </a:endParaRPr>
          </a:p>
        </p:txBody>
      </p:sp>
      <p:pic>
        <p:nvPicPr>
          <p:cNvPr id="3072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672" y="2553216"/>
            <a:ext cx="6238875" cy="255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74068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67544" y="370965"/>
            <a:ext cx="80294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p>
          <a:p>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graphicFrame>
        <p:nvGraphicFramePr>
          <p:cNvPr id="2" name="Diagram 1">
            <a:extLst>
              <a:ext uri="{FF2B5EF4-FFF2-40B4-BE49-F238E27FC236}">
                <a16:creationId xmlns:a16="http://schemas.microsoft.com/office/drawing/2014/main" id="{6C1A5B4E-7247-B549-387E-5EAF99584C32}"/>
              </a:ext>
            </a:extLst>
          </p:cNvPr>
          <p:cNvGraphicFramePr/>
          <p:nvPr>
            <p:extLst>
              <p:ext uri="{D42A27DB-BD31-4B8C-83A1-F6EECF244321}">
                <p14:modId xmlns:p14="http://schemas.microsoft.com/office/powerpoint/2010/main" val="299051774"/>
              </p:ext>
            </p:extLst>
          </p:nvPr>
        </p:nvGraphicFramePr>
        <p:xfrm>
          <a:off x="1542256" y="1710884"/>
          <a:ext cx="6096000"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612745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6" y="370965"/>
            <a:ext cx="810140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p>
          <a:p>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1143000" y="5638800"/>
            <a:ext cx="7086906" cy="923330"/>
          </a:xfrm>
          <a:prstGeom prst="rect">
            <a:avLst/>
          </a:prstGeom>
        </p:spPr>
        <p:txBody>
          <a:bodyPr wrap="square">
            <a:spAutoFit/>
          </a:bodyPr>
          <a:lstStyle/>
          <a:p>
            <a:r>
              <a:rPr lang="en-IN" dirty="0">
                <a:hlinkClick r:id="rId5"/>
              </a:rPr>
              <a:t>https://www.simplilearn.com/tutorials/data-structure-tutorial/priority-queue-in-data-structure</a:t>
            </a:r>
            <a:endParaRPr lang="en-IN" dirty="0"/>
          </a:p>
          <a:p>
            <a:endParaRPr lang="en-IN" dirty="0"/>
          </a:p>
        </p:txBody>
      </p:sp>
      <p:pic>
        <p:nvPicPr>
          <p:cNvPr id="31746" name="Picture 2"/>
          <p:cNvPicPr>
            <a:picLocks noChangeAspect="1" noChangeArrowheads="1"/>
          </p:cNvPicPr>
          <p:nvPr/>
        </p:nvPicPr>
        <p:blipFill>
          <a:blip r:embed="rId6">
            <a:extLst>
              <a:ext uri="{28A0092B-C50C-407E-A947-70E740481C1C}">
                <a14:useLocalDpi xmlns:a14="http://schemas.microsoft.com/office/drawing/2010/main" val="0"/>
              </a:ext>
            </a:extLst>
          </a:blip>
          <a:srcRect b="46842"/>
          <a:stretch>
            <a:fillRect/>
          </a:stretch>
        </p:blipFill>
        <p:spPr bwMode="auto">
          <a:xfrm>
            <a:off x="988919" y="1317625"/>
            <a:ext cx="7202674"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28296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57200" y="370965"/>
            <a:ext cx="803974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p>
          <a:p>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971600" y="5184663"/>
            <a:ext cx="7410400" cy="923330"/>
          </a:xfrm>
          <a:prstGeom prst="rect">
            <a:avLst/>
          </a:prstGeom>
        </p:spPr>
        <p:txBody>
          <a:bodyPr wrap="square">
            <a:spAutoFit/>
          </a:bodyPr>
          <a:lstStyle/>
          <a:p>
            <a:r>
              <a:rPr lang="en-IN" dirty="0">
                <a:hlinkClick r:id="rId5"/>
              </a:rPr>
              <a:t>https://www.simplilearn.com/tutorials/data-structure-tutorial/priority-queue-in-data-structure</a:t>
            </a:r>
            <a:endParaRPr lang="en-IN" dirty="0"/>
          </a:p>
          <a:p>
            <a:endParaRPr lang="en-IN" dirty="0"/>
          </a:p>
        </p:txBody>
      </p:sp>
      <p:pic>
        <p:nvPicPr>
          <p:cNvPr id="31746" name="Picture 2"/>
          <p:cNvPicPr>
            <a:picLocks noChangeAspect="1" noChangeArrowheads="1"/>
          </p:cNvPicPr>
          <p:nvPr/>
        </p:nvPicPr>
        <p:blipFill>
          <a:blip r:embed="rId6">
            <a:extLst>
              <a:ext uri="{28A0092B-C50C-407E-A947-70E740481C1C}">
                <a14:useLocalDpi xmlns:a14="http://schemas.microsoft.com/office/drawing/2010/main" val="0"/>
              </a:ext>
            </a:extLst>
          </a:blip>
          <a:srcRect t="53158"/>
          <a:stretch>
            <a:fillRect/>
          </a:stretch>
        </p:blipFill>
        <p:spPr bwMode="auto">
          <a:xfrm>
            <a:off x="457200" y="1371600"/>
            <a:ext cx="7924800" cy="3515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08767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539551" y="381545"/>
            <a:ext cx="803785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 Applications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Rectangle 1"/>
          <p:cNvSpPr/>
          <p:nvPr/>
        </p:nvSpPr>
        <p:spPr>
          <a:xfrm>
            <a:off x="683568" y="1293834"/>
            <a:ext cx="4242995" cy="3359061"/>
          </a:xfrm>
          <a:prstGeom prst="rect">
            <a:avLst/>
          </a:prstGeom>
        </p:spPr>
        <p:txBody>
          <a:bodyPr wrap="square">
            <a:spAutoFit/>
          </a:bodyPr>
          <a:lstStyle/>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Operating systems</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Time-activated events</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Managing responsibilities</a:t>
            </a:r>
          </a:p>
          <a:p>
            <a:pPr marL="342900" indent="-342900"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Sorting</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Djikstra’s Algorithm</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Prim’s Algorithm </a:t>
            </a:r>
          </a:p>
        </p:txBody>
      </p:sp>
    </p:spTree>
    <p:extLst>
      <p:ext uri="{BB962C8B-B14F-4D97-AF65-F5344CB8AC3E}">
        <p14:creationId xmlns:p14="http://schemas.microsoft.com/office/powerpoint/2010/main" val="35812319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611559" y="381545"/>
            <a:ext cx="7965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Rectangle 1"/>
          <p:cNvSpPr/>
          <p:nvPr/>
        </p:nvSpPr>
        <p:spPr>
          <a:xfrm>
            <a:off x="713250" y="1375249"/>
            <a:ext cx="3541035" cy="3682226"/>
          </a:xfrm>
          <a:prstGeom prst="rect">
            <a:avLst/>
          </a:prstGeom>
        </p:spPr>
        <p:txBody>
          <a:bodyPr wrap="square">
            <a:spAutoFit/>
          </a:bodyPr>
          <a:lstStyle/>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Using Linked List</a:t>
            </a:r>
          </a:p>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Using Binary Heap</a:t>
            </a:r>
          </a:p>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Using Array</a:t>
            </a:r>
          </a:p>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Binary Search Tree</a:t>
            </a:r>
          </a:p>
          <a:p>
            <a:pPr algn="just">
              <a:lnSpc>
                <a:spcPct val="200000"/>
              </a:lnSpc>
            </a:pPr>
            <a:endParaRPr lang="en-IN" sz="2400" dirty="0"/>
          </a:p>
        </p:txBody>
      </p:sp>
    </p:spTree>
    <p:extLst>
      <p:ext uri="{BB962C8B-B14F-4D97-AF65-F5344CB8AC3E}">
        <p14:creationId xmlns:p14="http://schemas.microsoft.com/office/powerpoint/2010/main" val="16940127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467544" y="1233334"/>
            <a:ext cx="8109864" cy="4401205"/>
          </a:xfrm>
          <a:prstGeom prst="rect">
            <a:avLst/>
          </a:prstGeom>
          <a:noFill/>
        </p:spPr>
        <p:txBody>
          <a:bodyPr wrap="square" rtlCol="0">
            <a:spAutoFit/>
          </a:bodyPr>
          <a:lstStyle/>
          <a:p>
            <a:pPr>
              <a:spcBef>
                <a:spcPts val="600"/>
              </a:spcBef>
              <a:spcAft>
                <a:spcPts val="600"/>
              </a:spcAft>
            </a:pPr>
            <a:r>
              <a:rPr lang="en-IN" sz="2400" b="1" dirty="0">
                <a:latin typeface="Times New Roman" panose="02020603050405020304" pitchFamily="18" charset="0"/>
                <a:cs typeface="Times New Roman" panose="02020603050405020304" pitchFamily="18" charset="0"/>
              </a:rPr>
              <a:t>Insertion:</a:t>
            </a:r>
          </a:p>
          <a:p>
            <a:pPr algn="just">
              <a:spcBef>
                <a:spcPts val="600"/>
              </a:spcBef>
              <a:spcAft>
                <a:spcPts val="600"/>
              </a:spcAft>
            </a:pPr>
            <a:r>
              <a:rPr lang="en-IN" sz="2400" dirty="0">
                <a:latin typeface="Times New Roman" panose="02020603050405020304" pitchFamily="18" charset="0"/>
                <a:cs typeface="Times New Roman" panose="02020603050405020304" pitchFamily="18" charset="0"/>
              </a:rPr>
              <a:t>Insertion operation is used to insert a new element into the queue. Whenever a new element is inserted, </a:t>
            </a:r>
          </a:p>
          <a:p>
            <a:pPr marL="342900" indent="-34290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The new element is moved to an empty slot top to bottom and left to right. </a:t>
            </a:r>
          </a:p>
          <a:p>
            <a:pPr marL="342900" indent="-34290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If the inserted element is not in the correct position. It will be compared with the parent element. </a:t>
            </a:r>
          </a:p>
          <a:p>
            <a:pPr marL="342900" indent="-34290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And if the element is not in the correct order, then elements are swapped until the inserted element gets to the correct position. </a:t>
            </a:r>
          </a:p>
        </p:txBody>
      </p:sp>
    </p:spTree>
    <p:extLst>
      <p:ext uri="{BB962C8B-B14F-4D97-AF65-F5344CB8AC3E}">
        <p14:creationId xmlns:p14="http://schemas.microsoft.com/office/powerpoint/2010/main" val="33987016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467544" y="1233334"/>
            <a:ext cx="8208912" cy="3534622"/>
          </a:xfrm>
          <a:prstGeom prst="rect">
            <a:avLst/>
          </a:prstGeom>
          <a:noFill/>
        </p:spPr>
        <p:txBody>
          <a:bodyPr wrap="square" rtlCol="0">
            <a:spAutoFit/>
          </a:bodyPr>
          <a:lstStyle/>
          <a:p>
            <a:pPr algn="just"/>
            <a:r>
              <a:rPr lang="en-IN" sz="2400" b="1" dirty="0">
                <a:latin typeface="Times New Roman" panose="02020603050405020304" pitchFamily="18" charset="0"/>
                <a:cs typeface="Times New Roman" panose="02020603050405020304" pitchFamily="18" charset="0"/>
              </a:rPr>
              <a:t>Algorithm:</a:t>
            </a:r>
          </a:p>
          <a:p>
            <a:pPr algn="just"/>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if (the queue is empty)</a:t>
            </a:r>
          </a:p>
          <a:p>
            <a:pPr algn="just">
              <a:lnSpc>
                <a:spcPct val="150000"/>
              </a:lnSpc>
            </a:pPr>
            <a:r>
              <a:rPr lang="en-IN" sz="2400" dirty="0">
                <a:latin typeface="Times New Roman" panose="02020603050405020304" pitchFamily="18" charset="0"/>
                <a:cs typeface="Times New Roman" panose="02020603050405020304" pitchFamily="18" charset="0"/>
              </a:rPr>
              <a:t>Create a node</a:t>
            </a:r>
          </a:p>
          <a:p>
            <a:pPr algn="just">
              <a:lnSpc>
                <a:spcPct val="150000"/>
              </a:lnSpc>
            </a:pPr>
            <a:r>
              <a:rPr lang="en-IN" sz="2400" dirty="0">
                <a:latin typeface="Times New Roman" panose="02020603050405020304" pitchFamily="18" charset="0"/>
                <a:cs typeface="Times New Roman" panose="02020603050405020304" pitchFamily="18" charset="0"/>
              </a:rPr>
              <a:t>else                                             //when node is already present</a:t>
            </a:r>
          </a:p>
          <a:p>
            <a:pPr algn="just">
              <a:lnSpc>
                <a:spcPct val="150000"/>
              </a:lnSpc>
            </a:pPr>
            <a:r>
              <a:rPr lang="en-IN" sz="2400" dirty="0">
                <a:latin typeface="Times New Roman" panose="02020603050405020304" pitchFamily="18" charset="0"/>
                <a:cs typeface="Times New Roman" panose="02020603050405020304" pitchFamily="18" charset="0"/>
              </a:rPr>
              <a:t>Insert the new node at the end of the queue (last node from left to right) </a:t>
            </a:r>
            <a:r>
              <a:rPr lang="en-IN" sz="2400" dirty="0" err="1">
                <a:latin typeface="Times New Roman" panose="02020603050405020304" pitchFamily="18" charset="0"/>
                <a:cs typeface="Times New Roman" panose="02020603050405020304" pitchFamily="18" charset="0"/>
              </a:rPr>
              <a:t>heapify</a:t>
            </a:r>
            <a:r>
              <a:rPr lang="en-IN" sz="2400" dirty="0">
                <a:latin typeface="Times New Roman" panose="02020603050405020304" pitchFamily="18" charset="0"/>
                <a:cs typeface="Times New Roman" panose="02020603050405020304" pitchFamily="18" charset="0"/>
              </a:rPr>
              <a:t> the array</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51790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503548" y="1362037"/>
            <a:ext cx="8136904" cy="3719288"/>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Deletion:</a:t>
            </a:r>
          </a:p>
          <a:p>
            <a:pPr algn="just">
              <a:lnSpc>
                <a:spcPct val="150000"/>
              </a:lnSpc>
            </a:pPr>
            <a:r>
              <a:rPr lang="en-IN" sz="2400" dirty="0">
                <a:latin typeface="Times New Roman" panose="02020603050405020304" pitchFamily="18" charset="0"/>
                <a:cs typeface="Times New Roman" panose="02020603050405020304" pitchFamily="18" charset="0"/>
              </a:rPr>
              <a:t>Deletion operation is used to remove any element from the queue, For deleting any element, </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Choose the element which needs to be deleted.</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Swap it with the last element.</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Remove the last element</a:t>
            </a:r>
          </a:p>
          <a:p>
            <a:pPr marL="342900" indent="-342900" algn="just">
              <a:lnSpc>
                <a:spcPct val="150000"/>
              </a:lnSpc>
              <a:buFont typeface="Wingdings" pitchFamily="2" charset="2"/>
              <a:buChar char="Ø"/>
            </a:pPr>
            <a:r>
              <a:rPr lang="en-IN" sz="2400" dirty="0" err="1">
                <a:latin typeface="Times New Roman" panose="02020603050405020304" pitchFamily="18" charset="0"/>
                <a:cs typeface="Times New Roman" panose="02020603050405020304" pitchFamily="18" charset="0"/>
              </a:rPr>
              <a:t>Heapify</a:t>
            </a:r>
            <a:r>
              <a:rPr lang="en-IN" sz="2400" dirty="0">
                <a:latin typeface="Times New Roman" panose="02020603050405020304" pitchFamily="18" charset="0"/>
                <a:cs typeface="Times New Roman" panose="02020603050405020304" pitchFamily="18" charset="0"/>
              </a:rPr>
              <a:t> the array.</a:t>
            </a:r>
          </a:p>
        </p:txBody>
      </p:sp>
    </p:spTree>
    <p:extLst>
      <p:ext uri="{BB962C8B-B14F-4D97-AF65-F5344CB8AC3E}">
        <p14:creationId xmlns:p14="http://schemas.microsoft.com/office/powerpoint/2010/main" val="6135784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395536" y="1233334"/>
            <a:ext cx="8784976" cy="4832092"/>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Deletion:</a:t>
            </a:r>
          </a:p>
          <a:p>
            <a:endParaRPr lang="en-IN" sz="2800" b="1" dirty="0">
              <a:latin typeface="Times New Roman" panose="02020603050405020304" pitchFamily="18" charset="0"/>
              <a:cs typeface="Times New Roman" panose="02020603050405020304" pitchFamily="18" charset="0"/>
            </a:endParaRPr>
          </a:p>
          <a:p>
            <a:pPr>
              <a:lnSpc>
                <a:spcPct val="150000"/>
              </a:lnSpc>
            </a:pPr>
            <a:r>
              <a:rPr lang="en-IN" sz="2400" b="1" i="1" dirty="0">
                <a:latin typeface="Times New Roman" panose="02020603050405020304" pitchFamily="18" charset="0"/>
                <a:cs typeface="Times New Roman" panose="02020603050405020304" pitchFamily="18" charset="0"/>
              </a:rPr>
              <a:t>Algorithm:</a:t>
            </a:r>
          </a:p>
          <a:p>
            <a:pPr>
              <a:lnSpc>
                <a:spcPct val="150000"/>
              </a:lnSpc>
            </a:pPr>
            <a:r>
              <a:rPr lang="en-IN" sz="2400" dirty="0">
                <a:latin typeface="Times New Roman" panose="02020603050405020304" pitchFamily="18" charset="0"/>
                <a:cs typeface="Times New Roman" panose="02020603050405020304" pitchFamily="18" charset="0"/>
              </a:rPr>
              <a:t>if (node== leaf node)</a:t>
            </a:r>
          </a:p>
          <a:p>
            <a:pPr>
              <a:lnSpc>
                <a:spcPct val="150000"/>
              </a:lnSpc>
            </a:pPr>
            <a:r>
              <a:rPr lang="en-IN" sz="2400" dirty="0">
                <a:latin typeface="Times New Roman" panose="02020603050405020304" pitchFamily="18" charset="0"/>
                <a:cs typeface="Times New Roman" panose="02020603050405020304" pitchFamily="18" charset="0"/>
              </a:rPr>
              <a:t>delete  node</a:t>
            </a:r>
          </a:p>
          <a:p>
            <a:pPr>
              <a:lnSpc>
                <a:spcPct val="150000"/>
              </a:lnSpc>
            </a:pPr>
            <a:r>
              <a:rPr lang="en-IN" sz="2400" dirty="0">
                <a:latin typeface="Times New Roman" panose="02020603050405020304" pitchFamily="18" charset="0"/>
                <a:cs typeface="Times New Roman" panose="02020603050405020304" pitchFamily="18" charset="0"/>
              </a:rPr>
              <a:t>else                                              //when node is not leaf node</a:t>
            </a:r>
          </a:p>
          <a:p>
            <a:pPr>
              <a:lnSpc>
                <a:spcPct val="150000"/>
              </a:lnSpc>
            </a:pPr>
            <a:r>
              <a:rPr lang="en-IN" sz="2400" dirty="0">
                <a:latin typeface="Times New Roman" panose="02020603050405020304" pitchFamily="18" charset="0"/>
                <a:cs typeface="Times New Roman" panose="02020603050405020304" pitchFamily="18" charset="0"/>
              </a:rPr>
              <a:t>Swap node with leaf node</a:t>
            </a:r>
          </a:p>
          <a:p>
            <a:pPr>
              <a:lnSpc>
                <a:spcPct val="150000"/>
              </a:lnSpc>
            </a:pPr>
            <a:r>
              <a:rPr lang="en-IN" sz="2400" dirty="0">
                <a:latin typeface="Times New Roman" panose="02020603050405020304" pitchFamily="18" charset="0"/>
                <a:cs typeface="Times New Roman" panose="02020603050405020304" pitchFamily="18" charset="0"/>
              </a:rPr>
              <a:t>Delete the leaf node</a:t>
            </a:r>
          </a:p>
          <a:p>
            <a:pPr>
              <a:lnSpc>
                <a:spcPct val="150000"/>
              </a:lnSpc>
            </a:pPr>
            <a:r>
              <a:rPr lang="en-IN" sz="2400" dirty="0" err="1">
                <a:latin typeface="Times New Roman" panose="02020603050405020304" pitchFamily="18" charset="0"/>
                <a:cs typeface="Times New Roman" panose="02020603050405020304" pitchFamily="18" charset="0"/>
              </a:rPr>
              <a:t>heapify</a:t>
            </a:r>
            <a:r>
              <a:rPr lang="en-IN" sz="2400" dirty="0">
                <a:latin typeface="Times New Roman" panose="02020603050405020304" pitchFamily="18" charset="0"/>
                <a:cs typeface="Times New Roman" panose="02020603050405020304" pitchFamily="18" charset="0"/>
              </a:rPr>
              <a:t> the array</a:t>
            </a:r>
          </a:p>
        </p:txBody>
      </p:sp>
    </p:spTree>
    <p:extLst>
      <p:ext uri="{BB962C8B-B14F-4D97-AF65-F5344CB8AC3E}">
        <p14:creationId xmlns:p14="http://schemas.microsoft.com/office/powerpoint/2010/main" val="16158930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380999" y="381545"/>
            <a:ext cx="81964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Using Array: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2" name="TextBox 1"/>
          <p:cNvSpPr txBox="1"/>
          <p:nvPr/>
        </p:nvSpPr>
        <p:spPr>
          <a:xfrm>
            <a:off x="381000" y="1091018"/>
            <a:ext cx="6705600" cy="4524315"/>
          </a:xfrm>
          <a:prstGeom prst="rect">
            <a:avLst/>
          </a:prstGeom>
          <a:noFill/>
        </p:spPr>
        <p:txBody>
          <a:bodyPr wrap="square" rtlCol="0">
            <a:spAutoFit/>
          </a:bodyPr>
          <a:lstStyle/>
          <a:p>
            <a:pPr>
              <a:lnSpc>
                <a:spcPct val="200000"/>
              </a:lnSpc>
            </a:pPr>
            <a:r>
              <a:rPr lang="en-IN" sz="2400" dirty="0">
                <a:latin typeface="Times New Roman" panose="02020603050405020304" pitchFamily="18" charset="0"/>
                <a:cs typeface="Times New Roman" panose="02020603050405020304" pitchFamily="18" charset="0"/>
              </a:rPr>
              <a:t>The basic implementation using array is:</a:t>
            </a:r>
          </a:p>
          <a:p>
            <a:pPr>
              <a:lnSpc>
                <a:spcPct val="200000"/>
              </a:lnSpc>
            </a:pP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a:t>
            </a:r>
          </a:p>
          <a:p>
            <a:pPr>
              <a:lnSpc>
                <a:spcPct val="200000"/>
              </a:lnSpc>
            </a:pPr>
            <a:r>
              <a:rPr lang="en-IN" sz="2400" dirty="0">
                <a:latin typeface="Times New Roman" panose="02020603050405020304" pitchFamily="18" charset="0"/>
                <a:cs typeface="Times New Roman" panose="02020603050405020304" pitchFamily="18" charset="0"/>
              </a:rPr>
              <a:t>{</a:t>
            </a:r>
          </a:p>
          <a:p>
            <a:pPr>
              <a:lnSpc>
                <a:spcPct val="20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node:</a:t>
            </a:r>
          </a:p>
          <a:p>
            <a:pPr>
              <a:lnSpc>
                <a:spcPct val="20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priority:</a:t>
            </a:r>
          </a:p>
          <a:p>
            <a:pPr>
              <a:lnSpc>
                <a:spcPct val="200000"/>
              </a:lnSpc>
            </a:pP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023992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152473" y="135324"/>
            <a:ext cx="842493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Using Array:</a:t>
            </a:r>
          </a:p>
          <a:p>
            <a:r>
              <a:rPr lang="en-IN" sz="3200" b="1" dirty="0">
                <a:solidFill>
                  <a:srgbClr val="E31E24"/>
                </a:solidFill>
                <a:cs typeface="Times New Roman" panose="02020603050405020304" pitchFamily="18" charset="0"/>
              </a:rPr>
              <a:t>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566590" y="1212542"/>
            <a:ext cx="8199803" cy="4524315"/>
          </a:xfrm>
          <a:prstGeom prst="rect">
            <a:avLst/>
          </a:prstGeom>
          <a:noFill/>
        </p:spPr>
        <p:txBody>
          <a:bodyPr wrap="square" rtlCol="0">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Operations in array:</a:t>
            </a:r>
          </a:p>
          <a:p>
            <a:pPr algn="just">
              <a:lnSpc>
                <a:spcPct val="150000"/>
              </a:lnSpc>
            </a:pPr>
            <a:r>
              <a:rPr lang="en-IN" sz="2400" b="1" dirty="0" err="1">
                <a:latin typeface="Times New Roman" panose="02020603050405020304" pitchFamily="18" charset="0"/>
                <a:cs typeface="Times New Roman" panose="02020603050405020304" pitchFamily="18" charset="0"/>
              </a:rPr>
              <a:t>enqueue</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It is used to insert new element into the priority queue.</a:t>
            </a:r>
          </a:p>
          <a:p>
            <a:pPr algn="just">
              <a:lnSpc>
                <a:spcPct val="150000"/>
              </a:lnSpc>
            </a:pPr>
            <a:r>
              <a:rPr lang="en-IN" sz="2400" b="1" dirty="0" err="1">
                <a:latin typeface="Times New Roman" panose="02020603050405020304" pitchFamily="18" charset="0"/>
                <a:cs typeface="Times New Roman" panose="02020603050405020304" pitchFamily="18" charset="0"/>
              </a:rPr>
              <a:t>dequeue</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It removes an element with the highest priority from the priority queue.</a:t>
            </a:r>
          </a:p>
          <a:p>
            <a:pPr algn="just">
              <a:lnSpc>
                <a:spcPct val="150000"/>
              </a:lnSpc>
            </a:pPr>
            <a:r>
              <a:rPr lang="en-IN" sz="2400" b="1" dirty="0">
                <a:latin typeface="Times New Roman" panose="02020603050405020304" pitchFamily="18" charset="0"/>
                <a:cs typeface="Times New Roman" panose="02020603050405020304" pitchFamily="18" charset="0"/>
              </a:rPr>
              <a:t>peek(): </a:t>
            </a:r>
            <a:r>
              <a:rPr lang="en-IN" sz="2400" dirty="0">
                <a:latin typeface="Times New Roman" panose="02020603050405020304" pitchFamily="18" charset="0"/>
                <a:cs typeface="Times New Roman" panose="02020603050405020304" pitchFamily="18" charset="0"/>
              </a:rPr>
              <a:t>It is used to determine the highest priority element in the queue without removing it.</a:t>
            </a: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8274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3379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3012" y="1896425"/>
            <a:ext cx="5649788" cy="30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1277888" y="5257800"/>
            <a:ext cx="6113512" cy="646331"/>
          </a:xfrm>
          <a:prstGeom prst="rect">
            <a:avLst/>
          </a:prstGeom>
        </p:spPr>
        <p:txBody>
          <a:bodyPr wrap="square">
            <a:spAutoFit/>
          </a:bodyPr>
          <a:lstStyle/>
          <a:p>
            <a:r>
              <a:rPr lang="en-IN" dirty="0">
                <a:hlinkClick r:id="rId6"/>
              </a:rPr>
              <a:t>https://www.javatpoint.com/ds-priority-queue</a:t>
            </a:r>
            <a:endParaRPr lang="en-IN" dirty="0"/>
          </a:p>
          <a:p>
            <a:endParaRPr lang="en-IN" dirty="0"/>
          </a:p>
        </p:txBody>
      </p:sp>
    </p:spTree>
    <p:extLst>
      <p:ext uri="{BB962C8B-B14F-4D97-AF65-F5344CB8AC3E}">
        <p14:creationId xmlns:p14="http://schemas.microsoft.com/office/powerpoint/2010/main" val="3978711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323527" y="381545"/>
            <a:ext cx="82538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323528" y="1293834"/>
            <a:ext cx="8640960" cy="470000"/>
          </a:xfrm>
          <a:prstGeom prst="rect">
            <a:avLst/>
          </a:prstGeom>
          <a:noFill/>
        </p:spPr>
        <p:txBody>
          <a:bodyPr wrap="square">
            <a:spAutoFit/>
          </a:bodyPr>
          <a:lstStyle/>
          <a:p>
            <a:pPr marL="0" marR="0" algn="just" fontAlgn="base">
              <a:lnSpc>
                <a:spcPct val="107000"/>
              </a:lnSpc>
              <a:spcBef>
                <a:spcPts val="0"/>
              </a:spcBef>
              <a:spcAft>
                <a:spcPts val="0"/>
              </a:spcAft>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Using link list</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1277888" y="5257800"/>
            <a:ext cx="6113512" cy="646331"/>
          </a:xfrm>
          <a:prstGeom prst="rect">
            <a:avLst/>
          </a:prstGeom>
        </p:spPr>
        <p:txBody>
          <a:bodyPr wrap="square">
            <a:spAutoFit/>
          </a:bodyPr>
          <a:lstStyle/>
          <a:p>
            <a:r>
              <a:rPr lang="en-IN" dirty="0">
                <a:hlinkClick r:id="rId5"/>
              </a:rPr>
              <a:t>https://www.javatpoint.com/ds-priority-queue</a:t>
            </a:r>
            <a:endParaRPr lang="en-IN" dirty="0"/>
          </a:p>
          <a:p>
            <a:endParaRPr lang="en-IN" dirty="0"/>
          </a:p>
        </p:txBody>
      </p:sp>
      <p:pic>
        <p:nvPicPr>
          <p:cNvPr id="3481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68" y="1820314"/>
            <a:ext cx="749617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05031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Insertion at rear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71487" y="1138988"/>
            <a:ext cx="8283303" cy="5262979"/>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Step-1: </a:t>
            </a:r>
            <a:r>
              <a:rPr lang="en-IN" sz="2400" dirty="0">
                <a:latin typeface="Times New Roman" panose="02020603050405020304" pitchFamily="18" charset="0"/>
                <a:cs typeface="Times New Roman" panose="02020603050405020304" pitchFamily="18" charset="0"/>
              </a:rPr>
              <a:t>[Check for overflow]   </a:t>
            </a:r>
          </a:p>
          <a:p>
            <a:r>
              <a:rPr lang="en-IN" sz="2400" dirty="0">
                <a:latin typeface="Times New Roman" panose="02020603050405020304" pitchFamily="18" charset="0"/>
                <a:cs typeface="Times New Roman" panose="02020603050405020304" pitchFamily="18" charset="0"/>
              </a:rPr>
              <a:t>		if(rear==MAX)  </a:t>
            </a:r>
          </a:p>
          <a:p>
            <a:r>
              <a:rPr lang="en-IN" sz="2400" dirty="0">
                <a:latin typeface="Times New Roman" panose="02020603050405020304" pitchFamily="18" charset="0"/>
                <a:cs typeface="Times New Roman" panose="02020603050405020304" pitchFamily="18" charset="0"/>
              </a:rPr>
              <a:t>			Print("Queue is Overflow”);  </a:t>
            </a:r>
          </a:p>
          <a:p>
            <a:r>
              <a:rPr lang="en-IN" sz="2400" dirty="0">
                <a:latin typeface="Times New Roman" panose="02020603050405020304" pitchFamily="18" charset="0"/>
                <a:cs typeface="Times New Roman" panose="02020603050405020304" pitchFamily="18" charset="0"/>
              </a:rPr>
              <a:t>			return;  </a:t>
            </a:r>
          </a:p>
          <a:p>
            <a:r>
              <a:rPr lang="en-IN" sz="2400" dirty="0">
                <a:solidFill>
                  <a:srgbClr val="FF0000"/>
                </a:solidFill>
                <a:latin typeface="Times New Roman" panose="02020603050405020304" pitchFamily="18" charset="0"/>
                <a:cs typeface="Times New Roman" panose="02020603050405020304" pitchFamily="18" charset="0"/>
              </a:rPr>
              <a:t>Step-2:  </a:t>
            </a:r>
            <a:r>
              <a:rPr lang="en-IN" sz="2400" dirty="0">
                <a:latin typeface="Times New Roman" panose="02020603050405020304" pitchFamily="18" charset="0"/>
                <a:cs typeface="Times New Roman" panose="02020603050405020304" pitchFamily="18" charset="0"/>
              </a:rPr>
              <a:t>[Insert Element]	  </a:t>
            </a:r>
          </a:p>
          <a:p>
            <a:r>
              <a:rPr lang="en-IN" sz="2400" dirty="0">
                <a:latin typeface="Times New Roman" panose="02020603050405020304" pitchFamily="18" charset="0"/>
                <a:cs typeface="Times New Roman" panose="02020603050405020304" pitchFamily="18" charset="0"/>
              </a:rPr>
              <a:t>		else  </a:t>
            </a:r>
          </a:p>
          <a:p>
            <a:r>
              <a:rPr lang="en-IN" sz="2400" dirty="0">
                <a:latin typeface="Times New Roman" panose="02020603050405020304" pitchFamily="18" charset="0"/>
                <a:cs typeface="Times New Roman" panose="02020603050405020304" pitchFamily="18" charset="0"/>
              </a:rPr>
              <a:t>			rear=rear+1;  </a:t>
            </a:r>
          </a:p>
          <a:p>
            <a:r>
              <a:rPr lang="en-IN" sz="2400" dirty="0">
                <a:latin typeface="Times New Roman" panose="02020603050405020304" pitchFamily="18" charset="0"/>
                <a:cs typeface="Times New Roman" panose="02020603050405020304" pitchFamily="18" charset="0"/>
              </a:rPr>
              <a:t>			q[rear]=no;      </a:t>
            </a:r>
          </a:p>
          <a:p>
            <a:r>
              <a:rPr lang="en-IN" sz="2400" dirty="0">
                <a:latin typeface="Times New Roman" panose="02020603050405020304" pitchFamily="18" charset="0"/>
                <a:cs typeface="Times New Roman" panose="02020603050405020304" pitchFamily="18" charset="0"/>
              </a:rPr>
              <a:t>		[Set rear and front pointer]                </a:t>
            </a:r>
          </a:p>
          <a:p>
            <a:r>
              <a:rPr lang="en-IN" sz="2400" dirty="0">
                <a:latin typeface="Times New Roman" panose="02020603050405020304" pitchFamily="18" charset="0"/>
                <a:cs typeface="Times New Roman" panose="02020603050405020304" pitchFamily="18" charset="0"/>
              </a:rPr>
              <a:t>		if rear=0  </a:t>
            </a:r>
          </a:p>
          <a:p>
            <a:r>
              <a:rPr lang="en-IN" sz="2400" dirty="0">
                <a:latin typeface="Times New Roman" panose="02020603050405020304" pitchFamily="18" charset="0"/>
                <a:cs typeface="Times New Roman" panose="02020603050405020304" pitchFamily="18" charset="0"/>
              </a:rPr>
              <a:t>			rear=1;  </a:t>
            </a:r>
          </a:p>
          <a:p>
            <a:r>
              <a:rPr lang="en-IN" sz="2400" dirty="0">
                <a:latin typeface="Times New Roman" panose="02020603050405020304" pitchFamily="18" charset="0"/>
                <a:cs typeface="Times New Roman" panose="02020603050405020304" pitchFamily="18" charset="0"/>
              </a:rPr>
              <a:t>		if front=0  </a:t>
            </a:r>
          </a:p>
          <a:p>
            <a:r>
              <a:rPr lang="en-IN" sz="2400" dirty="0">
                <a:latin typeface="Times New Roman" panose="02020603050405020304" pitchFamily="18" charset="0"/>
                <a:cs typeface="Times New Roman" panose="02020603050405020304" pitchFamily="18" charset="0"/>
              </a:rPr>
              <a:t>		front=1;  </a:t>
            </a:r>
          </a:p>
          <a:p>
            <a:r>
              <a:rPr lang="en-IN" sz="2400" dirty="0">
                <a:solidFill>
                  <a:srgbClr val="FF0000"/>
                </a:solidFill>
                <a:latin typeface="Times New Roman" panose="02020603050405020304" pitchFamily="18" charset="0"/>
                <a:cs typeface="Times New Roman" panose="02020603050405020304" pitchFamily="18" charset="0"/>
              </a:rPr>
              <a:t>Step-3: </a:t>
            </a:r>
            <a:r>
              <a:rPr lang="en-IN" sz="2400" dirty="0">
                <a:latin typeface="Times New Roman" panose="02020603050405020304" pitchFamily="18" charset="0"/>
                <a:cs typeface="Times New Roman" panose="02020603050405020304" pitchFamily="18" charset="0"/>
              </a:rPr>
              <a:t>return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68624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Insertion at front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29807" y="1347865"/>
            <a:ext cx="8355311" cy="3416320"/>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Step-1 :  [Check for the front position]  </a:t>
            </a:r>
          </a:p>
          <a:p>
            <a:r>
              <a:rPr lang="en-IN" sz="2400" dirty="0">
                <a:latin typeface="Times New Roman" panose="02020603050405020304" pitchFamily="18" charset="0"/>
                <a:cs typeface="Times New Roman" panose="02020603050405020304" pitchFamily="18" charset="0"/>
              </a:rPr>
              <a:t>		if(front&lt;=1)  </a:t>
            </a:r>
          </a:p>
          <a:p>
            <a:r>
              <a:rPr lang="en-IN" sz="2400" dirty="0">
                <a:latin typeface="Times New Roman" panose="02020603050405020304" pitchFamily="18" charset="0"/>
                <a:cs typeface="Times New Roman" panose="02020603050405020304" pitchFamily="18" charset="0"/>
              </a:rPr>
              <a:t>			Print("Cannot add item at the front”);  </a:t>
            </a:r>
          </a:p>
          <a:p>
            <a:r>
              <a:rPr lang="en-IN" sz="2400" dirty="0">
                <a:latin typeface="Times New Roman" panose="02020603050405020304" pitchFamily="18" charset="0"/>
                <a:cs typeface="Times New Roman" panose="02020603050405020304" pitchFamily="18" charset="0"/>
              </a:rPr>
              <a:t>			return;  </a:t>
            </a:r>
          </a:p>
          <a:p>
            <a:r>
              <a:rPr lang="en-IN" sz="2400" dirty="0">
                <a:latin typeface="Times New Roman" panose="02020603050405020304" pitchFamily="18" charset="0"/>
                <a:cs typeface="Times New Roman" panose="02020603050405020304" pitchFamily="18" charset="0"/>
              </a:rPr>
              <a:t>Step-2 :  [Insert at front]  </a:t>
            </a:r>
          </a:p>
          <a:p>
            <a:r>
              <a:rPr lang="en-IN" sz="2400" dirty="0">
                <a:latin typeface="Times New Roman" panose="02020603050405020304" pitchFamily="18" charset="0"/>
                <a:cs typeface="Times New Roman" panose="02020603050405020304" pitchFamily="18" charset="0"/>
              </a:rPr>
              <a:t>		else  </a:t>
            </a:r>
          </a:p>
          <a:p>
            <a:r>
              <a:rPr lang="en-IN" sz="2400" dirty="0">
                <a:latin typeface="Times New Roman" panose="02020603050405020304" pitchFamily="18" charset="0"/>
                <a:cs typeface="Times New Roman" panose="02020603050405020304" pitchFamily="18" charset="0"/>
              </a:rPr>
              <a:t>			front=front-1;  </a:t>
            </a:r>
          </a:p>
          <a:p>
            <a:r>
              <a:rPr lang="en-IN" sz="2400" dirty="0">
                <a:latin typeface="Times New Roman" panose="02020603050405020304" pitchFamily="18" charset="0"/>
                <a:cs typeface="Times New Roman" panose="02020603050405020304" pitchFamily="18" charset="0"/>
              </a:rPr>
              <a:t>			q[front]=no;  </a:t>
            </a:r>
          </a:p>
          <a:p>
            <a:r>
              <a:rPr lang="en-IN" sz="2400" dirty="0">
                <a:latin typeface="Times New Roman" panose="02020603050405020304" pitchFamily="18" charset="0"/>
                <a:cs typeface="Times New Roman" panose="02020603050405020304" pitchFamily="18" charset="0"/>
              </a:rPr>
              <a:t>Step-3  : Return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98318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Deletion from front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67543" y="1251764"/>
            <a:ext cx="8364905" cy="489364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Step-1 [ Check for front pointer]  </a:t>
            </a:r>
          </a:p>
          <a:p>
            <a:r>
              <a:rPr lang="en-IN" sz="2400" dirty="0">
                <a:latin typeface="Times New Roman" panose="02020603050405020304" pitchFamily="18" charset="0"/>
                <a:cs typeface="Times New Roman" panose="02020603050405020304" pitchFamily="18" charset="0"/>
              </a:rPr>
              <a:t>		if front=0  </a:t>
            </a:r>
          </a:p>
          <a:p>
            <a:r>
              <a:rPr lang="en-IN" sz="2400" dirty="0">
                <a:latin typeface="Times New Roman" panose="02020603050405020304" pitchFamily="18" charset="0"/>
                <a:cs typeface="Times New Roman" panose="02020603050405020304" pitchFamily="18" charset="0"/>
              </a:rPr>
              <a:t>			print(" Queue is Underflow”);  </a:t>
            </a:r>
          </a:p>
          <a:p>
            <a:r>
              <a:rPr lang="en-IN" sz="2400" dirty="0">
                <a:latin typeface="Times New Roman" panose="02020603050405020304" pitchFamily="18" charset="0"/>
                <a:cs typeface="Times New Roman" panose="02020603050405020304" pitchFamily="18" charset="0"/>
              </a:rPr>
              <a:t>			return;  </a:t>
            </a:r>
          </a:p>
          <a:p>
            <a:r>
              <a:rPr lang="en-IN" sz="2400" dirty="0">
                <a:latin typeface="Times New Roman" panose="02020603050405020304" pitchFamily="18" charset="0"/>
                <a:cs typeface="Times New Roman" panose="02020603050405020304" pitchFamily="18" charset="0"/>
              </a:rPr>
              <a:t>Step-2 [Perform deletion]          </a:t>
            </a:r>
          </a:p>
          <a:p>
            <a:r>
              <a:rPr lang="en-IN" sz="2400" dirty="0">
                <a:latin typeface="Times New Roman" panose="02020603050405020304" pitchFamily="18" charset="0"/>
                <a:cs typeface="Times New Roman" panose="02020603050405020304" pitchFamily="18" charset="0"/>
              </a:rPr>
              <a:t>		else  no=q[front];  </a:t>
            </a:r>
          </a:p>
          <a:p>
            <a:r>
              <a:rPr lang="en-IN" sz="2400" dirty="0">
                <a:latin typeface="Times New Roman" panose="02020603050405020304" pitchFamily="18" charset="0"/>
                <a:cs typeface="Times New Roman" panose="02020603050405020304" pitchFamily="18" charset="0"/>
              </a:rPr>
              <a:t>			print(“Deleted element </a:t>
            </a:r>
            <a:r>
              <a:rPr lang="en-IN" sz="2400" dirty="0" err="1">
                <a:latin typeface="Times New Roman" panose="02020603050405020304" pitchFamily="18" charset="0"/>
                <a:cs typeface="Times New Roman" panose="02020603050405020304" pitchFamily="18" charset="0"/>
              </a:rPr>
              <a:t>is”,no</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		[Set front and rear pointer]       </a:t>
            </a:r>
          </a:p>
          <a:p>
            <a:r>
              <a:rPr lang="en-IN" sz="2400" dirty="0">
                <a:latin typeface="Times New Roman" panose="02020603050405020304" pitchFamily="18" charset="0"/>
                <a:cs typeface="Times New Roman" panose="02020603050405020304" pitchFamily="18" charset="0"/>
              </a:rPr>
              <a:t>		if front=rear  </a:t>
            </a:r>
          </a:p>
          <a:p>
            <a:r>
              <a:rPr lang="en-IN" sz="2400" dirty="0">
                <a:latin typeface="Times New Roman" panose="02020603050405020304" pitchFamily="18" charset="0"/>
                <a:cs typeface="Times New Roman" panose="02020603050405020304" pitchFamily="18" charset="0"/>
              </a:rPr>
              <a:t>			front=0;  </a:t>
            </a:r>
          </a:p>
          <a:p>
            <a:r>
              <a:rPr lang="en-IN" sz="2400" dirty="0">
                <a:latin typeface="Times New Roman" panose="02020603050405020304" pitchFamily="18" charset="0"/>
                <a:cs typeface="Times New Roman" panose="02020603050405020304" pitchFamily="18" charset="0"/>
              </a:rPr>
              <a:t>			rear=0;  </a:t>
            </a:r>
          </a:p>
          <a:p>
            <a:r>
              <a:rPr lang="en-IN" sz="2400" dirty="0">
                <a:latin typeface="Times New Roman" panose="02020603050405020304" pitchFamily="18" charset="0"/>
                <a:cs typeface="Times New Roman" panose="02020603050405020304" pitchFamily="18" charset="0"/>
              </a:rPr>
              <a:t>		else   front=front+1;  </a:t>
            </a:r>
          </a:p>
          <a:p>
            <a:r>
              <a:rPr lang="en-IN" sz="2400" dirty="0">
                <a:latin typeface="Times New Roman" panose="02020603050405020304" pitchFamily="18" charset="0"/>
                <a:cs typeface="Times New Roman" panose="02020603050405020304" pitchFamily="18" charset="0"/>
              </a:rPr>
              <a:t>Step-3 : Return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43868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Deletion from rear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67544" y="1293834"/>
            <a:ext cx="8447856" cy="489364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Step-1 : [Check for the rear pointer]  </a:t>
            </a:r>
          </a:p>
          <a:p>
            <a:r>
              <a:rPr lang="en-IN" sz="2400" dirty="0">
                <a:latin typeface="Times New Roman" panose="02020603050405020304" pitchFamily="18" charset="0"/>
                <a:cs typeface="Times New Roman" panose="02020603050405020304" pitchFamily="18" charset="0"/>
              </a:rPr>
              <a:t>		if rear=0  </a:t>
            </a:r>
          </a:p>
          <a:p>
            <a:r>
              <a:rPr lang="en-IN" sz="2400" dirty="0">
                <a:latin typeface="Times New Roman" panose="02020603050405020304" pitchFamily="18" charset="0"/>
                <a:cs typeface="Times New Roman" panose="02020603050405020304" pitchFamily="18" charset="0"/>
              </a:rPr>
              <a:t>			print(“Cannot delete value at rear end”);  </a:t>
            </a:r>
          </a:p>
          <a:p>
            <a:r>
              <a:rPr lang="en-IN" sz="2400" dirty="0">
                <a:latin typeface="Times New Roman" panose="02020603050405020304" pitchFamily="18" charset="0"/>
                <a:cs typeface="Times New Roman" panose="02020603050405020304" pitchFamily="18" charset="0"/>
              </a:rPr>
              <a:t>			return;  </a:t>
            </a:r>
          </a:p>
          <a:p>
            <a:r>
              <a:rPr lang="en-IN" sz="2400" dirty="0">
                <a:latin typeface="Times New Roman" panose="02020603050405020304" pitchFamily="18" charset="0"/>
                <a:cs typeface="Times New Roman" panose="02020603050405020304" pitchFamily="18" charset="0"/>
              </a:rPr>
              <a:t>Step-2:  [ perform deletion]  </a:t>
            </a:r>
          </a:p>
          <a:p>
            <a:r>
              <a:rPr lang="en-IN" sz="2400" dirty="0">
                <a:latin typeface="Times New Roman" panose="02020603050405020304" pitchFamily="18" charset="0"/>
                <a:cs typeface="Times New Roman" panose="02020603050405020304" pitchFamily="18" charset="0"/>
              </a:rPr>
              <a:t>		else   no=q[rear];  </a:t>
            </a:r>
          </a:p>
          <a:p>
            <a:r>
              <a:rPr lang="en-IN" sz="2400" dirty="0">
                <a:latin typeface="Times New Roman" panose="02020603050405020304" pitchFamily="18" charset="0"/>
                <a:cs typeface="Times New Roman" panose="02020603050405020304" pitchFamily="18" charset="0"/>
              </a:rPr>
              <a:t>			[Check for the front and rear pointer]  </a:t>
            </a:r>
          </a:p>
          <a:p>
            <a:r>
              <a:rPr lang="en-IN" sz="2400" dirty="0">
                <a:latin typeface="Times New Roman" panose="02020603050405020304" pitchFamily="18" charset="0"/>
                <a:cs typeface="Times New Roman" panose="02020603050405020304" pitchFamily="18" charset="0"/>
              </a:rPr>
              <a:t>		if front= rear  </a:t>
            </a:r>
          </a:p>
          <a:p>
            <a:r>
              <a:rPr lang="en-IN" sz="2400" dirty="0">
                <a:latin typeface="Times New Roman" panose="02020603050405020304" pitchFamily="18" charset="0"/>
                <a:cs typeface="Times New Roman" panose="02020603050405020304" pitchFamily="18" charset="0"/>
              </a:rPr>
              <a:t>			front=0;  </a:t>
            </a:r>
          </a:p>
          <a:p>
            <a:r>
              <a:rPr lang="en-IN" sz="2400" dirty="0">
                <a:latin typeface="Times New Roman" panose="02020603050405020304" pitchFamily="18" charset="0"/>
                <a:cs typeface="Times New Roman" panose="02020603050405020304" pitchFamily="18" charset="0"/>
              </a:rPr>
              <a:t>			rear=0;  </a:t>
            </a:r>
          </a:p>
          <a:p>
            <a:r>
              <a:rPr lang="en-IN" sz="2400" dirty="0">
                <a:latin typeface="Times New Roman" panose="02020603050405020304" pitchFamily="18" charset="0"/>
                <a:cs typeface="Times New Roman" panose="02020603050405020304" pitchFamily="18" charset="0"/>
              </a:rPr>
              <a:t>		else   rear=rear-1;  </a:t>
            </a:r>
          </a:p>
          <a:p>
            <a:r>
              <a:rPr lang="en-IN" sz="2400" dirty="0">
                <a:latin typeface="Times New Roman" panose="02020603050405020304" pitchFamily="18" charset="0"/>
                <a:cs typeface="Times New Roman" panose="02020603050405020304" pitchFamily="18" charset="0"/>
              </a:rPr>
              <a:t>			print(“Deleted element </a:t>
            </a:r>
            <a:r>
              <a:rPr lang="en-IN" sz="2400" dirty="0" err="1">
                <a:latin typeface="Times New Roman" panose="02020603050405020304" pitchFamily="18" charset="0"/>
                <a:cs typeface="Times New Roman" panose="02020603050405020304" pitchFamily="18" charset="0"/>
              </a:rPr>
              <a:t>is”,no</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Step-3 : Return</a:t>
            </a:r>
          </a:p>
        </p:txBody>
      </p:sp>
    </p:spTree>
    <p:extLst>
      <p:ext uri="{BB962C8B-B14F-4D97-AF65-F5344CB8AC3E}">
        <p14:creationId xmlns:p14="http://schemas.microsoft.com/office/powerpoint/2010/main" val="26951515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Complexity</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45387" y="1377060"/>
            <a:ext cx="8087053" cy="2308324"/>
          </a:xfrm>
          <a:prstGeom prst="rect">
            <a:avLst/>
          </a:prstGeom>
          <a:noFill/>
        </p:spPr>
        <p:txBody>
          <a:bodyPr wrap="square" rtlCol="0">
            <a:spAutoFit/>
          </a:bodyPr>
          <a:lstStyle/>
          <a:p>
            <a:pPr marL="176213" indent="-176213" algn="just" fontAlgn="base">
              <a:buFont typeface="Arial"/>
              <a:buChar char="•"/>
            </a:pPr>
            <a:r>
              <a:rPr lang="en-IN" sz="2400" dirty="0">
                <a:solidFill>
                  <a:srgbClr val="3C484E"/>
                </a:solidFill>
                <a:latin typeface="Times New Roman" panose="02020603050405020304" pitchFamily="18" charset="0"/>
                <a:cs typeface="Times New Roman" panose="02020603050405020304" pitchFamily="18" charset="0"/>
              </a:rPr>
              <a:t>Insertion or deletion in the middle is O(n)</a:t>
            </a:r>
          </a:p>
          <a:p>
            <a:pPr marL="176213" indent="-176213" algn="just" fontAlgn="base"/>
            <a:endParaRPr lang="en-IN" sz="2400" dirty="0">
              <a:solidFill>
                <a:srgbClr val="3C484E"/>
              </a:solidFill>
              <a:latin typeface="Times New Roman" panose="02020603050405020304" pitchFamily="18" charset="0"/>
              <a:cs typeface="Times New Roman" panose="02020603050405020304" pitchFamily="18" charset="0"/>
            </a:endParaRPr>
          </a:p>
          <a:p>
            <a:pPr marL="176213" indent="-176213" algn="just" fontAlgn="base">
              <a:buFont typeface="Arial"/>
              <a:buChar char="•"/>
            </a:pPr>
            <a:r>
              <a:rPr lang="en-IN" sz="2400" dirty="0">
                <a:solidFill>
                  <a:srgbClr val="3C484E"/>
                </a:solidFill>
                <a:latin typeface="Times New Roman" panose="02020603050405020304" pitchFamily="18" charset="0"/>
                <a:cs typeface="Times New Roman" panose="02020603050405020304" pitchFamily="18" charset="0"/>
              </a:rPr>
              <a:t>The time complexity of random access by index is O(1)</a:t>
            </a:r>
          </a:p>
          <a:p>
            <a:pPr marL="176213" indent="-176213" algn="just" fontAlgn="base"/>
            <a:endParaRPr lang="en-IN" sz="2400" dirty="0">
              <a:solidFill>
                <a:srgbClr val="3C484E"/>
              </a:solidFill>
              <a:latin typeface="Times New Roman" panose="02020603050405020304" pitchFamily="18" charset="0"/>
              <a:cs typeface="Times New Roman" panose="02020603050405020304" pitchFamily="18" charset="0"/>
            </a:endParaRPr>
          </a:p>
          <a:p>
            <a:pPr marL="176213" indent="-176213" algn="just" fontAlgn="base">
              <a:buFont typeface="Arial"/>
              <a:buChar char="•"/>
            </a:pPr>
            <a:r>
              <a:rPr lang="en-IN" sz="2400" dirty="0">
                <a:solidFill>
                  <a:srgbClr val="3C484E"/>
                </a:solidFill>
                <a:latin typeface="Times New Roman" panose="02020603050405020304" pitchFamily="18" charset="0"/>
                <a:cs typeface="Times New Roman" panose="02020603050405020304" pitchFamily="18" charset="0"/>
              </a:rPr>
              <a:t>Time complexity of all enque (insert)/deque(delete) operations is O(1)</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42244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Applications</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472270"/>
            <a:ext cx="8044009"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35565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Applications</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TextBox 1"/>
          <p:cNvSpPr txBox="1"/>
          <p:nvPr/>
        </p:nvSpPr>
        <p:spPr>
          <a:xfrm>
            <a:off x="467545" y="1219686"/>
            <a:ext cx="8208912" cy="4989828"/>
          </a:xfrm>
          <a:prstGeom prst="rect">
            <a:avLst/>
          </a:prstGeom>
          <a:noFill/>
        </p:spPr>
        <p:txBody>
          <a:bodyPr wrap="square" rtlCol="0">
            <a:spAutoFit/>
          </a:bodyPr>
          <a:lstStyle/>
          <a:p>
            <a:pPr marL="342900" indent="-342900" algn="just" fontAlgn="base">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A-Steal job scheduling algorithm</a:t>
            </a:r>
          </a:p>
          <a:p>
            <a:pPr algn="just" fontAlgn="base">
              <a:spcBef>
                <a:spcPts val="600"/>
              </a:spcBef>
              <a:spcAft>
                <a:spcPts val="600"/>
              </a:spcAft>
            </a:pPr>
            <a:r>
              <a:rPr lang="en-IN" sz="2400" dirty="0">
                <a:solidFill>
                  <a:srgbClr val="3C484E"/>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The A-Steal algorithm implements task scheduling for several</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processors(multiprocessor scheduling).</a:t>
            </a:r>
          </a:p>
          <a:p>
            <a:pPr marL="800100" lvl="1" indent="-342900" algn="just" fontAlgn="base">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The processor gets the first element from the deque.</a:t>
            </a:r>
          </a:p>
          <a:p>
            <a:pPr marL="800100" lvl="1" indent="-342900" algn="just" fontAlgn="base">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When one of the processors completes execution of its own threads, it can steal a thread from another processor.</a:t>
            </a:r>
          </a:p>
          <a:p>
            <a:pPr marL="800100" lvl="1" indent="-342900" algn="just" fontAlgn="base">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It gets the last element from the deque of another processor</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and executes it.</a:t>
            </a:r>
          </a:p>
          <a:p>
            <a:pPr marL="342900" indent="-342900" algn="just" fontAlgn="base">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Undo-Redo operations</a:t>
            </a:r>
            <a:r>
              <a:rPr lang="en-IN" sz="2400" dirty="0">
                <a:latin typeface="Times New Roman" panose="02020603050405020304" pitchFamily="18" charset="0"/>
                <a:cs typeface="Times New Roman" panose="02020603050405020304" pitchFamily="18" charset="0"/>
              </a:rPr>
              <a:t> </a:t>
            </a:r>
            <a:r>
              <a:rPr lang="en-IN" sz="2400" dirty="0">
                <a:solidFill>
                  <a:srgbClr val="3C484E"/>
                </a:solidFill>
                <a:latin typeface="Times New Roman" panose="02020603050405020304" pitchFamily="18" charset="0"/>
                <a:cs typeface="Times New Roman" panose="02020603050405020304" pitchFamily="18" charset="0"/>
              </a:rPr>
              <a:t>in Software applications.</a:t>
            </a:r>
          </a:p>
          <a:p>
            <a:pPr algn="just">
              <a:lnSpc>
                <a:spcPct val="150000"/>
              </a:lnSpc>
              <a:spcBef>
                <a:spcPts val="600"/>
              </a:spcBef>
              <a:spcAft>
                <a:spcPts val="600"/>
              </a:spcAft>
            </a:pP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1860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81919-3C2F-BCE8-98CD-6E2F9EAB7AF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D855A19-FAFD-196B-208E-051A075EBCC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a:extLst>
              <a:ext uri="{FF2B5EF4-FFF2-40B4-BE49-F238E27FC236}">
                <a16:creationId xmlns:a16="http://schemas.microsoft.com/office/drawing/2014/main" id="{73F1F808-436F-BA85-AEE9-5E69ADDC7966}"/>
              </a:ext>
            </a:extLst>
          </p:cNvPr>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(Python)</a:t>
            </a:r>
          </a:p>
        </p:txBody>
      </p:sp>
      <p:cxnSp>
        <p:nvCxnSpPr>
          <p:cNvPr id="7" name="Straight Connector 6">
            <a:extLst>
              <a:ext uri="{FF2B5EF4-FFF2-40B4-BE49-F238E27FC236}">
                <a16:creationId xmlns:a16="http://schemas.microsoft.com/office/drawing/2014/main" id="{1F1AD6E0-5BE2-ABF2-0043-DC9D3779A97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BDC6C16-52F5-83AB-F72C-3901790C38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8366097-D85B-0CCE-A27E-258838BE15B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D5C2DA2-6953-71AF-DB02-382529293BE2}"/>
              </a:ext>
            </a:extLst>
          </p:cNvPr>
          <p:cNvSpPr>
            <a:spLocks noGrp="1"/>
          </p:cNvSpPr>
          <p:nvPr>
            <p:ph type="ftr" sz="quarter" idx="11"/>
          </p:nvPr>
        </p:nvSpPr>
        <p:spPr/>
        <p:txBody>
          <a:bodyPr/>
          <a:lstStyle/>
          <a:p>
            <a:r>
              <a:rPr lang="en-IN"/>
              <a:t>Data  Structure         Unit2  </a:t>
            </a:r>
          </a:p>
        </p:txBody>
      </p:sp>
      <p:sp>
        <p:nvSpPr>
          <p:cNvPr id="2" name="TextBox 1">
            <a:extLst>
              <a:ext uri="{FF2B5EF4-FFF2-40B4-BE49-F238E27FC236}">
                <a16:creationId xmlns:a16="http://schemas.microsoft.com/office/drawing/2014/main" id="{F46388AA-CA07-DC5C-299F-01767898E2F2}"/>
              </a:ext>
            </a:extLst>
          </p:cNvPr>
          <p:cNvSpPr txBox="1"/>
          <p:nvPr/>
        </p:nvSpPr>
        <p:spPr>
          <a:xfrm>
            <a:off x="467544" y="1219686"/>
            <a:ext cx="8371655" cy="5028556"/>
          </a:xfrm>
          <a:prstGeom prst="rect">
            <a:avLst/>
          </a:prstGeom>
          <a:noFill/>
        </p:spPr>
        <p:txBody>
          <a:bodyPr wrap="square" rtlCol="0">
            <a:spAutoFit/>
          </a:bodyPr>
          <a:lstStyle/>
          <a:p>
            <a:pPr>
              <a:lnSpc>
                <a:spcPct val="150000"/>
              </a:lnSpc>
            </a:pPr>
            <a:r>
              <a:rPr lang="en-US" b="1" dirty="0"/>
              <a:t>Priority Queue using </a:t>
            </a:r>
            <a:r>
              <a:rPr lang="en-US" b="1" dirty="0" err="1"/>
              <a:t>heapq</a:t>
            </a:r>
            <a:r>
              <a:rPr lang="en-US" b="1" dirty="0"/>
              <a:t> (Min-Priority Queue)</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heapq</a:t>
            </a: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 Create an empty priority queue</a:t>
            </a:r>
          </a:p>
          <a:p>
            <a:pPr>
              <a:lnSpc>
                <a:spcPct val="150000"/>
              </a:lnSpc>
            </a:pPr>
            <a:r>
              <a:rPr lang="en-IN" dirty="0" err="1">
                <a:latin typeface="Times New Roman" panose="02020603050405020304" pitchFamily="18" charset="0"/>
                <a:cs typeface="Times New Roman" panose="02020603050405020304" pitchFamily="18" charset="0"/>
              </a:rPr>
              <a:t>priority_queue</a:t>
            </a:r>
            <a:r>
              <a:rPr lang="en-IN" dirty="0">
                <a:latin typeface="Times New Roman" panose="02020603050405020304" pitchFamily="18" charset="0"/>
                <a:cs typeface="Times New Roman" panose="02020603050405020304" pitchFamily="18" charset="0"/>
              </a:rPr>
              <a:t> = []</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 Insert elements with priority</a:t>
            </a:r>
          </a:p>
          <a:p>
            <a:pPr>
              <a:lnSpc>
                <a:spcPct val="150000"/>
              </a:lnSpc>
            </a:pPr>
            <a:r>
              <a:rPr lang="en-IN" dirty="0">
                <a:latin typeface="Times New Roman" panose="02020603050405020304" pitchFamily="18" charset="0"/>
                <a:cs typeface="Times New Roman" panose="02020603050405020304" pitchFamily="18" charset="0"/>
              </a:rPr>
              <a:t>def insert(item):</a:t>
            </a:r>
          </a:p>
          <a:p>
            <a:pPr>
              <a:lnSpc>
                <a:spcPct val="150000"/>
              </a:lnSpc>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heapq.heappush</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priority_queue</a:t>
            </a:r>
            <a:r>
              <a:rPr lang="en-IN" dirty="0">
                <a:latin typeface="Times New Roman" panose="02020603050405020304" pitchFamily="18" charset="0"/>
                <a:cs typeface="Times New Roman" panose="02020603050405020304" pitchFamily="18" charset="0"/>
              </a:rPr>
              <a:t>, item)</a:t>
            </a:r>
          </a:p>
          <a:p>
            <a:pPr>
              <a:lnSpc>
                <a:spcPct val="150000"/>
              </a:lnSpc>
            </a:pPr>
            <a:r>
              <a:rPr lang="en-IN" dirty="0">
                <a:latin typeface="Times New Roman" panose="02020603050405020304" pitchFamily="18" charset="0"/>
                <a:cs typeface="Times New Roman" panose="02020603050405020304" pitchFamily="18" charset="0"/>
              </a:rPr>
              <a:t>    print(item, "inserted into priority queue")</a:t>
            </a:r>
          </a:p>
          <a:p>
            <a:pPr>
              <a:lnSpc>
                <a:spcPct val="150000"/>
              </a:lnSpc>
            </a:pPr>
            <a:endParaRPr lang="en-IN"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18806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FC0AF-879D-11B0-FBB3-7351B0936F2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FDCFB36-0C3B-444C-A5AB-36709456815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a:extLst>
              <a:ext uri="{FF2B5EF4-FFF2-40B4-BE49-F238E27FC236}">
                <a16:creationId xmlns:a16="http://schemas.microsoft.com/office/drawing/2014/main" id="{8D32AF59-EF52-D432-022C-A69C90E9E874}"/>
              </a:ext>
            </a:extLst>
          </p:cNvPr>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(Python)</a:t>
            </a:r>
          </a:p>
        </p:txBody>
      </p:sp>
      <p:cxnSp>
        <p:nvCxnSpPr>
          <p:cNvPr id="7" name="Straight Connector 6">
            <a:extLst>
              <a:ext uri="{FF2B5EF4-FFF2-40B4-BE49-F238E27FC236}">
                <a16:creationId xmlns:a16="http://schemas.microsoft.com/office/drawing/2014/main" id="{13C49C03-5BA4-FC35-3DCF-4FF10E818C94}"/>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221AFC1-D1D4-9A10-A20C-476ABE5663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317A70B-40BC-2F14-76D1-6EAA3594200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8C557EC7-445D-A114-DF5B-1A45C3B873C8}"/>
              </a:ext>
            </a:extLst>
          </p:cNvPr>
          <p:cNvSpPr>
            <a:spLocks noGrp="1"/>
          </p:cNvSpPr>
          <p:nvPr>
            <p:ph type="ftr" sz="quarter" idx="11"/>
          </p:nvPr>
        </p:nvSpPr>
        <p:spPr/>
        <p:txBody>
          <a:bodyPr/>
          <a:lstStyle/>
          <a:p>
            <a:r>
              <a:rPr lang="en-IN"/>
              <a:t>Data  Structure         Unit2  </a:t>
            </a:r>
          </a:p>
        </p:txBody>
      </p:sp>
      <p:sp>
        <p:nvSpPr>
          <p:cNvPr id="2" name="TextBox 1">
            <a:extLst>
              <a:ext uri="{FF2B5EF4-FFF2-40B4-BE49-F238E27FC236}">
                <a16:creationId xmlns:a16="http://schemas.microsoft.com/office/drawing/2014/main" id="{B41BAB6A-DC69-3DB1-CE4A-91769DA23FE3}"/>
              </a:ext>
            </a:extLst>
          </p:cNvPr>
          <p:cNvSpPr txBox="1"/>
          <p:nvPr/>
        </p:nvSpPr>
        <p:spPr>
          <a:xfrm>
            <a:off x="467544" y="1219686"/>
            <a:ext cx="8371655" cy="4613058"/>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 Remove element with highest priority (smallest value)</a:t>
            </a:r>
          </a:p>
          <a:p>
            <a:pPr>
              <a:lnSpc>
                <a:spcPct val="150000"/>
              </a:lnSpc>
            </a:pPr>
            <a:r>
              <a:rPr lang="en-IN" dirty="0">
                <a:latin typeface="Times New Roman" panose="02020603050405020304" pitchFamily="18" charset="0"/>
                <a:cs typeface="Times New Roman" panose="02020603050405020304" pitchFamily="18" charset="0"/>
              </a:rPr>
              <a:t>def delete():</a:t>
            </a:r>
          </a:p>
          <a:p>
            <a:pPr>
              <a:lnSpc>
                <a:spcPct val="150000"/>
              </a:lnSpc>
            </a:pPr>
            <a:r>
              <a:rPr lang="en-IN" dirty="0">
                <a:latin typeface="Times New Roman" panose="02020603050405020304" pitchFamily="18" charset="0"/>
                <a:cs typeface="Times New Roman" panose="02020603050405020304" pitchFamily="18" charset="0"/>
              </a:rPr>
              <a:t>    if </a:t>
            </a:r>
            <a:r>
              <a:rPr lang="en-IN" dirty="0" err="1">
                <a:latin typeface="Times New Roman" panose="02020603050405020304" pitchFamily="18" charset="0"/>
                <a:cs typeface="Times New Roman" panose="02020603050405020304" pitchFamily="18" charset="0"/>
              </a:rPr>
              <a:t>len</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priority_queue</a:t>
            </a:r>
            <a:r>
              <a:rPr lang="en-IN" dirty="0">
                <a:latin typeface="Times New Roman" panose="02020603050405020304" pitchFamily="18" charset="0"/>
                <a:cs typeface="Times New Roman" panose="02020603050405020304" pitchFamily="18" charset="0"/>
              </a:rPr>
              <a:t>) == 0:</a:t>
            </a:r>
          </a:p>
          <a:p>
            <a:pPr>
              <a:lnSpc>
                <a:spcPct val="150000"/>
              </a:lnSpc>
            </a:pPr>
            <a:r>
              <a:rPr lang="en-IN" dirty="0">
                <a:latin typeface="Times New Roman" panose="02020603050405020304" pitchFamily="18" charset="0"/>
                <a:cs typeface="Times New Roman" panose="02020603050405020304" pitchFamily="18" charset="0"/>
              </a:rPr>
              <a:t>        print("Priority Queue is empty")</a:t>
            </a:r>
          </a:p>
          <a:p>
            <a:pPr>
              <a:lnSpc>
                <a:spcPct val="150000"/>
              </a:lnSpc>
            </a:pPr>
            <a:r>
              <a:rPr lang="en-IN" dirty="0">
                <a:latin typeface="Times New Roman" panose="02020603050405020304" pitchFamily="18" charset="0"/>
                <a:cs typeface="Times New Roman" panose="02020603050405020304" pitchFamily="18" charset="0"/>
              </a:rPr>
              <a:t>    else:</a:t>
            </a:r>
          </a:p>
          <a:p>
            <a:pPr>
              <a:lnSpc>
                <a:spcPct val="150000"/>
              </a:lnSpc>
            </a:pPr>
            <a:r>
              <a:rPr lang="en-IN" dirty="0">
                <a:latin typeface="Times New Roman" panose="02020603050405020304" pitchFamily="18" charset="0"/>
                <a:cs typeface="Times New Roman" panose="02020603050405020304" pitchFamily="18" charset="0"/>
              </a:rPr>
              <a:t>        removed = </a:t>
            </a:r>
            <a:r>
              <a:rPr lang="en-IN" dirty="0" err="1">
                <a:latin typeface="Times New Roman" panose="02020603050405020304" pitchFamily="18" charset="0"/>
                <a:cs typeface="Times New Roman" panose="02020603050405020304" pitchFamily="18" charset="0"/>
              </a:rPr>
              <a:t>heapq.heappop</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priority_queue</a:t>
            </a:r>
            <a:r>
              <a:rPr lang="en-IN" dirty="0">
                <a:latin typeface="Times New Roman" panose="02020603050405020304" pitchFamily="18" charset="0"/>
                <a:cs typeface="Times New Roman" panose="02020603050405020304" pitchFamily="18" charset="0"/>
              </a:rPr>
              <a:t>)</a:t>
            </a:r>
          </a:p>
          <a:p>
            <a:pPr>
              <a:lnSpc>
                <a:spcPct val="150000"/>
              </a:lnSpc>
            </a:pPr>
            <a:r>
              <a:rPr lang="en-IN" dirty="0">
                <a:latin typeface="Times New Roman" panose="02020603050405020304" pitchFamily="18" charset="0"/>
                <a:cs typeface="Times New Roman" panose="02020603050405020304" pitchFamily="18" charset="0"/>
              </a:rPr>
              <a:t>        print("Deleted element:", removed)</a:t>
            </a:r>
          </a:p>
          <a:p>
            <a:pPr>
              <a:lnSpc>
                <a:spcPct val="150000"/>
              </a:lnSpc>
            </a:pPr>
            <a:r>
              <a:rPr lang="en-IN" dirty="0">
                <a:latin typeface="Times New Roman" panose="02020603050405020304" pitchFamily="18" charset="0"/>
                <a:cs typeface="Times New Roman" panose="02020603050405020304" pitchFamily="18" charset="0"/>
              </a:rPr>
              <a:t># Display queue</a:t>
            </a:r>
          </a:p>
          <a:p>
            <a:pPr>
              <a:lnSpc>
                <a:spcPct val="150000"/>
              </a:lnSpc>
            </a:pPr>
            <a:r>
              <a:rPr lang="en-IN" dirty="0">
                <a:latin typeface="Times New Roman" panose="02020603050405020304" pitchFamily="18" charset="0"/>
                <a:cs typeface="Times New Roman" panose="02020603050405020304" pitchFamily="18" charset="0"/>
              </a:rPr>
              <a:t>def display():</a:t>
            </a:r>
          </a:p>
          <a:p>
            <a:pPr>
              <a:lnSpc>
                <a:spcPct val="150000"/>
              </a:lnSpc>
            </a:pPr>
            <a:r>
              <a:rPr lang="en-IN" dirty="0">
                <a:latin typeface="Times New Roman" panose="02020603050405020304" pitchFamily="18" charset="0"/>
                <a:cs typeface="Times New Roman" panose="02020603050405020304" pitchFamily="18" charset="0"/>
              </a:rPr>
              <a:t>    print("Current Priority Queue:", </a:t>
            </a:r>
            <a:r>
              <a:rPr lang="en-IN" dirty="0" err="1">
                <a:latin typeface="Times New Roman" panose="02020603050405020304" pitchFamily="18" charset="0"/>
                <a:cs typeface="Times New Roman" panose="02020603050405020304" pitchFamily="18" charset="0"/>
              </a:rPr>
              <a:t>priority_queue</a:t>
            </a:r>
            <a:r>
              <a:rPr lang="en-IN" dirty="0">
                <a:latin typeface="Times New Roman" panose="02020603050405020304" pitchFamily="18" charset="0"/>
                <a:cs typeface="Times New Roman" panose="02020603050405020304" pitchFamily="18" charset="0"/>
              </a:rPr>
              <a:t>)</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04849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7015D-31C5-6F61-8E39-CCE6E99213F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02522FC-C58D-E546-18F6-8F5F81BA27A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a:extLst>
              <a:ext uri="{FF2B5EF4-FFF2-40B4-BE49-F238E27FC236}">
                <a16:creationId xmlns:a16="http://schemas.microsoft.com/office/drawing/2014/main" id="{22764622-DE8A-5B12-BF78-8F11BD29DF0D}"/>
              </a:ext>
            </a:extLst>
          </p:cNvPr>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(Python)</a:t>
            </a:r>
          </a:p>
        </p:txBody>
      </p:sp>
      <p:cxnSp>
        <p:nvCxnSpPr>
          <p:cNvPr id="7" name="Straight Connector 6">
            <a:extLst>
              <a:ext uri="{FF2B5EF4-FFF2-40B4-BE49-F238E27FC236}">
                <a16:creationId xmlns:a16="http://schemas.microsoft.com/office/drawing/2014/main" id="{0143B1BC-8C63-1C49-DB1D-497013D8318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854C48-54AC-4B4E-2402-DA22808BE1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95993BD-E4C6-1D34-059C-4A42FA7A70F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4DFF30C9-C699-2B74-B1CD-C9835F8A4093}"/>
              </a:ext>
            </a:extLst>
          </p:cNvPr>
          <p:cNvSpPr>
            <a:spLocks noGrp="1"/>
          </p:cNvSpPr>
          <p:nvPr>
            <p:ph type="ftr" sz="quarter" idx="11"/>
          </p:nvPr>
        </p:nvSpPr>
        <p:spPr/>
        <p:txBody>
          <a:bodyPr/>
          <a:lstStyle/>
          <a:p>
            <a:r>
              <a:rPr lang="en-IN"/>
              <a:t>Data  Structure         Unit2  </a:t>
            </a:r>
          </a:p>
        </p:txBody>
      </p:sp>
      <p:sp>
        <p:nvSpPr>
          <p:cNvPr id="2" name="TextBox 1">
            <a:extLst>
              <a:ext uri="{FF2B5EF4-FFF2-40B4-BE49-F238E27FC236}">
                <a16:creationId xmlns:a16="http://schemas.microsoft.com/office/drawing/2014/main" id="{C0F88C29-8310-507F-656B-B84943FEA2C8}"/>
              </a:ext>
            </a:extLst>
          </p:cNvPr>
          <p:cNvSpPr txBox="1"/>
          <p:nvPr/>
        </p:nvSpPr>
        <p:spPr>
          <a:xfrm>
            <a:off x="683568" y="1219686"/>
            <a:ext cx="8155631" cy="4197559"/>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 Demonstration</a:t>
            </a:r>
          </a:p>
          <a:p>
            <a:pPr>
              <a:lnSpc>
                <a:spcPct val="150000"/>
              </a:lnSpc>
            </a:pPr>
            <a:r>
              <a:rPr lang="en-IN" dirty="0">
                <a:latin typeface="Times New Roman" panose="02020603050405020304" pitchFamily="18" charset="0"/>
                <a:cs typeface="Times New Roman" panose="02020603050405020304" pitchFamily="18" charset="0"/>
              </a:rPr>
              <a:t>insert(30)</a:t>
            </a:r>
          </a:p>
          <a:p>
            <a:pPr>
              <a:lnSpc>
                <a:spcPct val="150000"/>
              </a:lnSpc>
            </a:pPr>
            <a:r>
              <a:rPr lang="en-IN" dirty="0">
                <a:latin typeface="Times New Roman" panose="02020603050405020304" pitchFamily="18" charset="0"/>
                <a:cs typeface="Times New Roman" panose="02020603050405020304" pitchFamily="18" charset="0"/>
              </a:rPr>
              <a:t>insert(10)</a:t>
            </a:r>
          </a:p>
          <a:p>
            <a:pPr>
              <a:lnSpc>
                <a:spcPct val="150000"/>
              </a:lnSpc>
            </a:pPr>
            <a:r>
              <a:rPr lang="en-IN" dirty="0">
                <a:latin typeface="Times New Roman" panose="02020603050405020304" pitchFamily="18" charset="0"/>
                <a:cs typeface="Times New Roman" panose="02020603050405020304" pitchFamily="18" charset="0"/>
              </a:rPr>
              <a:t>insert(20)</a:t>
            </a:r>
          </a:p>
          <a:p>
            <a:pPr>
              <a:lnSpc>
                <a:spcPct val="150000"/>
              </a:lnSpc>
            </a:pPr>
            <a:r>
              <a:rPr lang="en-IN" dirty="0">
                <a:latin typeface="Times New Roman" panose="02020603050405020304" pitchFamily="18" charset="0"/>
                <a:cs typeface="Times New Roman" panose="02020603050405020304" pitchFamily="18" charset="0"/>
              </a:rPr>
              <a:t>insert(5)</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display()</a:t>
            </a:r>
          </a:p>
          <a:p>
            <a:pPr>
              <a:lnSpc>
                <a:spcPct val="150000"/>
              </a:lnSpc>
            </a:pPr>
            <a:r>
              <a:rPr lang="en-IN" dirty="0">
                <a:latin typeface="Times New Roman" panose="02020603050405020304" pitchFamily="18" charset="0"/>
                <a:cs typeface="Times New Roman" panose="02020603050405020304" pitchFamily="18" charset="0"/>
              </a:rPr>
              <a:t>delete()</a:t>
            </a:r>
          </a:p>
          <a:p>
            <a:pPr>
              <a:lnSpc>
                <a:spcPct val="150000"/>
              </a:lnSpc>
            </a:pPr>
            <a:r>
              <a:rPr lang="en-IN" dirty="0">
                <a:latin typeface="Times New Roman" panose="02020603050405020304" pitchFamily="18" charset="0"/>
                <a:cs typeface="Times New Roman" panose="02020603050405020304" pitchFamily="18" charset="0"/>
              </a:rPr>
              <a:t>delete()</a:t>
            </a:r>
          </a:p>
          <a:p>
            <a:pPr>
              <a:lnSpc>
                <a:spcPct val="150000"/>
              </a:lnSpc>
            </a:pPr>
            <a:r>
              <a:rPr lang="en-IN" dirty="0">
                <a:latin typeface="Times New Roman" panose="02020603050405020304" pitchFamily="18" charset="0"/>
                <a:cs typeface="Times New Roman" panose="02020603050405020304" pitchFamily="18" charset="0"/>
              </a:rPr>
              <a:t>display()</a:t>
            </a:r>
          </a:p>
        </p:txBody>
      </p:sp>
      <p:sp>
        <p:nvSpPr>
          <p:cNvPr id="10" name="TextBox 9">
            <a:extLst>
              <a:ext uri="{FF2B5EF4-FFF2-40B4-BE49-F238E27FC236}">
                <a16:creationId xmlns:a16="http://schemas.microsoft.com/office/drawing/2014/main" id="{E5C4613C-E0D3-DFD1-DD27-92496CC0C4BB}"/>
              </a:ext>
            </a:extLst>
          </p:cNvPr>
          <p:cNvSpPr txBox="1"/>
          <p:nvPr/>
        </p:nvSpPr>
        <p:spPr>
          <a:xfrm>
            <a:off x="4510007" y="1536135"/>
            <a:ext cx="4599708" cy="3693319"/>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OUTPUT: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30 inserted into priority queue</a:t>
            </a:r>
          </a:p>
          <a:p>
            <a:r>
              <a:rPr lang="en-IN" dirty="0">
                <a:latin typeface="Times New Roman" panose="02020603050405020304" pitchFamily="18" charset="0"/>
                <a:cs typeface="Times New Roman" panose="02020603050405020304" pitchFamily="18" charset="0"/>
              </a:rPr>
              <a:t>10 inserted into priority queue</a:t>
            </a:r>
          </a:p>
          <a:p>
            <a:r>
              <a:rPr lang="en-IN" dirty="0">
                <a:latin typeface="Times New Roman" panose="02020603050405020304" pitchFamily="18" charset="0"/>
                <a:cs typeface="Times New Roman" panose="02020603050405020304" pitchFamily="18" charset="0"/>
              </a:rPr>
              <a:t>20 inserted into priority queue</a:t>
            </a:r>
          </a:p>
          <a:p>
            <a:r>
              <a:rPr lang="en-IN" dirty="0">
                <a:latin typeface="Times New Roman" panose="02020603050405020304" pitchFamily="18" charset="0"/>
                <a:cs typeface="Times New Roman" panose="02020603050405020304" pitchFamily="18" charset="0"/>
              </a:rPr>
              <a:t>5 inserted into priority queue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Current Priority Queue: [5, 10, 20, 30]</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Deleted element: 5</a:t>
            </a:r>
          </a:p>
          <a:p>
            <a:r>
              <a:rPr lang="en-IN" dirty="0">
                <a:latin typeface="Times New Roman" panose="02020603050405020304" pitchFamily="18" charset="0"/>
                <a:cs typeface="Times New Roman" panose="02020603050405020304" pitchFamily="18" charset="0"/>
              </a:rPr>
              <a:t>Deleted element: 10</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Current Priority Queue: [20, 30]</a:t>
            </a:r>
          </a:p>
        </p:txBody>
      </p:sp>
    </p:spTree>
    <p:extLst>
      <p:ext uri="{BB962C8B-B14F-4D97-AF65-F5344CB8AC3E}">
        <p14:creationId xmlns:p14="http://schemas.microsoft.com/office/powerpoint/2010/main" val="34175461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(C++)</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TextBox 1"/>
          <p:cNvSpPr txBox="1"/>
          <p:nvPr/>
        </p:nvSpPr>
        <p:spPr>
          <a:xfrm>
            <a:off x="467544" y="1219686"/>
            <a:ext cx="8371655" cy="4457952"/>
          </a:xfrm>
          <a:prstGeom prst="rect">
            <a:avLst/>
          </a:prstGeom>
          <a:noFill/>
        </p:spPr>
        <p:txBody>
          <a:bodyPr wrap="square" rtlCol="0">
            <a:spAutoFit/>
          </a:bodyPr>
          <a:lstStyle/>
          <a:p>
            <a:pPr>
              <a:lnSpc>
                <a:spcPct val="150000"/>
              </a:lnSpc>
            </a:pPr>
            <a:r>
              <a:rPr lang="en-IN" sz="2400" b="1" dirty="0">
                <a:solidFill>
                  <a:schemeClr val="accent1"/>
                </a:solidFill>
                <a:latin typeface="Times New Roman" panose="02020603050405020304" pitchFamily="18" charset="0"/>
                <a:cs typeface="Times New Roman" panose="02020603050405020304" pitchFamily="18" charset="0"/>
              </a:rPr>
              <a:t>// C++ program to demonstrate the use of priority queue</a:t>
            </a:r>
          </a:p>
          <a:p>
            <a:pPr>
              <a:lnSpc>
                <a:spcPct val="150000"/>
              </a:lnSpc>
            </a:pPr>
            <a:r>
              <a:rPr lang="en-IN" sz="2400" dirty="0">
                <a:latin typeface="Times New Roman" panose="02020603050405020304" pitchFamily="18" charset="0"/>
                <a:cs typeface="Times New Roman" panose="02020603050405020304" pitchFamily="18" charset="0"/>
              </a:rPr>
              <a:t>#include &lt;</a:t>
            </a:r>
            <a:r>
              <a:rPr lang="en-IN" sz="2400" dirty="0" err="1">
                <a:latin typeface="Times New Roman" panose="02020603050405020304" pitchFamily="18" charset="0"/>
                <a:cs typeface="Times New Roman" panose="02020603050405020304" pitchFamily="18" charset="0"/>
              </a:rPr>
              <a:t>iostream</a:t>
            </a:r>
            <a:r>
              <a:rPr lang="en-IN" sz="2400" dirty="0">
                <a:latin typeface="Times New Roman" panose="02020603050405020304" pitchFamily="18" charset="0"/>
                <a:cs typeface="Times New Roman" panose="02020603050405020304" pitchFamily="18" charset="0"/>
              </a:rPr>
              <a:t>&gt;</a:t>
            </a:r>
          </a:p>
          <a:p>
            <a:pPr>
              <a:lnSpc>
                <a:spcPct val="150000"/>
              </a:lnSpc>
            </a:pPr>
            <a:r>
              <a:rPr lang="en-IN" sz="2400" dirty="0">
                <a:latin typeface="Times New Roman" panose="02020603050405020304" pitchFamily="18" charset="0"/>
                <a:cs typeface="Times New Roman" panose="02020603050405020304" pitchFamily="18" charset="0"/>
              </a:rPr>
              <a:t>#include &lt;queue&gt;</a:t>
            </a:r>
          </a:p>
          <a:p>
            <a:pPr>
              <a:lnSpc>
                <a:spcPct val="150000"/>
              </a:lnSpc>
            </a:pPr>
            <a:r>
              <a:rPr lang="en-IN" sz="2400" dirty="0">
                <a:latin typeface="Times New Roman" panose="02020603050405020304" pitchFamily="18" charset="0"/>
                <a:cs typeface="Times New Roman" panose="02020603050405020304" pitchFamily="18" charset="0"/>
              </a:rPr>
              <a:t>using namespace std;</a:t>
            </a:r>
          </a:p>
          <a:p>
            <a:pPr>
              <a:lnSpc>
                <a:spcPct val="150000"/>
              </a:lnSpc>
            </a:pPr>
            <a:r>
              <a:rPr lang="en-IN" sz="2400" dirty="0">
                <a:latin typeface="Times New Roman" panose="02020603050405020304" pitchFamily="18" charset="0"/>
                <a:cs typeface="Times New Roman" panose="02020603050405020304" pitchFamily="18" charset="0"/>
              </a:rPr>
              <a:t>// driver code</a:t>
            </a:r>
          </a:p>
          <a:p>
            <a:pPr>
              <a:lnSpc>
                <a:spcPct val="150000"/>
              </a:lnSpc>
            </a:pP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main()</a:t>
            </a:r>
          </a:p>
          <a:p>
            <a:pPr>
              <a:lnSpc>
                <a:spcPct val="150000"/>
              </a:lnSpc>
            </a:pPr>
            <a:r>
              <a:rPr lang="en-IN" sz="2400" dirty="0">
                <a:latin typeface="Times New Roman" panose="02020603050405020304" pitchFamily="18" charset="0"/>
                <a:cs typeface="Times New Roman" panose="02020603050405020304" pitchFamily="18" charset="0"/>
              </a:rPr>
              <a:t>{</a:t>
            </a:r>
          </a:p>
          <a:p>
            <a:pPr>
              <a:lnSpc>
                <a:spcPct val="150000"/>
              </a:lnSpc>
            </a:pPr>
            <a:r>
              <a:rPr lang="en-IN" sz="2400" dirty="0">
                <a:latin typeface="Times New Roman" panose="02020603050405020304" pitchFamily="18" charset="0"/>
                <a:cs typeface="Times New Roman" panose="02020603050405020304" pitchFamily="18" charset="0"/>
              </a:rPr>
              <a:t>	int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[6] = { 10, 2, 4, 8, 6, 9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02586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(C++)</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TextBox 1"/>
          <p:cNvSpPr txBox="1"/>
          <p:nvPr/>
        </p:nvSpPr>
        <p:spPr>
          <a:xfrm>
            <a:off x="539552" y="1219686"/>
            <a:ext cx="8299647" cy="4893647"/>
          </a:xfrm>
          <a:prstGeom prst="rect">
            <a:avLst/>
          </a:prstGeom>
          <a:noFill/>
        </p:spPr>
        <p:txBody>
          <a:bodyPr wrap="square" rtlCol="0">
            <a:spAutoFit/>
          </a:bodyPr>
          <a:lstStyle/>
          <a:p>
            <a:pPr>
              <a:lnSpc>
                <a:spcPct val="150000"/>
              </a:lnSpc>
            </a:pPr>
            <a:r>
              <a:rPr lang="en-IN" sz="12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defining priority queue</a:t>
            </a:r>
          </a:p>
          <a:p>
            <a:pPr>
              <a:lnSpc>
                <a:spcPct val="15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priority_queue</a:t>
            </a:r>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&gt; </a:t>
            </a:r>
            <a:r>
              <a:rPr lang="en-IN" sz="2400" dirty="0" err="1">
                <a:latin typeface="Times New Roman" panose="02020603050405020304" pitchFamily="18" charset="0"/>
                <a:cs typeface="Times New Roman" panose="02020603050405020304" pitchFamily="18" charset="0"/>
              </a:rPr>
              <a:t>pq</a:t>
            </a:r>
            <a:r>
              <a:rPr lang="en-IN" sz="2400" dirty="0">
                <a:latin typeface="Times New Roman" panose="02020603050405020304" pitchFamily="18" charset="0"/>
                <a:cs typeface="Times New Roman" panose="02020603050405020304" pitchFamily="18" charset="0"/>
              </a:rPr>
              <a:t>;</a:t>
            </a:r>
          </a:p>
          <a:p>
            <a:pPr>
              <a:lnSpc>
                <a:spcPct val="150000"/>
              </a:lnSpc>
            </a:pPr>
            <a:r>
              <a:rPr lang="en-IN" sz="2400" dirty="0">
                <a:latin typeface="Times New Roman" panose="02020603050405020304" pitchFamily="18" charset="0"/>
                <a:cs typeface="Times New Roman" panose="02020603050405020304" pitchFamily="18" charset="0"/>
              </a:rPr>
              <a:t>// printing array</a:t>
            </a:r>
          </a:p>
          <a:p>
            <a:pPr>
              <a:lnSpc>
                <a:spcPct val="15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 &lt;&lt; "Array: ";</a:t>
            </a:r>
          </a:p>
          <a:p>
            <a:pPr>
              <a:lnSpc>
                <a:spcPct val="150000"/>
              </a:lnSpc>
            </a:pPr>
            <a:r>
              <a:rPr lang="en-IN" sz="2400" dirty="0">
                <a:latin typeface="Times New Roman" panose="02020603050405020304" pitchFamily="18" charset="0"/>
                <a:cs typeface="Times New Roman" panose="02020603050405020304" pitchFamily="18" charset="0"/>
              </a:rPr>
              <a:t>	for (auto i :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 {</a:t>
            </a:r>
          </a:p>
          <a:p>
            <a:pPr>
              <a:lnSpc>
                <a:spcPct val="15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 &lt;&lt; i &lt;&lt; ' ';</a:t>
            </a:r>
          </a:p>
          <a:p>
            <a:pPr>
              <a:lnSpc>
                <a:spcPct val="150000"/>
              </a:lnSpc>
            </a:pPr>
            <a:r>
              <a:rPr lang="en-IN" sz="2400" dirty="0">
                <a:latin typeface="Times New Roman" panose="02020603050405020304" pitchFamily="18" charset="0"/>
                <a:cs typeface="Times New Roman" panose="02020603050405020304" pitchFamily="18" charset="0"/>
              </a:rPr>
              <a:t>	}</a:t>
            </a:r>
          </a:p>
          <a:p>
            <a:pPr>
              <a:lnSpc>
                <a:spcPct val="150000"/>
              </a:lnSpc>
            </a:pPr>
            <a:r>
              <a:rPr lang="en-IN" sz="2400" dirty="0">
                <a:latin typeface="Times New Roman" panose="02020603050405020304" pitchFamily="18" charset="0"/>
                <a:cs typeface="Times New Roman" panose="02020603050405020304" pitchFamily="18" charset="0"/>
              </a:rPr>
              <a:t>	</a:t>
            </a:r>
            <a:endParaRPr lang="en-IN" sz="1600" b="1" dirty="0">
              <a:latin typeface="Times New Roman" panose="02020603050405020304" pitchFamily="18" charset="0"/>
              <a:cs typeface="Times New Roman" panose="02020603050405020304" pitchFamily="18" charset="0"/>
            </a:endParaRPr>
          </a:p>
          <a:p>
            <a:pPr>
              <a:lnSpc>
                <a:spcPct val="150000"/>
              </a:lnSpc>
            </a:pPr>
            <a:r>
              <a:rPr lang="en-IN" sz="16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349306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(C++)</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TextBox 1"/>
          <p:cNvSpPr txBox="1"/>
          <p:nvPr/>
        </p:nvSpPr>
        <p:spPr>
          <a:xfrm>
            <a:off x="467544" y="1219686"/>
            <a:ext cx="8371655" cy="5539978"/>
          </a:xfrm>
          <a:prstGeom prst="rect">
            <a:avLst/>
          </a:prstGeom>
          <a:noFill/>
        </p:spPr>
        <p:txBody>
          <a:bodyPr wrap="square" rtlCol="0">
            <a:spAutoFit/>
          </a:bodyPr>
          <a:lstStyle/>
          <a:p>
            <a:pPr>
              <a:lnSpc>
                <a:spcPct val="150000"/>
              </a:lnSpc>
            </a:pPr>
            <a:r>
              <a:rPr lang="en-IN" sz="2000" b="1"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cout</a:t>
            </a:r>
            <a:r>
              <a:rPr lang="en-IN" sz="2000" dirty="0">
                <a:latin typeface="Times New Roman" panose="02020603050405020304" pitchFamily="18" charset="0"/>
                <a:cs typeface="Times New Roman" panose="02020603050405020304" pitchFamily="18" charset="0"/>
              </a:rPr>
              <a:t> &lt;&lt; </a:t>
            </a:r>
            <a:r>
              <a:rPr lang="en-IN" sz="2000" dirty="0" err="1">
                <a:latin typeface="Times New Roman" panose="02020603050405020304" pitchFamily="18" charset="0"/>
                <a:cs typeface="Times New Roman" panose="02020603050405020304" pitchFamily="18" charset="0"/>
              </a:rPr>
              <a:t>endl</a:t>
            </a:r>
            <a:r>
              <a:rPr lang="en-IN" sz="2000" dirty="0">
                <a:latin typeface="Times New Roman" panose="02020603050405020304" pitchFamily="18" charset="0"/>
                <a:cs typeface="Times New Roman" panose="02020603050405020304" pitchFamily="18" charset="0"/>
              </a:rPr>
              <a:t>;</a:t>
            </a:r>
          </a:p>
          <a:p>
            <a:pPr>
              <a:lnSpc>
                <a:spcPct val="150000"/>
              </a:lnSpc>
            </a:pPr>
            <a:r>
              <a:rPr lang="en-IN" sz="2000" dirty="0">
                <a:latin typeface="Times New Roman" panose="02020603050405020304" pitchFamily="18" charset="0"/>
                <a:cs typeface="Times New Roman" panose="02020603050405020304" pitchFamily="18" charset="0"/>
              </a:rPr>
              <a:t>	// pushing array sequentially one by one</a:t>
            </a:r>
          </a:p>
          <a:p>
            <a:pPr>
              <a:lnSpc>
                <a:spcPct val="150000"/>
              </a:lnSpc>
            </a:pPr>
            <a:r>
              <a:rPr lang="en-IN" sz="2000" dirty="0">
                <a:latin typeface="Times New Roman" panose="02020603050405020304" pitchFamily="18" charset="0"/>
                <a:cs typeface="Times New Roman" panose="02020603050405020304" pitchFamily="18" charset="0"/>
              </a:rPr>
              <a:t>	for (</a:t>
            </a:r>
            <a:r>
              <a:rPr lang="en-IN" sz="2000" dirty="0" err="1">
                <a:latin typeface="Times New Roman" panose="02020603050405020304" pitchFamily="18" charset="0"/>
                <a:cs typeface="Times New Roman" panose="02020603050405020304" pitchFamily="18" charset="0"/>
              </a:rPr>
              <a:t>int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0;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&lt; 6;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pq.push</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arr</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p>
          <a:p>
            <a:pPr>
              <a:lnSpc>
                <a:spcPct val="150000"/>
              </a:lnSpc>
            </a:pPr>
            <a:r>
              <a:rPr lang="en-IN" sz="2000" dirty="0">
                <a:latin typeface="Times New Roman" panose="02020603050405020304" pitchFamily="18" charset="0"/>
                <a:cs typeface="Times New Roman" panose="02020603050405020304" pitchFamily="18" charset="0"/>
              </a:rPr>
              <a:t>	}</a:t>
            </a:r>
          </a:p>
          <a:p>
            <a:pPr>
              <a:lnSpc>
                <a:spcPct val="150000"/>
              </a:lnSpc>
            </a:pPr>
            <a:r>
              <a:rPr lang="en-IN" sz="2000" b="1" dirty="0">
                <a:latin typeface="Times New Roman" panose="02020603050405020304" pitchFamily="18" charset="0"/>
                <a:cs typeface="Times New Roman" panose="02020603050405020304" pitchFamily="18" charset="0"/>
              </a:rPr>
              <a:t>// printing priority queue</a:t>
            </a:r>
          </a:p>
          <a:p>
            <a:pPr>
              <a:lnSpc>
                <a:spcPct val="150000"/>
              </a:lnSpc>
            </a:pP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cout</a:t>
            </a:r>
            <a:r>
              <a:rPr lang="en-IN" sz="2000" b="1" dirty="0">
                <a:latin typeface="Times New Roman" panose="02020603050405020304" pitchFamily="18" charset="0"/>
                <a:cs typeface="Times New Roman" panose="02020603050405020304" pitchFamily="18" charset="0"/>
              </a:rPr>
              <a:t> &lt;&lt; "Priority Queue: ";</a:t>
            </a:r>
          </a:p>
          <a:p>
            <a:pPr>
              <a:lnSpc>
                <a:spcPct val="150000"/>
              </a:lnSpc>
            </a:pPr>
            <a:r>
              <a:rPr lang="en-IN" sz="2000" b="1" dirty="0">
                <a:latin typeface="Times New Roman" panose="02020603050405020304" pitchFamily="18" charset="0"/>
                <a:cs typeface="Times New Roman" panose="02020603050405020304" pitchFamily="18" charset="0"/>
              </a:rPr>
              <a:t>	while (!</a:t>
            </a:r>
            <a:r>
              <a:rPr lang="en-IN" sz="2000" b="1" dirty="0" err="1">
                <a:latin typeface="Times New Roman" panose="02020603050405020304" pitchFamily="18" charset="0"/>
                <a:cs typeface="Times New Roman" panose="02020603050405020304" pitchFamily="18" charset="0"/>
              </a:rPr>
              <a:t>pq.empty</a:t>
            </a:r>
            <a:r>
              <a:rPr lang="en-IN" sz="2000" b="1" dirty="0">
                <a:latin typeface="Times New Roman" panose="02020603050405020304" pitchFamily="18" charset="0"/>
                <a:cs typeface="Times New Roman" panose="02020603050405020304" pitchFamily="18" charset="0"/>
              </a:rPr>
              <a:t>()) {</a:t>
            </a:r>
          </a:p>
          <a:p>
            <a:pPr>
              <a:lnSpc>
                <a:spcPct val="150000"/>
              </a:lnSpc>
            </a:pP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cout</a:t>
            </a:r>
            <a:r>
              <a:rPr lang="en-IN" sz="2000" b="1" dirty="0">
                <a:latin typeface="Times New Roman" panose="02020603050405020304" pitchFamily="18" charset="0"/>
                <a:cs typeface="Times New Roman" panose="02020603050405020304" pitchFamily="18" charset="0"/>
              </a:rPr>
              <a:t> &lt;&lt; </a:t>
            </a:r>
            <a:r>
              <a:rPr lang="en-IN" sz="2000" b="1" dirty="0" err="1">
                <a:latin typeface="Times New Roman" panose="02020603050405020304" pitchFamily="18" charset="0"/>
                <a:cs typeface="Times New Roman" panose="02020603050405020304" pitchFamily="18" charset="0"/>
              </a:rPr>
              <a:t>pq.top</a:t>
            </a:r>
            <a:r>
              <a:rPr lang="en-IN" sz="2000" b="1" dirty="0">
                <a:latin typeface="Times New Roman" panose="02020603050405020304" pitchFamily="18" charset="0"/>
                <a:cs typeface="Times New Roman" panose="02020603050405020304" pitchFamily="18" charset="0"/>
              </a:rPr>
              <a:t>() &lt;&lt; ' ';</a:t>
            </a:r>
          </a:p>
          <a:p>
            <a:pPr>
              <a:lnSpc>
                <a:spcPct val="150000"/>
              </a:lnSpc>
            </a:pPr>
            <a:r>
              <a:rPr lang="en-IN" sz="2000" b="1" dirty="0">
                <a:latin typeface="Times New Roman" panose="02020603050405020304" pitchFamily="18" charset="0"/>
                <a:cs typeface="Times New Roman" panose="02020603050405020304" pitchFamily="18" charset="0"/>
              </a:rPr>
              <a:t>		pq.pop();}</a:t>
            </a:r>
          </a:p>
          <a:p>
            <a:pPr>
              <a:lnSpc>
                <a:spcPct val="150000"/>
              </a:lnSpc>
            </a:pPr>
            <a:r>
              <a:rPr lang="en-IN" sz="2000" b="1" dirty="0">
                <a:latin typeface="Times New Roman" panose="02020603050405020304" pitchFamily="18" charset="0"/>
                <a:cs typeface="Times New Roman" panose="02020603050405020304" pitchFamily="18" charset="0"/>
              </a:rPr>
              <a:t>return 0;</a:t>
            </a:r>
          </a:p>
          <a:p>
            <a:pPr>
              <a:lnSpc>
                <a:spcPct val="150000"/>
              </a:lnSpc>
            </a:pPr>
            <a:r>
              <a:rPr lang="en-IN" sz="1600" b="1" dirty="0">
                <a:latin typeface="Times New Roman" panose="02020603050405020304" pitchFamily="18" charset="0"/>
                <a:cs typeface="Times New Roman" panose="02020603050405020304" pitchFamily="18" charset="0"/>
              </a:rPr>
              <a:t>}</a:t>
            </a:r>
          </a:p>
        </p:txBody>
      </p:sp>
      <p:sp>
        <p:nvSpPr>
          <p:cNvPr id="8" name="TextBox 7"/>
          <p:cNvSpPr txBox="1"/>
          <p:nvPr/>
        </p:nvSpPr>
        <p:spPr>
          <a:xfrm>
            <a:off x="5867400" y="4419600"/>
            <a:ext cx="3124200" cy="369332"/>
          </a:xfrm>
          <a:prstGeom prst="rect">
            <a:avLst/>
          </a:prstGeom>
          <a:noFill/>
        </p:spPr>
        <p:txBody>
          <a:bodyPr wrap="square" rtlCol="0">
            <a:spAutoFit/>
          </a:bodyPr>
          <a:lstStyle/>
          <a:p>
            <a:r>
              <a:rPr lang="en-US" dirty="0">
                <a:hlinkClick r:id="rId5"/>
              </a:rPr>
              <a:t>Find the Complete code here.</a:t>
            </a:r>
            <a:endParaRPr lang="en-US" dirty="0"/>
          </a:p>
        </p:txBody>
      </p:sp>
    </p:spTree>
    <p:extLst>
      <p:ext uri="{BB962C8B-B14F-4D97-AF65-F5344CB8AC3E}">
        <p14:creationId xmlns:p14="http://schemas.microsoft.com/office/powerpoint/2010/main" val="11913097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467E-8BC1-3BF2-BF59-DBE88A26E57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059E712-47A0-A0AA-237B-69D1A26259B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a:extLst>
              <a:ext uri="{FF2B5EF4-FFF2-40B4-BE49-F238E27FC236}">
                <a16:creationId xmlns:a16="http://schemas.microsoft.com/office/drawing/2014/main" id="{FB70FFD3-2273-3396-0F62-56A851E613E4}"/>
              </a:ext>
            </a:extLst>
          </p:cNvPr>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Check Your Understanding</a:t>
            </a:r>
          </a:p>
        </p:txBody>
      </p:sp>
      <p:cxnSp>
        <p:nvCxnSpPr>
          <p:cNvPr id="7" name="Straight Connector 6">
            <a:extLst>
              <a:ext uri="{FF2B5EF4-FFF2-40B4-BE49-F238E27FC236}">
                <a16:creationId xmlns:a16="http://schemas.microsoft.com/office/drawing/2014/main" id="{FF0EE7B2-3260-DE07-F9F5-3DCED710408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DA96C67-CAE9-80EA-76E5-51432AD888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6818A489-2BAD-3AB8-8654-B94B95CD497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E7ED29BF-F581-9473-48C2-3527263621FB}"/>
              </a:ext>
            </a:extLst>
          </p:cNvPr>
          <p:cNvSpPr>
            <a:spLocks noGrp="1"/>
          </p:cNvSpPr>
          <p:nvPr>
            <p:ph type="ftr" sz="quarter" idx="11"/>
          </p:nvPr>
        </p:nvSpPr>
        <p:spPr/>
        <p:txBody>
          <a:bodyPr/>
          <a:lstStyle/>
          <a:p>
            <a:r>
              <a:rPr lang="en-IN"/>
              <a:t>Data  Structure         Unit2  </a:t>
            </a:r>
          </a:p>
        </p:txBody>
      </p:sp>
      <p:sp>
        <p:nvSpPr>
          <p:cNvPr id="2" name="TextBox 1">
            <a:extLst>
              <a:ext uri="{FF2B5EF4-FFF2-40B4-BE49-F238E27FC236}">
                <a16:creationId xmlns:a16="http://schemas.microsoft.com/office/drawing/2014/main" id="{06840553-62BE-4068-D0AF-BE83CFF3086F}"/>
              </a:ext>
            </a:extLst>
          </p:cNvPr>
          <p:cNvSpPr txBox="1"/>
          <p:nvPr/>
        </p:nvSpPr>
        <p:spPr>
          <a:xfrm>
            <a:off x="467544" y="1219686"/>
            <a:ext cx="8371655" cy="2795958"/>
          </a:xfrm>
          <a:prstGeom prst="rect">
            <a:avLst/>
          </a:prstGeom>
          <a:noFill/>
        </p:spPr>
        <p:txBody>
          <a:bodyPr wrap="square" rtlCol="0">
            <a:spAutoFit/>
          </a:bodyPr>
          <a:lstStyle/>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Why was the circular queue introduced?</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What condition indicates </a:t>
            </a:r>
            <a:r>
              <a:rPr lang="en-US" sz="2400" b="1" dirty="0">
                <a:latin typeface="Times New Roman" panose="02020603050405020304" pitchFamily="18" charset="0"/>
                <a:cs typeface="Times New Roman" panose="02020603050405020304" pitchFamily="18" charset="0"/>
              </a:rPr>
              <a:t>overflow</a:t>
            </a:r>
            <a:r>
              <a:rPr lang="en-US" sz="2400" dirty="0">
                <a:latin typeface="Times New Roman" panose="02020603050405020304" pitchFamily="18" charset="0"/>
                <a:cs typeface="Times New Roman" panose="02020603050405020304" pitchFamily="18" charset="0"/>
              </a:rPr>
              <a:t> in a circular queue?</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queue removes elements based on priority?</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What is the time complexity of enqueue and dequeue in a circular queue?</a:t>
            </a:r>
          </a:p>
        </p:txBody>
      </p:sp>
    </p:spTree>
    <p:extLst>
      <p:ext uri="{BB962C8B-B14F-4D97-AF65-F5344CB8AC3E}">
        <p14:creationId xmlns:p14="http://schemas.microsoft.com/office/powerpoint/2010/main" val="17235083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B45C-750E-0CD3-D832-F52CFC31C77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19A50B4-5EC8-04BD-2AE0-7E0F4215A39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a:extLst>
              <a:ext uri="{FF2B5EF4-FFF2-40B4-BE49-F238E27FC236}">
                <a16:creationId xmlns:a16="http://schemas.microsoft.com/office/drawing/2014/main" id="{F0BF18EF-A3B7-AC00-B733-05CE6CB7D8EE}"/>
              </a:ext>
            </a:extLst>
          </p:cNvPr>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Check Your Understanding (Answers)</a:t>
            </a:r>
          </a:p>
        </p:txBody>
      </p:sp>
      <p:cxnSp>
        <p:nvCxnSpPr>
          <p:cNvPr id="7" name="Straight Connector 6">
            <a:extLst>
              <a:ext uri="{FF2B5EF4-FFF2-40B4-BE49-F238E27FC236}">
                <a16:creationId xmlns:a16="http://schemas.microsoft.com/office/drawing/2014/main" id="{45F7355B-8F04-FD2B-3CBF-54E9C495B6D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F6B62A0-CF9E-09EC-3378-186B721786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6AF8C60-CFBE-B197-E21E-123F6C84B43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058A63B-132B-82EE-E96C-ED9D1F988E0F}"/>
              </a:ext>
            </a:extLst>
          </p:cNvPr>
          <p:cNvSpPr>
            <a:spLocks noGrp="1"/>
          </p:cNvSpPr>
          <p:nvPr>
            <p:ph type="ftr" sz="quarter" idx="11"/>
          </p:nvPr>
        </p:nvSpPr>
        <p:spPr/>
        <p:txBody>
          <a:bodyPr/>
          <a:lstStyle/>
          <a:p>
            <a:r>
              <a:rPr lang="en-IN"/>
              <a:t>Data  Structure         Unit2  </a:t>
            </a:r>
          </a:p>
        </p:txBody>
      </p:sp>
      <p:sp>
        <p:nvSpPr>
          <p:cNvPr id="2" name="TextBox 1">
            <a:extLst>
              <a:ext uri="{FF2B5EF4-FFF2-40B4-BE49-F238E27FC236}">
                <a16:creationId xmlns:a16="http://schemas.microsoft.com/office/drawing/2014/main" id="{E63A4E82-2219-4339-4566-73391302D608}"/>
              </a:ext>
            </a:extLst>
          </p:cNvPr>
          <p:cNvSpPr txBox="1"/>
          <p:nvPr/>
        </p:nvSpPr>
        <p:spPr>
          <a:xfrm>
            <a:off x="467544" y="1219686"/>
            <a:ext cx="8371655" cy="2241960"/>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To utilize vacant spaces at the beginning of array</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(rear+1) % n == front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Priority Queue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O(1)</a:t>
            </a:r>
          </a:p>
        </p:txBody>
      </p:sp>
    </p:spTree>
    <p:extLst>
      <p:ext uri="{BB962C8B-B14F-4D97-AF65-F5344CB8AC3E}">
        <p14:creationId xmlns:p14="http://schemas.microsoft.com/office/powerpoint/2010/main" val="1122379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Points to Remember</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395536" y="1058741"/>
            <a:ext cx="8181873" cy="3970318"/>
          </a:xfrm>
          <a:prstGeom prst="rect">
            <a:avLst/>
          </a:prstGeom>
        </p:spPr>
        <p:txBody>
          <a:bodyPr wrap="square">
            <a:spAutoFit/>
          </a:bodyPr>
          <a:lstStyle/>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 A queue is a FIFO data structure in which the element that is inserted first is the first one to be taken out.</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The elements in a queue are added at one end called the rear and removed from the other end called the front.</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 In the computer ’s memory, queues can be implemented using both arrays and linked lists.</a:t>
            </a:r>
          </a:p>
          <a:p>
            <a:pPr marL="342900" indent="-342900"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16439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p:cNvSpPr>
            <a:spLocks noChangeArrowheads="1"/>
          </p:cNvSpPr>
          <p:nvPr/>
        </p:nvSpPr>
        <p:spPr bwMode="auto">
          <a:xfrm>
            <a:off x="341275" y="381545"/>
            <a:ext cx="823613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Points to Remember</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341275" y="1196752"/>
            <a:ext cx="8233824" cy="3416320"/>
          </a:xfrm>
          <a:prstGeom prst="rect">
            <a:avLst/>
          </a:prstGeom>
        </p:spPr>
        <p:txBody>
          <a:bodyPr wrap="square">
            <a:spAutoFit/>
          </a:bodyPr>
          <a:lstStyle/>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The storage requirement of linked representation of queue with n elements is O(n) and the typical time requirement for operations is O(1).</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In a circular queue, the first index comes after the last index.</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 Multiple queues means to have more than one queue in the same array of sufficient size.</a:t>
            </a:r>
          </a:p>
        </p:txBody>
      </p:sp>
    </p:spTree>
    <p:extLst>
      <p:ext uri="{BB962C8B-B14F-4D97-AF65-F5344CB8AC3E}">
        <p14:creationId xmlns:p14="http://schemas.microsoft.com/office/powerpoint/2010/main" val="11358119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p:cNvSpPr>
            <a:spLocks noChangeArrowheads="1"/>
          </p:cNvSpPr>
          <p:nvPr/>
        </p:nvSpPr>
        <p:spPr bwMode="auto">
          <a:xfrm>
            <a:off x="345541" y="381545"/>
            <a:ext cx="823186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Points to Remember</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345541" y="1207554"/>
            <a:ext cx="8231868" cy="3359061"/>
          </a:xfrm>
          <a:prstGeom prst="rect">
            <a:avLst/>
          </a:prstGeom>
        </p:spPr>
        <p:txBody>
          <a:bodyPr wrap="square">
            <a:spAutoFit/>
          </a:bodyPr>
          <a:lstStyle/>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 A queue is a FIFO data structure in which the element that is inserted first is the first one to be taken out.</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The elements in a queue are added at one end called the rear and removed from the other end called the front.</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 In the computer ’s memory, queues can be implemented using both arrays and linked lists.</a:t>
            </a:r>
          </a:p>
        </p:txBody>
      </p:sp>
    </p:spTree>
    <p:extLst>
      <p:ext uri="{BB962C8B-B14F-4D97-AF65-F5344CB8AC3E}">
        <p14:creationId xmlns:p14="http://schemas.microsoft.com/office/powerpoint/2010/main" val="36741648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Points to Remember</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395536" y="1061448"/>
            <a:ext cx="8064896" cy="5337872"/>
          </a:xfrm>
          <a:prstGeom prst="rect">
            <a:avLst/>
          </a:prstGeom>
        </p:spPr>
        <p:txBody>
          <a:bodyPr wrap="square">
            <a:spAutoFit/>
          </a:bodyPr>
          <a:lstStyle/>
          <a:p>
            <a:pPr marL="342900" indent="-342900"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  A deque is a list in which elements can be inserted or deleted at either end. It is also known as a head tail linked list because elements can be added to or removed from the front (head) or back (tail). However, no element can be added or deleted from the middle. In the computer’s memory, a deque is implemented using either a circular array or a circular doubly linked list. </a:t>
            </a:r>
          </a:p>
          <a:p>
            <a:pPr marL="342900" indent="-342900"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 In an input restricted deque, insertions can be done only at one end, while deletions can be done from both the ends. In an output restricted deque, deletions can be done only at one end, while insertions can be done at both the ends.</a:t>
            </a:r>
          </a:p>
        </p:txBody>
      </p:sp>
    </p:spTree>
    <p:extLst>
      <p:ext uri="{BB962C8B-B14F-4D97-AF65-F5344CB8AC3E}">
        <p14:creationId xmlns:p14="http://schemas.microsoft.com/office/powerpoint/2010/main" val="12208751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p:cNvSpPr>
            <a:spLocks noChangeArrowheads="1"/>
          </p:cNvSpPr>
          <p:nvPr/>
        </p:nvSpPr>
        <p:spPr bwMode="auto">
          <a:xfrm>
            <a:off x="282821" y="381545"/>
            <a:ext cx="829458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Points to Remember</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282822" y="1293834"/>
            <a:ext cx="8294586" cy="4276042"/>
          </a:xfrm>
          <a:prstGeom prst="rect">
            <a:avLst/>
          </a:prstGeom>
        </p:spPr>
        <p:txBody>
          <a:bodyPr wrap="square">
            <a:spAutoFit/>
          </a:bodyPr>
          <a:lstStyle/>
          <a:p>
            <a:pPr marL="342900" indent="-342900"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A priority queue is a data structure in which each element is assigned a priority. The priority of the element will be used to determine the order in which the elements will be processed. </a:t>
            </a:r>
          </a:p>
          <a:p>
            <a:pPr marL="342900" indent="-342900"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When a priority queue is implemented using a linked list, then every node of the list will have three parts:</a:t>
            </a:r>
          </a:p>
          <a:p>
            <a:pPr marL="457200" indent="-457200" algn="just">
              <a:lnSpc>
                <a:spcPct val="150000"/>
              </a:lnSpc>
              <a:buAutoNum type="alphaLcParenBoth"/>
            </a:pPr>
            <a:r>
              <a:rPr lang="en-IN" sz="2300" dirty="0">
                <a:latin typeface="Times New Roman" panose="02020603050405020304" pitchFamily="18" charset="0"/>
                <a:cs typeface="Times New Roman" panose="02020603050405020304" pitchFamily="18" charset="0"/>
              </a:rPr>
              <a:t>the information or data part,</a:t>
            </a:r>
          </a:p>
          <a:p>
            <a:pPr marL="457200" indent="-457200" algn="just">
              <a:lnSpc>
                <a:spcPct val="150000"/>
              </a:lnSpc>
              <a:buAutoNum type="alphaLcParenBoth"/>
            </a:pPr>
            <a:r>
              <a:rPr lang="en-IN" sz="2300" dirty="0">
                <a:latin typeface="Times New Roman" panose="02020603050405020304" pitchFamily="18" charset="0"/>
                <a:cs typeface="Times New Roman" panose="02020603050405020304" pitchFamily="18" charset="0"/>
              </a:rPr>
              <a:t>the priority number of the element, and </a:t>
            </a:r>
          </a:p>
          <a:p>
            <a:pPr marL="457200" indent="-457200" algn="just">
              <a:lnSpc>
                <a:spcPct val="150000"/>
              </a:lnSpc>
              <a:buAutoNum type="alphaLcParenBoth"/>
            </a:pPr>
            <a:r>
              <a:rPr lang="en-IN" sz="2300" dirty="0">
                <a:latin typeface="Times New Roman" panose="02020603050405020304" pitchFamily="18" charset="0"/>
                <a:cs typeface="Times New Roman" panose="02020603050405020304" pitchFamily="18" charset="0"/>
              </a:rPr>
              <a:t> the address of the next element</a:t>
            </a:r>
          </a:p>
        </p:txBody>
      </p:sp>
    </p:spTree>
    <p:extLst>
      <p:ext uri="{BB962C8B-B14F-4D97-AF65-F5344CB8AC3E}">
        <p14:creationId xmlns:p14="http://schemas.microsoft.com/office/powerpoint/2010/main" val="2456672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2D74D-4C8B-01D5-E59A-9EE674CCF33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ACBE3F3-C657-5CE5-CE01-C1A7647BD8C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219B5446-37F1-D142-7F20-F56B2B6AC58E}"/>
              </a:ext>
            </a:extLst>
          </p:cNvPr>
          <p:cNvSpPr>
            <a:spLocks noChangeArrowheads="1"/>
          </p:cNvSpPr>
          <p:nvPr/>
        </p:nvSpPr>
        <p:spPr bwMode="auto">
          <a:xfrm>
            <a:off x="282821" y="381545"/>
            <a:ext cx="829458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Key Takeaways</a:t>
            </a:r>
          </a:p>
        </p:txBody>
      </p:sp>
      <p:cxnSp>
        <p:nvCxnSpPr>
          <p:cNvPr id="7" name="Straight Connector 6">
            <a:extLst>
              <a:ext uri="{FF2B5EF4-FFF2-40B4-BE49-F238E27FC236}">
                <a16:creationId xmlns:a16="http://schemas.microsoft.com/office/drawing/2014/main" id="{8994078F-EBFE-0719-D951-A990B3A324F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6A7E465-6A1A-F3AD-F033-C6C8E763CE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F973B48-BDBA-F332-5A30-7A4D6111261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9A4B795-C454-DCAA-C22E-D1B61803B844}"/>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A72E8547-6DC9-AA9B-EBA1-F15CC51AA7F5}"/>
              </a:ext>
            </a:extLst>
          </p:cNvPr>
          <p:cNvSpPr/>
          <p:nvPr/>
        </p:nvSpPr>
        <p:spPr>
          <a:xfrm>
            <a:off x="282822" y="1293834"/>
            <a:ext cx="8294586" cy="4555093"/>
          </a:xfrm>
          <a:prstGeom prst="rect">
            <a:avLst/>
          </a:prstGeom>
        </p:spPr>
        <p:txBody>
          <a:bodyPr wrap="square">
            <a:spAutoFit/>
          </a:bodyPr>
          <a:lstStyle/>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Queue is fundamental for fair and ordered processing (FIFO).</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It is widely used in CPU scheduling, printer spooling, BFS, networking, and traffic systems.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Circular queues improve space utilization over linear array queues.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Priority queues process elements based on priority, not arrival time.</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Most queue operations (enqueue/dequeue) run in O(1) time.</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Choosing the right queue type improves performance and resource utilization.</a:t>
            </a:r>
          </a:p>
        </p:txBody>
      </p:sp>
    </p:spTree>
    <p:extLst>
      <p:ext uri="{BB962C8B-B14F-4D97-AF65-F5344CB8AC3E}">
        <p14:creationId xmlns:p14="http://schemas.microsoft.com/office/powerpoint/2010/main" val="33364742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2B4D2-A8D2-0540-3D5D-90E5BA475FD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900CBD-7349-29E5-A527-8D5E36E2681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E71710B-EADB-A893-E51E-4B9FC6AEA2E6}"/>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CCA9003-DCCB-0DCC-8549-4CB39D7CDF6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07A9C69-F778-7CFA-FDB3-A5169FE7A5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02E9FB76-187A-1829-B7CF-1D3F94E6D4D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C89C9F6-4D83-9C8C-B249-11BE1F82B3B6}"/>
              </a:ext>
            </a:extLst>
          </p:cNvPr>
          <p:cNvSpPr txBox="1"/>
          <p:nvPr/>
        </p:nvSpPr>
        <p:spPr>
          <a:xfrm>
            <a:off x="216025" y="1144192"/>
            <a:ext cx="8748463" cy="5509200"/>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GeeksforGeeks</a:t>
            </a:r>
            <a:r>
              <a:rPr lang="en-US" altLang="en-US" sz="1600" dirty="0">
                <a:latin typeface="Times New Roman" panose="02020603050405020304" pitchFamily="18" charset="0"/>
                <a:cs typeface="Times New Roman" panose="02020603050405020304" pitchFamily="18" charset="0"/>
              </a:rPr>
              <a:t> – Queue Applications</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5"/>
              </a:rPr>
              <a:t>https://www.geeksforgeeks.org/queue-data-structure/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JavaTpoint</a:t>
            </a:r>
            <a:r>
              <a:rPr lang="en-US" altLang="en-US" sz="1600" dirty="0">
                <a:latin typeface="Times New Roman" panose="02020603050405020304" pitchFamily="18" charset="0"/>
                <a:cs typeface="Times New Roman" panose="02020603050405020304" pitchFamily="18" charset="0"/>
              </a:rPr>
              <a:t> – Queue &amp; Circular Queue</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6"/>
              </a:rPr>
              <a:t>https://www.javatpoint.com/data-structure-queue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a:latin typeface="Times New Roman" panose="02020603050405020304" pitchFamily="18" charset="0"/>
                <a:cs typeface="Times New Roman" panose="02020603050405020304" pitchFamily="18" charset="0"/>
              </a:rPr>
              <a:t>Scaler – Circular Queue</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7"/>
              </a:rPr>
              <a:t>https://www.scaler.com/topics/data-structures/queue-in-data-structure/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a:latin typeface="Times New Roman" panose="02020603050405020304" pitchFamily="18" charset="0"/>
                <a:cs typeface="Times New Roman" panose="02020603050405020304" pitchFamily="18" charset="0"/>
              </a:rPr>
              <a:t>Simplilearn – Priority Queue</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8"/>
              </a:rPr>
              <a:t>https://www.simplilearn.com/tutorials/data-structure-tutorial/priority-queue-in-data-structure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Programiz</a:t>
            </a:r>
            <a:r>
              <a:rPr lang="en-US" altLang="en-US" sz="1600" dirty="0">
                <a:latin typeface="Times New Roman" panose="02020603050405020304" pitchFamily="18" charset="0"/>
                <a:cs typeface="Times New Roman" panose="02020603050405020304" pitchFamily="18" charset="0"/>
              </a:rPr>
              <a:t> – Queue in Python</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9"/>
              </a:rPr>
              <a:t>https://www.programiz.com/dsa/queue</a:t>
            </a:r>
            <a:endParaRPr lang="en-US" altLang="en-US"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E8AF5305-A19D-A366-0884-D99B02E512A8}"/>
              </a:ext>
            </a:extLst>
          </p:cNvPr>
          <p:cNvSpPr>
            <a:spLocks noGrp="1"/>
          </p:cNvSpPr>
          <p:nvPr>
            <p:ph type="sldNum" sz="quarter" idx="12"/>
          </p:nvPr>
        </p:nvSpPr>
        <p:spPr/>
        <p:txBody>
          <a:bodyPr/>
          <a:lstStyle/>
          <a:p>
            <a:fld id="{C421C46D-3F04-4F73-BF36-E6D9DA5AE143}" type="slidenum">
              <a:rPr lang="en-IN" smtClean="0"/>
              <a:t>86</a:t>
            </a:fld>
            <a:endParaRPr lang="en-IN"/>
          </a:p>
        </p:txBody>
      </p:sp>
    </p:spTree>
    <p:extLst>
      <p:ext uri="{BB962C8B-B14F-4D97-AF65-F5344CB8AC3E}">
        <p14:creationId xmlns:p14="http://schemas.microsoft.com/office/powerpoint/2010/main" val="31501337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6BD4-0C46-7723-3D33-4A396A199EC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39D137C-AB62-EEE0-8D48-C1AC00FB7F1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a:extLst>
              <a:ext uri="{FF2B5EF4-FFF2-40B4-BE49-F238E27FC236}">
                <a16:creationId xmlns:a16="http://schemas.microsoft.com/office/drawing/2014/main" id="{DF0AD931-41F5-5766-D306-C893F5B163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25106362-5908-0850-F1E0-F9372D054593}"/>
              </a:ext>
            </a:extLst>
          </p:cNvPr>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a:extLst>
              <a:ext uri="{FF2B5EF4-FFF2-40B4-BE49-F238E27FC236}">
                <a16:creationId xmlns:a16="http://schemas.microsoft.com/office/drawing/2014/main" id="{C05C6DA1-3C0A-0EB2-3E6B-C7CFCA827C6C}"/>
              </a:ext>
            </a:extLst>
          </p:cNvPr>
          <p:cNvSpPr>
            <a:spLocks noGrp="1"/>
          </p:cNvSpPr>
          <p:nvPr>
            <p:ph type="sldNum" sz="quarter" idx="12"/>
          </p:nvPr>
        </p:nvSpPr>
        <p:spPr/>
        <p:txBody>
          <a:bodyPr/>
          <a:lstStyle/>
          <a:p>
            <a:fld id="{C421C46D-3F04-4F73-BF36-E6D9DA5AE143}" type="slidenum">
              <a:rPr lang="en-IN" smtClean="0"/>
              <a:t>87</a:t>
            </a:fld>
            <a:endParaRPr lang="en-IN"/>
          </a:p>
        </p:txBody>
      </p:sp>
    </p:spTree>
    <p:extLst>
      <p:ext uri="{BB962C8B-B14F-4D97-AF65-F5344CB8AC3E}">
        <p14:creationId xmlns:p14="http://schemas.microsoft.com/office/powerpoint/2010/main" val="2784960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23624</TotalTime>
  <Words>7007</Words>
  <Application>Microsoft Office PowerPoint</Application>
  <PresentationFormat>On-screen Show (4:3)</PresentationFormat>
  <Paragraphs>1217</Paragraphs>
  <Slides>87</Slides>
  <Notes>85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87</vt:i4>
      </vt:variant>
    </vt:vector>
  </HeadingPairs>
  <TitlesOfParts>
    <vt:vector size="95"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Aarti Sangwan</cp:lastModifiedBy>
  <cp:revision>1469</cp:revision>
  <cp:lastPrinted>2022-09-05T08:43:44Z</cp:lastPrinted>
  <dcterms:created xsi:type="dcterms:W3CDTF">2020-01-16T09:05:56Z</dcterms:created>
  <dcterms:modified xsi:type="dcterms:W3CDTF">2026-01-11T22:35:34Z</dcterms:modified>
</cp:coreProperties>
</file>