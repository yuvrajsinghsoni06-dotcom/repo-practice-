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9"/>
  </p:notesMasterIdLst>
  <p:sldIdLst>
    <p:sldId id="497" r:id="rId2"/>
    <p:sldId id="582" r:id="rId3"/>
    <p:sldId id="1101" r:id="rId4"/>
    <p:sldId id="1102" r:id="rId5"/>
    <p:sldId id="1103" r:id="rId6"/>
    <p:sldId id="1104" r:id="rId7"/>
    <p:sldId id="1105" r:id="rId8"/>
    <p:sldId id="1090" r:id="rId9"/>
    <p:sldId id="1091" r:id="rId10"/>
    <p:sldId id="1092" r:id="rId11"/>
    <p:sldId id="1093" r:id="rId12"/>
    <p:sldId id="1094" r:id="rId13"/>
    <p:sldId id="1095" r:id="rId14"/>
    <p:sldId id="1096" r:id="rId15"/>
    <p:sldId id="1097" r:id="rId16"/>
    <p:sldId id="1098" r:id="rId17"/>
    <p:sldId id="1133" r:id="rId18"/>
    <p:sldId id="501" r:id="rId19"/>
    <p:sldId id="1108" r:id="rId20"/>
    <p:sldId id="1109" r:id="rId21"/>
    <p:sldId id="1110" r:id="rId22"/>
    <p:sldId id="595" r:id="rId23"/>
    <p:sldId id="669" r:id="rId24"/>
    <p:sldId id="638" r:id="rId25"/>
    <p:sldId id="639" r:id="rId26"/>
    <p:sldId id="670" r:id="rId27"/>
    <p:sldId id="641" r:id="rId28"/>
    <p:sldId id="642" r:id="rId29"/>
    <p:sldId id="635" r:id="rId30"/>
    <p:sldId id="671" r:id="rId31"/>
    <p:sldId id="672" r:id="rId32"/>
    <p:sldId id="646" r:id="rId33"/>
    <p:sldId id="514" r:id="rId34"/>
    <p:sldId id="596" r:id="rId35"/>
    <p:sldId id="598" r:id="rId36"/>
    <p:sldId id="1111" r:id="rId37"/>
    <p:sldId id="1112" r:id="rId38"/>
    <p:sldId id="1113" r:id="rId39"/>
    <p:sldId id="1114" r:id="rId40"/>
    <p:sldId id="552" r:id="rId41"/>
    <p:sldId id="1115" r:id="rId42"/>
    <p:sldId id="558" r:id="rId43"/>
    <p:sldId id="1116" r:id="rId44"/>
    <p:sldId id="1117" r:id="rId45"/>
    <p:sldId id="1118" r:id="rId46"/>
    <p:sldId id="560" r:id="rId47"/>
    <p:sldId id="1119" r:id="rId48"/>
    <p:sldId id="561" r:id="rId49"/>
    <p:sldId id="1120" r:id="rId50"/>
    <p:sldId id="1121" r:id="rId51"/>
    <p:sldId id="593" r:id="rId52"/>
    <p:sldId id="1122" r:id="rId53"/>
    <p:sldId id="609" r:id="rId54"/>
    <p:sldId id="1123" r:id="rId55"/>
    <p:sldId id="1124" r:id="rId56"/>
    <p:sldId id="1125" r:id="rId57"/>
    <p:sldId id="1085" r:id="rId58"/>
    <p:sldId id="1126" r:id="rId59"/>
    <p:sldId id="594" r:id="rId60"/>
    <p:sldId id="1127" r:id="rId61"/>
    <p:sldId id="1128" r:id="rId62"/>
    <p:sldId id="1129" r:id="rId63"/>
    <p:sldId id="1130" r:id="rId64"/>
    <p:sldId id="1131" r:id="rId65"/>
    <p:sldId id="1132" r:id="rId66"/>
    <p:sldId id="1100" r:id="rId67"/>
    <p:sldId id="269" r:id="rId6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0B1D5-134D-4ADB-A479-C638B22A3D00}" v="1" dt="2026-03-07T12:46:00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raj Soni" userId="6ddc1ecbb390bcde" providerId="LiveId" clId="{5E39A97B-1225-4D46-967F-3D6A37E8B2E4}"/>
    <pc:docChg chg="modSld">
      <pc:chgData name="Yuvraj Soni" userId="6ddc1ecbb390bcde" providerId="LiveId" clId="{5E39A97B-1225-4D46-967F-3D6A37E8B2E4}" dt="2026-03-07T12:46:00.476" v="0" actId="1038"/>
      <pc:docMkLst>
        <pc:docMk/>
      </pc:docMkLst>
      <pc:sldChg chg="modSp">
        <pc:chgData name="Yuvraj Soni" userId="6ddc1ecbb390bcde" providerId="LiveId" clId="{5E39A97B-1225-4D46-967F-3D6A37E8B2E4}" dt="2026-03-07T12:46:00.476" v="0" actId="1038"/>
        <pc:sldMkLst>
          <pc:docMk/>
          <pc:sldMk cId="854666791" sldId="1123"/>
        </pc:sldMkLst>
        <pc:picChg chg="mod">
          <ac:chgData name="Yuvraj Soni" userId="6ddc1ecbb390bcde" providerId="LiveId" clId="{5E39A97B-1225-4D46-967F-3D6A37E8B2E4}" dt="2026-03-07T12:46:00.476" v="0" actId="1038"/>
          <ac:picMkLst>
            <pc:docMk/>
            <pc:sldMk cId="854666791" sldId="1123"/>
            <ac:picMk id="10242" creationId="{F494D0A5-29B1-3972-A3F3-3E97D25210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737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0D55-EC1B-BF31-C030-6CC8DFF2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F9123-E584-2F8D-D29E-9F452149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C185C-3848-8128-4E3F-6E08D9E6F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346D1-12C3-9FA6-1C58-0FE289F3E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020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4431-1FC5-0ED3-AAD9-AB270F26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D045C-35A0-A8A6-4E86-6E2907B48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BF3B6-F834-7650-BC7C-D4B003E57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C078E-A4AD-FF62-F3B8-B4E4103C9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42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DC57-4E6E-51B3-13FB-D41B16DB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9E18C-E157-7756-BE77-8734D45A5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3EA04-3917-8C6B-308C-FF841993A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52333-8065-9488-9862-F453A0824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777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905E-D9BB-C847-5DAF-8D2A88F4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3A27A-B186-A178-9DC7-AC1F11BBD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D57D9-DA20-8833-83EA-727A221A3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E88C1-2D8B-F825-5A77-ADD18DC4B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024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019FF-3707-FCBB-38E8-87490613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54ED0-863C-53A4-F650-A63973491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4BE4D-69C7-7681-A48F-76C3DE7E2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BA221-257C-DFA5-94BD-C91CBCA45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594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7929-7CF1-21F9-7A63-9901A3F4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736A6-09A4-40FD-7C3F-B3008C4F5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15DF7-6191-8710-3175-B07B220A7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9A948-A402-0722-DB1B-046A2E5BF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972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CF1E-04C7-AEF9-15D2-AC4C77F5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B3F8C-9533-B67C-7B4C-8C9B02C96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39653-B2D6-A3E7-FF05-C8D393299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172C1-279C-E004-E08C-1A330DF0E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649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BDA-5A10-4969-A221-637CABE6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CB5F9-4B16-913A-8A6A-BB65BD42C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EE87B-3E65-25E2-3721-582DFD033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78DFB-A6B5-7DC1-AFF4-B98F69D76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528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DE959-4957-1845-9EF0-750C040F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E693A-59EC-E42E-2737-2B4875D48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FF794-069A-A49D-7843-E040558A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8EAFE-01B8-0ECA-A45A-13BCE0ED8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508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FE7D-015F-B1A1-7B5A-FB081A1C6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9466C-49EA-252D-07FB-CFB1C1C44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2745E-45B5-6F2D-8561-22298B2B8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77260-3035-39DD-F7AA-CB6C8C3A7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438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4838-7331-D369-F1EF-7C41F9CC1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88FEA-BBC5-CAD6-18D0-312DC5D6C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BFB6B-E268-33A4-EE5B-4CCC7BB3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465D2-D54E-E373-E708-3A7203A1E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663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6301-D37E-8781-F8E9-408D8095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42A08-2D98-D87C-CC13-CFA87CCA7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78B14-2A2B-3A52-322C-FD3A4881D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4B995-7B03-7E1B-6128-1BD7638AA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795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314E5-0A5B-24AA-8819-E2A55A44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6C993-4C53-CA06-B8AC-BCEF3087F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1DB85-38BA-BA7C-3B34-3E090549B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7B129-D10F-DC27-89F2-0B45E1B45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81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C8EE-136B-CEBC-5D0A-7C5266DF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EDDBB-C403-2424-D00B-15A9D874B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A9D1B-097F-4D45-114B-4A8DA88B9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3A119-4CFF-3D68-46BA-F6330EE57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9891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DBB51-309C-4E3A-52B7-3418B1C9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1A99E-75CB-6C1A-221F-BF7F052F5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5D0F4-497D-534D-9D69-506FFAF87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84F42-8921-9BE2-4BB5-E5788819A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5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338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6F3CC-7D29-A121-BA41-56AB8B32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0D357-CE13-FA33-B2FE-04533C481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EACFF-DFDB-052F-5164-1D5CD2DE6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6A680-3B3D-8C48-BBBD-B3B69166D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513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58A9-75A4-6882-1D6E-47AB2E11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4F732-A414-D29B-442A-3BBFCB26A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59CBB-9097-135A-F160-8FA5FBB68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02A5A-4D5F-E7D2-2A54-91086CFF1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2489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5295B-473C-C7F6-0CC0-82132718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C43D7-E8A7-B13E-F9BF-78AEFDBA6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C85B7-8604-6185-E411-17A8038C5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112A0-AE48-7C20-1AF1-2AA87B786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99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704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635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8457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15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66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881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6410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758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9345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3239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758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7790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319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6492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113A-1DD5-086A-A9A4-C83E47DB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0B67C-B512-E37C-975D-92EA314AF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7A242-7C0E-5906-49CA-2BB751240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81D9E-5EAC-3C18-CD7D-0D4A727F9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6520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610B-0781-291B-0985-39783094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69EBB-2330-E464-AE05-899184DA7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A2EC2-B020-CB6B-7FB7-954C83EC6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894C7-6B5B-0D24-7A65-3E25E3805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904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7133-1219-9FD5-3A4B-BE0822C7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B50B1-8666-5209-7080-6F818877E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12FB5-DDEA-D714-1E89-34EEC7CC7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28314-75E9-5B30-116F-E6D7B8EB2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137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500F-A031-7F80-8882-3720A7AF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ABFEF-10BE-3DB7-0BF6-09BAC2FDB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0940C-7E40-54EE-B80D-F17FB09A2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08C58-CEE2-5078-1E84-19CDE81CC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0731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806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D345-9960-C35E-B0D5-E41EDBE0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F45E7-9578-6E2F-8DBC-4AD2C4AE2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1391E-D8C6-88F3-33ED-8CA33A14C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BC934-C20B-695D-2197-61047CC2E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1100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3881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5E58-44B0-FCBD-AE84-FA31FFFD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D2BC1-8CCF-5046-CAA9-70E26D6A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4EED6-17C3-4BEC-F247-651479F97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9FC5-7046-652A-BA3C-4C5E700E5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1427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28CF-9258-EA42-D69A-82925D6C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1C425-97EF-2AAA-AF08-86D563723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49D5E-BAE5-AB12-7A93-72C460F5B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821E4-86DD-A3D8-CDA3-7424011D7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5948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E3A4-6AAF-51FF-33E5-1DF98FA9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9766D-C141-8E28-F391-89BB4D9DF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FB830-6B34-0BAD-8D4D-B0B8F6F95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C95FC-7B9D-B0F7-2538-A6254DF98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8236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1995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C758F-AC61-94D3-8FA8-179EDFC3E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8FC12-EF08-C08E-EF2C-3EE27F08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7385C-61A9-E464-F8E1-A646C16D0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CF945-F87A-D430-4F92-F514AF9E4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346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3684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375D-DA14-850D-CD0F-94604470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54EAB-121F-4C77-176F-C00A0130D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2024C-C034-4EC3-9051-8E7AC2CD4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1ED5A-5655-9120-847F-F0554C05E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7247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1260-DFB0-F3CC-0FCC-10B701D1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266E6-56C1-F917-9B74-FAAF0896A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3A6CD-BCAA-DBFD-42C6-9BFEB3B84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97A7E-4D6D-986B-865B-3C75C0C5B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3912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5732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824B-0632-5ABA-8D2A-D327171D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9223A-440A-E766-6473-8BB5896EF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34899-87AD-20BB-55EA-BB6BBD7DA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2B2C7-0A26-9523-C65B-EA8238D10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073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8935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D2B5-AE69-B8C2-2BCD-B8CB36CB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25750-0E61-E907-B9FA-80D29A505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119BF-955B-65CB-D9A7-B4E5F145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1A4DD-F56E-3B5F-3251-57EDEB3B2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1010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DD79-3A8F-D3E4-1C91-63B963DE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35066-672F-82D3-05A6-7E3231CE4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0672C-C38C-348E-BE23-CD71428B4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1AF31-D644-64FF-65A4-ED3A48BB6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1402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5433B-A03A-8A46-62CE-C6E76CA4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E58BB-8E5E-6EB2-ACAA-8775AA20E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11C1D-559B-0A08-2710-AE0E92CA2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F9F70-0563-3680-CD3F-B9D99630F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33402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7366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FE3B-40C1-80A4-0D55-8E70FEEAA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A37AC-E75E-0B50-4455-B4DB47E91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DB166-A86E-18FB-FA20-BE0E539A5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C0E5B-3CA7-5144-3576-557CDF8C0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19636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1689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FDD3-17D3-F30D-332F-D0D96AED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027AA-6E14-2071-97F2-03A2DD142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895AE-7DDF-9D72-071F-35A501F46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7082B-76CD-4995-3099-23376FC86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53911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9DDE-B237-6A97-D12D-B0C56207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CD380-C5EC-DFEE-9412-81B48643C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38C0E-6FAE-B3D0-FD83-60284087D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CA862-27B9-65E6-01D2-8DC817732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7257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70E71-7003-7F16-F3B5-1BF94866F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9A4C4-126C-3A14-9C82-557FD4171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D1AF4-F2EF-15C1-49A2-546CB49AE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7379F-7EF6-7C81-D36B-45D33DDB5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2939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7496-26F0-080C-BBEF-F571DE56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BBBCF-E2DF-136A-C4F7-C1E5E6263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1E666-A501-783D-F763-5AC051513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93CAE-1B9C-123B-3C1F-73417E80B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62117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92B2-1EDC-AD92-026A-73E3E3B6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3AD41-6E8B-DF71-51E6-4E224A176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E580D-ADC8-1B18-C4BF-840FFFB37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F43CF-96EE-2B8C-BF0D-6DB8745EC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8410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7753-9ADB-A6AE-AE4C-C4A9CBBF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45146-45BF-F0F3-561E-98D553705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BA0FA-155B-8305-0380-BA533D592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7222E-6F72-DCC4-7426-DBF655105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0049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27F42-EB13-0918-DFC6-D7250A24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7B668-20E6-0025-CA88-840EAE7EB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136CB-20E2-B30C-90DD-81149BDA6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FA88C-AE4D-CECF-3A6E-DF957038B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268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575122"/>
            <a:ext cx="7326944" cy="133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4125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2775"/>
              </a:lnSpc>
            </a:pPr>
            <a:r>
              <a:rPr lang="en-IN" sz="2400" baseline="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400" baseline="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 </a:t>
            </a:r>
            <a:r>
              <a:rPr lang="en-IN" sz="2400" baseline="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 rtl="0">
              <a:lnSpc>
                <a:spcPts val="2775"/>
              </a:lnSpc>
            </a:pPr>
            <a:r>
              <a:rPr lang="en-IN" sz="2400" dirty="0">
                <a:latin typeface="Calibri"/>
                <a:ea typeface="Segoe UI"/>
                <a:cs typeface="Segoe UI"/>
              </a:rPr>
              <a:t>​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34" y="5096703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 dirty="0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133600" y="3169086"/>
            <a:ext cx="6259286" cy="49244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UNIT-1: 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Data Structures</a:t>
            </a:r>
            <a:r>
              <a:rPr lang="en-US" sz="2000" dirty="0">
                <a:ea typeface="Calibri"/>
                <a:cs typeface="Calibri"/>
              </a:rPr>
              <a:t>​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A19E0-2835-E3E9-BF02-E0BB92B95298}"/>
              </a:ext>
            </a:extLst>
          </p:cNvPr>
          <p:cNvSpPr txBox="1"/>
          <p:nvPr/>
        </p:nvSpPr>
        <p:spPr>
          <a:xfrm>
            <a:off x="2241664" y="4043292"/>
            <a:ext cx="469718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Dr. </a:t>
            </a:r>
            <a:r>
              <a:rPr lang="en-US" sz="18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Shahjad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, Mr. Deepak, 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Ms. Neetu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666" y="391679"/>
            <a:ext cx="895279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3200" b="1" kern="100" dirty="0">
                <a:latin typeface="Verdana"/>
                <a:ea typeface="Verdana"/>
                <a:cs typeface="Times New Roman"/>
                <a:sym typeface="Arial"/>
              </a:rPr>
              <a:t> </a:t>
            </a:r>
            <a:r>
              <a:rPr lang="en-US" sz="3400" b="1" dirty="0">
                <a:highlight>
                  <a:srgbClr val="00FFFF"/>
                </a:highlight>
                <a:latin typeface="Verdana"/>
                <a:ea typeface="Verdana"/>
                <a:cs typeface="Times New Roman"/>
                <a:sym typeface="Arial"/>
              </a:rPr>
              <a:t>Unit-1: </a:t>
            </a:r>
            <a:r>
              <a:rPr lang="en-US" sz="3000" dirty="0">
                <a:highlight>
                  <a:srgbClr val="00FFFF"/>
                </a:highlight>
                <a:latin typeface="Verdana"/>
                <a:ea typeface="Verdana"/>
                <a:cs typeface="Times New Roman"/>
              </a:rPr>
              <a:t>Foundations &amp; Algorithmic Analysis</a:t>
            </a:r>
            <a:r>
              <a:rPr lang="en-US" sz="3000" dirty="0">
                <a:highlight>
                  <a:srgbClr val="00FFFF"/>
                </a:highlight>
                <a:latin typeface="Verdana"/>
                <a:ea typeface="Verdana"/>
                <a:cs typeface="Times New Roman"/>
                <a:sym typeface="Arial"/>
              </a:rPr>
              <a:t> </a:t>
            </a:r>
            <a:endParaRPr lang="en-US" sz="3000" dirty="0">
              <a:highlight>
                <a:srgbClr val="00FFFF"/>
              </a:highlight>
              <a:latin typeface="Verdana"/>
              <a:ea typeface="Verdana"/>
              <a:cs typeface="Times New Roman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7E10594-070C-6E0A-3640-9BFC43BE6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569038"/>
              </p:ext>
            </p:extLst>
          </p:nvPr>
        </p:nvGraphicFramePr>
        <p:xfrm>
          <a:off x="457201" y="1134750"/>
          <a:ext cx="8403770" cy="5407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9417">
                  <a:extLst>
                    <a:ext uri="{9D8B030D-6E8A-4147-A177-3AD203B41FA5}">
                      <a16:colId xmlns:a16="http://schemas.microsoft.com/office/drawing/2014/main" val="4157406388"/>
                    </a:ext>
                  </a:extLst>
                </a:gridCol>
                <a:gridCol w="6464353">
                  <a:extLst>
                    <a:ext uri="{9D8B030D-6E8A-4147-A177-3AD203B41FA5}">
                      <a16:colId xmlns:a16="http://schemas.microsoft.com/office/drawing/2014/main" val="3408968306"/>
                    </a:ext>
                  </a:extLst>
                </a:gridCol>
              </a:tblGrid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Data Structures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10083561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Data Types (ADTs)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25241590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&amp; Space Complexity (Big-O, Θ, Ω)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1047946669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4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Best, Average &amp; Worst Case Analysis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154671673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5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Time Complexities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218494571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6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&amp; Conquer Paradigm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301479268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7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Greedy &amp; Dynamic Programming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108317562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8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Recursion: Concept &amp; Call Stack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91671183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9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Recursion: Base Case &amp; Examples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225552048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10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Revision (Unit–1)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extLst>
                  <a:ext uri="{0D108BD9-81ED-4DB2-BD59-A6C34878D82A}">
                    <a16:rowId xmlns:a16="http://schemas.microsoft.com/office/drawing/2014/main" val="1670184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968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25AA-82D7-1C1E-2D33-B7963919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107007-DC2A-8256-8FC1-15DDED441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3CFC299-D724-086D-B53A-7CBA7AFCA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" y="407069"/>
            <a:ext cx="89527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3200" b="1" kern="100" dirty="0">
                <a:latin typeface="Verdana"/>
                <a:ea typeface="Verdana"/>
                <a:cs typeface="Times New Roman"/>
                <a:sym typeface="Arial"/>
              </a:rPr>
              <a:t>   </a:t>
            </a:r>
            <a:r>
              <a:rPr lang="en-US" sz="3200" b="1" kern="100" dirty="0">
                <a:highlight>
                  <a:srgbClr val="00FFFF"/>
                </a:highlight>
                <a:latin typeface="Verdana"/>
                <a:ea typeface="Verdana"/>
                <a:cs typeface="Times New Roman"/>
                <a:sym typeface="Arial"/>
              </a:rPr>
              <a:t>Unit 2: </a:t>
            </a:r>
            <a:r>
              <a:rPr lang="en-US" sz="3200" kern="100" dirty="0">
                <a:highlight>
                  <a:srgbClr val="00FFFF"/>
                </a:highlight>
                <a:latin typeface="Verdana"/>
                <a:ea typeface="Verdana"/>
                <a:cs typeface="Times New Roman"/>
              </a:rPr>
              <a:t>Linear Data Structures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B0694B-8558-E68B-85CD-311BBBEBB1D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282988-E03E-7027-2D92-8CEC10B934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A18CB7-8151-074E-04F7-E087452866BB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D60AE2-AB2C-55D5-7540-E5671000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FCAEFBA-6774-12E3-F228-1FF2EDD4E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124731"/>
              </p:ext>
            </p:extLst>
          </p:nvPr>
        </p:nvGraphicFramePr>
        <p:xfrm>
          <a:off x="457201" y="1134750"/>
          <a:ext cx="8403770" cy="5407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9417">
                  <a:extLst>
                    <a:ext uri="{9D8B030D-6E8A-4147-A177-3AD203B41FA5}">
                      <a16:colId xmlns:a16="http://schemas.microsoft.com/office/drawing/2014/main" val="4157406388"/>
                    </a:ext>
                  </a:extLst>
                </a:gridCol>
                <a:gridCol w="6464353">
                  <a:extLst>
                    <a:ext uri="{9D8B030D-6E8A-4147-A177-3AD203B41FA5}">
                      <a16:colId xmlns:a16="http://schemas.microsoft.com/office/drawing/2014/main" val="3408968306"/>
                    </a:ext>
                  </a:extLst>
                </a:gridCol>
              </a:tblGrid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11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Arrays – 1D &amp; 2D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83561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12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Static &amp; Dynamic Arrays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41590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13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Lists Types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7946669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14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 Operations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671673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15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Stack ADT &amp; Operations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494571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16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Stack Applications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479268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17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Queue ADT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317562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18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Queue Applications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671183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19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BFS using Queue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552048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20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Revision (Unit–2)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0184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75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6441-DD9C-D8E5-7AC7-89BF804C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50D091-CDEB-F8F3-DD0B-F2C9E6E90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2DC7DCF-80C4-BCC3-7F74-09A5D4E46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" y="407069"/>
            <a:ext cx="89527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3200" b="1" kern="100" dirty="0">
                <a:latin typeface="Verdana"/>
                <a:ea typeface="Verdana"/>
                <a:cs typeface="Times New Roman"/>
                <a:sym typeface="Arial"/>
              </a:rPr>
              <a:t>   Unit 3: </a:t>
            </a:r>
            <a:r>
              <a:rPr lang="en-US" sz="3200" kern="100" dirty="0">
                <a:highlight>
                  <a:srgbClr val="00FFFF"/>
                </a:highlight>
                <a:latin typeface="Verdana"/>
                <a:ea typeface="Verdana"/>
                <a:cs typeface="Times New Roman"/>
              </a:rPr>
              <a:t>Sorting Algorithms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2BFBA2-2CDD-F89C-95EF-AAA04C3C7BE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EC4E322-3DFD-2957-D679-57003B7FBB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F92AE5-9D3F-9265-F289-FDB6260A92F5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7BDB455-7BD4-BC76-2699-3EE358C4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DD47332-B848-33D8-5C00-C2AFAB665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285095"/>
              </p:ext>
            </p:extLst>
          </p:nvPr>
        </p:nvGraphicFramePr>
        <p:xfrm>
          <a:off x="457201" y="1134750"/>
          <a:ext cx="8403770" cy="5407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9417">
                  <a:extLst>
                    <a:ext uri="{9D8B030D-6E8A-4147-A177-3AD203B41FA5}">
                      <a16:colId xmlns:a16="http://schemas.microsoft.com/office/drawing/2014/main" val="4157406388"/>
                    </a:ext>
                  </a:extLst>
                </a:gridCol>
                <a:gridCol w="6464353">
                  <a:extLst>
                    <a:ext uri="{9D8B030D-6E8A-4147-A177-3AD203B41FA5}">
                      <a16:colId xmlns:a16="http://schemas.microsoft.com/office/drawing/2014/main" val="3408968306"/>
                    </a:ext>
                  </a:extLst>
                </a:gridCol>
              </a:tblGrid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21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Sorting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83561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22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Bubble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41590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23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7946669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24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671673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25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Merge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494571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26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Quick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479268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27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Heap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317562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28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Counting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671183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29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Radix Sort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552048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30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Revision (Unit–3)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0184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92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1F893-A10C-6371-A111-2FAD93B0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7D1E28-D91C-2362-A4DC-23450717B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31694D7-43BD-062F-829A-B7BCC597B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" y="183931"/>
            <a:ext cx="8952795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3200" b="1" kern="100" dirty="0">
                <a:highlight>
                  <a:srgbClr val="00FFFF"/>
                </a:highlight>
                <a:latin typeface="Verdana"/>
                <a:ea typeface="Verdana"/>
                <a:cs typeface="Times New Roman"/>
                <a:sym typeface="Arial"/>
              </a:rPr>
              <a:t>Unit 4: </a:t>
            </a:r>
            <a:r>
              <a:rPr lang="en-US" sz="2900" kern="100" dirty="0">
                <a:highlight>
                  <a:srgbClr val="00FFFF"/>
                </a:highlight>
                <a:latin typeface="Verdana"/>
                <a:ea typeface="Verdana"/>
                <a:cs typeface="Times New Roman"/>
              </a:rPr>
              <a:t>Non-Linear &amp; Advanced Data Structures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6C3348-0B64-AFCB-CCC8-9CE578434B0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C010F60-F17A-7AE6-4B02-1BF9CC8D8E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724EDC-C00B-5FA8-BABF-97B3156CB24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900815-C5CB-FF3D-BA39-95BF25F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F00EB6E-E441-6A83-B8ED-31A6333E3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706117"/>
              </p:ext>
            </p:extLst>
          </p:nvPr>
        </p:nvGraphicFramePr>
        <p:xfrm>
          <a:off x="457201" y="1134750"/>
          <a:ext cx="8403770" cy="5407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9417">
                  <a:extLst>
                    <a:ext uri="{9D8B030D-6E8A-4147-A177-3AD203B41FA5}">
                      <a16:colId xmlns:a16="http://schemas.microsoft.com/office/drawing/2014/main" val="4157406388"/>
                    </a:ext>
                  </a:extLst>
                </a:gridCol>
                <a:gridCol w="6464353">
                  <a:extLst>
                    <a:ext uri="{9D8B030D-6E8A-4147-A177-3AD203B41FA5}">
                      <a16:colId xmlns:a16="http://schemas.microsoft.com/office/drawing/2014/main" val="3408968306"/>
                    </a:ext>
                  </a:extLst>
                </a:gridCol>
              </a:tblGrid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31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Trees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83561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32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Tree Traversals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41590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33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BST &amp; Operations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7946669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34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Heaps (Min/Max)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671673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35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Heapify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494571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36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AVL &amp; Red-Black Trees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479268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37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B-Trees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3175624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38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Graphs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6711837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39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BFS Algorithm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5520481"/>
                  </a:ext>
                </a:extLst>
              </a:tr>
              <a:tr h="4059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40</a:t>
                      </a:r>
                      <a:endParaRPr lang="en-IN" sz="2400" b="1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20" marR="5542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DFS Algorithm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0184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68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F467-43D0-ACFA-C0E3-4E5A3B34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D731DE-D8E5-C77A-D584-3E3C6E023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705804A-FE17-49E4-6873-2CCFE8A6D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" y="183931"/>
            <a:ext cx="8952795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3200" b="1" kern="100" dirty="0">
                <a:latin typeface="Verdana"/>
                <a:ea typeface="Verdana"/>
                <a:cs typeface="Times New Roman"/>
                <a:sym typeface="Arial"/>
              </a:rPr>
              <a:t>Unit 4: </a:t>
            </a:r>
            <a:r>
              <a:rPr lang="en-US" sz="2900" kern="100" dirty="0">
                <a:highlight>
                  <a:srgbClr val="00FFFF"/>
                </a:highlight>
                <a:latin typeface="Verdana"/>
                <a:ea typeface="Verdana"/>
                <a:cs typeface="Times New Roman"/>
              </a:rPr>
              <a:t>Non-Linear &amp; Advanced Data Structures..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CF9FC1-456C-85BB-E5DB-65E1D154180A}"/>
              </a:ext>
            </a:extLst>
          </p:cNvPr>
          <p:cNvCxnSpPr/>
          <p:nvPr/>
        </p:nvCxnSpPr>
        <p:spPr>
          <a:xfrm>
            <a:off x="0" y="121498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EA86882-4BA1-74A3-061D-4D7FFBF02C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CF6DF4-38EB-B08C-28AD-EA2D27200527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DD2B8C-B645-B9D7-B0BE-0BBE95A9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F019D3-D11A-3193-6B91-B7650AB68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573456"/>
              </p:ext>
            </p:extLst>
          </p:nvPr>
        </p:nvGraphicFramePr>
        <p:xfrm>
          <a:off x="1034142" y="1396149"/>
          <a:ext cx="7119258" cy="35350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68287">
                  <a:extLst>
                    <a:ext uri="{9D8B030D-6E8A-4147-A177-3AD203B41FA5}">
                      <a16:colId xmlns:a16="http://schemas.microsoft.com/office/drawing/2014/main" val="3536906482"/>
                    </a:ext>
                  </a:extLst>
                </a:gridCol>
                <a:gridCol w="5050971">
                  <a:extLst>
                    <a:ext uri="{9D8B030D-6E8A-4147-A177-3AD203B41FA5}">
                      <a16:colId xmlns:a16="http://schemas.microsoft.com/office/drawing/2014/main" val="2170233219"/>
                    </a:ext>
                  </a:extLst>
                </a:gridCol>
              </a:tblGrid>
              <a:tr h="6454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</a:t>
                      </a: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Hashing Techniques</a:t>
                      </a:r>
                      <a:endParaRPr lang="en-IN" sz="240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2167592"/>
                  </a:ext>
                </a:extLst>
              </a:tr>
              <a:tr h="6454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</a:t>
                      </a: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Tries &amp; Applications</a:t>
                      </a:r>
                      <a:endParaRPr lang="en-IN" sz="240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1928052"/>
                  </a:ext>
                </a:extLst>
              </a:tr>
              <a:tr h="6454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</a:t>
                      </a: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Bloom Filters, Spatial DS</a:t>
                      </a:r>
                      <a:endParaRPr lang="en-IN" sz="240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541842"/>
                  </a:ext>
                </a:extLst>
              </a:tr>
              <a:tr h="95315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</a:t>
                      </a: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Fenwick, Segment Tree, Skip Lists</a:t>
                      </a:r>
                      <a:endParaRPr lang="en-IN" sz="240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1501067"/>
                  </a:ext>
                </a:extLst>
              </a:tr>
              <a:tr h="6454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</a:t>
                      </a: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4B099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Revision (Unit–4)</a:t>
                      </a:r>
                      <a:endParaRPr lang="en-IN" sz="2400" dirty="0">
                        <a:solidFill>
                          <a:srgbClr val="4B099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2741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461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7CC-08A1-C559-A9E8-C0F0F11A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990E08-09F1-DA8E-FAB5-370906512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EC04E7-E11B-ED22-579D-C279813B3019}"/>
              </a:ext>
            </a:extLst>
          </p:cNvPr>
          <p:cNvCxnSpPr/>
          <p:nvPr/>
        </p:nvCxnSpPr>
        <p:spPr>
          <a:xfrm>
            <a:off x="0" y="121498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C73B12A-424E-09C1-2747-98C4E02D12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D18F2-B704-6F7D-56B9-677D8C36FC08}"/>
              </a:ext>
            </a:extLst>
          </p:cNvPr>
          <p:cNvSpPr txBox="1"/>
          <p:nvPr/>
        </p:nvSpPr>
        <p:spPr>
          <a:xfrm>
            <a:off x="-98176" y="479370"/>
            <a:ext cx="87849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SzPct val="25000"/>
            </a:pPr>
            <a:r>
              <a:rPr lang="en-US" sz="5000" b="1" kern="100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Arial"/>
              </a:rPr>
              <a:t>Unit-1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6C3C9-B29B-AEC5-E315-7B10E440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6E81D-0679-1C47-81A1-DA6F5A394EED}"/>
              </a:ext>
            </a:extLst>
          </p:cNvPr>
          <p:cNvSpPr txBox="1"/>
          <p:nvPr/>
        </p:nvSpPr>
        <p:spPr>
          <a:xfrm>
            <a:off x="1197429" y="1938047"/>
            <a:ext cx="63137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4000" kern="100" dirty="0">
                <a:highlight>
                  <a:srgbClr val="00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Arial"/>
              </a:rPr>
              <a:t>Session 1</a:t>
            </a:r>
          </a:p>
          <a:p>
            <a:pPr>
              <a:buNone/>
            </a:pPr>
            <a:r>
              <a:rPr lang="en-IN" sz="3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Structures</a:t>
            </a:r>
            <a:endParaRPr lang="en-IN" sz="3600" dirty="0">
              <a:solidFill>
                <a:srgbClr val="4B0993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70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A28C9-03F6-BBB6-DF69-AC61265D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8193F1-F067-8056-2E3D-960939C69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9358DB3-F2FA-F55D-BE51-B37907D3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122" y="305040"/>
            <a:ext cx="76399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3600" b="1" kern="100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Arial"/>
              </a:rPr>
              <a:t>Unit-1 Foundation of Data Structure..</a:t>
            </a:r>
            <a:endParaRPr lang="en-IN" sz="3600" b="1" dirty="0">
              <a:solidFill>
                <a:srgbClr val="E31E24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DF0753-BBA9-13A6-4974-40CB353E75D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B7D8D64-E24E-D6E0-14BB-B6BCC500BD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154A5C-1341-A502-8B0C-DF5950C97607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531041-D77F-5946-78E4-AC02469A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8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CCFBC4-DC79-99EC-7C89-143380AF7055}"/>
              </a:ext>
            </a:extLst>
          </p:cNvPr>
          <p:cNvSpPr txBox="1"/>
          <p:nvPr/>
        </p:nvSpPr>
        <p:spPr>
          <a:xfrm>
            <a:off x="414705" y="1183028"/>
            <a:ext cx="8648667" cy="56938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from Programming Basics</a:t>
            </a:r>
          </a:p>
          <a:p>
            <a:endParaRPr lang="en-US" sz="24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stores a single value?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int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array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(c) list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memory is faster: RAM or secondary storage?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data is poorly organized?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programs grow large,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should data be stored efficiently?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885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2C85-1469-FD70-0A4A-92270199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47B5BF-0FF1-4C22-9345-A6DB4B152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441F276-E80C-7ED8-EC66-14645621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86" y="305040"/>
            <a:ext cx="43140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C3851A-7761-16C5-9FAC-82858412431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2D11F1D-7147-7B63-ACBE-CA8D957715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2D49AC-1727-85AD-69D9-C397221E73E4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575E51-0F53-15DE-270C-6D679BF2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9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F5C52A-B711-1D4A-21C9-FF8F3803A3B7}"/>
              </a:ext>
            </a:extLst>
          </p:cNvPr>
          <p:cNvSpPr txBox="1"/>
          <p:nvPr/>
        </p:nvSpPr>
        <p:spPr>
          <a:xfrm>
            <a:off x="414705" y="1183028"/>
            <a:ext cx="8648667" cy="5416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this session, you will be able to: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800" i="1" dirty="0">
                <a:solidFill>
                  <a:srgbClr val="341BF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Explain what a data structure is in simple words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800" i="1" dirty="0">
                <a:solidFill>
                  <a:srgbClr val="341BF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Identify why data structures are important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800" i="1" dirty="0">
                <a:solidFill>
                  <a:srgbClr val="341BF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Give real-life examples of common data structures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800" i="1" dirty="0">
                <a:solidFill>
                  <a:srgbClr val="341BF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Classify different types of data structures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800" i="1" dirty="0">
                <a:solidFill>
                  <a:srgbClr val="341BF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Identify suitable data structures for real-life problems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800" i="1" dirty="0">
                <a:solidFill>
                  <a:srgbClr val="341BF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Justify why data structures improve program efficiency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9082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A142-7CC4-878C-A37C-14EE5156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154F83-AD0A-1490-9E5C-9BA17EF94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DC5B903-744D-AE09-6CED-4CB271A2C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86" y="305040"/>
            <a:ext cx="30059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4A580D-164F-A71F-AA0F-3760B70ED27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C237CF2-E152-92D0-12F5-E80C33D2AF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90595-91C5-90FC-2489-029022F74685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6CAA81-C4C5-2F27-D040-652DF312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10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A1191-7D82-7CE8-B396-DFF5BE672977}"/>
              </a:ext>
            </a:extLst>
          </p:cNvPr>
          <p:cNvSpPr txBox="1"/>
          <p:nvPr/>
        </p:nvSpPr>
        <p:spPr>
          <a:xfrm>
            <a:off x="414705" y="1183028"/>
            <a:ext cx="8648667" cy="45391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(Simple)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raw facts (numbers, text, symbols)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marks: 85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ID: E102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Non-Example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(this is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raw data)</a:t>
            </a: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054E6F7B-8D74-E4C7-002F-9A64977FFC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771" y="2757231"/>
            <a:ext cx="3754524" cy="250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1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3A82-40F4-808F-0D90-D0DF84AA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7C4854-B08B-9792-E02D-F5A24942E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DAC998-B151-52CE-DEF4-70DD40611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86" y="305040"/>
            <a:ext cx="53572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Data Structure?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E68D8D-205D-64C4-E600-561C3E753E0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F8395D2-2011-4445-FA3D-36F19667BA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07C06D-78D7-C136-5937-CF5D22F54C1A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A900C4-8649-611A-1286-42AD4A2E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11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1C8F6-71AD-34C8-8738-1FB2ECE597B4}"/>
              </a:ext>
            </a:extLst>
          </p:cNvPr>
          <p:cNvSpPr txBox="1"/>
          <p:nvPr/>
        </p:nvSpPr>
        <p:spPr>
          <a:xfrm>
            <a:off x="414705" y="1183028"/>
            <a:ext cx="8648667" cy="5277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30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structure is a way of organizing and storing data so that it can be used efficiently.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Analogy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in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rack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(organized) vs books in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(disorganized)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E8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Non-Example</a:t>
            </a:r>
            <a:endParaRPr lang="en-US" sz="2800" dirty="0">
              <a:solidFill>
                <a:srgbClr val="E8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storing values without structure</a:t>
            </a:r>
          </a:p>
        </p:txBody>
      </p:sp>
    </p:spTree>
    <p:extLst>
      <p:ext uri="{BB962C8B-B14F-4D97-AF65-F5344CB8AC3E}">
        <p14:creationId xmlns:p14="http://schemas.microsoft.com/office/powerpoint/2010/main" val="3637897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2822-13B6-0707-112B-DE34A1E2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DA51FC-5923-10B7-A767-73F5E2BFA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C4B2FF9-63E3-08CC-4FBD-0ACD06FE4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86" y="305040"/>
            <a:ext cx="43011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Definitions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EDF3BF-B62E-8CA9-3C5D-18C96CF39F9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489A646-F60F-8839-2303-5572E957B7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75206F-391F-21D8-8C50-B68211D836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844C60C-BD8B-632D-FB6F-5219877B3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FE9972-E2A7-F090-DEF1-403955A0A12A}"/>
              </a:ext>
            </a:extLst>
          </p:cNvPr>
          <p:cNvSpPr txBox="1"/>
          <p:nvPr/>
        </p:nvSpPr>
        <p:spPr>
          <a:xfrm>
            <a:off x="414705" y="1183028"/>
            <a:ext cx="8648667" cy="25457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Knuth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Organizing information for effective use</a:t>
            </a:r>
          </a:p>
          <a:p>
            <a:pPr>
              <a:lnSpc>
                <a:spcPct val="200000"/>
              </a:lnSpc>
            </a:pPr>
            <a:r>
              <a:rPr lang="en-US" sz="2800" b="1" dirty="0" err="1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 data to facilitate access &amp; modification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Terms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access + efficient update</a:t>
            </a:r>
          </a:p>
        </p:txBody>
      </p:sp>
    </p:spTree>
    <p:extLst>
      <p:ext uri="{BB962C8B-B14F-4D97-AF65-F5344CB8AC3E}">
        <p14:creationId xmlns:p14="http://schemas.microsoft.com/office/powerpoint/2010/main" val="2090057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5E19-7653-6510-C4B5-6A4D4322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DF7CF5-4722-892A-2D85-261BEE6B5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215301C-83F2-501E-9989-72A9EC926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82809"/>
            <a:ext cx="8361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SET 1: Daily Review –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Explain, Don’t Guess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964C7F-7758-6975-5F53-11454F8B4C2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4051CDB-8ABC-7B8D-B5F7-058044C988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200027-01D5-5F2E-1727-2ACC54A24C3B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8638F2-B57D-0B8A-89CA-FEE13A96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13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B4928-4B36-C2A9-6BF5-EDF3D1B2F28B}"/>
              </a:ext>
            </a:extLst>
          </p:cNvPr>
          <p:cNvSpPr txBox="1"/>
          <p:nvPr/>
        </p:nvSpPr>
        <p:spPr>
          <a:xfrm>
            <a:off x="414705" y="1183028"/>
            <a:ext cx="8648667" cy="30174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short answers (1–2 lines only):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arenR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difference between a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arenR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computers need memory?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arabicParenR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can occur if data is stored randomly?</a:t>
            </a:r>
          </a:p>
        </p:txBody>
      </p:sp>
    </p:spTree>
    <p:extLst>
      <p:ext uri="{BB962C8B-B14F-4D97-AF65-F5344CB8AC3E}">
        <p14:creationId xmlns:p14="http://schemas.microsoft.com/office/powerpoint/2010/main" val="73991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3104-F64D-88FB-ACA4-F2EFD3D6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3B73FD-1C50-6087-F74F-5A1AE3685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52C6F39-F022-2296-BC22-495FD08B2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" y="375115"/>
            <a:ext cx="8892480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SET 2: What is Data?– </a:t>
            </a:r>
            <a:r>
              <a:rPr lang="en-US" sz="2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Thinking</a:t>
            </a: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FCC791-61C7-3D04-850A-21A6DD2127A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4D61CAE-1307-A437-3504-2BC3E820BE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93746-9ADD-154C-B57A-B2566F5838F6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591B06-C4C6-FD56-9E6A-C09076B0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57EF4-45B6-9B9A-8AF3-3B5D73FEB68D}"/>
              </a:ext>
            </a:extLst>
          </p:cNvPr>
          <p:cNvSpPr txBox="1"/>
          <p:nvPr/>
        </p:nvSpPr>
        <p:spPr>
          <a:xfrm>
            <a:off x="414705" y="1183028"/>
            <a:ext cx="8648667" cy="48888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Activity 2: Data or Not? 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“Rahul”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“Rahul scored 72 marks”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“Rahul is a good student”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51195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ECEB-3F95-BEE8-2039-958B91A9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6CB648-F0B7-3B26-EF5D-3473B149C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3E6FE17-F854-4C06-666D-B82A3E157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" y="321254"/>
            <a:ext cx="88924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SET 3: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38071E-449D-8A29-A8C5-028B4BBE320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8F291BF-19B0-7E86-64A7-9EAA50316D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B18F02-9813-2789-43E2-D1ABFA6BF3C9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2849C9F-8813-69DF-EFFC-81C94CEF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15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B04A2-0DC6-0A08-55D7-68D74729CAD0}"/>
              </a:ext>
            </a:extLst>
          </p:cNvPr>
          <p:cNvSpPr txBox="1"/>
          <p:nvPr/>
        </p:nvSpPr>
        <p:spPr>
          <a:xfrm>
            <a:off x="414705" y="1183028"/>
            <a:ext cx="8648667" cy="45391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3: Definition in Your Own Words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Instruction: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memorizing, explain “Data Structure” in your own words using: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real-life object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daily activity</a:t>
            </a:r>
          </a:p>
        </p:txBody>
      </p:sp>
    </p:spTree>
    <p:extLst>
      <p:ext uri="{BB962C8B-B14F-4D97-AF65-F5344CB8AC3E}">
        <p14:creationId xmlns:p14="http://schemas.microsoft.com/office/powerpoint/2010/main" val="301797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06578-EE38-E22C-07D4-0AB7DAA63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6FD30E-0C64-C48C-B16A-84477C7DC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2C325A9-E03E-C330-6DE1-9A03126D9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" y="321254"/>
            <a:ext cx="88924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4: Design Challenge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B04F33-CDC0-C280-CDDB-F6144326753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51FE91-5DD5-3BC7-8E64-9DA8188513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744CD-9CE0-D7EF-70B4-A707BEEA9B52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DE7339-E3B7-C4CE-275F-9C486DE8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16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0A686E-952B-C41B-5E41-0F048FCB51B2}"/>
              </a:ext>
            </a:extLst>
          </p:cNvPr>
          <p:cNvSpPr txBox="1"/>
          <p:nvPr/>
        </p:nvSpPr>
        <p:spPr>
          <a:xfrm>
            <a:off x="414705" y="1183028"/>
            <a:ext cx="8648667" cy="5324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to store: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update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confusion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will you store it?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structure will you follow?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184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E9CC-2AC9-E180-52B8-59AD39EE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B372028-886C-C96D-805D-E000006F8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7202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Why Data Structure?</a:t>
            </a:r>
            <a:endParaRPr kumimoji="0" lang="en-IN" sz="3200" b="1" i="0" u="none" strike="noStrike" kern="1200" cap="none" spc="0" normalizeH="0" baseline="0" noProof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3DA2CF-800E-35E6-B0E4-D69FE2E448A9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71EC60F-D460-8C34-FBDA-33B9B11500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DFB7B-C145-88DA-80FC-343630A5E24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183475-01A6-3047-5632-56EA0422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91E5E-FA02-E2D2-AAF5-8B50AF60826D}"/>
              </a:ext>
            </a:extLst>
          </p:cNvPr>
          <p:cNvSpPr/>
          <p:nvPr/>
        </p:nvSpPr>
        <p:spPr>
          <a:xfrm>
            <a:off x="3563888" y="2924944"/>
            <a:ext cx="2016224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Structure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372B68-6435-025B-BF4F-960FF0B0E5AA}"/>
              </a:ext>
            </a:extLst>
          </p:cNvPr>
          <p:cNvSpPr/>
          <p:nvPr/>
        </p:nvSpPr>
        <p:spPr>
          <a:xfrm>
            <a:off x="395536" y="840860"/>
            <a:ext cx="1800200" cy="128761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Foundation of Computer Science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B651CE-B283-9B96-0ACF-5FC772A11BC5}"/>
              </a:ext>
            </a:extLst>
          </p:cNvPr>
          <p:cNvSpPr/>
          <p:nvPr/>
        </p:nvSpPr>
        <p:spPr>
          <a:xfrm>
            <a:off x="521804" y="2795579"/>
            <a:ext cx="1673932" cy="12241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Problem Solving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293009B-40CC-F568-0DFD-8DCDF7A5454B}"/>
              </a:ext>
            </a:extLst>
          </p:cNvPr>
          <p:cNvSpPr/>
          <p:nvPr/>
        </p:nvSpPr>
        <p:spPr>
          <a:xfrm>
            <a:off x="521804" y="4686816"/>
            <a:ext cx="1673932" cy="12241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Algorithm Design and Analysis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548582-232A-56F4-5B1A-1F93F18451D3}"/>
              </a:ext>
            </a:extLst>
          </p:cNvPr>
          <p:cNvSpPr/>
          <p:nvPr/>
        </p:nvSpPr>
        <p:spPr>
          <a:xfrm>
            <a:off x="6804248" y="813181"/>
            <a:ext cx="1882552" cy="12241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 world applications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1B760B6-AC32-0FE2-2C36-BC5ADDACA7E2}"/>
              </a:ext>
            </a:extLst>
          </p:cNvPr>
          <p:cNvSpPr/>
          <p:nvPr/>
        </p:nvSpPr>
        <p:spPr>
          <a:xfrm>
            <a:off x="6553200" y="2763838"/>
            <a:ext cx="2068996" cy="12241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Transferrable skills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8D53E8-66EC-B9CC-7FA7-F343C63F7420}"/>
              </a:ext>
            </a:extLst>
          </p:cNvPr>
          <p:cNvSpPr/>
          <p:nvPr/>
        </p:nvSpPr>
        <p:spPr>
          <a:xfrm>
            <a:off x="6732240" y="4677090"/>
            <a:ext cx="1954560" cy="12241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Preparation for Interviews and Careers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9C4B41-7DD9-2D21-1822-9865FF100FCF}"/>
              </a:ext>
            </a:extLst>
          </p:cNvPr>
          <p:cNvCxnSpPr>
            <a:stCxn id="11" idx="6"/>
          </p:cNvCxnSpPr>
          <p:nvPr/>
        </p:nvCxnSpPr>
        <p:spPr>
          <a:xfrm>
            <a:off x="2195736" y="1484669"/>
            <a:ext cx="1368151" cy="14402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49C969-42C7-3053-8623-0690B355F48E}"/>
              </a:ext>
            </a:extLst>
          </p:cNvPr>
          <p:cNvCxnSpPr>
            <a:endCxn id="10" idx="1"/>
          </p:cNvCxnSpPr>
          <p:nvPr/>
        </p:nvCxnSpPr>
        <p:spPr>
          <a:xfrm flipV="1">
            <a:off x="2195736" y="3248980"/>
            <a:ext cx="1368152" cy="1800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5A8F86-07E0-589A-BC33-8693571D2113}"/>
              </a:ext>
            </a:extLst>
          </p:cNvPr>
          <p:cNvCxnSpPr/>
          <p:nvPr/>
        </p:nvCxnSpPr>
        <p:spPr>
          <a:xfrm flipV="1">
            <a:off x="2195736" y="3573016"/>
            <a:ext cx="1368151" cy="1728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EA4808-43B6-3279-9B66-0BDC8E8712AA}"/>
              </a:ext>
            </a:extLst>
          </p:cNvPr>
          <p:cNvCxnSpPr/>
          <p:nvPr/>
        </p:nvCxnSpPr>
        <p:spPr>
          <a:xfrm flipH="1">
            <a:off x="5580112" y="1666628"/>
            <a:ext cx="1368152" cy="125831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0E32AB-EC2A-0936-47C3-50584D301F84}"/>
              </a:ext>
            </a:extLst>
          </p:cNvPr>
          <p:cNvCxnSpPr>
            <a:stCxn id="15" idx="2"/>
          </p:cNvCxnSpPr>
          <p:nvPr/>
        </p:nvCxnSpPr>
        <p:spPr>
          <a:xfrm flipH="1" flipV="1">
            <a:off x="5580112" y="3248980"/>
            <a:ext cx="973088" cy="1269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EBE2EE-F683-D312-2A38-BCC08AC77D5E}"/>
              </a:ext>
            </a:extLst>
          </p:cNvPr>
          <p:cNvCxnSpPr/>
          <p:nvPr/>
        </p:nvCxnSpPr>
        <p:spPr>
          <a:xfrm flipH="1" flipV="1">
            <a:off x="5580112" y="3573016"/>
            <a:ext cx="1152128" cy="1728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314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157006"/>
            <a:ext cx="87484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</a:rPr>
              <a:t>Classification of Data Structure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</a:endParaRPr>
          </a:p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18</a:t>
            </a:fld>
            <a:endParaRPr lang="en-IN"/>
          </a:p>
        </p:txBody>
      </p:sp>
      <p:pic>
        <p:nvPicPr>
          <p:cNvPr id="1026" name="Picture 2" descr="Building blocks of programming……Data Structures &amp; types | by Shadow | Medium">
            <a:extLst>
              <a:ext uri="{FF2B5EF4-FFF2-40B4-BE49-F238E27FC236}">
                <a16:creationId xmlns:a16="http://schemas.microsoft.com/office/drawing/2014/main" id="{716D9591-1B9C-B746-B1DD-F2BD405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01917"/>
            <a:ext cx="7823820" cy="509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756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E1AF-4A8A-7E6B-44B0-4F5FC930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F5AD1E-EA3A-2799-43C8-07D006DCD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B993A04-0824-2EC0-3C8B-DC5EC36EE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52802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Data Structures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3CF25B-81CC-1578-29D9-5F338070FF7B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8F42B46-4887-66C4-EDAF-2CFF7B6009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BB331E-45F5-5FE5-9C76-A6EB5B58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32D00-3812-73D8-EE1A-FF6172627BCA}"/>
              </a:ext>
            </a:extLst>
          </p:cNvPr>
          <p:cNvSpPr txBox="1"/>
          <p:nvPr/>
        </p:nvSpPr>
        <p:spPr>
          <a:xfrm>
            <a:off x="539552" y="973498"/>
            <a:ext cx="8424936" cy="279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data types directly supported by machine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Examples</a:t>
            </a:r>
            <a:r>
              <a:rPr lang="en-US" sz="2800" dirty="0"/>
              <a:t> int, char, float, Boolean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Non-Example </a:t>
            </a:r>
            <a:r>
              <a:rPr lang="en-US" sz="2800" dirty="0"/>
              <a:t>Tree, Graph </a:t>
            </a:r>
          </a:p>
        </p:txBody>
      </p:sp>
    </p:spTree>
    <p:extLst>
      <p:ext uri="{BB962C8B-B14F-4D97-AF65-F5344CB8AC3E}">
        <p14:creationId xmlns:p14="http://schemas.microsoft.com/office/powerpoint/2010/main" val="1989369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6B19-EDFA-1C6E-0F25-304BDF9B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0C52D2-8BB1-4EDD-C6BF-ECCC4318A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F9D069C-2E43-1182-D56E-901C1A076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44977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Primitive 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8571E0-77F1-19A1-5632-A779161CC721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B588E33-CB84-BF8B-5B92-B921EF7DD6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9A90C2-1BB4-C4FD-81DE-EA794288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6470DE-28F9-A5A3-BD72-EDDA9E05B689}"/>
              </a:ext>
            </a:extLst>
          </p:cNvPr>
          <p:cNvGraphicFramePr>
            <a:graphicFrameLocks noGrp="1"/>
          </p:cNvGraphicFramePr>
          <p:nvPr/>
        </p:nvGraphicFramePr>
        <p:xfrm>
          <a:off x="607656" y="1843991"/>
          <a:ext cx="7928688" cy="3753942"/>
        </p:xfrm>
        <a:graphic>
          <a:graphicData uri="http://schemas.openxmlformats.org/drawingml/2006/table">
            <a:tbl>
              <a:tblPr/>
              <a:tblGrid>
                <a:gridCol w="2642896">
                  <a:extLst>
                    <a:ext uri="{9D8B030D-6E8A-4147-A177-3AD203B41FA5}">
                      <a16:colId xmlns:a16="http://schemas.microsoft.com/office/drawing/2014/main" val="2813923035"/>
                    </a:ext>
                  </a:extLst>
                </a:gridCol>
                <a:gridCol w="2642896">
                  <a:extLst>
                    <a:ext uri="{9D8B030D-6E8A-4147-A177-3AD203B41FA5}">
                      <a16:colId xmlns:a16="http://schemas.microsoft.com/office/drawing/2014/main" val="3631517557"/>
                    </a:ext>
                  </a:extLst>
                </a:gridCol>
                <a:gridCol w="2642896">
                  <a:extLst>
                    <a:ext uri="{9D8B030D-6E8A-4147-A177-3AD203B41FA5}">
                      <a16:colId xmlns:a16="http://schemas.microsoft.com/office/drawing/2014/main" val="2472270302"/>
                    </a:ext>
                  </a:extLst>
                </a:gridCol>
              </a:tblGrid>
              <a:tr h="625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2800">
                        <a:solidFill>
                          <a:srgbClr val="341BF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IN" sz="2800">
                        <a:solidFill>
                          <a:srgbClr val="341BF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2800" dirty="0">
                        <a:solidFill>
                          <a:srgbClr val="341BF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540913"/>
                  </a:ext>
                </a:extLst>
              </a:tr>
              <a:tr h="625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602892"/>
                  </a:ext>
                </a:extLst>
              </a:tr>
              <a:tr h="625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'A'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94084"/>
                  </a:ext>
                </a:extLst>
              </a:tr>
              <a:tr h="625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696517"/>
                  </a:ext>
                </a:extLst>
              </a:tr>
              <a:tr h="625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978010"/>
                  </a:ext>
                </a:extLst>
              </a:tr>
              <a:tr h="625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341BF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83777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E423E6E-7BDF-0AB9-AB8A-42F1712D4909}"/>
              </a:ext>
            </a:extLst>
          </p:cNvPr>
          <p:cNvSpPr txBox="1"/>
          <p:nvPr/>
        </p:nvSpPr>
        <p:spPr>
          <a:xfrm>
            <a:off x="179512" y="1104674"/>
            <a:ext cx="62646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E8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Primitive DS</a:t>
            </a:r>
            <a:endParaRPr lang="en-IN" sz="3200" b="1" dirty="0">
              <a:solidFill>
                <a:srgbClr val="E8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11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1E774-286B-D6A2-E462-154A3E52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AEA6B0-74DE-FC02-B63E-C6AC886BE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FF89E26-5448-CEB3-9BFA-F01E3C4E3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56605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Primitive 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F1ECAC-6722-F7EC-0055-48903F2B00E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76E129B-81E9-3D23-A44B-43A077DC92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A13E3-15AD-0B51-140A-B01189C2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017508-3AE4-3FCB-DE60-38BC67C707F4}"/>
              </a:ext>
            </a:extLst>
          </p:cNvPr>
          <p:cNvSpPr txBox="1"/>
          <p:nvPr/>
        </p:nvSpPr>
        <p:spPr>
          <a:xfrm>
            <a:off x="179512" y="1104674"/>
            <a:ext cx="8424936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Example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int a = 5 → a = a + 2</a:t>
            </a:r>
          </a:p>
        </p:txBody>
      </p:sp>
    </p:spTree>
    <p:extLst>
      <p:ext uri="{BB962C8B-B14F-4D97-AF65-F5344CB8AC3E}">
        <p14:creationId xmlns:p14="http://schemas.microsoft.com/office/powerpoint/2010/main" val="1485101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157006"/>
            <a:ext cx="87484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Primitive Data Structure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  <p:pic>
        <p:nvPicPr>
          <p:cNvPr id="1026" name="Picture 2" descr="https://static.javatpoint.com/ds/images/primitive-data-structur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32238"/>
            <a:ext cx="7620000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58113" y="5674486"/>
            <a:ext cx="4608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Fig. 9 : Classification of Primitive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411734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Types of Primitive Data Structures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7"/>
            <a:ext cx="770485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-Represents logical value, either ‘true’ or ’false’.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-Fixed size of 1 byte.</a:t>
            </a: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23</a:t>
            </a:fld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32" y="2391546"/>
            <a:ext cx="6336704" cy="367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33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Types of Primitive Data Structures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+mj-lt"/>
              </a:rPr>
              <a:t>2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Byte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-Represents an 8-bit signed integer.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-use keyword ‘byte’ and size of 1 byte.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-Range of values from -128 to 127 (inclusive).</a:t>
            </a: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b="0" i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24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36" y="2953192"/>
            <a:ext cx="5341632" cy="14715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6036" y="4653136"/>
            <a:ext cx="5024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Syntax in C++:</a:t>
            </a:r>
            <a:endParaRPr lang="en-IN" sz="1600" b="1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608" y="5090537"/>
            <a:ext cx="5112568" cy="79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31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Types of Primitive Data Structures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+mj-lt"/>
              </a:rPr>
              <a:t>3.  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-Represents single character.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-Example- a letter, a digit or symbol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-Fixed size of 2 bytes.</a:t>
            </a:r>
          </a:p>
          <a:p>
            <a:pPr algn="just"/>
            <a:endParaRPr lang="en-IN"/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25</a:t>
            </a:fld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1694" y="2708920"/>
            <a:ext cx="5896798" cy="364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80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Types of Primitive Data Structures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+mj-lt"/>
              </a:rPr>
              <a:t>4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2400" b="1" err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-Represents integer values.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-Store both negative and positive whole numbers.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-Fixed size of 4 bytes in memory.</a:t>
            </a: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26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760" y="2697329"/>
            <a:ext cx="5295008" cy="356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99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Types of Primitive Data Structures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+mj-lt"/>
              </a:rPr>
              <a:t>5.  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-Represents floating-point numbers.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-Store real numbers (decimal values).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-Fixed size of 4 bytes in memory.</a:t>
            </a:r>
          </a:p>
          <a:p>
            <a:pPr algn="just"/>
            <a:endParaRPr lang="en-IN"/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27</a:t>
            </a:fld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0278" y="2669207"/>
            <a:ext cx="5039428" cy="359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89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Types of Primitive Data Structures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+mj-lt"/>
              </a:rPr>
              <a:t>6.  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-Store larger decimal values with large precision.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-Fixed size of 8 bytes in memory.</a:t>
            </a:r>
          </a:p>
          <a:p>
            <a:pPr algn="just"/>
            <a:endParaRPr lang="en-IN"/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28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759" y="2282469"/>
            <a:ext cx="5973009" cy="368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87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Operations on Primitive Data Structures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+mj-lt"/>
              </a:rPr>
              <a:t>1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Assignment Operations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-Act of putting a value in a variable.</a:t>
            </a:r>
          </a:p>
          <a:p>
            <a:pPr algn="just"/>
            <a:endParaRPr lang="en-US" sz="240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29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2032498"/>
            <a:ext cx="6120680" cy="41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01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Operations on Primitive Data Structures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Arithmetic Operations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-Mathematical calculations on numeric data type.	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30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274" y="1943554"/>
            <a:ext cx="8293526" cy="44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3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Operations on Primitive Data Structures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Comparison Operations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-Compares two values and returns Boolean values.</a:t>
            </a: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31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2215517"/>
            <a:ext cx="7610758" cy="3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1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Operations on Primitive Data Structures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Logical Operations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-Perform Boolean operations on Boolean data types.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32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008" y="2318791"/>
            <a:ext cx="8716496" cy="35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18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Features of Primitive Data Structure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Size- 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Integer takes up 4 bytes of memory.</a:t>
            </a:r>
          </a:p>
          <a:p>
            <a:pPr algn="just"/>
            <a:endParaRPr lang="en-US" sz="240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/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33</a:t>
            </a:fld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68" y="1666628"/>
            <a:ext cx="7128792" cy="446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89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Features of Primitive Data Structure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0" lvl="2" indent="-514350" algn="just">
              <a:buFont typeface="+mj-lt"/>
              <a:buAutoNum type="romanUcPeriod"/>
            </a:pP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Speed- </a:t>
            </a:r>
            <a:r>
              <a:rPr lang="en-US" sz="26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calculations easy because of fixed size and format.</a:t>
            </a:r>
          </a:p>
          <a:p>
            <a:pPr marL="1485900" lvl="2" indent="-571500" algn="just">
              <a:buFont typeface="+mj-lt"/>
              <a:buAutoNum type="romanUcPeriod"/>
            </a:pPr>
            <a:endParaRPr lang="en-US" sz="26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 algn="just">
              <a:buFont typeface="+mj-lt"/>
              <a:buAutoNum type="romanUcPeriod"/>
            </a:pP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Efficiency- </a:t>
            </a:r>
            <a:r>
              <a:rPr lang="en-US" sz="26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minimal amount of memory.</a:t>
            </a:r>
          </a:p>
          <a:p>
            <a:pPr marL="1485900" lvl="2" indent="-571500" algn="just">
              <a:buFont typeface="+mj-lt"/>
              <a:buAutoNum type="romanUcPeriod"/>
            </a:pPr>
            <a:endParaRPr lang="en-US" sz="26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 algn="just">
              <a:buFont typeface="+mj-lt"/>
              <a:buAutoNum type="romanUcPeriod"/>
            </a:pP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Access and Manipulation</a:t>
            </a:r>
            <a:r>
              <a:rPr lang="en-US" sz="26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Since they are directly supported by the hardware, operations on primitive data structures are highly efficient. </a:t>
            </a:r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303030"/>
              </a:solidFill>
              <a:latin typeface="+mj-lt"/>
            </a:endParaRPr>
          </a:p>
          <a:p>
            <a:pPr algn="just"/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73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Features of Primitive Data Structure (Cont..)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>
                <a:solidFill>
                  <a:srgbClr val="303030"/>
                </a:solidFill>
                <a:latin typeface="+mj-lt"/>
              </a:rPr>
              <a:t>5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r>
              <a:rPr lang="en-US" sz="240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Code can be easily adapted to another platform using different programming language.</a:t>
            </a:r>
          </a:p>
          <a:p>
            <a:pPr algn="just"/>
            <a:endParaRPr lang="en-IN"/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35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40" y="1907725"/>
            <a:ext cx="7716378" cy="437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16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600C-D764-385C-83C4-5548DE3D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34C44B-FB11-9414-8C04-3302B4AA0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33722E0-0296-454F-57B8-F18DFA667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107"/>
            <a:ext cx="5523948" cy="823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Primitive 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6DD6F-32EA-7B99-4B3D-9BDDEE5733DE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541F3F8-3ED6-3B47-3228-55D7F740EE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22919-28A8-2E23-4AAD-5C92B151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36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AEE8BA-B950-98A2-70DB-34810288C4DC}"/>
              </a:ext>
            </a:extLst>
          </p:cNvPr>
          <p:cNvSpPr txBox="1"/>
          <p:nvPr/>
        </p:nvSpPr>
        <p:spPr>
          <a:xfrm>
            <a:off x="179512" y="1104674"/>
            <a:ext cx="8424936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processing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supported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</a:t>
            </a:r>
          </a:p>
        </p:txBody>
      </p:sp>
    </p:spTree>
    <p:extLst>
      <p:ext uri="{BB962C8B-B14F-4D97-AF65-F5344CB8AC3E}">
        <p14:creationId xmlns:p14="http://schemas.microsoft.com/office/powerpoint/2010/main" val="144186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B338-33FE-3EFC-1ACA-FFE0D16E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B00F62-504A-07CC-0004-25AD09892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46F2069-9832-664B-4606-DA032400B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56348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Primitive 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906BE1-C836-9037-C742-62E8CB472133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1DFDB40-0230-20B6-1ECB-8A10538E22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F59A44-249B-CACC-3AD5-3BA0816F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37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71A9C1-140F-D8AA-78A1-BC4AB0A2375D}"/>
              </a:ext>
            </a:extLst>
          </p:cNvPr>
          <p:cNvSpPr txBox="1"/>
          <p:nvPr/>
        </p:nvSpPr>
        <p:spPr>
          <a:xfrm>
            <a:off x="179512" y="1104674"/>
            <a:ext cx="8424936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operations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range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abstraction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precision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 brick vs building</a:t>
            </a:r>
          </a:p>
        </p:txBody>
      </p:sp>
    </p:spTree>
    <p:extLst>
      <p:ext uri="{BB962C8B-B14F-4D97-AF65-F5344CB8AC3E}">
        <p14:creationId xmlns:p14="http://schemas.microsoft.com/office/powerpoint/2010/main" val="4000835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A79E-B434-6D9F-93A5-553E4A44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DD5B85-8E8C-6F6D-85D9-B514A7EBD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6D15BDE-B824-D4BF-2B40-83FAEB23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84519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NON-PRIMITIVE DATA STRUCTURES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DF92F0-5A69-9774-0C85-F051BB61057E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6AE4241-A9A4-0B0E-D434-5AC6DF64B5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951B7D-35B9-BAD6-AD48-7EF84E43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38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E5A35F-905F-A555-FA50-244279858F37}"/>
              </a:ext>
            </a:extLst>
          </p:cNvPr>
          <p:cNvSpPr txBox="1"/>
          <p:nvPr/>
        </p:nvSpPr>
        <p:spPr>
          <a:xfrm>
            <a:off x="206570" y="820703"/>
            <a:ext cx="8424936" cy="5924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E8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Non-Primitive Data Structures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Derived from primitive data types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Array,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Stack,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Queue,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Linked List,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Tree,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Graph</a:t>
            </a:r>
          </a:p>
        </p:txBody>
      </p:sp>
    </p:spTree>
    <p:extLst>
      <p:ext uri="{BB962C8B-B14F-4D97-AF65-F5344CB8AC3E}">
        <p14:creationId xmlns:p14="http://schemas.microsoft.com/office/powerpoint/2010/main" val="3417930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52469-1667-F0C0-DF62-DCDB78EA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F25E27-D032-AAD1-2E50-5AE60B6DE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94C6ED0-1CCB-0A59-467A-7AAB13268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47589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Data Structures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915318-4A6C-97C3-4230-E60BD0D66CDF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7F10EED-1FED-9E81-587F-D5E9347612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C58658-B3F3-219F-06E8-8986A07A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39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9B6CCB-6BAD-663E-11DE-0DF907E0AA1D}"/>
              </a:ext>
            </a:extLst>
          </p:cNvPr>
          <p:cNvSpPr txBox="1"/>
          <p:nvPr/>
        </p:nvSpPr>
        <p:spPr>
          <a:xfrm>
            <a:off x="206570" y="820703"/>
            <a:ext cx="8424936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arranged sequentially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Array, 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Stack, 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Queue, 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Linked List</a:t>
            </a:r>
          </a:p>
        </p:txBody>
      </p:sp>
    </p:spTree>
    <p:extLst>
      <p:ext uri="{BB962C8B-B14F-4D97-AF65-F5344CB8AC3E}">
        <p14:creationId xmlns:p14="http://schemas.microsoft.com/office/powerpoint/2010/main" val="101488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Primitive Data Structure (Cont..)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40</a:t>
            </a:fld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5" y="1587260"/>
            <a:ext cx="8450135" cy="3065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55370" y="5079860"/>
            <a:ext cx="4608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Examples of Non- Primitive (Linear)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1764279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3901-9D6F-AF5E-1401-320F0E39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4BBB6D-BE35-AD44-D563-181FE6E44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4186851-B71A-2428-4618-BE73D9546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18094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C8C507-8BDA-F6AE-DCE7-5A452BBEAF1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C08A73-9618-2EE1-E9E6-5AD63F176D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802B2-2F28-A4E3-EB25-A24BBC46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41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7F22B-1552-3781-658E-21ED55EB2BB5}"/>
              </a:ext>
            </a:extLst>
          </p:cNvPr>
          <p:cNvSpPr txBox="1"/>
          <p:nvPr/>
        </p:nvSpPr>
        <p:spPr>
          <a:xfrm>
            <a:off x="211298" y="796801"/>
            <a:ext cx="8757918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Homogenous &amp; Contiguous memory locations.</a:t>
            </a:r>
          </a:p>
        </p:txBody>
      </p:sp>
      <p:pic>
        <p:nvPicPr>
          <p:cNvPr id="2" name="Picture 2" descr="GitHub - Dulyaaa/Library-Management-System: 📚 Library Management System ...">
            <a:extLst>
              <a:ext uri="{FF2B5EF4-FFF2-40B4-BE49-F238E27FC236}">
                <a16:creationId xmlns:a16="http://schemas.microsoft.com/office/drawing/2014/main" id="{29FD639E-01E3-ECB6-2C88-7072D0741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06" y="2684967"/>
            <a:ext cx="7441302" cy="365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39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Array..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 in both single dimension and multiple dimensions.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1801665"/>
            <a:ext cx="6336704" cy="2321589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42</a:t>
            </a:fld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668" y="4272778"/>
            <a:ext cx="4203129" cy="201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29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511C-ECCD-A0BF-6EF6-EF09CF9A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5738D2-37D5-B7F1-D47D-AB182F124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EB7EEF5-794D-653C-A1A5-84C57D9D7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19978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ARRAY..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860CEF-1ECA-0317-13A7-C67656FB1838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CF769B4-752D-9F26-FA54-D15C66E7D0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68DF53-63CB-9B4B-9AC0-E5258E7D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43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89BB5-3C86-C005-FFC8-ED9EE5FDEB2B}"/>
              </a:ext>
            </a:extLst>
          </p:cNvPr>
          <p:cNvSpPr txBox="1"/>
          <p:nvPr/>
        </p:nvSpPr>
        <p:spPr>
          <a:xfrm>
            <a:off x="326108" y="1082113"/>
            <a:ext cx="8757918" cy="360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 of students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Non-Example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 list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Contacts in a Phone</a:t>
            </a:r>
          </a:p>
          <a:p>
            <a:pPr lvl="1">
              <a:lnSpc>
                <a:spcPct val="150000"/>
              </a:lnSpc>
            </a:pPr>
            <a:r>
              <a:rPr lang="en-US" sz="3200" i="1" dirty="0">
                <a:solidFill>
                  <a:srgbClr val="E8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may be the other examples of the Array Data Structure </a:t>
            </a:r>
          </a:p>
        </p:txBody>
      </p:sp>
    </p:spTree>
    <p:extLst>
      <p:ext uri="{BB962C8B-B14F-4D97-AF65-F5344CB8AC3E}">
        <p14:creationId xmlns:p14="http://schemas.microsoft.com/office/powerpoint/2010/main" val="8675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8614-6168-11B2-8B24-EB15ED64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FE72F9-D73D-4835-0D84-35A286671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7FB0955-8155-9AF2-6564-E700C5E6A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174060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21B0E9-1ECB-2CD8-BC11-A6CFAD20ECA0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678134D-5C75-975F-D91E-40F34A386D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DC2D43-1E26-74A3-BAEF-658FC77B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44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8857B7-693B-A727-A2BD-2F8B1F38C6AD}"/>
              </a:ext>
            </a:extLst>
          </p:cNvPr>
          <p:cNvSpPr txBox="1"/>
          <p:nvPr/>
        </p:nvSpPr>
        <p:spPr>
          <a:xfrm>
            <a:off x="326108" y="916935"/>
            <a:ext cx="8757918" cy="242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linear data structure that follows the Last-In, First-Out (LIFO) principle, much like a physical stack of plates. Elements are added to and removed from only one end, called the "top" of the stack.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https://boston.cubicles.com/shop/images/stackable-office-chairs-stacked.jpg">
            <a:extLst>
              <a:ext uri="{FF2B5EF4-FFF2-40B4-BE49-F238E27FC236}">
                <a16:creationId xmlns:a16="http://schemas.microsoft.com/office/drawing/2014/main" id="{6406BD43-5A44-3946-950C-2F646F7F2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067" y="3429000"/>
            <a:ext cx="3408450" cy="34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tacked Plates Png - Free Logo Image">
            <a:extLst>
              <a:ext uri="{FF2B5EF4-FFF2-40B4-BE49-F238E27FC236}">
                <a16:creationId xmlns:a16="http://schemas.microsoft.com/office/drawing/2014/main" id="{70DF442E-DE95-EA22-78BA-0E3347C61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066" y="3338047"/>
            <a:ext cx="3299418" cy="329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982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2AF09-DE60-096F-C901-5AFC2F4CC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5B7BA3-8C02-DC7C-8C3B-6F8ECC5DF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70150CD-D86E-AAD4-7748-AADAF33A5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174060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DAA188-0166-D4C9-2E5B-C3E355CEBA70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548A51D-C083-DBF2-8DB8-C144E15C2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00E87-D72F-DAE7-DC29-E710A6CED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45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3C841-6CD3-1F0C-0305-2A09598B39C9}"/>
              </a:ext>
            </a:extLst>
          </p:cNvPr>
          <p:cNvSpPr txBox="1"/>
          <p:nvPr/>
        </p:nvSpPr>
        <p:spPr>
          <a:xfrm>
            <a:off x="326108" y="1082113"/>
            <a:ext cx="8757918" cy="4943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(LIFO)</a:t>
            </a:r>
          </a:p>
          <a:p>
            <a:pPr lvl="1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of plates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 operation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/ Pop/Peek/ Top</a:t>
            </a:r>
          </a:p>
          <a:p>
            <a:pPr lvl="2">
              <a:lnSpc>
                <a:spcPct val="150000"/>
              </a:lnSpc>
            </a:pPr>
            <a:r>
              <a:rPr lang="en-US" sz="3200" i="1" dirty="0">
                <a:solidFill>
                  <a:srgbClr val="E8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me be the other examples of the Stack DS?</a:t>
            </a:r>
          </a:p>
        </p:txBody>
      </p:sp>
    </p:spTree>
    <p:extLst>
      <p:ext uri="{BB962C8B-B14F-4D97-AF65-F5344CB8AC3E}">
        <p14:creationId xmlns:p14="http://schemas.microsoft.com/office/powerpoint/2010/main" val="1147341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CONT..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a particular order to perform operations.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LIFO(Last In First Out) or FILO(First In Last Out).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46</a:t>
            </a:fld>
            <a:endParaRPr lang="en-IN"/>
          </a:p>
        </p:txBody>
      </p:sp>
      <p:pic>
        <p:nvPicPr>
          <p:cNvPr id="13328" name="Picture 16" descr="https://noerguerra.com/wp-content/uploads/2022/01/image-00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1" y="2371305"/>
            <a:ext cx="6192688" cy="343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5911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D466A-3E94-46F6-398E-D49816C4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E9F6A8-EE7D-47F5-8CED-0E61B33C8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24F1F01-E70E-419A-D1F7-9B4A388A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18261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4EFAD3-AAC0-0273-01EE-CF551260E7D8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185FF8D-BB32-FEBC-BB04-A1F04AD00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BB744C-23D8-7B89-E407-7B366674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47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7F21EF-33E3-E9C3-1B6E-8786449FDA18}"/>
              </a:ext>
            </a:extLst>
          </p:cNvPr>
          <p:cNvSpPr txBox="1"/>
          <p:nvPr/>
        </p:nvSpPr>
        <p:spPr>
          <a:xfrm>
            <a:off x="72008" y="908720"/>
            <a:ext cx="8757918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(FIFO):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(Data Structure)- Online Ticket Booking, In Escalators, vehicles at toll center.</a:t>
            </a:r>
          </a:p>
          <a:p>
            <a:pPr lvl="1"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https://cms.qz.com/wp-content/uploads/2019/03/RTS1TSQK-e1552487345319.jpg?quality=75&amp;strip=all&amp;w=1200&amp;h=630&amp;crop=1">
            <a:extLst>
              <a:ext uri="{FF2B5EF4-FFF2-40B4-BE49-F238E27FC236}">
                <a16:creationId xmlns:a16="http://schemas.microsoft.com/office/drawing/2014/main" id="{573DB8F5-C972-751E-E8EE-F107595AD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74" y="2606377"/>
            <a:ext cx="4455612" cy="344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img.money.com/2016/10/gettyimages-614277660.jpg">
            <a:extLst>
              <a:ext uri="{FF2B5EF4-FFF2-40B4-BE49-F238E27FC236}">
                <a16:creationId xmlns:a16="http://schemas.microsoft.com/office/drawing/2014/main" id="{CD9F2579-F759-78DD-1EB5-7D12CD48B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149" y="2606381"/>
            <a:ext cx="3964215" cy="344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823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CONT...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882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ordered list.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operations from REAR end.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operations from FRONT end.</a:t>
            </a:r>
          </a:p>
          <a:p>
            <a:pPr algn="just">
              <a:lnSpc>
                <a:spcPct val="150000"/>
              </a:lnSpc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48</a:t>
            </a:fld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648" y="3711227"/>
            <a:ext cx="7294173" cy="2428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62336" y="6100505"/>
            <a:ext cx="519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: Examples of Linear Non- Primitive (Queue)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608570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18F3-79F1-AC61-5BF2-1872EF14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8C06A6-36B3-5984-FCF8-9F9E0D2F7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AB510A9-7600-AE57-37AA-227E41E0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2056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QUEUE..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54F936-4620-35A0-338D-70454CAFFC2C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5D72C3-2D03-1B63-3E4C-4BCB7E3BEF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D8B25E-9E67-FB0B-FC48-228ED17E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49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F0E222-3137-845B-A0D2-26AD96F572C6}"/>
              </a:ext>
            </a:extLst>
          </p:cNvPr>
          <p:cNvSpPr txBox="1"/>
          <p:nvPr/>
        </p:nvSpPr>
        <p:spPr>
          <a:xfrm>
            <a:off x="326108" y="1082113"/>
            <a:ext cx="8757918" cy="4251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Toll booth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/ Dequeue</a:t>
            </a:r>
          </a:p>
          <a:p>
            <a:pPr lvl="2">
              <a:lnSpc>
                <a:spcPct val="150000"/>
              </a:lnSpc>
            </a:pPr>
            <a:r>
              <a:rPr lang="en-US" sz="3200" i="1" dirty="0">
                <a:solidFill>
                  <a:srgbClr val="E8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me be the other possible examples of Array DS? </a:t>
            </a:r>
          </a:p>
        </p:txBody>
      </p:sp>
    </p:spTree>
    <p:extLst>
      <p:ext uri="{BB962C8B-B14F-4D97-AF65-F5344CB8AC3E}">
        <p14:creationId xmlns:p14="http://schemas.microsoft.com/office/powerpoint/2010/main" val="378140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76E6-7468-FDA1-6046-F6744562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7648E2-DCEF-3D42-7FF4-1B88FD7F9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533A6B4-1AB4-4C9C-0EDF-2C6D12359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31726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306389-10E8-8235-D374-CF22A47EA0F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65067E3-7BD7-B6E4-6BAA-177EB38D43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AC589A-8666-93FC-2C18-C495694F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50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6E9117-367D-7FC3-AECB-138A5428CA87}"/>
              </a:ext>
            </a:extLst>
          </p:cNvPr>
          <p:cNvSpPr txBox="1"/>
          <p:nvPr/>
        </p:nvSpPr>
        <p:spPr>
          <a:xfrm>
            <a:off x="326108" y="1082113"/>
            <a:ext cx="8757918" cy="4785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/>
              <a:t>Concept</a:t>
            </a:r>
            <a:r>
              <a:rPr lang="en-US" sz="3000" dirty="0"/>
              <a:t> Nodes connected via pointers</a:t>
            </a:r>
          </a:p>
          <a:p>
            <a:pPr>
              <a:lnSpc>
                <a:spcPct val="150000"/>
              </a:lnSpc>
            </a:pPr>
            <a:endParaRPr lang="en-US" sz="3000" dirty="0"/>
          </a:p>
          <a:p>
            <a:pPr>
              <a:lnSpc>
                <a:spcPct val="150000"/>
              </a:lnSpc>
            </a:pPr>
            <a:endParaRPr lang="en-US" sz="3000" b="1" dirty="0"/>
          </a:p>
          <a:p>
            <a:pPr>
              <a:lnSpc>
                <a:spcPct val="150000"/>
              </a:lnSpc>
            </a:pPr>
            <a:endParaRPr lang="en-US" sz="3000" b="1" dirty="0"/>
          </a:p>
          <a:p>
            <a:pPr>
              <a:lnSpc>
                <a:spcPct val="150000"/>
              </a:lnSpc>
            </a:pPr>
            <a:endParaRPr lang="en-US" sz="3000" b="1" dirty="0"/>
          </a:p>
          <a:p>
            <a:pPr>
              <a:lnSpc>
                <a:spcPct val="150000"/>
              </a:lnSpc>
            </a:pPr>
            <a:r>
              <a:rPr lang="en-US" sz="3000" b="1" dirty="0"/>
              <a:t>Use Case</a:t>
            </a:r>
            <a:r>
              <a:rPr lang="en-US" sz="3000" dirty="0"/>
              <a:t> </a:t>
            </a:r>
            <a:r>
              <a:rPr lang="en-US" sz="2600" dirty="0"/>
              <a:t>Browser navigation</a:t>
            </a:r>
          </a:p>
          <a:p>
            <a:pPr lvl="3">
              <a:lnSpc>
                <a:spcPct val="150000"/>
              </a:lnSpc>
            </a:pPr>
            <a:r>
              <a:rPr lang="en-US" sz="2600" dirty="0"/>
              <a:t>Accessing pages using previous and next button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03917E-CF0F-D17B-9417-87653DAA9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87" y="2204864"/>
            <a:ext cx="6754459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40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CONT..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820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node consists of :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-- 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value and 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--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pointer to the address of the next node.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597" y="3040093"/>
            <a:ext cx="6624736" cy="243080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43844" y="5723323"/>
            <a:ext cx="5912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Representation of Linear Non- Primitive (Linked List)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5072367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A972-A8B7-5A0C-61EB-90F41F07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C7848F-02B3-A6CD-6097-C2EEB6936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C1B057B-0176-E9B5-D068-9410644D8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44899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Your Knowledge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2AE4A2-2C8D-9D47-F305-08E9CCBE1188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DB3B71-BF8A-6985-9043-EF75FC4B82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758E1-F5A6-3D1C-0738-D45882BC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52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A3413-F29F-8D2D-8300-7C10BDF7B8EC}"/>
              </a:ext>
            </a:extLst>
          </p:cNvPr>
          <p:cNvSpPr txBox="1"/>
          <p:nvPr/>
        </p:nvSpPr>
        <p:spPr>
          <a:xfrm>
            <a:off x="326108" y="1082113"/>
            <a:ext cx="8757918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E8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UGC NET 2011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341B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Question: Is string a linear data structure or not and why?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341B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78425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Limitations of Primitive Data Structures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022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Functionality: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they are atomic and indivisible, so limited operations.</a:t>
            </a:r>
            <a:endParaRPr lang="en-US" sz="2600" b="1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size range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abstraction</a:t>
            </a: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don’t provide a way to abstract or encapsulate data, making it more difficult to manage and maintain large programs.</a:t>
            </a:r>
            <a:endParaRPr lang="en-US" sz="2600" b="1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precision:</a:t>
            </a: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produce unexpected results when used in calculations.</a:t>
            </a:r>
            <a:r>
              <a:rPr lang="en-US" sz="26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600" b="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046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E06D-8F59-0822-CDCF-59EF4CC6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C6D86E-F9D3-8AB1-ADDB-78C62C6B03D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BAD1DD-F6EB-E79B-027E-398E6FC4F9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ED3D2B-86E5-6FFB-4225-72134A8F68D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27063E-4EC3-4A48-EBFF-4B8617E9C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Non-Primitive Data Structure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C977D-4205-5DA1-F88F-F60BAF143FE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C4C0B-C2F4-1CE1-D643-D36F7CFAF3D3}"/>
              </a:ext>
            </a:extLst>
          </p:cNvPr>
          <p:cNvSpPr/>
          <p:nvPr/>
        </p:nvSpPr>
        <p:spPr>
          <a:xfrm>
            <a:off x="107504" y="1107776"/>
            <a:ext cx="87849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341B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primitive data structures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7B312F2-0217-0520-82D0-F93E116B7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4D535D-538F-507B-EAA7-9CFC6D07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54</a:t>
            </a:fld>
            <a:endParaRPr lang="en-IN"/>
          </a:p>
        </p:txBody>
      </p:sp>
      <p:pic>
        <p:nvPicPr>
          <p:cNvPr id="10242" name="Picture 2" descr="https://cdn-images-1.medium.com/v2/resize:fit:1080/1*r1ckz81ipEFmOWO8zEfUfw.png">
            <a:extLst>
              <a:ext uri="{FF2B5EF4-FFF2-40B4-BE49-F238E27FC236}">
                <a16:creationId xmlns:a16="http://schemas.microsoft.com/office/drawing/2014/main" id="{F494D0A5-29B1-3972-A3F3-3E97D2521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484" y="1693606"/>
            <a:ext cx="6216625" cy="3499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A2F0BA-676A-328E-2EF9-7DE5720110DD}"/>
              </a:ext>
            </a:extLst>
          </p:cNvPr>
          <p:cNvSpPr txBox="1"/>
          <p:nvPr/>
        </p:nvSpPr>
        <p:spPr>
          <a:xfrm>
            <a:off x="2195736" y="5685174"/>
            <a:ext cx="4608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: Examples of Non- Primitive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8546667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7B8EF-582A-6690-D314-2B801B22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18C9A7-6FCA-3F29-D1A1-3DBC217F8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2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8F59F4-4639-0871-34C0-C620D330272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51451FE-D6E0-E096-DF15-4F6098E96D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8D61A3-EC83-739F-C1E2-2A24CCF9231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78CBEE-D718-F487-E3C8-B39577ED1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Limitations of Primitive Data Structures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3DE16-8CDE-82AE-5100-20C87AAF14D6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EC2CC-52F9-2A8D-2D45-56FE6DF4BFC6}"/>
              </a:ext>
            </a:extLst>
          </p:cNvPr>
          <p:cNvSpPr/>
          <p:nvPr/>
        </p:nvSpPr>
        <p:spPr>
          <a:xfrm>
            <a:off x="107504" y="1107776"/>
            <a:ext cx="878497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Functionality: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they are atomic and indivisible, so limited operations.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size range: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an integer data type in Java can store values between -2147483648 and 2147483647.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Lack of abstraction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They don’t provide a way to abstract or encapsulate data, making it more difficult to manage and maintain large programs.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Limited precision: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produce unexpected results when used in calculations.</a:t>
            </a:r>
            <a:r>
              <a:rPr 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400">
                <a:solidFill>
                  <a:srgbClr val="303030"/>
                </a:solidFill>
                <a:latin typeface="+mj-lt"/>
              </a:rPr>
              <a:t>	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endParaRPr lang="en-US" b="0" i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E0888AAC-1336-858A-F115-C29ADEDBB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416F99-6902-66BF-1449-C574DE17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3561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407B1-510E-5C66-4E77-27549DF8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C83F49-0DED-412B-A400-598B4E74E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F193382-AC1D-3527-5C53-B53021C37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11224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TREE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578A09-AA5F-3210-5143-9FE9802AA19C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9036718-7C6D-6285-6E74-304CBF2113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7FB38-129B-AC49-AF9C-EF94B740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56</a:t>
            </a:fld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F7216-17A6-BBB7-BA6B-97926A9B03B3}"/>
              </a:ext>
            </a:extLst>
          </p:cNvPr>
          <p:cNvSpPr txBox="1"/>
          <p:nvPr/>
        </p:nvSpPr>
        <p:spPr>
          <a:xfrm>
            <a:off x="326108" y="1082113"/>
            <a:ext cx="8757918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Tree: Connected Acyclic Graph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tree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https://online.visual-paradigm.com/servlet/editor-content/knowledge/organizational-chart/what-is-family-tree-diagram/sites/7/2020/03/family-tree-diagram-example.png">
            <a:extLst>
              <a:ext uri="{FF2B5EF4-FFF2-40B4-BE49-F238E27FC236}">
                <a16:creationId xmlns:a16="http://schemas.microsoft.com/office/drawing/2014/main" id="{7C565C38-5D9F-49D3-ADBE-13977D8F0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520" y="1988840"/>
            <a:ext cx="4708398" cy="371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17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CONT..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30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item connected to other data item.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relationship or parent-child relationship.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57</a:t>
            </a:fld>
            <a:endParaRPr lang="en-IN"/>
          </a:p>
        </p:txBody>
      </p:sp>
      <p:pic>
        <p:nvPicPr>
          <p:cNvPr id="2050" name="Picture 2" descr="https://algorithmtutor.com/images/tree_edg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37884"/>
            <a:ext cx="6462464" cy="330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598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DCFC-5CDB-3298-9687-1972BE66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AF6056-7E93-C61B-A4FD-C2E86B317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405BD5C-B9C4-C07C-13CD-AC95432CD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15568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GRAPH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0BD211-7E93-A680-62FB-390B260E9173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E5C540E-E8AF-0CE3-468B-E50095FC0A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771F98-90F7-49AC-0E18-22F87A74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8583E-6E66-4C3C-05AC-FDE40AAA2D26}"/>
              </a:ext>
            </a:extLst>
          </p:cNvPr>
          <p:cNvSpPr txBox="1"/>
          <p:nvPr/>
        </p:nvSpPr>
        <p:spPr>
          <a:xfrm>
            <a:off x="758113" y="908720"/>
            <a:ext cx="7845389" cy="277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vertices and edges </a:t>
            </a:r>
          </a:p>
          <a:p>
            <a:pPr>
              <a:lnSpc>
                <a:spcPct val="15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navigation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networks</a:t>
            </a:r>
          </a:p>
        </p:txBody>
      </p:sp>
      <p:pic>
        <p:nvPicPr>
          <p:cNvPr id="10" name="Picture 2" descr="https://www.bizadmark.com/wp-content/uploads/2019/06/google-graph-768x432.jpg">
            <a:extLst>
              <a:ext uri="{FF2B5EF4-FFF2-40B4-BE49-F238E27FC236}">
                <a16:creationId xmlns:a16="http://schemas.microsoft.com/office/drawing/2014/main" id="{3011FD74-2FB7-EF69-DC6B-8DCC70FEE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623" y="1736172"/>
            <a:ext cx="4335151" cy="397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885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Graphs: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250" y="1755499"/>
            <a:ext cx="6687483" cy="414696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59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447699" y="5693751"/>
            <a:ext cx="6560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: Types of Graph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10311330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E5B8-E9FF-AB89-D066-306D7EEC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C589BE-54FA-7897-96B1-5DDCEA68E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D1F4A14-D5C1-C74E-61E6-B403557E5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108"/>
            <a:ext cx="6378669" cy="823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Practice (High Success)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CAFEDA-F22D-87B4-296F-94DB9198C73B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10C8925-59C2-0F52-AB81-372E6D9D1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5F7AD-DC02-AFEB-9195-6041F131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60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E9B70-B692-7D08-0E53-F6D915098207}"/>
              </a:ext>
            </a:extLst>
          </p:cNvPr>
          <p:cNvSpPr txBox="1"/>
          <p:nvPr/>
        </p:nvSpPr>
        <p:spPr>
          <a:xfrm>
            <a:off x="432519" y="1012903"/>
            <a:ext cx="7846335" cy="351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suitable data structure: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 back button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Railway reservation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</a:t>
            </a:r>
          </a:p>
          <a:p>
            <a:pPr lvl="1">
              <a:lnSpc>
                <a:spcPct val="150000"/>
              </a:lnSpc>
            </a:pPr>
            <a:r>
              <a:rPr lang="en-US" sz="3000" b="1" dirty="0">
                <a:solidFill>
                  <a:srgbClr val="341B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WHY</a:t>
            </a:r>
          </a:p>
        </p:txBody>
      </p:sp>
    </p:spTree>
    <p:extLst>
      <p:ext uri="{BB962C8B-B14F-4D97-AF65-F5344CB8AC3E}">
        <p14:creationId xmlns:p14="http://schemas.microsoft.com/office/powerpoint/2010/main" val="321931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D8E7-E050-59C6-598B-0E5730354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412D0A-A938-759E-D5DC-E3B08CAE3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84149D2-698F-A588-32B1-19FE0BB62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8"/>
            <a:ext cx="60004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Scaffold – How to Choose a 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F75009-2EBB-1A51-122A-82D7AC41BE49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E0AAE11-B8D7-E6CD-9313-6554783EE9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DA82B8-0466-809A-E4E0-BF7F5AA4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F993E-0288-C796-C4BA-7EF6A0075DEB}"/>
              </a:ext>
            </a:extLst>
          </p:cNvPr>
          <p:cNvSpPr txBox="1"/>
          <p:nvPr/>
        </p:nvSpPr>
        <p:spPr>
          <a:xfrm>
            <a:off x="432519" y="1012903"/>
            <a:ext cx="7846335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choose the DS?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order important?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fast search needed?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insertions frequent?</a:t>
            </a:r>
          </a:p>
        </p:txBody>
      </p:sp>
    </p:spTree>
    <p:extLst>
      <p:ext uri="{BB962C8B-B14F-4D97-AF65-F5344CB8AC3E}">
        <p14:creationId xmlns:p14="http://schemas.microsoft.com/office/powerpoint/2010/main" val="3405592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4425-835D-CD1E-6933-9F64FB1C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981043-18B5-B91B-053A-F522FE384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574FACA-27B8-53D0-2823-3A0E9A00A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108"/>
            <a:ext cx="2852063" cy="823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B005BF-2D3F-38D8-0FA0-8E2D7CC460A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AEC060D-D393-F225-AB60-909F99CA26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0102B-9884-878E-76BC-63F0C209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6BCB0-7E99-2022-C16B-7889BC435EF7}"/>
              </a:ext>
            </a:extLst>
          </p:cNvPr>
          <p:cNvSpPr txBox="1"/>
          <p:nvPr/>
        </p:nvSpPr>
        <p:spPr>
          <a:xfrm>
            <a:off x="432519" y="1012903"/>
            <a:ext cx="7846335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to store:</a:t>
            </a:r>
          </a:p>
          <a:p>
            <a:pPr marL="1828800" lvl="3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numbers</a:t>
            </a:r>
          </a:p>
          <a:p>
            <a:pPr marL="1828800" lvl="3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</a:p>
          <a:p>
            <a:pPr marL="1828800" lvl="3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  <a:p>
            <a:pPr lvl="1">
              <a:lnSpc>
                <a:spcPct val="150000"/>
              </a:lnSpc>
            </a:pPr>
            <a:r>
              <a:rPr lang="en-US" sz="3000" b="1" dirty="0">
                <a:solidFill>
                  <a:srgbClr val="341B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Justify your data structure choice</a:t>
            </a:r>
          </a:p>
        </p:txBody>
      </p:sp>
    </p:spTree>
    <p:extLst>
      <p:ext uri="{BB962C8B-B14F-4D97-AF65-F5344CB8AC3E}">
        <p14:creationId xmlns:p14="http://schemas.microsoft.com/office/powerpoint/2010/main" val="2544213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E937-6FBC-B39F-F739-33353C15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E25580-7FAB-86F4-EBF9-37E0067049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D071B46-CFD0-D303-EA89-7BA8B4B61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9"/>
            <a:ext cx="21852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FFACD3-5B18-10E2-58FB-17932E04C05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8492B50-513A-8175-7DCC-68B83079FD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2B31F2-81A2-AF99-F438-90DD0A4E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7B91D-6FBA-B1E6-E418-FBB06E4AC57E}"/>
              </a:ext>
            </a:extLst>
          </p:cNvPr>
          <p:cNvSpPr txBox="1"/>
          <p:nvPr/>
        </p:nvSpPr>
        <p:spPr>
          <a:xfrm>
            <a:off x="432519" y="1012903"/>
            <a:ext cx="7846335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did we learn today?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thing still unclear?</a:t>
            </a:r>
          </a:p>
        </p:txBody>
      </p:sp>
    </p:spTree>
    <p:extLst>
      <p:ext uri="{BB962C8B-B14F-4D97-AF65-F5344CB8AC3E}">
        <p14:creationId xmlns:p14="http://schemas.microsoft.com/office/powerpoint/2010/main" val="251401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C04C-B864-541F-5DB2-09D771FE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1EBF09-188F-3415-1FC5-4CE840807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B56B991-3ABE-9CD0-761C-6A87BDC28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109"/>
            <a:ext cx="3429144" cy="823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Revision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F31BBE-C818-5187-B1B0-97EF0D858B6C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FB0F310-D800-735D-F064-8F8FC23759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A90B3-BAB5-E018-8E0C-67C86AC0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4F11A-5ED7-5B65-3DCD-22401D81CDA6}"/>
              </a:ext>
            </a:extLst>
          </p:cNvPr>
          <p:cNvSpPr txBox="1"/>
          <p:nvPr/>
        </p:nvSpPr>
        <p:spPr>
          <a:xfrm>
            <a:off x="432519" y="1012903"/>
            <a:ext cx="8254281" cy="1567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Map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→ Data Structures → Efficient Programs</a:t>
            </a:r>
          </a:p>
        </p:txBody>
      </p:sp>
    </p:spTree>
    <p:extLst>
      <p:ext uri="{BB962C8B-B14F-4D97-AF65-F5344CB8AC3E}">
        <p14:creationId xmlns:p14="http://schemas.microsoft.com/office/powerpoint/2010/main" val="393961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ACD2D-8544-2ADA-4B85-0BD80F33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D793F8-4784-14BB-A5AB-70D8651EE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3" y="6309320"/>
            <a:ext cx="7520742" cy="5526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73F59B3-BBF2-6E19-32F1-801B0A66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109"/>
            <a:ext cx="3429144" cy="823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Revision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77DF4F-8C25-ACCA-3148-E906AEF7F33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1ADDD2B-9267-1897-A2A4-FADE9F0777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06FD10-1C1D-F261-D148-9980986F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9A3FF-4321-1814-0F9F-A0CACD5F4466}"/>
              </a:ext>
            </a:extLst>
          </p:cNvPr>
          <p:cNvSpPr txBox="1"/>
          <p:nvPr/>
        </p:nvSpPr>
        <p:spPr>
          <a:xfrm>
            <a:off x="432519" y="1012903"/>
            <a:ext cx="8254281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Information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Data Structures Definitions (Knuth,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 → simplified)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terminologies Classification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DS (types, operations, features, limitations)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Non-Primitive DS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(Linear &amp; Non-Linear) Arrays, Stack, Queue, Linked List Trees &amp; Graphs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use-cases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327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E9C5A-9EC7-209B-1F6A-026EF181D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9561B1-4A8D-C4B9-36AC-0775660A9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8909DE0-E819-27DE-3275-13E61AC58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" y="321254"/>
            <a:ext cx="88924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Your Knowledge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2F92D5-C5BB-90DD-8038-C68030DAD4E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9E18A67-14F5-1F13-F6F3-DFAECE1975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A49049-6F50-00BB-09D8-029F6F19975E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93CE08-C8EB-DCDD-48BC-88991CCF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66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3E5FA-9CEE-189E-53A0-9D32F05954EC}"/>
              </a:ext>
            </a:extLst>
          </p:cNvPr>
          <p:cNvSpPr txBox="1"/>
          <p:nvPr/>
        </p:nvSpPr>
        <p:spPr>
          <a:xfrm>
            <a:off x="414705" y="1183028"/>
            <a:ext cx="8272095" cy="13943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30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Why is arranging students by roll number better than random seating during exams?</a:t>
            </a:r>
          </a:p>
        </p:txBody>
      </p:sp>
    </p:spTree>
    <p:extLst>
      <p:ext uri="{BB962C8B-B14F-4D97-AF65-F5344CB8AC3E}">
        <p14:creationId xmlns:p14="http://schemas.microsoft.com/office/powerpoint/2010/main" val="7005631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>
                <a:latin typeface="Garamond" pitchFamily="18" charset="0"/>
              </a:rPr>
              <a:t> </a:t>
            </a:r>
            <a:r>
              <a:rPr lang="en-US" sz="720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2615</Words>
  <Application>Microsoft Office PowerPoint</Application>
  <PresentationFormat>On-screen Show (4:3)</PresentationFormat>
  <Paragraphs>662</Paragraphs>
  <Slides>67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</vt:lpstr>
      <vt:lpstr>Arimo</vt:lpstr>
      <vt:lpstr>Bell MT</vt:lpstr>
      <vt:lpstr>Calibri</vt:lpstr>
      <vt:lpstr>Courier New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Yuvraj Soni</cp:lastModifiedBy>
  <cp:revision>4</cp:revision>
  <cp:lastPrinted>2022-09-05T08:43:44Z</cp:lastPrinted>
  <dcterms:created xsi:type="dcterms:W3CDTF">2020-01-16T09:05:56Z</dcterms:created>
  <dcterms:modified xsi:type="dcterms:W3CDTF">2026-03-07T12:46:09Z</dcterms:modified>
</cp:coreProperties>
</file>