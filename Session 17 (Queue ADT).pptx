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1011" r:id="rId2"/>
    <p:sldId id="993" r:id="rId3"/>
    <p:sldId id="1012" r:id="rId4"/>
    <p:sldId id="691" r:id="rId5"/>
    <p:sldId id="1027" r:id="rId6"/>
    <p:sldId id="930" r:id="rId7"/>
    <p:sldId id="1013" r:id="rId8"/>
    <p:sldId id="300" r:id="rId9"/>
    <p:sldId id="1066" r:id="rId10"/>
    <p:sldId id="262" r:id="rId11"/>
    <p:sldId id="263" r:id="rId12"/>
    <p:sldId id="303" r:id="rId13"/>
    <p:sldId id="264" r:id="rId14"/>
    <p:sldId id="281" r:id="rId15"/>
    <p:sldId id="1080" r:id="rId16"/>
    <p:sldId id="1081" r:id="rId17"/>
    <p:sldId id="265" r:id="rId18"/>
    <p:sldId id="266" r:id="rId19"/>
    <p:sldId id="267" r:id="rId20"/>
    <p:sldId id="268" r:id="rId21"/>
    <p:sldId id="1067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94" r:id="rId34"/>
    <p:sldId id="295" r:id="rId35"/>
    <p:sldId id="296" r:id="rId36"/>
    <p:sldId id="297" r:id="rId37"/>
    <p:sldId id="298" r:id="rId38"/>
    <p:sldId id="282" r:id="rId39"/>
    <p:sldId id="1076" r:id="rId40"/>
    <p:sldId id="284" r:id="rId41"/>
    <p:sldId id="285" r:id="rId42"/>
    <p:sldId id="305" r:id="rId43"/>
    <p:sldId id="286" r:id="rId44"/>
    <p:sldId id="287" r:id="rId45"/>
    <p:sldId id="288" r:id="rId46"/>
    <p:sldId id="1078" r:id="rId47"/>
    <p:sldId id="1077" r:id="rId48"/>
    <p:sldId id="289" r:id="rId49"/>
    <p:sldId id="290" r:id="rId50"/>
    <p:sldId id="291" r:id="rId51"/>
    <p:sldId id="292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1071" r:id="rId60"/>
    <p:sldId id="1072" r:id="rId61"/>
    <p:sldId id="1074" r:id="rId62"/>
    <p:sldId id="1075" r:id="rId63"/>
    <p:sldId id="1079" r:id="rId64"/>
    <p:sldId id="1014" r:id="rId65"/>
    <p:sldId id="269" r:id="rId6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3883" autoAdjust="0"/>
  </p:normalViewPr>
  <p:slideViewPr>
    <p:cSldViewPr>
      <p:cViewPr varScale="1">
        <p:scale>
          <a:sx n="69" d="100"/>
          <a:sy n="69" d="100"/>
        </p:scale>
        <p:origin x="968" y="56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30374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E539-B463-9085-965A-30B93AA7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64DA6-4D49-1C33-FFC3-42D650D3C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A4649-4611-29A5-AAA1-66BAEFBB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F905-662A-5D6A-63A2-67D2A247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9595-B75E-51D7-F7F6-FD747B4222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6E9A32A-CA7C-AA90-EEA3-34F2DBE4153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4993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0D07-6538-E570-E7EB-DD39253E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C2F51-47AE-DD68-8186-507C6B5EF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473D-ECD5-FE2E-DD6F-9D015A69B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FC83-41AA-7E0E-CAB1-943D711E9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A74F4-6ADA-B48F-A418-F111E9C839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E6EA59C-9753-EC51-99A1-92D8ACDC9AC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5430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9F53-2F64-A6FA-D753-35A565FD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E28D4-C6B1-C8D3-3762-C2C38B54B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00241-E5AD-B3C0-1697-BFBC03F4F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830A8-0177-6711-2D83-478190A39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7130-A8B3-50C3-D903-86D985F02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B0334CB-883D-D17D-2086-E0338F1CA45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273730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69A2-1547-C940-781E-65A2BFB4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9A0B9-8C4F-2650-880C-FC68AA9B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091A4-C185-9C07-2022-364436028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74080-A623-EFE9-49D5-2460750F2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58E4-B518-0BE9-0EAD-CE38F78021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7DE85F3-355A-6ABE-47AC-54D614E4A53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800318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E2D9-000C-CBC8-BF71-ECBBD55C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D69D0-7BE2-C048-C9BE-AB6C54B46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5481B-C9A6-5356-D732-A1838544E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1B06-9E89-3326-1180-D3744B97A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758D3-87EB-1D31-B794-04394030AA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B2BAB26-1EBB-2E93-6010-73AAC96A511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1423065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5BEF-3F2A-2107-7417-BCD5FDD8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2234E-1C24-4A27-F81F-9E960C53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C8AC7-1E41-DB89-7B41-A378743B1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6B9EF-860C-8028-D71B-9C613082A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BDE07-FB83-FC19-564F-61FB2E7493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BE21AE5-B3C9-950E-CA12-BDC58197A6A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738461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031C-D6AA-283E-444B-AC58872C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2A7D6-B1C7-B162-C9A4-BAE542645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752DF-147B-FC02-F798-86A67EDFD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3FD6C-BFD0-539C-5A0D-ED47FD474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A841-4D57-32E3-E22F-BBA05C393F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4F4E3EA-6912-7EC8-B431-E4A962F975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259836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CC28-284F-BFAD-B79D-A9E71B78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0979-D9D5-24C6-7402-2EAFC57B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55558-EDD6-BA39-10AC-64F3924B6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4C5B0-4138-A982-09EE-1DD3332E9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A052-4640-C92C-EA18-2EE8010F43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9D59BD-56D5-DD07-EE08-B7DEC5C59C2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12266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D4CE-748A-01D4-4BE1-21CE3387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BBC8F-CB58-1A29-4CF5-8774F182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79CA1-A69C-03F7-0928-390ECE99A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7698-0DE9-9124-1AA3-04A40ED5B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9387-053F-0E8F-80BB-3A7AFC3AE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5958E72-DE79-B3B5-905C-21958CA23A7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071695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BFA9-7F1D-9634-EEEA-0A902E29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3325-2C01-97E4-9A62-0423B190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620BE-8110-5A44-59AE-2E703D9CF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C1D1E-0204-EF85-D96E-5D42C5AE3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F9D5-7D36-D436-A717-AA365CC03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7674074-39C2-3668-6DC7-F8901508D3D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743760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CC49-436A-C08A-F124-27A8C5F7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0D721-8F12-A3A6-4ED0-48F7D1412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FDCAA-8064-C2D8-BA8E-06B0655D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A6D3-0ABB-83BB-72BB-9576E0A5A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32DB7-7CAA-4525-5F06-359939311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AB08F8B-1863-9C04-B26F-69D831C7C31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167694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95B0-4E25-2B1A-2D28-EBD60BAA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CBB6C-92F3-364A-0C01-48117DD33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D1A6D-6A98-3132-ED70-4F92D7EC1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3FBBE-4AF4-935A-37FB-C5D007FDA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98E6-7577-BFE7-7757-29EF0D8813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31EA14D-4471-6C41-C10F-454F6002292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972692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7870-69C3-052C-2D34-AB9010CF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F5D21-8CC7-D704-5F25-376DD49FB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CE45C-1E2C-70D1-4607-5B563FA0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AB84-0995-2E73-205F-1279697C0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6337-56ED-5A81-BCA9-0B77DE7B2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7B87D03-7E27-75F1-52DC-7C920AA472F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26875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4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ata-structure-meaning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scaler.com/topics/data-structures/queue-in-data-structure/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javatpoint.com/data-structure-queue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loner.com/queues-in-data-structures-and-algorithms-dsa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array-representation-of-queue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talrachh.home.blog/2020/02/24/implementing-queue-using-array-in-java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talrachh.home.blog/2020/02/24/implementing-queue-using-array-in-java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dsa/queu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data-structure-queue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data-structures/queue-in-data-structure/" TargetMode="External"/><Relationship Id="rId5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tutorialspoint.com/data_structures_algorithms/queue_algorithm.htm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ETCCDS202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Dr. Aarti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5068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Queue ADT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Queue &amp; FIFO Principle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Terminology (Front &amp; Rear)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Queues (Linear, Circular, Priority, Deque)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Queue Operations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Representation of Queue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Enqueue &amp; Dequeue (Array)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Queue Using Array (Python/C++)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Array Implementation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Representation of Queue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Linked Queue Operations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Example (Queue A → Queue B ordering)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Problem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ADT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Applications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242860"/>
            <a:ext cx="8346203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used for expression evaluation and conversion (infix, prefix, postfix).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function call management using the call stack.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backtracking (e.g., Tower of Hanoi).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reverse data and check balanced parentheses.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are efficient and mostly run in O(1) time per push/pop.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expressions are evaluated using a __________.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 of Hanoi is solved using __________ and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stores function return addresses in the __________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 uses a stack to store __________.</a:t>
            </a: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/ Short Answer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notation places operator after operands?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real-life application of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is used by stack?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stack operation removes an element?</a:t>
            </a: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Application-based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9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postfix preferred over infix for machine evaluation?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9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stack help in reversing a string?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Undo/Redo / Browser history (any one)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avoids parentheses and precedence handling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pushing characters and popping them in reverse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Queue ADT and explain the FIFO principle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queue components: front and rear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different types of queues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basic operations: enqueue, dequeue, peek,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overflow and underflow conditions in queues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queue using arrays and linked lists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algorithms for queue operations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and limitations of different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39917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>
                <a:solidFill>
                  <a:srgbClr val="FF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Structure</a:t>
            </a:r>
            <a:endParaRPr lang="en-IN" sz="3600" b="1" kern="100">
              <a:solidFill>
                <a:srgbClr val="FF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3834"/>
            <a:ext cx="8077200" cy="3963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6865" y="5662989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https://www.geeksforgeeks.org/data-structure-meaning/</a:t>
            </a:r>
            <a:endParaRPr lang="en-IN"/>
          </a:p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6721AA-8D09-9E96-9039-1DF3C396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43925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7331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Structure of 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4495800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Fig 1 : QUEUE</a:t>
            </a:r>
          </a:p>
          <a:p>
            <a:pPr algn="ctr"/>
            <a:r>
              <a:rPr lang="en-US">
                <a:hlinkClick r:id="rId5"/>
              </a:rPr>
              <a:t>https://www.scaler.com/topics/data-structures/queue-in-data-structure/</a:t>
            </a:r>
            <a:endParaRPr lang="en-US"/>
          </a:p>
          <a:p>
            <a:pPr algn="ctr"/>
            <a:endParaRPr lang="en-US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349" b="35054"/>
          <a:stretch/>
        </p:blipFill>
        <p:spPr bwMode="auto">
          <a:xfrm>
            <a:off x="685800" y="1143001"/>
            <a:ext cx="7772400" cy="333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926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16514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1143000"/>
            <a:ext cx="8583488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ordered list which enables insert operations to be performed at one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delete operations to be performed at another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Referred to be as First In First Out list.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87" y="3047686"/>
            <a:ext cx="7177013" cy="184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95386" y="5105400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https://www.javatpoint.com/data-structure-queue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41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1156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1"/>
          <a:stretch/>
        </p:blipFill>
        <p:spPr bwMode="auto">
          <a:xfrm>
            <a:off x="545467" y="1650643"/>
            <a:ext cx="7693025" cy="339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97844" y="5416275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https://www.javatpoint.com/data-structure-queue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2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9588" y="244206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97844" y="5416275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https://www.javatpint.com/data-structure-queue</a:t>
            </a:r>
            <a:endParaRPr lang="en-IN"/>
          </a:p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2"/>
          <a:stretch/>
        </p:blipFill>
        <p:spPr bwMode="auto">
          <a:xfrm>
            <a:off x="179512" y="1293834"/>
            <a:ext cx="5943600" cy="1344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54"/>
          <a:stretch/>
        </p:blipFill>
        <p:spPr bwMode="auto">
          <a:xfrm>
            <a:off x="460375" y="3048000"/>
            <a:ext cx="5503503" cy="233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505201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224" y="4215606"/>
            <a:ext cx="3124200" cy="1393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44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7349" y="25282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07974" y="1293834"/>
            <a:ext cx="83684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 (Insert)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an element to the rear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 (Delete):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and returns the element from the front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element at the front of the queue without removing it.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if the queue is empty.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Checks if the queue is full.</a:t>
            </a:r>
          </a:p>
        </p:txBody>
      </p:sp>
    </p:spTree>
    <p:extLst>
      <p:ext uri="{BB962C8B-B14F-4D97-AF65-F5344CB8AC3E}">
        <p14:creationId xmlns:p14="http://schemas.microsoft.com/office/powerpoint/2010/main" val="782023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22" y="1448276"/>
            <a:ext cx="7007226" cy="341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38200" y="4859272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https://learnloner.com/queues-in-data-structures-and-algorithms-dsa/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5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0BD77-069F-BEF6-7D4C-586F8D5E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A015B2-936B-703E-5120-C2DCC2B12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568193-5F21-03B3-EB3B-3937678F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4BC3A-905C-CB63-FA7E-FCCDFEA8C1D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68226FF-2BC2-9BEE-12C5-E3DFEC27E8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295582-0AB9-055E-1E51-070444ADD91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773D-7983-DE04-C49C-23972F91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D33FD01-2BD1-511E-8A58-EA824DCFA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1AC11721-9FA5-E45C-9B53-3DC93FD14C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7591D-D5EE-B5C1-8E5E-9F38A2BEEB5F}"/>
              </a:ext>
            </a:extLst>
          </p:cNvPr>
          <p:cNvSpPr txBox="1"/>
          <p:nvPr/>
        </p:nvSpPr>
        <p:spPr>
          <a:xfrm>
            <a:off x="307975" y="1401570"/>
            <a:ext cx="8152457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in a queue is performed at the __________ end.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in a queue is performed from the __________ end.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used to remove an element is called __________.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answer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queue overflow?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any one type of queue.</a:t>
            </a:r>
          </a:p>
        </p:txBody>
      </p:sp>
    </p:spTree>
    <p:extLst>
      <p:ext uri="{BB962C8B-B14F-4D97-AF65-F5344CB8AC3E}">
        <p14:creationId xmlns:p14="http://schemas.microsoft.com/office/powerpoint/2010/main" val="3985043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6D318-5F3C-FB2E-9A9F-F4932E25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76E5D2-0AA3-69FC-2006-B5C6159DE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C79394-FA77-D54B-FB7E-0F1101DA5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(Answers)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4388CE-055C-B188-EBF2-81D19CEFAFC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2ED4367-BD55-A926-A531-6799A6B5E6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D0329-88EA-BB45-775F-394A242C5EC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B7845-70BC-D5E4-4C51-2E0FE32F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D5C34A20-E44F-3EEB-D40A-F5D41E2A8B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C8D70C4F-FB70-614D-8FED-A6347F2D9B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66D4E5-8DD5-557F-EE2F-0D7E75F1AFC4}"/>
              </a:ext>
            </a:extLst>
          </p:cNvPr>
          <p:cNvSpPr txBox="1"/>
          <p:nvPr/>
        </p:nvSpPr>
        <p:spPr>
          <a:xfrm>
            <a:off x="307975" y="1401570"/>
            <a:ext cx="815245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into full queue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/ Priority / Deque.</a:t>
            </a:r>
          </a:p>
        </p:txBody>
      </p:sp>
    </p:spTree>
    <p:extLst>
      <p:ext uri="{BB962C8B-B14F-4D97-AF65-F5344CB8AC3E}">
        <p14:creationId xmlns:p14="http://schemas.microsoft.com/office/powerpoint/2010/main" val="101262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9476097C-6961-FCC2-2F1E-F383E15595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5575" y="32427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Working of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28600" y="1295400"/>
            <a:ext cx="8610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letters in the word "ENCRYPT" are stored in Queue A in a random manner. Observe the operations performed to display the letters in their correct order in Queue B so as to form the actual 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dirty="0"/>
            </a:br>
            <a:r>
              <a:rPr lang="en-US" dirty="0"/>
              <a:t>  </a:t>
            </a:r>
          </a:p>
        </p:txBody>
      </p:sp>
      <p:pic>
        <p:nvPicPr>
          <p:cNvPr id="32768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656456" y="2906772"/>
            <a:ext cx="7867600" cy="279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4538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972A775-E199-A99F-07CD-B50131A20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218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8779" y="880225"/>
            <a:ext cx="7884368" cy="5190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91613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D4C0677-31FD-02D9-7229-00CBBABAC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320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2775" y="703323"/>
            <a:ext cx="8172400" cy="5540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84817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C292799B-E0AD-6386-CCD4-A44C8D2DC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42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7808" y="853877"/>
            <a:ext cx="8028384" cy="535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9465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A00AB22-A624-94A7-F8AC-04CB443A8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52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752" y="985949"/>
            <a:ext cx="7774964" cy="4886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099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6F24390E-D291-8C0D-41BA-9BFAE4A60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62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2955" y="635404"/>
            <a:ext cx="8107427" cy="5587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31511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4C6EC97-D7ED-C5A0-4DC6-1C1C4A338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72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3439" y="809109"/>
            <a:ext cx="8496944" cy="5239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648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86E0725-8469-C227-8D21-0FD7DE9EE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83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1" y="228600"/>
            <a:ext cx="9127067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0023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4AEFDC6-10AD-A777-CC7A-74AD5061B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93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5575" y="519708"/>
            <a:ext cx="8925436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56580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B31CAF1-AF31-BB0D-F2EA-72D1BE073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037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87427"/>
            <a:ext cx="8686799" cy="573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4785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CDA37C9-7E69-3797-E0A0-BF429D905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13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1959" y="346100"/>
            <a:ext cx="7823684" cy="5849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66169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D7841E3-5384-D9ED-6C9C-8E14BD503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241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4924" y="261664"/>
            <a:ext cx="8057281" cy="604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64665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F0374DB-8464-1E06-BEDA-E47526CE0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344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5576" y="836712"/>
            <a:ext cx="7677126" cy="512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336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9DAFF28F-B15F-1700-167A-91880305A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446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2627" y="540555"/>
            <a:ext cx="7783016" cy="570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4394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1FEFEC94-03FC-E818-062C-04777C741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549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9741" y="570293"/>
            <a:ext cx="7830641" cy="558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35877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45DC9E5-C420-02F5-6A00-15DD6E05E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651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3388" y="836712"/>
            <a:ext cx="8277225" cy="51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01053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93834"/>
            <a:ext cx="84237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adds an element to the end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 from the front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18B97-55C7-24C3-D46B-519D0B4C0CD8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988375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16789C95-F72F-51AA-2061-7DE1BC6C7A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33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attempting to enqueue an element into a full Queue in an array-based implementation?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element is added to the end of the Queue, expanding the size of the array.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element is added to the end of the Queue, and the front element is removed.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The element is added to the beginning of the Queue, shifting all elements one position to the right.</a:t>
            </a:r>
          </a:p>
          <a:p>
            <a:pPr lvl="1" algn="just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799B1-2C7E-1ADE-A39A-703093303048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323254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4FC3BB6D-DF51-8863-3D70-B21CE8F98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20891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data structures is typically used for the underlying implementation of Queues?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Arrays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Stacks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Trees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two primary operations performed on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Insertion and Deletion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Searching and Sorting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Push and Pop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A02ED8-39FC-F678-AD92-9A184089083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F6AF55-A528-9C44-E21F-8850A47820DE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773791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33615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array-based implementation of a linear Queue, where is the front pointer initially positioned?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At the end of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At a random position within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applicable, as arrays cannot be used to implement Queues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6DFBE-610F-1B4E-5578-964550F78BBB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930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80426826-3DC3-BEB3-BA8C-3D66B85F8C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52049"/>
            <a:ext cx="8247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(Answers)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7974" y="1480231"/>
            <a:ext cx="84550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 for both enqueue and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algn="just">
              <a:spcBef>
                <a:spcPts val="600"/>
              </a:spcBef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74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A6EA1-8C1D-B955-31AA-869301E7088F}"/>
              </a:ext>
            </a:extLst>
          </p:cNvPr>
          <p:cNvSpPr txBox="1"/>
          <p:nvPr/>
        </p:nvSpPr>
        <p:spPr>
          <a:xfrm>
            <a:off x="323528" y="1295896"/>
            <a:ext cx="8591872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56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D5A1-D727-3C1F-EF59-5EEBA5AF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E97669-5E1C-6438-99B1-67B2DFAD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AA3B089-8BFB-E504-0F1A-31AD86746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Array based 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D6ACE5-B885-FACC-74B3-547B369C74A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833C483-0E9D-D4B7-6D95-2629525FB8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200F2-4230-1EDE-251B-B8DD7601758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18A1A-2229-FAD6-8108-40F464D8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38F3D6FF-C4EE-DF1D-E26A-38178F267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8E862241-2DAF-345C-F8E6-142C19023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5F6760-50F3-F0EF-4A22-1735D0F96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87" y="1899013"/>
            <a:ext cx="6753944" cy="248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528013-9318-902D-F5E0-258459B59426}"/>
              </a:ext>
            </a:extLst>
          </p:cNvPr>
          <p:cNvSpPr/>
          <p:nvPr/>
        </p:nvSpPr>
        <p:spPr>
          <a:xfrm>
            <a:off x="633131" y="4707325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https://www.javatpoint.com/array-representation-of-queue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97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1D8D4D1F-7352-6C32-042C-7154AD262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9532" y="315058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Enqueue 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2773" y="5562600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9532" y="1253795"/>
            <a:ext cx="4572000" cy="40820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Enqueue (Insert): Algorithm</a:t>
            </a:r>
            <a:endParaRPr lang="en-US" sz="3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REAR = MAX - 1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and REAR = -1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0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REAR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QUEUE[REAR] = NUM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8852" r="12975"/>
          <a:stretch>
            <a:fillRect/>
          </a:stretch>
        </p:blipFill>
        <p:spPr bwMode="auto">
          <a:xfrm>
            <a:off x="4571999" y="1263374"/>
            <a:ext cx="4212469" cy="384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4981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E41451-839A-C539-06CD-F4BDA23CE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1755" y="374568"/>
            <a:ext cx="81051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Dequeue Operation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3706688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2775" y="5334679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1755" y="1498735"/>
            <a:ext cx="42640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or FRONT &gt; REAR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UNDERFLOW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VAL = QUEUE[FRONT]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FRONT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95" y="2047191"/>
            <a:ext cx="50482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9142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95"/>
          <a:stretch>
            <a:fillRect/>
          </a:stretch>
        </p:blipFill>
        <p:spPr bwMode="auto">
          <a:xfrm>
            <a:off x="460375" y="1942828"/>
            <a:ext cx="8437819" cy="314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68679" y="5003869"/>
            <a:ext cx="83517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https://hetalrachh.home.blog/2020/02/24/implementing-queue-using-array-in-java/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651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A89ACBD6-3C88-A4DA-E1D2-20ABF6AA7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8" t="21027"/>
          <a:stretch>
            <a:fillRect/>
          </a:stretch>
        </p:blipFill>
        <p:spPr>
          <a:xfrm>
            <a:off x="685800" y="1447800"/>
            <a:ext cx="8458200" cy="54375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4800" y="352049"/>
            <a:ext cx="81225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43"/>
          <a:stretch>
            <a:fillRect/>
          </a:stretch>
        </p:blipFill>
        <p:spPr bwMode="auto">
          <a:xfrm>
            <a:off x="304800" y="1837934"/>
            <a:ext cx="8437819" cy="368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12774" y="5662989"/>
            <a:ext cx="83517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https://hetalrachh.home.blog/2020/02/24/implementing-queue-using-array-in-java/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9566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476673"/>
            <a:ext cx="81889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349766" y="1103294"/>
            <a:ext cx="8105384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set of numbers are given in Queue A. With the help of queue B, deque the elements in DESCENDING order.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4" r="36137" b="1"/>
          <a:stretch/>
        </p:blipFill>
        <p:spPr bwMode="auto">
          <a:xfrm>
            <a:off x="2195736" y="2448721"/>
            <a:ext cx="5256584" cy="3649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529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0374" y="352049"/>
            <a:ext cx="85041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5" y="1293834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Queue implementation using array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= [0] *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-1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-1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insert():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rear == n - 1: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Overflow")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front == -1: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front = 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int(input("Insert the element in queue: "))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rear += 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queue[rear]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42FA9-A9F5-983F-ADC3-45B426122030}"/>
              </a:ext>
            </a:extLst>
          </p:cNvPr>
          <p:cNvSpPr txBox="1"/>
          <p:nvPr/>
        </p:nvSpPr>
        <p:spPr>
          <a:xfrm>
            <a:off x="4471058" y="1316257"/>
            <a:ext cx="46181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delete():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Underflow")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print("Element deleted from queue is:", queue[front])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+= 1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is empty")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elements are:",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range(front, rear + 1):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print(queue[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</p:txBody>
      </p:sp>
    </p:spTree>
    <p:extLst>
      <p:ext uri="{BB962C8B-B14F-4D97-AF65-F5344CB8AC3E}">
        <p14:creationId xmlns:p14="http://schemas.microsoft.com/office/powerpoint/2010/main" val="3443168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3FEB-B52A-AC09-E721-098E51BA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C3F1C-E93C-2485-71B8-CE7A9215B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28B2B2F-83C5-587C-496F-9F58E17F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85280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315B78-8C57-EA0E-A05A-DDBFCEE5D88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42C1B94-30A3-8B5B-C1F1-4AF3B964D7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BEC32C-55BC-2AB9-87D2-6F654AB05B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45B5C-3598-247B-D840-52354381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A8ECEB7-E614-1CE7-A5C9-2E85FF210B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94F7497-0D2E-78B3-A330-E74E32334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C69792C8-1A02-BB8F-2CA8-DD677F8C0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B36E4-7AC2-5AA5-6B46-FA6761D7C55E}"/>
              </a:ext>
            </a:extLst>
          </p:cNvPr>
          <p:cNvSpPr/>
          <p:nvPr/>
        </p:nvSpPr>
        <p:spPr>
          <a:xfrm>
            <a:off x="460375" y="1293834"/>
            <a:ext cx="4572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Insert element to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Delete element from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all the elements of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your choice: "))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561B3-DAE2-1714-455A-75D233891359}"/>
              </a:ext>
            </a:extLst>
          </p:cNvPr>
          <p:cNvSpPr txBox="1"/>
          <p:nvPr/>
        </p:nvSpPr>
        <p:spPr>
          <a:xfrm>
            <a:off x="5215275" y="1434226"/>
            <a:ext cx="3744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insert()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delete()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7960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2603-F0C9-BF97-EA4A-373E2A7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F3C694-1EDA-AF22-72E6-78DD1BC6B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B25BB51-8DA4-B3B8-E2E3-9C8E2AD88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00E804-862C-7967-ADD1-D49A162F4E9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C10C09-C70F-7C30-210B-7D880463C3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204067-A753-B703-D6C5-E687C4B20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5C0B6-2858-7AFA-D098-827783B7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1E423E8E-5334-F87C-F2E4-CE39B668CA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E74DBC9F-8CF8-E8EB-19E3-943F31475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21F54E67-EB3A-C56B-43FB-8B8A162800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48BFD-F203-F8A7-A717-7FAB91A696B7}"/>
              </a:ext>
            </a:extLst>
          </p:cNvPr>
          <p:cNvSpPr/>
          <p:nvPr/>
        </p:nvSpPr>
        <p:spPr>
          <a:xfrm>
            <a:off x="460375" y="1293834"/>
            <a:ext cx="4572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queue[100], n = 100, front = - 1, rear = - 1;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Insert() {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(rear == n - 1)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Overflow"&lt;&lt;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{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(front == - 1)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front = 0;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&lt;&lt;"Insert the element in</a:t>
            </a:r>
          </a:p>
        </p:txBody>
      </p:sp>
    </p:spTree>
    <p:extLst>
      <p:ext uri="{BB962C8B-B14F-4D97-AF65-F5344CB8AC3E}">
        <p14:creationId xmlns:p14="http://schemas.microsoft.com/office/powerpoint/2010/main" val="734975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4" y="1293833"/>
            <a:ext cx="836009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: 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rear++;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queue[rear] =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Delete()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   if (front == - 1 || front &gt; rear) {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Underflow ";       return ;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&lt;&lt;"Element deleted from queue is : "&lt;&lt; queue[front] 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front++;;    } 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5648DA-0CCC-0B62-051A-923FA4CF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402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12775" y="1093807"/>
            <a:ext cx="746144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if (front == - 1)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is empty"&lt;&lt;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else {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elements are : ";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 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= front; i &lt;= rear; i++)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&lt;&lt;queue[i]&lt;&lt;" ";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} }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Insert element to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Delete element from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Display all the elements of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Exit"&lt;&lt;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FBD946-8B98-4EA7-CA6D-711803824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432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58" y="352049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48728" y="1203245"/>
            <a:ext cx="738822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{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your choice : 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case 1: Insert();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break;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Delete();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break;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case 3: Display();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break;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&lt;&lt;"Exit"&lt;&lt;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default: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&lt;&lt;"Invalid choice"&lt;&lt;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}    } while(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!=4);    return 0; }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BBF9317-E95F-121B-76FE-0FCAEBA59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4526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352049"/>
            <a:ext cx="80318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Output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4" y="1061448"/>
            <a:ext cx="75406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element to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element from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all the elements of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 Enter your choice : 1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4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3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5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2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deleted from queue is : 4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3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elements are : 3 5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7 Invalid </a:t>
            </a:r>
          </a:p>
        </p:txBody>
      </p:sp>
    </p:spTree>
    <p:extLst>
      <p:ext uri="{BB962C8B-B14F-4D97-AF65-F5344CB8AC3E}">
        <p14:creationId xmlns:p14="http://schemas.microsoft.com/office/powerpoint/2010/main" val="3288054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9ACF-3422-78F0-94E1-CA024B3C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CA614C-3160-9A17-174D-8A11E03ED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E55C76-A191-0E7E-2211-DECCEE3F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Drawback of array implementation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4EF7D0-7513-F7F0-B630-324D4F35128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192A9B-55BA-C85E-DF00-D460D2A164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283A0-E12A-3581-A6C6-77D7529E429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4B059-CD94-0331-5766-882CB383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6F5E297-4E53-5602-1E1B-CDB8A5B10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225BCC81-3DD9-968A-33C8-2DDC88175F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74F95A3-7E97-8D44-AF9C-6B479DB09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39DC4B-FC83-DA9B-43A3-E3CAC045C08A}"/>
              </a:ext>
            </a:extLst>
          </p:cNvPr>
          <p:cNvSpPr/>
          <p:nvPr/>
        </p:nvSpPr>
        <p:spPr>
          <a:xfrm>
            <a:off x="403187" y="1547351"/>
            <a:ext cx="79289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 </a:t>
            </a:r>
          </a:p>
          <a:p>
            <a:pPr marL="457200" indent="-457200">
              <a:buFontTx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Deciding the array size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rray representation of Queue">
            <a:extLst>
              <a:ext uri="{FF2B5EF4-FFF2-40B4-BE49-F238E27FC236}">
                <a16:creationId xmlns:a16="http://schemas.microsoft.com/office/drawing/2014/main" id="{D6ACA12C-DE92-51DD-0F4D-0D48159119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39"/>
          <a:stretch>
            <a:fillRect/>
          </a:stretch>
        </p:blipFill>
        <p:spPr bwMode="auto">
          <a:xfrm>
            <a:off x="1115616" y="3061173"/>
            <a:ext cx="6677025" cy="11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666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0D43-9C82-B3CF-A09F-92A59AF4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63C50A-1154-9E7C-D9FB-5C2A1B99D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A42D3F-7C55-9BD4-0B3D-8131A895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Queue using Linked List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299826-EBE1-EFA5-703E-4FF6FBE2D2D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336E8BD-4E08-30BA-6F77-8E46603F8D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D948E-48FE-55C9-0DF2-BBA158639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41058-46E6-A358-63E8-D1020279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F25CDF54-7B2B-871A-98B1-4D7E7B897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0C446BA7-4625-9078-D43F-400FA297E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0C2EA10E-5E04-7FEF-7C5D-B98B3D688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Linked List implementation of Queue">
            <a:extLst>
              <a:ext uri="{FF2B5EF4-FFF2-40B4-BE49-F238E27FC236}">
                <a16:creationId xmlns:a16="http://schemas.microsoft.com/office/drawing/2014/main" id="{FF805B3B-B8EC-66EE-0D14-626C7AD7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43" y="3633379"/>
            <a:ext cx="62960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74E00A-EC3A-466B-BCFB-01D3FA2AF81C}"/>
              </a:ext>
            </a:extLst>
          </p:cNvPr>
          <p:cNvSpPr txBox="1"/>
          <p:nvPr/>
        </p:nvSpPr>
        <p:spPr>
          <a:xfrm>
            <a:off x="460374" y="1300210"/>
            <a:ext cx="807206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linked queue, each node of the queue consists of two parts i.e. data part and the link part.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of the queue points to its immediate next element in the memory.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8380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F4D66-641E-F5DD-B1CC-88C64839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308152-D4E9-8DB1-9F88-E0A07E6CB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C549045-996D-39AD-E648-016D6F4CE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7E7B17-4367-156C-6BB3-14074B2612A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70E89D-F3E9-A67E-AEF6-C3012BD25C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21A70-C5F9-8DAD-F54B-489DB6CF754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6D8A5-877A-9599-C790-9DBC4892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C378CB61-24EF-A992-F6EF-BF32CE8E1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6F46E5E9-5176-AE97-F257-58C44C5E1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18CEBEAB-5829-7D5F-82C7-B0F2E35EF9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10588-FB64-6C37-990E-8927BF306A9C}"/>
              </a:ext>
            </a:extLst>
          </p:cNvPr>
          <p:cNvSpPr txBox="1"/>
          <p:nvPr/>
        </p:nvSpPr>
        <p:spPr>
          <a:xfrm>
            <a:off x="341503" y="1219497"/>
            <a:ext cx="8406961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element will be the last element of the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Firstly, allocate the memory for the new node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(struct node *) malloc 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 node));  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two scenarios of inserting this new node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linked queue.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is empty</a:t>
            </a:r>
          </a:p>
          <a:p>
            <a:pPr marL="360363"/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-&gt; data = item;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(front == NULL)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{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= 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-&gt; next = NULL;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-&gt; next = NULL;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  </a:t>
            </a:r>
          </a:p>
        </p:txBody>
      </p:sp>
    </p:spTree>
    <p:extLst>
      <p:ext uri="{BB962C8B-B14F-4D97-AF65-F5344CB8AC3E}">
        <p14:creationId xmlns:p14="http://schemas.microsoft.com/office/powerpoint/2010/main" val="2407641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FC08-3267-DFE0-035B-CE3A7EF8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7615F-5A5B-40BB-BA9D-F7126385A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E86ED55-B237-2FCC-CD78-76C7E31C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D9EAA-8421-A8A2-6C8B-16FE58AA5F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88C889-BCB3-F5CE-F8E1-1A0E39CCB1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0A98B-65A9-7147-7433-F53BEB21D7D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19C5C-CCD0-1E49-0073-04AD8FB1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EE9E026E-5D36-62B4-9DF8-ECCB10D61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1B8E90D-FDB9-5B53-6C21-C3A0C65B59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8C071B9-B71D-F49B-B5B5-6F1DA5735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9EBEA-62AA-6CF4-85E7-2107518B095B}"/>
              </a:ext>
            </a:extLst>
          </p:cNvPr>
          <p:cNvSpPr txBox="1"/>
          <p:nvPr/>
        </p:nvSpPr>
        <p:spPr>
          <a:xfrm>
            <a:off x="341503" y="1219497"/>
            <a:ext cx="88390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queue contains more than one element.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rear -&gt; next =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rear-&gt;next = NULL; </a:t>
            </a:r>
            <a:r>
              <a:rPr lang="en-US" sz="2400" dirty="0"/>
              <a:t>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03362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418D-959E-F68A-82FD-D3D381F9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D6A413-9322-195A-CB7A-103A30B9E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70DFDAD-BEBA-C557-9BB7-9D30DED1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insert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E6B0BB-FB25-78AE-3BFA-763880A67EF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4548F7-E3D8-53DD-73B9-41E83FFB84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A40A1-476A-8D9E-A2BE-20718EF175F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D6224-4C0D-8368-1F9C-0F8D1479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56BB743-1801-34E9-B8AB-55BBADC3C5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FB1942C2-4D90-41F3-A3A7-86F4B5A71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60F85FD1-3CAA-7F9C-37BF-234915D0DE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69CC3-8B9B-C6F6-C651-4C3CC443AD03}"/>
              </a:ext>
            </a:extLst>
          </p:cNvPr>
          <p:cNvSpPr txBox="1"/>
          <p:nvPr/>
        </p:nvSpPr>
        <p:spPr>
          <a:xfrm>
            <a:off x="341503" y="1219497"/>
            <a:ext cx="883901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Allocate the space for the new node PTR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-&gt; DATA = VAL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-&gt; NEXT =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</a:p>
        </p:txBody>
      </p:sp>
    </p:spTree>
    <p:extLst>
      <p:ext uri="{BB962C8B-B14F-4D97-AF65-F5344CB8AC3E}">
        <p14:creationId xmlns:p14="http://schemas.microsoft.com/office/powerpoint/2010/main" val="22142620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02CE-0DE7-6338-69CF-7CB3CEA7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62D417-1DEF-3AC8-BC7B-F0D85168E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B4BD3E5-54E5-BF6B-4276-ADBFA2F49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Delete 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77EAEF-8B75-EFD2-3833-2D9E700D259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7F8204E-B381-D3D5-4642-4F49811313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EACC9E-531D-B01F-B20E-934D41075E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7DA36-496C-A0A5-0FD6-154A192B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B08F656-3FF2-FE3B-3C87-138B7DF3F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D76C7945-DE36-375C-414B-67489C2E8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2C8EA54A-6F4B-4BF0-E0B1-F26307FD3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EE5D3-2E70-9F24-3F5C-461BB1B875DA}"/>
              </a:ext>
            </a:extLst>
          </p:cNvPr>
          <p:cNvSpPr txBox="1"/>
          <p:nvPr/>
        </p:nvSpPr>
        <p:spPr>
          <a:xfrm>
            <a:off x="341503" y="1480231"/>
            <a:ext cx="808589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 removes the element that is first inserted among all the queue elements.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front;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front = front -&gt; next;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free(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99250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615B-08FF-690C-C0D3-F1121846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9E3422-A79B-657C-2B4F-114876B94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8B97B92-8B7F-7657-40E3-02D0E3278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Delete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B623DD-CFB1-F6A5-1F51-545CB4B40E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6DC8C3-FE39-B314-BA5A-4CEBE30ECA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E3412-FCB8-ECB4-3139-37C226664FA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B531D-05B2-9193-8A22-FFB7693C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B30046F8-00AA-2B4E-F11F-86C83EBC73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E8CEF80-FCCF-5F8C-C0B2-EAB0BA0F37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E60EE9D7-D629-53C0-3368-8DF72D755F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19794-E777-38E3-1284-2E1FF57B31C3}"/>
              </a:ext>
            </a:extLst>
          </p:cNvPr>
          <p:cNvSpPr txBox="1"/>
          <p:nvPr/>
        </p:nvSpPr>
        <p:spPr>
          <a:xfrm>
            <a:off x="432994" y="1195471"/>
            <a:ext cx="7902905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" Underflow "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 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= FRONT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FRONT = FRONT -&gt; NEXT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FREE PTR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517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4" y="1293834"/>
            <a:ext cx="82713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operation adds an element to the end of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Push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operation removes an element from the front of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BDC89C-7E86-EA75-03AB-4BF9C0FEC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793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00C387D9-16D2-6037-7BCB-33B8D478B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-36513" y="104371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5" y="1043718"/>
            <a:ext cx="8072066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happens when attempting to enqueue an element into a full Queue in an array-based implementation?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element is added to the end of the Queue, expanding the size of the array.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element is added to the end of the Queue, and the front element is removed.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The element is added to the beginning of the Queue, shifting all elements one position to the right.</a:t>
            </a:r>
          </a:p>
          <a:p>
            <a:pPr algn="just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Which of the following data structures is typically used for the underlying implementation of Queues?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Arrays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Stacks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Trees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742F6-8F27-FA5B-03D1-ACF8633A5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0141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72EBDEDD-36E5-9493-BBB8-EDE0CA769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5" y="1293834"/>
            <a:ext cx="814407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are the two primary operations performed on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Insertion and Deletion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Searching and Sorting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Push and Pop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 an array-based implementation of a linear Queue, where is the front pointer initially positioned?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At the end of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At a random position within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applicable, as arrays cannot be used to implement Queues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35FF8E-0A41-F674-25B2-85CD21244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7914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2351B7-5425-A56D-8EE5-C68DB4DB5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60374" y="1480231"/>
            <a:ext cx="830262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 for both enqueue and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8D16B0E-D2F1-275C-C0EF-6F35F4002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(Answers)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93025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44D2-9272-9620-CA58-44747DE2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0CE9F8-52EC-8866-3053-8F6A910F8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464619-2DFF-49F7-19E3-1CE2946CBD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EA2FD82-4A8F-D43F-FBB5-FF8F62781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72C42-C2B6-E7C3-DF4F-8334D8F1D10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1A0882D-1AB0-27D6-51E2-679173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4153"/>
            <a:ext cx="8229600" cy="4525963"/>
          </a:xfrm>
        </p:spPr>
        <p:txBody>
          <a:bodyPr>
            <a:normAutofit/>
          </a:bodyPr>
          <a:lstStyle/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a linear data structure based on FIFO (First In, First Out).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happens at rear; deletion happens from front.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 enqueue, dequeue, peek,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 arrays or linked lists.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queue is simple but may cause memory wastage and fixed size issues.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widely used in CPU scheduling, networking, BFS, printer spooling, and more.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BE15C-BC39-D985-88E4-E9F7F7ED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7EA496B-5852-0F1B-E05E-6601551F84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29B76E2-6971-11F7-B979-E61E3FF19F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F7CAF768-1614-CC72-396E-6905349D5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AD7F174-4347-D31A-1F82-9E10C70AF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Key Takeaways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75395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https://www.geeksforgeeks.org/queue-data-structure/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https://www.scaler.com/topics/data-structures/queue-in-data-structure/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Data Structure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https://www.javatpoint.com/data-structure-queue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Python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https://www.programiz.com/dsa/queue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Operations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https://www.tutorialspoint.com/data_structures_algorithms/queue_algorithm.htm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8787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2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23580</TotalTime>
  <Words>4168</Words>
  <Application>Microsoft Office PowerPoint</Application>
  <PresentationFormat>On-screen Show (4:3)</PresentationFormat>
  <Paragraphs>795</Paragraphs>
  <Slides>65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Aarti Sangwan</cp:lastModifiedBy>
  <cp:revision>1456</cp:revision>
  <cp:lastPrinted>2022-09-05T08:43:44Z</cp:lastPrinted>
  <dcterms:created xsi:type="dcterms:W3CDTF">2020-01-16T09:05:56Z</dcterms:created>
  <dcterms:modified xsi:type="dcterms:W3CDTF">2026-01-11T22:03:05Z</dcterms:modified>
</cp:coreProperties>
</file>