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51" r:id="rId2"/>
  </p:sldMasterIdLst>
  <p:notesMasterIdLst>
    <p:notesMasterId r:id="rId69"/>
  </p:notesMasterIdLst>
  <p:sldIdLst>
    <p:sldId id="1011" r:id="rId3"/>
    <p:sldId id="993" r:id="rId4"/>
    <p:sldId id="1012" r:id="rId5"/>
    <p:sldId id="691" r:id="rId6"/>
    <p:sldId id="1027" r:id="rId7"/>
    <p:sldId id="930" r:id="rId8"/>
    <p:sldId id="1013" r:id="rId9"/>
    <p:sldId id="296" r:id="rId10"/>
    <p:sldId id="266" r:id="rId11"/>
    <p:sldId id="310" r:id="rId12"/>
    <p:sldId id="268" r:id="rId13"/>
    <p:sldId id="265" r:id="rId14"/>
    <p:sldId id="314" r:id="rId15"/>
    <p:sldId id="317" r:id="rId16"/>
    <p:sldId id="1106" r:id="rId17"/>
    <p:sldId id="270" r:id="rId18"/>
    <p:sldId id="315" r:id="rId19"/>
    <p:sldId id="271" r:id="rId20"/>
    <p:sldId id="272" r:id="rId21"/>
    <p:sldId id="311" r:id="rId22"/>
    <p:sldId id="312" r:id="rId23"/>
    <p:sldId id="313" r:id="rId24"/>
    <p:sldId id="1118" r:id="rId25"/>
    <p:sldId id="1126" r:id="rId26"/>
    <p:sldId id="309" r:id="rId27"/>
    <p:sldId id="1124" r:id="rId28"/>
    <p:sldId id="273" r:id="rId29"/>
    <p:sldId id="274" r:id="rId30"/>
    <p:sldId id="275" r:id="rId31"/>
    <p:sldId id="276" r:id="rId32"/>
    <p:sldId id="277" r:id="rId33"/>
    <p:sldId id="278" r:id="rId34"/>
    <p:sldId id="279" r:id="rId35"/>
    <p:sldId id="1110" r:id="rId36"/>
    <p:sldId id="1111" r:id="rId37"/>
    <p:sldId id="316" r:id="rId38"/>
    <p:sldId id="287" r:id="rId39"/>
    <p:sldId id="288" r:id="rId40"/>
    <p:sldId id="289" r:id="rId41"/>
    <p:sldId id="295" r:id="rId42"/>
    <p:sldId id="290" r:id="rId43"/>
    <p:sldId id="1108" r:id="rId44"/>
    <p:sldId id="1123" r:id="rId45"/>
    <p:sldId id="1122" r:id="rId46"/>
    <p:sldId id="1125" r:id="rId47"/>
    <p:sldId id="1119" r:id="rId48"/>
    <p:sldId id="281" r:id="rId49"/>
    <p:sldId id="302" r:id="rId50"/>
    <p:sldId id="303" r:id="rId51"/>
    <p:sldId id="282" r:id="rId52"/>
    <p:sldId id="1121" r:id="rId53"/>
    <p:sldId id="1120" r:id="rId54"/>
    <p:sldId id="284" r:id="rId55"/>
    <p:sldId id="1112" r:id="rId56"/>
    <p:sldId id="300" r:id="rId57"/>
    <p:sldId id="1113" r:id="rId58"/>
    <p:sldId id="1114" r:id="rId59"/>
    <p:sldId id="1115" r:id="rId60"/>
    <p:sldId id="304" r:id="rId61"/>
    <p:sldId id="305" r:id="rId62"/>
    <p:sldId id="1116" r:id="rId63"/>
    <p:sldId id="307" r:id="rId64"/>
    <p:sldId id="308" r:id="rId65"/>
    <p:sldId id="1024" r:id="rId66"/>
    <p:sldId id="1014" r:id="rId67"/>
    <p:sldId id="269" r:id="rId68"/>
  </p:sldIdLst>
  <p:sldSz cx="9144000" cy="6858000" type="screen4x3"/>
  <p:notesSz cx="6761163" cy="99425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B3"/>
    <a:srgbClr val="E31E24"/>
    <a:srgbClr val="4B0993"/>
    <a:srgbClr val="E83030"/>
    <a:srgbClr val="0060AA"/>
    <a:srgbClr val="006CB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854" autoAdjust="0"/>
    <p:restoredTop sz="93883" autoAdjust="0"/>
  </p:normalViewPr>
  <p:slideViewPr>
    <p:cSldViewPr>
      <p:cViewPr varScale="1">
        <p:scale>
          <a:sx n="69" d="100"/>
          <a:sy n="69" d="100"/>
        </p:scale>
        <p:origin x="968" y="56"/>
      </p:cViewPr>
      <p:guideLst>
        <p:guide orient="horz" pos="2160"/>
        <p:guide pos="2880"/>
      </p:guideLst>
    </p:cSldViewPr>
  </p:slideViewPr>
  <p:notesTextViewPr>
    <p:cViewPr>
      <p:scale>
        <a:sx n="300" d="100"/>
        <a:sy n="3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slide" Target="slides/slide64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theme" Target="theme/theme1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" Type="http://schemas.openxmlformats.org/officeDocument/2006/relationships/slide" Target="slides/slide5.xml"/><Relationship Id="rId71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29837" cy="49885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29761" y="0"/>
            <a:ext cx="2929837" cy="49885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668431-CD35-4516-818D-B41B2C4843CF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4588" y="1243013"/>
            <a:ext cx="4471987" cy="33559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43662"/>
            <a:ext cx="2929837" cy="49885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29761" y="9443662"/>
            <a:ext cx="2929837" cy="49885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B949B3-C4AB-4FB2-8B24-B07A558BD5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65345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39319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974DFB-3008-8543-633F-58A4FDCE5D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05E617-873D-1C3C-F1FE-596A7096C4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C17E02-BCF9-92D4-5122-7BCC78C013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B01162-177B-B734-FFE6-17BCFEDA52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69050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5542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0F8777-BC47-2200-6A1C-EB34789B90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9F4ABC-EEF1-A951-7FAC-1F93C569E2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D04343-20BB-49D4-3398-79EEED45DE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B6DA01-74A2-3336-38C9-77FDE5032F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11045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32922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AB949B3-C4AB-4FB2-8B24-B07A558BD59F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180562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A52C0A-5BAA-BF88-3455-F66752E515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14B637-3722-E45C-B8ED-6C2496E107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CA0D78-B8C2-070C-A75D-39390A1F04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New Courses replaced with New Programmes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1FB704-FDF4-DE6A-D204-FC9442B687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8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311932151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A52C0A-5BAA-BF88-3455-F66752E515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14B637-3722-E45C-B8ED-6C2496E107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CA0D78-B8C2-070C-A75D-39390A1F04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New Courses replaced with New Programmes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1FB704-FDF4-DE6A-D204-FC9442B687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9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311932151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59B484-9E4B-5CFB-51BA-EE1388671F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BF61AF-2099-89DE-1E12-D3407287D3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73AF45-0ACA-8D72-BD0C-D37E68E259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New Courses replaced with New Programmes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8EC253-509E-AFCE-09C9-AC2D651F1F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844347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4AD66B-D39F-9A85-D5E3-03BAF5CD91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3AFF25-01D8-9077-3E21-0D0695DCDC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501B00-9F99-9B33-6FA8-BBDD291933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New Courses replaced with New Programmes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B8F968-BB44-95D9-C378-B56150E455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972833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A52C0A-5BAA-BF88-3455-F66752E515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14B637-3722-E45C-B8ED-6C2496E107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CA0D78-B8C2-070C-A75D-39390A1F04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New Courses replaced with New Programmes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1FB704-FDF4-DE6A-D204-FC9442B687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12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403160738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B343E1-697F-0E19-B03F-AEFC6B0415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61776B-1799-08E2-E3F0-1F4EE255CC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4E4E2B-C002-B942-9E83-F976B2AB0B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New Courses replaced with New Programmes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7EC185-D5E0-F8F6-BFD9-3609A4B4FA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995988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59071C-15DC-6E79-4FB2-F29A65E8F9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0ECE3F-AC93-672A-D55B-FE328BFAE9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228AF8-1257-191A-15C8-712A9310B8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New Courses replaced with New Programmes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8A3EDB-EEAF-C01B-3084-5B9781AB63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14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F4FDA5-08AA-9F36-4BAB-D28BBA8AD2D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27BE719B-E0DF-E544-9CBD-7EFCD29BF91A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284238204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New Courses replaced with New Programmes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15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316089312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New Courses replaced with New Programmes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16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377661321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A59B91-6EC2-E70F-1E4B-3C5186DF93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06CF4D-74F7-E80F-5BF3-C74B128649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B20ABC-EBAF-5855-4276-C8E81E52F7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New Courses replaced with New Programmes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47E923-2C1D-FF16-DCAA-83AD11D54B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17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B3638E-431C-EFFE-1ABA-1A3C8998F28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CF810B4A-CAD4-AC7F-E684-543F91EB2A64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78121537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New Courses replaced with New Programmes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18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377661321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FE6D6-DE3C-4F02-4BB1-B55C0C9BC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22BD2B-7558-AC42-0F89-11BB869D79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E40DB2-5228-9BD7-03F4-36E13407F5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New Courses replaced with New Programmes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4625AE-FFFA-4019-4485-254214019F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19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139696641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E5FA8A-D66F-DE62-1B4A-61973FD955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D32A0E-AB6E-8820-B344-80E09B7CDA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856F74-3445-151C-A73C-FB28B171BA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New Courses replaced with New Programmes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B72B20-1EE9-2AFD-2DD1-D15C577BCD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20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C856CC-6965-A8A9-EA65-947AD1E56DC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362749D0-1CD7-ED1A-EB42-AAF3EE9B3C93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303344360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F63D34-1168-3A0D-4968-41060F860D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E9D44F-9867-BF80-C6CA-91026B1FCE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4336BF-B7EA-DEB0-E6D1-C94E07DDAC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New Courses replaced with New Programmes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EDC427-9C7D-A8EF-8DC6-91E1CFFA9C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B7C244-17B8-1B36-06C2-BCAE8333F90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E49AB703-3279-4CC9-7929-5535136EE3CC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412865302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EA1361-DA92-B06D-DDB2-DB56CD2A22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FB4BB2-FD70-8873-8933-18ED167A3D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70B4C1-A422-8292-3887-37B5AA2E53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New Courses replaced with New Programmes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4F4D26-6D53-DE03-F19F-6688423052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09048B-24EE-AF56-E2DD-3253C355E38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277CEE34-D3B9-DD8E-57A4-E3C6FE64B565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284995532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AF047-EF59-FA05-8695-9CC03C0684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1E5435-9209-02D3-EB98-AE2C01CF5B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E92A0A-D6EE-7B3D-927C-E3CB70457D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New Courses replaced with New Programmes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50B6C8-12EB-E124-2D3D-49748498AE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5AFD12-43E6-5241-E7BC-D52150F8DAF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22AF7F61-5F90-4551-AA1B-50838CDFDC25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32156370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910D09-FC5C-0674-9EF5-486F4BE19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371ECC-C8BD-42D9-3965-336EA2BECD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A84EAA-5A8C-3E94-0A39-F574B15AB9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New Courses replaced with New Programmes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A09A1C-E0EC-D69E-03D1-948690F985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33B09A-23A3-8534-1DF7-60CC3061F1F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F3D67C44-B941-85B4-02E4-5C8EAB03813C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96067751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FE6D6-DE3C-4F02-4BB1-B55C0C9BC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22BD2B-7558-AC42-0F89-11BB869D79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E40DB2-5228-9BD7-03F4-36E13407F5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New Courses replaced with New Programmes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4625AE-FFFA-4019-4485-254214019F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243584762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273FB4-4590-FD89-C9B2-E58D211F3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EA544C-2CBF-11E8-5AD8-B0E9459ACC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0057F8-CCBA-094B-53E6-74A5E066A0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New Courses replaced with New Programmes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6B1A56-4A13-D428-A5A2-A83DD47882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8B4881-9D2D-67F6-2A94-8D59CB93CF1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C2DF6B7D-BBBB-53B4-5618-19F47914C109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61373703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FE6D6-DE3C-4F02-4BB1-B55C0C9BC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22BD2B-7558-AC42-0F89-11BB869D79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E40DB2-5228-9BD7-03F4-36E13407F5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4625AE-FFFA-4019-4485-254214019F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AB949B3-C4AB-4FB2-8B24-B07A558BD59F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352893135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FE6D6-DE3C-4F02-4BB1-B55C0C9BC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22BD2B-7558-AC42-0F89-11BB869D79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E40DB2-5228-9BD7-03F4-36E13407F5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4625AE-FFFA-4019-4485-254214019F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AB949B3-C4AB-4FB2-8B24-B07A558BD59F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257732324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FE6D6-DE3C-4F02-4BB1-B55C0C9BC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22BD2B-7558-AC42-0F89-11BB869D79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E40DB2-5228-9BD7-03F4-36E13407F5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4625AE-FFFA-4019-4485-254214019F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AB949B3-C4AB-4FB2-8B24-B07A558BD59F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400141383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FE6D6-DE3C-4F02-4BB1-B55C0C9BC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22BD2B-7558-AC42-0F89-11BB869D79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E40DB2-5228-9BD7-03F4-36E13407F5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4625AE-FFFA-4019-4485-254214019F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AB949B3-C4AB-4FB2-8B24-B07A558BD59F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211581286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FE6D6-DE3C-4F02-4BB1-B55C0C9BC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22BD2B-7558-AC42-0F89-11BB869D79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E40DB2-5228-9BD7-03F4-36E13407F5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4625AE-FFFA-4019-4485-254214019F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AB949B3-C4AB-4FB2-8B24-B07A558BD59F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282318522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FE6D6-DE3C-4F02-4BB1-B55C0C9BC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22BD2B-7558-AC42-0F89-11BB869D79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E40DB2-5228-9BD7-03F4-36E13407F5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4625AE-FFFA-4019-4485-254214019F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AB949B3-C4AB-4FB2-8B24-B07A558BD59F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426362782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FE6D6-DE3C-4F02-4BB1-B55C0C9BC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22BD2B-7558-AC42-0F89-11BB869D79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E40DB2-5228-9BD7-03F4-36E13407F5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4625AE-FFFA-4019-4485-254214019F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AB949B3-C4AB-4FB2-8B24-B07A558BD59F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250192007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746E03-06E9-B92B-9085-F6500244A5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0F402F-F3B9-F228-8F3B-9673334EEA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59956B-9DE4-C62E-9F51-A466E9C68E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New Courses replaced with New Programmes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167006-0471-BBA3-D1EB-5CD8994594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34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8ED78C-4647-8F7A-CF35-7D5F7022E97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E21C0FFC-73B7-D904-0C0F-B9A3C426202A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220683775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CA8784-3ED4-A109-7FB1-1339442332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0696B4-65FA-AEB9-DA88-6AFCB5EA17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9BA16B-B758-4C52-A933-1A59D65F1F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New Courses replaced with New Programmes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299863-C258-CC7B-EA1D-7596CC189E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35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A2520A-8530-71EB-2CEA-0195DDD5741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EF9FEC28-3F89-A983-A40E-9D71EDFEAB2E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176891556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276AA3-E4CC-503C-4A74-45192B293F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ECDE11-5E75-8E49-055D-459CB6EF97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1E4065-FDA8-A08B-6E44-D617B29393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New Courses replaced with New Programmes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C8C38D-90B1-92EA-2EE8-1948C1A535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36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D61D24-4389-E0E7-DF27-62048380E1E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4531287A-A1F1-A1D8-A681-4ECED03258CA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79329898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FE6D6-DE3C-4F02-4BB1-B55C0C9BC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22BD2B-7558-AC42-0F89-11BB869D79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E40DB2-5228-9BD7-03F4-36E13407F5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New Courses replaced with New Programmes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4625AE-FFFA-4019-4485-254214019F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37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824151840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FE6D6-DE3C-4F02-4BB1-B55C0C9BC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22BD2B-7558-AC42-0F89-11BB869D79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E40DB2-5228-9BD7-03F4-36E13407F5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New Courses replaced with New Programmes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4625AE-FFFA-4019-4485-254214019F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38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82415184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FE6D6-DE3C-4F02-4BB1-B55C0C9BC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22BD2B-7558-AC42-0F89-11BB869D79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E40DB2-5228-9BD7-03F4-36E13407F5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New Courses replaced with New Programmes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4625AE-FFFA-4019-4485-254214019F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39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824151840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FE6D6-DE3C-4F02-4BB1-B55C0C9BC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22BD2B-7558-AC42-0F89-11BB869D79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E40DB2-5228-9BD7-03F4-36E13407F5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New Courses replaced with New Programmes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4625AE-FFFA-4019-4485-254214019F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40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2958843686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FE6D6-DE3C-4F02-4BB1-B55C0C9BC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22BD2B-7558-AC42-0F89-11BB869D79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E40DB2-5228-9BD7-03F4-36E13407F5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New Courses replaced with New Programmes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4625AE-FFFA-4019-4485-254214019F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41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824151840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DE7641-2BEB-A117-6BFE-96324000B6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B755B7-123B-57E4-C871-FEEAA3E616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634B1E-07B0-EB05-DB27-69CCDAF179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New Courses replaced with New Programmes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B0C42E-626E-0B21-EB87-8BCFEBE727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42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26B4BF-E464-BDF2-7809-8A8BEE26C15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881D7550-70D9-0055-852C-EF8BD4974A04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3060151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70AF8E-6E0F-4EC1-9807-4C8B047376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C2DE23-D358-9CCD-7266-6215449AB8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8AF012-4D32-5B95-734C-E8F2363D65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New Courses replaced with New Programmes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DCA8F3-5A5B-07B4-9DF2-2C47F08E55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43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9A7233-04D3-5CD7-2A63-570C0A4BC42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C75BCD69-E882-D6ED-F411-6D1C62ACF9C8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909575318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2F2F0F-E293-5F34-480A-9ACF637FB4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B74498-0826-0D81-8A10-01DA52E3D7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2562CD-ADB6-7D99-F8AC-AD2B6CBFC2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New Courses replaced with New Programmes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647026-99E7-E5FA-2030-94A3B03BA7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44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E84CAF-7E44-D6AC-6035-408D24458D1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28F42F22-5623-D051-19E6-71BCA63AD045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648923684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3281C2-3CE7-7517-AAC4-49EB08173F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69BE45-B63E-4CC5-C874-49A3A7D61A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7AD732-137E-5298-7C2E-9C93D03DE4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New Courses replaced with New Programmes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7D214D-AC1A-B5F7-DC67-8D4950FE13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45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4CA9B5-1091-216B-9EB1-2B860797917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676AA894-E97C-12FC-E07E-AAA7C5D68A7F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453155194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82E1BE-3F6E-5307-8F1B-DF912D7EEF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BAAE7B-4D4E-BBE2-3A41-100A825A00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979318-2EBB-E539-D7FF-9E5E91B49B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New Courses replaced with New Programmes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548899-48AE-F627-75EE-333ABF53A9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46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11CAC4-1B08-191A-908B-9EA369B2B41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52EA1754-896E-7AE1-C5B6-456985CCDD22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3097342414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FE6D6-DE3C-4F02-4BB1-B55C0C9BC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22BD2B-7558-AC42-0F89-11BB869D79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E40DB2-5228-9BD7-03F4-36E13407F5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4625AE-FFFA-4019-4485-254214019F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47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824151840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FA26EE-35E5-74FC-E57E-0DF73FEB9B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0E9048-BE13-EDB7-06F6-246B328F64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0001AB-7E08-0E23-E3C0-69D532EBBC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AFDC80-07ED-C4C0-4EB6-5A1F37306F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48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9F1077-761E-2848-4458-CEECDC216EE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DB94E556-42A4-3778-AD3C-537568D2FAF6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3796326800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04F713-7CDE-AC5C-7D86-9DD82AF296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73D4DE-B94B-1780-EA89-6CFE8B2323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1FED11-0752-467C-E63E-D043AFE12E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3E8F2B-4F58-9ED4-B713-3B2817602F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49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AA21F9-2501-9484-C1A0-9DB8D6D44A9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AA69AF2C-1054-0F8D-2712-694C5D62B76A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2934510452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FE6D6-DE3C-4F02-4BB1-B55C0C9BC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22BD2B-7558-AC42-0F89-11BB869D79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E40DB2-5228-9BD7-03F4-36E13407F5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4625AE-FFFA-4019-4485-254214019F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50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824151840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D14EE7-3522-F0D2-CF28-C7A1AFE78D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A438B6-C83B-9A57-6E28-55BB5814C7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DF86B7-CD5B-954B-8202-73BE7E64B6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D6DD04-1E3E-7F57-D1F0-6F39E96FAD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51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405442-1EF6-0A48-AEFA-375A355320E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C4E4DFA0-6D83-89D9-9DA6-96D70EAAE6AA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72880577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CB9564-3856-D9C9-552A-085DF8E510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CC7BEB-9C45-0EF4-4A03-ADD48B60FF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A6DEF2-7318-2FE7-CA8A-8F378EB590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1B3B44-09EA-F52D-98C4-1DAEDC3773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52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A45930-680B-3A7F-C596-1130AA99ADA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5F17D5BF-B791-59D4-1BF9-CFDFA2DE8921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225648864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FE6D6-DE3C-4F02-4BB1-B55C0C9BC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22BD2B-7558-AC42-0F89-11BB869D79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E40DB2-5228-9BD7-03F4-36E13407F5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4625AE-FFFA-4019-4485-254214019F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53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824151840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FE6D6-DE3C-4F02-4BB1-B55C0C9BC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22BD2B-7558-AC42-0F89-11BB869D79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E40DB2-5228-9BD7-03F4-36E13407F5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4625AE-FFFA-4019-4485-254214019F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54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824151840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6A7D55-D47A-ACDC-8E84-DA840381F9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18D438-22D1-8401-9C8F-EBCB86BF30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D5D620-DE5B-3D6B-CD1F-6075F4029C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1BF010-52E5-8041-D7E4-13514CAD94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55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97F852-D8FC-C7C1-3CFC-0DDACB4DDD1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87C22FA3-BDC8-24FD-D225-333ED88D778D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3262576752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FE6D6-DE3C-4F02-4BB1-B55C0C9BC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22BD2B-7558-AC42-0F89-11BB869D79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E40DB2-5228-9BD7-03F4-36E13407F5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4625AE-FFFA-4019-4485-254214019F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56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824151840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FE6D6-DE3C-4F02-4BB1-B55C0C9BC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22BD2B-7558-AC42-0F89-11BB869D79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E40DB2-5228-9BD7-03F4-36E13407F5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4625AE-FFFA-4019-4485-254214019F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57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824151840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FE6D6-DE3C-4F02-4BB1-B55C0C9BC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22BD2B-7558-AC42-0F89-11BB869D79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E40DB2-5228-9BD7-03F4-36E13407F5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4625AE-FFFA-4019-4485-254214019F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58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824151840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28AF2D-468B-F101-0AB2-8E34388262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461CB3-0B4C-A2F6-948D-CBFE1BDEA6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AB7F14-E418-D029-C8FA-EA78BDD6CD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9DEDB4-840A-C41C-A03D-6E2AA5F4C2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59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BEB360-2068-2444-528D-97711A01B6D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DFFDF83D-6795-6829-0D19-63FC045EDCAB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3385085966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F9D53C-4E76-185F-E399-B0FCD014A9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EEB4ED-4B1A-F6C1-5C85-F76A4CBC8E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D79A9C-A04C-9454-BCA2-71A8E1352D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BBA624-DB02-3DF5-A9A8-C3DB9D64F3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60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36751C-97B9-1739-97DD-6BDF1B23EF1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AA5B5A7E-3770-FA42-877B-68CE74BE440B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387806667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9ED455-F8FC-59A0-2BD2-209F19F9EF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94425A-1B65-90A5-579A-46D74551CA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9F70D8-630F-31D9-BABA-D7D48145DE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32D4FC-6720-E7D1-D8BD-D6074E06A3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61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FC477D-255F-2574-58F0-038563C5806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7EC32A59-970E-2ECA-2F4B-871EBBCE2DBF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1846537870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F4F697-EC59-D13E-1579-7CCC83E43C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F9A8EF-1A0D-3E38-D1A3-F1830F47E7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DDBA00-DF6F-422A-F168-3629632773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336F47-B03D-225E-6580-119684F805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62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08AB35-F37B-1A66-5286-63729CA730B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C7341125-DBCF-16AC-1A58-E63F53042AEB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3595354554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C0740F-1326-EC9F-CC32-CB9718A65D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D91B9C-3180-F19C-BCAF-D0791D2ECA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8CA684-F33D-9BED-C90B-8FF273A24A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9D4384-1664-678F-BDF2-136D2CBD27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63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271E53-3C1B-AA26-2668-34F28550E7A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7F8D6AC6-2CFC-3E54-B254-D8BE2B9C4A47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2685153088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331349-3B1A-4219-422B-9E452793EF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2C6E87-1A18-81F5-76C3-1F1A34309B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546D69-9C91-B6C1-C36A-D9E763DD73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C89B68-97B5-6C71-0B4F-7458139BCE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AB949B3-C4AB-4FB2-8B24-B07A558BD59F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64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693446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F52238-09A6-8EB0-4295-5007DFCC46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880A71-06A5-D1F8-DA16-27247CBDC0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99DB18-C22C-0235-39B4-E26D3FB8C9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5C905F-3127-FA31-973F-892A372D9B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65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56420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24B7B-8CFF-4188-8E5F-458DAB1C0A4A}" type="datetime1">
              <a:rPr lang="en-IN" smtClean="0"/>
              <a:t>12-01-2026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Dr. Aarti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16174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A89787-5071-4C5F-8398-907FFB8E997A}" type="datetime1">
              <a:rPr lang="en-IN" smtClean="0"/>
              <a:t>12-01-2026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IN" dirty="0"/>
              <a:t>Dr. Aarti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1951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20971D-87BD-F7C3-3479-51DA9F667A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CE69E2-14BA-24C0-892B-2C0A8D9BFC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0AB0D9-4D52-B389-1D2E-A289C53470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B72C6-B35C-4B3A-89A3-6CC309ECFEDC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6691BF-77CF-D651-1CCF-E01A504347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526F55-CCC3-578E-E507-C9E90B856C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07D81-914B-469E-BBDD-751D6B2179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19323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B712ED-EA34-00A0-4CC1-68C4925C0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96D8C9-FF7A-D162-5348-73ECF9BEC8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6F44B9-ABAB-D65A-AB25-D4D88A83FA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B72C6-B35C-4B3A-89A3-6CC309ECFEDC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64B8A9-2C83-E3D4-2A10-780ECCAE6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7A0FEE-970B-0B74-7483-89CF80A9A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07D81-914B-469E-BBDD-751D6B2179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26923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DF3C68-3846-E215-E462-3DADF536B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3427CF-7714-E559-EEED-DA13DC8329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43B458-D6A4-BE41-C525-8DE758BFBC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B72C6-B35C-4B3A-89A3-6CC309ECFEDC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4A41A5-CE82-A5D3-7F44-8FD758639A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3B4EF3-726B-6729-C0CD-8ADB0E666B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07D81-914B-469E-BBDD-751D6B2179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32894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F43397-82B8-4960-8B69-22BFA0E65A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1724E5-6B04-6B90-CFCE-39B68B923F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E9B81D-28DB-D759-4DAA-C64D5FBDB8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A3CDE0-46CB-4368-9C95-90B9B12D0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B72C6-B35C-4B3A-89A3-6CC309ECFEDC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19F67D-236D-6CA8-986E-726F78DE36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31F93F-AFEB-5306-24A8-9667AACB2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07D81-914B-469E-BBDD-751D6B2179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02294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BC0103-8F81-71FC-A504-EAACD5758B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ADC0B3-F3FB-F0E7-5D85-60EEAA6AFD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7F30A5-040A-0E60-EFC4-BA55AC024A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D5FB67-BA00-1521-8619-E083942FA3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DB449CA-8F4F-EB25-B452-21E500D028D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99229D-5ADE-A97C-86F6-D9260F2625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B72C6-B35C-4B3A-89A3-6CC309ECFEDC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483E262-183D-253A-C679-0ADF5CB938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58E64B-509E-CCF8-143F-E8A0D73FE7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07D81-914B-469E-BBDD-751D6B2179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47835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C14AAE-1999-93CA-4465-88A55E821B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040863-D633-D2E5-98E0-A3B491C6F2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B72C6-B35C-4B3A-89A3-6CC309ECFEDC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5AEBA3-F60B-ACF3-11C8-86A407C9AF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DB01DD-9E43-5FC5-1009-73AC40B75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07D81-914B-469E-BBDD-751D6B2179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52495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6642410-A3DF-8AED-B8FE-708CDA0E13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B72C6-B35C-4B3A-89A3-6CC309ECFEDC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84FF3FB-A4E6-7108-2B35-67F270AE8C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5C5416-D65C-CE69-26B4-6912D2523A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07D81-914B-469E-BBDD-751D6B2179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85970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604A1-19D5-FBE0-1546-34CAEC6908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D1AAFF-6BC5-6C09-DD7A-D29F54623A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7AB9C1-7A21-BAF5-1ECA-2C4172EF1F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98141E-034C-650C-7AFD-12B5CCAC74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B72C6-B35C-4B3A-89A3-6CC309ECFEDC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85A061-A910-AD0A-4E41-56086EB1EC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DC29F1-A3A8-1B01-F248-73B8A9989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07D81-914B-469E-BBDD-751D6B2179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99880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2203CC-D253-F725-1671-E957DF7D99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D412CFD-C920-CE1C-E13A-049E0B8BF35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63F393-197C-6768-3F75-FAA94860EC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0D82AD-3CFA-77C5-905E-BE06296D83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B72C6-B35C-4B3A-89A3-6CC309ECFEDC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E6C306-5AFB-F621-4A83-C072C79577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988827-06E2-541C-B39D-E4598EB7C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07D81-914B-469E-BBDD-751D6B2179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81914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341BAA-7BF2-0AAD-E982-43856F1BE8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2EF281-2971-73CF-6791-3AE10A7653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17D053-10B0-DB06-7750-FF59002939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B72C6-B35C-4B3A-89A3-6CC309ECFEDC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B5E6FA-2E56-B795-8126-4BC45D45CD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9B3249-DCAF-F0A8-2159-98BD0CDFE9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07D81-914B-469E-BBDD-751D6B2179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33383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E4C0CD5-ABFB-C631-D659-6C74AC60583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8EF371-F511-F6E9-5497-D368C0CCA3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0C9BFB-5E60-F0A1-B8D0-921000BA79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B72C6-B35C-4B3A-89A3-6CC309ECFEDC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0A1F75-14EE-E4CE-CDDD-F76D29BB58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1B4786-1DDD-B3C4-073A-A5C710097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07D81-914B-469E-BBDD-751D6B2179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87989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2C24D9-24F3-417C-BC8F-BF4AA98118EF}" type="datetime1">
              <a:rPr lang="en-IN" smtClean="0"/>
              <a:t>12-01-2026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 dirty="0"/>
              <a:t>Dr. Aarti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87599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E1D8429-28A1-E8A2-8FFB-DCAEB8A3A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038001-F07E-7A41-E592-A9F7247442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02F013-65A9-2466-230D-E6C39570F3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6B72C6-B35C-4B3A-89A3-6CC309ECFEDC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75D20B-08AF-0BB2-A7CD-B4119F3921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472A83-C8F6-03BB-4037-234493B7D5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707D81-914B-469E-BBDD-751D6B2179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34413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geeksforgeeks.org/data-structure-meaning/" TargetMode="Externa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ev.to/ogwurujohnson/demystifying-the-javascript-call-stack-1ppc" TargetMode="External"/><Relationship Id="rId5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hyperlink" Target="https://www.geeksforgeeks.org/dsa/introduction-to-stack-data-structure-and-algorithm-tutorials/" TargetMode="Externa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hyperlink" Target="https://www.javatpoint.com/applications-of-stack-in-data-structure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geeksforgeeks.org/dsa/introduction-to-stack-data-structure-and-algorithm-tutorials/" TargetMode="External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youtube.com/watch?v=HRDHgKrYHgU" TargetMode="External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prepinsta.com/data-structures/introduction-to-stacks-in-data-structures/" TargetMode="External"/><Relationship Id="rId5" Type="http://schemas.openxmlformats.org/officeDocument/2006/relationships/image" Target="../media/image14.png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hyperlink" Target="https://www.geeksforgeeks.org/dsa/stack-data-structure/" TargetMode="External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scaler.com/topics/stack-operations-in-data-structures/" TargetMode="External"/><Relationship Id="rId5" Type="http://schemas.openxmlformats.org/officeDocument/2006/relationships/image" Target="../media/image16.png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geeksforgeeks.org/dsa/introduction-to-stack-data-structure-and-algorithm-tutorials/" TargetMode="External"/><Relationship Id="rId5" Type="http://schemas.openxmlformats.org/officeDocument/2006/relationships/image" Target="../media/image18.png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hyperlink" Target="https://www.geeksforgeeks.org/dsa/introduction-to-stack-data-structure-and-algorithm-tutorials/" TargetMode="External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hyperlink" Target="https://www.geeksforgeeks.org/dsa/introduction-to-stack-data-structure-and-algorithm-tutorials/" TargetMode="External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onlinegdb.com/FcES0uuul" TargetMode="External"/><Relationship Id="rId4" Type="http://schemas.openxmlformats.org/officeDocument/2006/relationships/image" Target="../media/image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3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prepinsta.com/data-structures/representation-of-a-stack/" TargetMode="External"/><Relationship Id="rId5" Type="http://schemas.openxmlformats.org/officeDocument/2006/relationships/image" Target="../media/image30.png"/><Relationship Id="rId4" Type="http://schemas.openxmlformats.org/officeDocument/2006/relationships/image" Target="../media/image3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5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javatpoint.com/applications-of-stack-in-data-structure" TargetMode="External"/><Relationship Id="rId3" Type="http://schemas.openxmlformats.org/officeDocument/2006/relationships/image" Target="../media/image1.png"/><Relationship Id="rId7" Type="http://schemas.openxmlformats.org/officeDocument/2006/relationships/hyperlink" Target="https://www.scaler.com/topics/stack-operations-in-data-structures/" TargetMode="External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prepinsta.com/data-structures/introduction-to-stacks-in-data-structures/" TargetMode="External"/><Relationship Id="rId5" Type="http://schemas.openxmlformats.org/officeDocument/2006/relationships/hyperlink" Target="https://www.geeksforgeeks.org/stack-data-structure/" TargetMode="External"/><Relationship Id="rId4" Type="http://schemas.openxmlformats.org/officeDocument/2006/relationships/image" Target="../media/image3.png"/><Relationship Id="rId9" Type="http://schemas.openxmlformats.org/officeDocument/2006/relationships/hyperlink" Target="https://www.programiz.com/dsa/stack" TargetMode="Externa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A70355-B08D-308D-DAFB-1DCEF1C1D3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BCE75B-70BC-32F0-9AE3-D3A4E8E6F86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78983B-21DD-AA3A-59D7-A404EAAE16A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BD99E4B-F41D-043D-FE73-335D31AA237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FD873DE-D9DB-5423-6553-EECC3B910E7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5952" y="480488"/>
            <a:ext cx="6172601" cy="888700"/>
          </a:xfrm>
          <a:prstGeom prst="rect">
            <a:avLst/>
          </a:prstGeom>
        </p:spPr>
      </p:pic>
      <p:sp>
        <p:nvSpPr>
          <p:cNvPr id="7" name="Rectangle 1">
            <a:extLst>
              <a:ext uri="{FF2B5EF4-FFF2-40B4-BE49-F238E27FC236}">
                <a16:creationId xmlns:a16="http://schemas.microsoft.com/office/drawing/2014/main" id="{707A6CE9-669B-DEE3-BF3E-8D5506EAE3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05625" y="1636320"/>
            <a:ext cx="6372708" cy="12844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lvl="0" algn="ctr">
              <a:lnSpc>
                <a:spcPct val="150000"/>
              </a:lnSpc>
              <a:buSzPct val="25000"/>
            </a:pPr>
            <a:r>
              <a:rPr lang="en-US" sz="2800" b="1" kern="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 Structures</a:t>
            </a:r>
          </a:p>
          <a:p>
            <a:pPr lvl="0" algn="ctr">
              <a:lnSpc>
                <a:spcPct val="150000"/>
              </a:lnSpc>
              <a:buSzPct val="25000"/>
            </a:pPr>
            <a:r>
              <a:rPr lang="en-US" sz="2800" b="1" kern="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ETCCDS202 </a:t>
            </a:r>
            <a:endParaRPr lang="en-IN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A8034320-BE78-5A55-6F19-03B79C05C8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51619" y="4240831"/>
            <a:ext cx="6480720" cy="10541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lvl="0" algn="ctr">
              <a:spcBef>
                <a:spcPts val="600"/>
              </a:spcBef>
              <a:buSzPct val="25000"/>
            </a:pPr>
            <a:r>
              <a:rPr lang="en-US" b="1" kern="100" dirty="0">
                <a:latin typeface="Sylfaen" panose="010A05020503060303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Faculty</a:t>
            </a:r>
          </a:p>
          <a:p>
            <a:pPr lvl="0" algn="ctr">
              <a:spcBef>
                <a:spcPts val="600"/>
              </a:spcBef>
              <a:buSzPct val="25000"/>
            </a:pPr>
            <a:r>
              <a:rPr lang="en-US" b="1" kern="100" dirty="0">
                <a:latin typeface="Sylfaen" panose="010A05020503060303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School of Engineering &amp; Technology </a:t>
            </a:r>
          </a:p>
          <a:p>
            <a:pPr lvl="0" algn="ctr">
              <a:spcBef>
                <a:spcPts val="600"/>
              </a:spcBef>
              <a:buSzPct val="25000"/>
            </a:pPr>
            <a:r>
              <a:rPr lang="en-US" b="1" kern="100" dirty="0">
                <a:latin typeface="Sylfaen" panose="010A05020503060303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K.R. </a:t>
            </a:r>
            <a:r>
              <a:rPr lang="en-US" b="1" kern="100" dirty="0" err="1">
                <a:latin typeface="Sylfaen" panose="010A05020503060303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Mangalam</a:t>
            </a:r>
            <a:r>
              <a:rPr lang="en-US" b="1" kern="100" dirty="0">
                <a:latin typeface="Sylfaen" panose="010A05020503060303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University </a:t>
            </a:r>
            <a:endParaRPr lang="en-IN" b="1" dirty="0">
              <a:solidFill>
                <a:srgbClr val="E31E24"/>
              </a:solidFill>
              <a:latin typeface="Sylfaen" panose="010A0502050306030303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80A128E3-2186-5C09-4DCD-7BC6527248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1600" y="3429000"/>
            <a:ext cx="6372708" cy="4385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lvl="0" algn="ctr">
              <a:buSzPct val="25000"/>
            </a:pPr>
            <a:r>
              <a:rPr lang="en-US" sz="2400" b="1" kern="100" dirty="0"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Dr. Aarti</a:t>
            </a:r>
            <a:endParaRPr lang="en-IN" sz="2400" b="1" dirty="0">
              <a:solidFill>
                <a:srgbClr val="E31E24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1D9C7E5-CE35-9355-4CD6-2B1E6EB9A5AA}"/>
              </a:ext>
            </a:extLst>
          </p:cNvPr>
          <p:cNvSpPr txBox="1"/>
          <p:nvPr/>
        </p:nvSpPr>
        <p:spPr>
          <a:xfrm>
            <a:off x="1178176" y="5615709"/>
            <a:ext cx="70276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Unit 2 : </a:t>
            </a:r>
            <a:r>
              <a:rPr lang="en-US" sz="2400" b="1" kern="100" dirty="0"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Linear Data Structures</a:t>
            </a:r>
            <a:endParaRPr lang="en-IN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16461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547664" y="320012"/>
            <a:ext cx="546931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ctr">
              <a:buSzPct val="25000"/>
            </a:pPr>
            <a:r>
              <a:rPr lang="en-US" sz="3200" b="1" kern="100" dirty="0"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Unit-2 Linear Data Structures</a:t>
            </a:r>
            <a:endParaRPr lang="en-IN" sz="3200" b="1" dirty="0">
              <a:solidFill>
                <a:srgbClr val="E31E24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8292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400" kern="100" dirty="0">
              <a:solidFill>
                <a:srgbClr val="000000"/>
              </a:solidFill>
              <a:effectLst/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95536" y="1213558"/>
            <a:ext cx="8352928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 11	Arrays – 1D &amp; 2D</a:t>
            </a:r>
            <a:r>
              <a:rPr lang="en-US" sz="2400" b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en-IN" sz="2400" b="1" dirty="0"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2</a:t>
            </a:fld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395536" y="1733775"/>
            <a:ext cx="83529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 12	Static &amp; Dynamic Arrays	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03243" y="2249884"/>
            <a:ext cx="8352928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 13	Linked Lists Types	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21836" y="2811526"/>
            <a:ext cx="83529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 14	Linked List Operations	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03378" y="3324993"/>
            <a:ext cx="8352928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 15	Stack ADT &amp; Operations	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07359" y="4262830"/>
            <a:ext cx="83529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 17	Queue ADT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1836" y="4776297"/>
            <a:ext cx="83529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 18	Queue Applications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95536" y="3787886"/>
            <a:ext cx="83529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 16	 Stack Applications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E9AA04E-4CF0-1135-99A8-DFA66C9162E6}"/>
              </a:ext>
            </a:extLst>
          </p:cNvPr>
          <p:cNvSpPr txBox="1"/>
          <p:nvPr/>
        </p:nvSpPr>
        <p:spPr>
          <a:xfrm>
            <a:off x="414129" y="5270729"/>
            <a:ext cx="8352928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 19	BFS using Queue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85B26A0-3162-1565-E432-BE0EB2B54357}"/>
              </a:ext>
            </a:extLst>
          </p:cNvPr>
          <p:cNvSpPr txBox="1"/>
          <p:nvPr/>
        </p:nvSpPr>
        <p:spPr>
          <a:xfrm>
            <a:off x="421836" y="5786838"/>
            <a:ext cx="83529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 20	Revision (Unit–2)	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36461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099B22-9FA9-1FAA-D08D-F3C8030900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39E82FE-96D7-2529-7945-4ACABDB58E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C685B53-95B0-E1DB-1C9C-F5456893FE5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" y="6237312"/>
            <a:ext cx="3060242" cy="43991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236DC02-599B-DF7E-0281-3D512FA448DC}"/>
              </a:ext>
            </a:extLst>
          </p:cNvPr>
          <p:cNvSpPr txBox="1"/>
          <p:nvPr/>
        </p:nvSpPr>
        <p:spPr>
          <a:xfrm>
            <a:off x="1277634" y="1827626"/>
            <a:ext cx="6588732" cy="302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fontAlgn="base">
              <a:lnSpc>
                <a:spcPct val="107000"/>
              </a:lnSpc>
            </a:pPr>
            <a:r>
              <a:rPr lang="en-US" sz="1350" kern="100" dirty="0">
                <a:solidFill>
                  <a:srgbClr val="000000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100" kern="100" dirty="0"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979542EF-0836-8363-678A-2FD2B60D1F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7635" y="947863"/>
            <a:ext cx="138564" cy="4847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endParaRPr lang="en-IN" sz="27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979542EF-0836-8363-678A-2FD2B60D1F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1935" y="1062163"/>
            <a:ext cx="138564" cy="4847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endParaRPr lang="en-IN" sz="27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936519" y="878322"/>
            <a:ext cx="7315199" cy="42473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 15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892280" y="1347520"/>
            <a:ext cx="5861364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Stack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Stack Definition &amp; LIFO Principle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Real-World Analogies of Stack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Stack (Fixed &amp; Dynamic)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Stack Representation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Stack Operations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Stack Overflow &amp; Underflow Conditions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Algorithms for Stack Operations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Stack Implementation in Python/ C++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 Examples &amp; Practice Problems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Complexity of Stack Operations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Stack vs Array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Stack vs Linked List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of Stack (Preview)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Summary &amp; Key Takeaways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Quiz / Test Yourself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335322" y="255261"/>
            <a:ext cx="45175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Stack ADT &amp; Operations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43702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cxnSp>
        <p:nvCxnSpPr>
          <p:cNvPr id="7" name="Straight Connector 6"/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5181" y="6345261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FEE1B99-B51C-4A5A-108B-8445DFED19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896" y="339393"/>
            <a:ext cx="891073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28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Recapitulation (</a:t>
            </a:r>
            <a:r>
              <a:rPr lang="en-IN" sz="28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Linked List Operations</a:t>
            </a:r>
            <a:r>
              <a:rPr lang="en-US" sz="28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)</a:t>
            </a:r>
            <a:endParaRPr lang="en-IN" sz="28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58244" y="1065209"/>
            <a:ext cx="8580969" cy="33499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0363" lvl="0" indent="-360363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Traversal visits each node starting from the head until NULL</a:t>
            </a:r>
          </a:p>
          <a:p>
            <a:pPr marL="360363" lvl="0" indent="-360363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Insertion can be done at the beginning, end, or after a given node</a:t>
            </a:r>
          </a:p>
          <a:p>
            <a:pPr marL="360363" lvl="0" indent="-360363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Deletion removes nodes from the beginning, end, or after a given node</a:t>
            </a:r>
          </a:p>
          <a:p>
            <a:pPr marL="360363" lvl="0" indent="-360363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Insertion/deletion at the beginning takes O(1) time</a:t>
            </a:r>
          </a:p>
          <a:p>
            <a:pPr marL="360363" lvl="0" indent="-360363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Operations at the end generally take O(n) time due to traversal</a:t>
            </a:r>
          </a:p>
        </p:txBody>
      </p:sp>
      <p:sp>
        <p:nvSpPr>
          <p:cNvPr id="5" name="Rectangle 4"/>
          <p:cNvSpPr/>
          <p:nvPr/>
        </p:nvSpPr>
        <p:spPr>
          <a:xfrm>
            <a:off x="107504" y="1107776"/>
            <a:ext cx="878497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Ezoic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/>
          <p:cNvSpPr txBox="1"/>
          <p:nvPr/>
        </p:nvSpPr>
        <p:spPr>
          <a:xfrm>
            <a:off x="304786" y="2492516"/>
            <a:ext cx="78488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08817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C8FECA-5393-67D2-AB3A-88FF12CA85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0417CCF-9D13-21D7-8A01-B566BD0E2D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1EEDFDC-CF63-81A9-B0FF-D66EB2B30BC0}"/>
              </a:ext>
            </a:extLst>
          </p:cNvPr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E0FCD68A-5D5F-69ED-9E1B-49A119C5752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5181" y="6345261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6BA3086-797F-DF92-D68F-AC598BD92140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FC59DB3-3A91-DA7E-7B4A-1DC48C3689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896" y="339393"/>
            <a:ext cx="891073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IN" sz="28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Quick Quiz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009213-D4D2-E2C9-27C9-02B227D89D1F}"/>
              </a:ext>
            </a:extLst>
          </p:cNvPr>
          <p:cNvSpPr txBox="1"/>
          <p:nvPr/>
        </p:nvSpPr>
        <p:spPr>
          <a:xfrm>
            <a:off x="258244" y="1065209"/>
            <a:ext cx="8580969" cy="54630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Fill in the Blanks</a:t>
            </a:r>
          </a:p>
          <a:p>
            <a:pPr marL="457200" indent="-457200">
              <a:spcBef>
                <a:spcPts val="600"/>
              </a:spcBef>
              <a:buFont typeface="+mj-lt"/>
              <a:buAutoNum type="arabicPeriod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Traversal of a linked list always starts from the __________ node.</a:t>
            </a:r>
          </a:p>
          <a:p>
            <a:pPr marL="457200" indent="-457200">
              <a:spcBef>
                <a:spcPts val="600"/>
              </a:spcBef>
              <a:buFont typeface="+mj-lt"/>
              <a:buAutoNum type="arabicPeriod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Insertion at the beginning of a linked list has time complexity __________.</a:t>
            </a:r>
          </a:p>
          <a:p>
            <a:pPr marL="457200" indent="-457200">
              <a:spcBef>
                <a:spcPts val="600"/>
              </a:spcBef>
              <a:buFont typeface="+mj-lt"/>
              <a:buAutoNum type="arabicPeriod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Deletion from the end of a singly linked list requires __________ of the list.</a:t>
            </a:r>
          </a:p>
          <a:p>
            <a:pPr marL="457200" indent="-457200">
              <a:spcBef>
                <a:spcPts val="600"/>
              </a:spcBef>
              <a:buFont typeface="+mj-lt"/>
              <a:buAutoNum type="arabicPeriod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last node of a singly linked list points to __________.</a:t>
            </a:r>
          </a:p>
          <a:p>
            <a:pPr>
              <a:spcBef>
                <a:spcPts val="600"/>
              </a:spcBef>
            </a:pPr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</a:pP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One-Word / Short Answer Questions</a:t>
            </a:r>
          </a:p>
          <a:p>
            <a:pPr marL="457200" indent="-457200">
              <a:spcBef>
                <a:spcPts val="600"/>
              </a:spcBef>
              <a:buFont typeface="+mj-lt"/>
              <a:buAutoNum type="arabicPeriod" startAt="5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Fastest insertion operation in a linked list</a:t>
            </a:r>
          </a:p>
          <a:p>
            <a:pPr marL="457200" indent="-457200">
              <a:spcBef>
                <a:spcPts val="600"/>
              </a:spcBef>
              <a:buFont typeface="+mj-lt"/>
              <a:buAutoNum type="arabicPeriod" startAt="5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Pointer used to move to the next node</a:t>
            </a:r>
          </a:p>
          <a:p>
            <a:pPr marL="457200" indent="-457200">
              <a:spcBef>
                <a:spcPts val="600"/>
              </a:spcBef>
              <a:buFont typeface="+mj-lt"/>
              <a:buAutoNum type="arabicPeriod" startAt="5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Operation that removes the first node</a:t>
            </a:r>
          </a:p>
          <a:p>
            <a:pPr marL="457200" indent="-457200">
              <a:spcBef>
                <a:spcPts val="600"/>
              </a:spcBef>
              <a:buFont typeface="+mj-lt"/>
              <a:buAutoNum type="arabicPeriod" startAt="5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complexity of insertion at end</a:t>
            </a:r>
            <a:endParaRPr lang="en-US" sz="23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4507CED-2EE3-4762-E052-FA7C361DC9A8}"/>
              </a:ext>
            </a:extLst>
          </p:cNvPr>
          <p:cNvSpPr/>
          <p:nvPr/>
        </p:nvSpPr>
        <p:spPr>
          <a:xfrm>
            <a:off x="107504" y="1107776"/>
            <a:ext cx="878497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Ezoic">
            <a:extLst>
              <a:ext uri="{FF2B5EF4-FFF2-40B4-BE49-F238E27FC236}">
                <a16:creationId xmlns:a16="http://schemas.microsoft.com/office/drawing/2014/main" id="{C732D7C8-79E3-F348-757E-CE701D933B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205522B-7DAD-6F72-F197-E3266F677833}"/>
              </a:ext>
            </a:extLst>
          </p:cNvPr>
          <p:cNvSpPr txBox="1"/>
          <p:nvPr/>
        </p:nvSpPr>
        <p:spPr>
          <a:xfrm>
            <a:off x="304786" y="2492516"/>
            <a:ext cx="78488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7F6B204-7BB8-BD04-E03F-2A90C354D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8093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cxnSp>
        <p:nvCxnSpPr>
          <p:cNvPr id="7" name="Straight Connector 6"/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FEE1B99-B51C-4A5A-108B-8445DFED19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382594"/>
            <a:ext cx="891073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IN" sz="28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Quick Quiz (Answers)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3530" y="1235756"/>
            <a:ext cx="8640958" cy="44579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Head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O(1)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Traversal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NULL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Insertion at beginning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Next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Deletion from beginning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O(n)</a:t>
            </a:r>
          </a:p>
        </p:txBody>
      </p:sp>
      <p:sp>
        <p:nvSpPr>
          <p:cNvPr id="5" name="Rectangle 4"/>
          <p:cNvSpPr/>
          <p:nvPr/>
        </p:nvSpPr>
        <p:spPr>
          <a:xfrm>
            <a:off x="107504" y="1107776"/>
            <a:ext cx="878497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Ezoic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/>
          <p:cNvSpPr txBox="1"/>
          <p:nvPr/>
        </p:nvSpPr>
        <p:spPr>
          <a:xfrm>
            <a:off x="304786" y="2492516"/>
            <a:ext cx="78488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7970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cxnSp>
        <p:nvCxnSpPr>
          <p:cNvPr id="7" name="Straight Connector 6"/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n-US" sz="28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FEE1B99-B51C-4A5A-108B-8445DFED19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520" y="355183"/>
            <a:ext cx="891073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28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3530" y="1235756"/>
            <a:ext cx="784887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07504" y="1107776"/>
            <a:ext cx="878497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defRPr/>
            </a:pPr>
            <a:endParaRPr lang="en-US" sz="2400" b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just">
              <a:buFont typeface="Wingdings" panose="05000000000000000000" pitchFamily="2" charset="2"/>
              <a:buChar char="§"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1026" name="Picture 2" descr="Ezoic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421C46D-3F04-4F73-BF36-E6D9DA5AE143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51521" y="1144905"/>
            <a:ext cx="8496942" cy="4924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completing this lecture, students will be able to: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 Stack as an Abstract Data Type (ADT)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Explain the LIFO (Last In First Out) principle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different types of stacks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Describe stack operations: push, pop, peek,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isEmpty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isFull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 stack overflow and underflow conditions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 algorithms for stack operations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stack using arrays and linked lists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 time complexity of stack operations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stack with array and linked list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Solve basic problems using stack</a:t>
            </a:r>
          </a:p>
        </p:txBody>
      </p:sp>
    </p:spTree>
    <p:extLst>
      <p:ext uri="{BB962C8B-B14F-4D97-AF65-F5344CB8AC3E}">
        <p14:creationId xmlns:p14="http://schemas.microsoft.com/office/powerpoint/2010/main" val="32740748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AF8E17-3BF5-9751-942D-65A32277A9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BD2D022-93FA-2A31-2E26-7E72B3C3CD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1ADCC02A-5AF8-1D8F-E326-994D9D7D70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368087"/>
            <a:ext cx="518457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600" kern="100" dirty="0">
                <a:solidFill>
                  <a:srgbClr val="FF0000"/>
                </a:solidFill>
                <a:ea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Data Structure Types</a:t>
            </a:r>
            <a:endParaRPr lang="en-IN" sz="3600" kern="100" dirty="0">
              <a:solidFill>
                <a:srgbClr val="FF0000"/>
              </a:solidFill>
              <a:ea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4085878-D9CE-8CF5-C473-1FE98FFF1D5A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82F22722-7D99-9D55-209A-9C9256023D9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42148AE-576B-FD01-C9AA-823C813591F2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865" y="1593762"/>
            <a:ext cx="8077200" cy="3643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Rectangle 2"/>
          <p:cNvSpPr/>
          <p:nvPr/>
        </p:nvSpPr>
        <p:spPr>
          <a:xfrm>
            <a:off x="476865" y="5662989"/>
            <a:ext cx="65532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>
                <a:hlinkClick r:id="rId6"/>
              </a:rPr>
              <a:t>https://www.geeksforgeeks.org/data-structure-meaning/</a:t>
            </a:r>
            <a:endParaRPr lang="en-IN"/>
          </a:p>
          <a:p>
            <a:endParaRPr lang="en-IN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</p:spTree>
    <p:extLst>
      <p:ext uri="{BB962C8B-B14F-4D97-AF65-F5344CB8AC3E}">
        <p14:creationId xmlns:p14="http://schemas.microsoft.com/office/powerpoint/2010/main" val="18741813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AF8E17-3BF5-9751-942D-65A32277A9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BD2D022-93FA-2A31-2E26-7E72B3C3CD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1ADCC02A-5AF8-1D8F-E326-994D9D7D70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470" y="321831"/>
            <a:ext cx="245689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600" kern="100" dirty="0">
                <a:solidFill>
                  <a:srgbClr val="FF0000"/>
                </a:solidFill>
                <a:ea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Background</a:t>
            </a:r>
            <a:endParaRPr lang="en-IN" sz="3600" kern="100" dirty="0">
              <a:solidFill>
                <a:srgbClr val="FF0000"/>
              </a:solidFill>
              <a:ea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4085878-D9CE-8CF5-C473-1FE98FFF1D5A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82F22722-7D99-9D55-209A-9C9256023D9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42148AE-576B-FD01-C9AA-823C813591F2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13470" y="1219200"/>
            <a:ext cx="7920880" cy="41044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/>
          </a:p>
        </p:txBody>
      </p:sp>
      <p:sp>
        <p:nvSpPr>
          <p:cNvPr id="10" name="Rectangle 9"/>
          <p:cNvSpPr/>
          <p:nvPr/>
        </p:nvSpPr>
        <p:spPr>
          <a:xfrm>
            <a:off x="383458" y="1148162"/>
            <a:ext cx="8229600" cy="37379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Stack (n.)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set of things a person has to do in the future, organized on a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last-in, first-out (LIFO)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basis.</a:t>
            </a:r>
          </a:p>
          <a:p>
            <a:pPr algn="just">
              <a:lnSpc>
                <a:spcPct val="150000"/>
              </a:lnSpc>
            </a:pP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“I haven’t done it yet because every time I pop my stack, something new gets pushed.”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a person is interrupted several times in the middle of a conversation, saying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“My stack overflowed”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means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“I forgot what we were talking about.”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Hacker’s Dictionary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2052"/>
          <p:cNvSpPr>
            <a:spLocks noChangeArrowheads="1"/>
          </p:cNvSpPr>
          <p:nvPr/>
        </p:nvSpPr>
        <p:spPr bwMode="auto">
          <a:xfrm>
            <a:off x="609600" y="4833678"/>
            <a:ext cx="6896100" cy="12890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Friedrich L. Bauer</a:t>
            </a:r>
          </a:p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German computer scientist who proposed “stack method of expression evaluation” in 1955.</a:t>
            </a:r>
          </a:p>
        </p:txBody>
      </p:sp>
      <p:pic>
        <p:nvPicPr>
          <p:cNvPr id="13" name="Picture 7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7533917" y="4200022"/>
            <a:ext cx="1257300" cy="2514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</p:spTree>
    <p:extLst>
      <p:ext uri="{BB962C8B-B14F-4D97-AF65-F5344CB8AC3E}">
        <p14:creationId xmlns:p14="http://schemas.microsoft.com/office/powerpoint/2010/main" val="6003034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329C2E-86C9-E26A-06B7-6220219EF3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>
            <a:extLst>
              <a:ext uri="{FF2B5EF4-FFF2-40B4-BE49-F238E27FC236}">
                <a16:creationId xmlns:a16="http://schemas.microsoft.com/office/drawing/2014/main" id="{E230ACFD-2842-7D27-E46F-C23486A637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875" y="0"/>
            <a:ext cx="9175750" cy="688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581F0A2F-FEA3-DF9D-D497-2AAF279E3B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20815"/>
            <a:ext cx="3111429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3600" dirty="0">
                <a:solidFill>
                  <a:srgbClr val="FF0000"/>
                </a:solidFill>
              </a:rPr>
              <a:t>  What is Stack?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0631419-C150-DC3A-C732-DAD6066271B4}"/>
              </a:ext>
            </a:extLst>
          </p:cNvPr>
          <p:cNvCxnSpPr/>
          <p:nvPr/>
        </p:nvCxnSpPr>
        <p:spPr>
          <a:xfrm>
            <a:off x="1" y="774774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661DF1A3-78FA-0D8A-2CCB-80213C7EF4E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6383E66-7CAD-7AE5-B55A-366801FA9BA6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9A4D539-7B73-23BD-72B9-3AE8E1FD0512}"/>
              </a:ext>
            </a:extLst>
          </p:cNvPr>
          <p:cNvSpPr txBox="1"/>
          <p:nvPr/>
        </p:nvSpPr>
        <p:spPr>
          <a:xfrm>
            <a:off x="395536" y="887961"/>
            <a:ext cx="8496944" cy="61290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0363" indent="-360363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Stack is a linear data structure that holds a linear, ordered sequence of elements. </a:t>
            </a:r>
          </a:p>
          <a:p>
            <a:pPr marL="360363" indent="-360363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an abstract data type.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60363" indent="-360363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Follows </a:t>
            </a: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LIFO (Last In First Out) </a:t>
            </a: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  (FILO).</a:t>
            </a:r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0363" indent="-360363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stack is basically a container where items are inserted and removed from one end, called the top of the stack.</a:t>
            </a:r>
          </a:p>
          <a:p>
            <a:pPr marL="360363" indent="-360363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Capacity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Real-world Analogy</a:t>
            </a:r>
          </a:p>
          <a:p>
            <a:pPr marL="720725" indent="-360363">
              <a:buFont typeface="Wingdings" panose="05000000000000000000" pitchFamily="2" charset="2"/>
              <a:buChar char="v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Stack of plates</a:t>
            </a:r>
          </a:p>
          <a:p>
            <a:pPr marL="720725" indent="-360363">
              <a:buFont typeface="Wingdings" panose="05000000000000000000" pitchFamily="2" charset="2"/>
              <a:buChar char="v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Undo/Redo operation</a:t>
            </a:r>
          </a:p>
          <a:p>
            <a:pPr marL="720725" indent="-360363">
              <a:buFont typeface="Wingdings" panose="05000000000000000000" pitchFamily="2" charset="2"/>
              <a:buChar char="v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Browser history</a:t>
            </a:r>
            <a:endParaRPr lang="en-IN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Ø"/>
            </a:pPr>
            <a:endParaRPr lang="en-IN" sz="2400" dirty="0"/>
          </a:p>
        </p:txBody>
      </p:sp>
      <p:pic>
        <p:nvPicPr>
          <p:cNvPr id="1027" name="Picture 3">
            <a:extLst>
              <a:ext uri="{FF2B5EF4-FFF2-40B4-BE49-F238E27FC236}">
                <a16:creationId xmlns:a16="http://schemas.microsoft.com/office/drawing/2014/main" id="{4953007A-1EB8-9B2C-1CD4-7C3229059AA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98" t="3961" r="9109" b="15885"/>
          <a:stretch>
            <a:fillRect/>
          </a:stretch>
        </p:blipFill>
        <p:spPr bwMode="auto">
          <a:xfrm>
            <a:off x="5633588" y="3997734"/>
            <a:ext cx="2590800" cy="23790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803206E-25AC-F426-3193-6E107E9D4C29}"/>
              </a:ext>
            </a:extLst>
          </p:cNvPr>
          <p:cNvSpPr/>
          <p:nvPr/>
        </p:nvSpPr>
        <p:spPr>
          <a:xfrm>
            <a:off x="4644008" y="6512530"/>
            <a:ext cx="5728501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100" dirty="0">
                <a:hlinkClick r:id="rId6"/>
              </a:rPr>
              <a:t>https://dev.to/ogwurujohnson/demystifying-the-javascript-call-stack-1ppc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026626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4C329F-E92F-EDD7-915A-56A8087A14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875" y="-12700"/>
            <a:ext cx="9175750" cy="688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6C8E47A3-19E5-2480-D729-7717BBFCF6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20815"/>
            <a:ext cx="1384482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3600" dirty="0">
                <a:solidFill>
                  <a:srgbClr val="FF0000"/>
                </a:solidFill>
              </a:rPr>
              <a:t>Stack?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EE93A9F-B97B-AF76-6D55-820A501541FD}"/>
              </a:ext>
            </a:extLst>
          </p:cNvPr>
          <p:cNvCxnSpPr/>
          <p:nvPr/>
        </p:nvCxnSpPr>
        <p:spPr>
          <a:xfrm>
            <a:off x="1" y="774774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43F45274-10BE-0CF7-F6D8-B35FA206310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B0734EE-9746-9E1E-DD18-BF795A5F179F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371600" y="5593050"/>
            <a:ext cx="68580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>
                <a:hlinkClick r:id="rId5"/>
              </a:rPr>
              <a:t>https://www.geeksforgeeks.org/dsa/introduction-to-stack-data-structure-and-algorithm-tutorials/</a:t>
            </a:r>
            <a:endParaRPr lang="en-IN"/>
          </a:p>
          <a:p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523731-9F7B-67F2-BB8A-04A330137F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C132AB2-A26E-647A-83C5-BB4D3BED9B39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8333" t="23532" r="9167" b="7522"/>
          <a:stretch>
            <a:fillRect/>
          </a:stretch>
        </p:blipFill>
        <p:spPr>
          <a:xfrm>
            <a:off x="533400" y="908328"/>
            <a:ext cx="7543800" cy="4509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16425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AF8E17-3BF5-9751-942D-65A32277A9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BD2D022-93FA-2A31-2E26-7E72B3C3CD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1ADCC02A-5AF8-1D8F-E326-994D9D7D70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326107"/>
            <a:ext cx="5904657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600" kern="100" dirty="0">
                <a:solidFill>
                  <a:srgbClr val="FF0000"/>
                </a:solidFill>
                <a:ea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Stack Data Structure</a:t>
            </a:r>
            <a:endParaRPr lang="en-IN" sz="3600" kern="100" dirty="0">
              <a:solidFill>
                <a:srgbClr val="FF0000"/>
              </a:solidFill>
              <a:ea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4085878-D9CE-8CF5-C473-1FE98FFF1D5A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82F22722-7D99-9D55-209A-9C9256023D9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42148AE-576B-FD01-C9AA-823C813591F2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9223"/>
          <a:stretch>
            <a:fillRect/>
          </a:stretch>
        </p:blipFill>
        <p:spPr bwMode="auto">
          <a:xfrm>
            <a:off x="971600" y="1508007"/>
            <a:ext cx="7463956" cy="16858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1044147" y="3462249"/>
            <a:ext cx="7620000" cy="220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605DBDA-EB87-5575-6AA4-F22A973D5B18}"/>
              </a:ext>
            </a:extLst>
          </p:cNvPr>
          <p:cNvSpPr txBox="1"/>
          <p:nvPr/>
        </p:nvSpPr>
        <p:spPr>
          <a:xfrm>
            <a:off x="2009848" y="5636349"/>
            <a:ext cx="584546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Fig 1 : Stack  Data Structure </a:t>
            </a:r>
          </a:p>
          <a:p>
            <a:pPr algn="ctr"/>
            <a:r>
              <a:rPr lang="en-US" dirty="0"/>
              <a:t> </a:t>
            </a:r>
            <a:r>
              <a:rPr lang="en-US" sz="1400" dirty="0">
                <a:hlinkClick r:id="rId7"/>
              </a:rPr>
              <a:t>https://www.javatpoint.com/applications-of-stack-in-data-structure</a:t>
            </a:r>
            <a:endParaRPr lang="en-US" sz="1400" dirty="0"/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66704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82A811-BB78-A5EB-F448-44B03C6096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>
            <a:extLst>
              <a:ext uri="{FF2B5EF4-FFF2-40B4-BE49-F238E27FC236}">
                <a16:creationId xmlns:a16="http://schemas.microsoft.com/office/drawing/2014/main" id="{6A1CB1CE-E3C5-0A2D-706D-1F43F8A598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875" y="0"/>
            <a:ext cx="9175750" cy="688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C15BF891-B978-E22C-13C1-AE168240E5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20815"/>
            <a:ext cx="2828659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3600" dirty="0">
                <a:solidFill>
                  <a:srgbClr val="FF0000"/>
                </a:solidFill>
              </a:rPr>
              <a:t>Types of Stack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B0AA38E-81DF-EB9B-ECC4-23E059AE0206}"/>
              </a:ext>
            </a:extLst>
          </p:cNvPr>
          <p:cNvCxnSpPr/>
          <p:nvPr/>
        </p:nvCxnSpPr>
        <p:spPr>
          <a:xfrm>
            <a:off x="1" y="774774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5BFECF21-C24E-A91F-76F1-FA5840ABA81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D9D443E-EF8C-077E-9063-57B7BB7295A6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B86EAAD-4C7C-3F05-BE63-383A01BE8362}"/>
              </a:ext>
            </a:extLst>
          </p:cNvPr>
          <p:cNvSpPr txBox="1"/>
          <p:nvPr/>
        </p:nvSpPr>
        <p:spPr>
          <a:xfrm>
            <a:off x="199054" y="1113109"/>
            <a:ext cx="8244780" cy="43550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Fixed Size Stack 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marL="720725" indent="-360363" fontAlgn="base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Fixed size and cannot grow or shrink dynamically.</a:t>
            </a:r>
          </a:p>
          <a:p>
            <a:pPr marL="342900" indent="-342900" fontAlgn="base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Size Stack 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marL="720725" indent="-342900" algn="just" fontAlgn="base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grow or shrink dynamically. </a:t>
            </a:r>
          </a:p>
          <a:p>
            <a:pPr marL="720725" indent="-342900" algn="just" fontAlgn="base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the stack is full, it automatically increases its size to accommodate the new element, and when the stack is empty, it decreases its size. </a:t>
            </a:r>
          </a:p>
          <a:p>
            <a:pPr marL="720725" indent="-342900" algn="just" fontAlgn="base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type of stack is implemented using a linked list, as it allows for easy resizing of the stack.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en-IN" sz="24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E066D1F-80D6-608A-7523-3A314FD9A6A1}"/>
              </a:ext>
            </a:extLst>
          </p:cNvPr>
          <p:cNvSpPr/>
          <p:nvPr/>
        </p:nvSpPr>
        <p:spPr>
          <a:xfrm>
            <a:off x="658536" y="5175759"/>
            <a:ext cx="732581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600" dirty="0">
                <a:hlinkClick r:id="rId5"/>
              </a:rPr>
              <a:t>https://www.geeksforgeeks.org/dsa/introduction-to-stack-data-structure-and-algorithm-tutorials/</a:t>
            </a: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574F7C-FCEC-9CD0-2972-55183AFEB1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</p:spTree>
    <p:extLst>
      <p:ext uri="{BB962C8B-B14F-4D97-AF65-F5344CB8AC3E}">
        <p14:creationId xmlns:p14="http://schemas.microsoft.com/office/powerpoint/2010/main" val="15646725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8FABB5-CB53-B8C9-1443-FB9FA4BE6F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289276E-BFDF-14FE-CE17-1F70E80C3A5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88" y="-27384"/>
            <a:ext cx="9180512" cy="6885384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C1B40C93-2FBB-66D9-9EA5-9BAB7C5107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344519"/>
            <a:ext cx="8245424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3600" dirty="0">
                <a:solidFill>
                  <a:srgbClr val="E31E24"/>
                </a:solidFill>
                <a:cs typeface="Times New Roman" panose="02020603050405020304" pitchFamily="18" charset="0"/>
              </a:rPr>
              <a:t>Representation of a stack</a:t>
            </a:r>
            <a:endParaRPr lang="en-IN" sz="3600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F0B54B1-D063-1867-10CB-66872AD80687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FB1D9CE9-9F36-2107-254C-9CAD6CBAF4D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974C5C4-722A-5A0C-4CA0-3E5D655D9657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0BECB50-B1D5-0BF7-50AE-3B917B7C0BB4}"/>
              </a:ext>
            </a:extLst>
          </p:cNvPr>
          <p:cNvSpPr txBox="1"/>
          <p:nvPr/>
        </p:nvSpPr>
        <p:spPr>
          <a:xfrm>
            <a:off x="160025" y="1061448"/>
            <a:ext cx="8101408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/>
              <a:t>Array Representation of Stacks</a:t>
            </a:r>
          </a:p>
          <a:p>
            <a:pPr marL="342900" indent="-342900" algn="just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2400"/>
          </a:p>
          <a:p>
            <a:pPr marL="342900" indent="-342900" algn="just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2400"/>
          </a:p>
          <a:p>
            <a:pPr marL="342900" indent="-342900" algn="just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2400"/>
          </a:p>
          <a:p>
            <a:pPr marL="342900" indent="-342900" algn="just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2400"/>
          </a:p>
          <a:p>
            <a:pPr marL="342900" indent="-342900" algn="just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2400"/>
          </a:p>
          <a:p>
            <a:pPr marL="342900" indent="-342900" algn="just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/>
              <a:t>Linked List Representation of Stacks</a:t>
            </a:r>
          </a:p>
          <a:p>
            <a:pPr marL="342900" indent="-342900" algn="just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2400"/>
          </a:p>
          <a:p>
            <a:pPr marL="342900" indent="-342900" algn="just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2400"/>
          </a:p>
          <a:p>
            <a:pPr marL="342900" indent="-342900" algn="just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400"/>
          </a:p>
          <a:p>
            <a:pPr algn="just"/>
            <a:endParaRPr lang="en-IN" sz="240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53CB21-BFF8-E0E7-A2ED-E1DF078295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CEB884C-8951-5324-80EA-DB36BBCB3C1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5323" b="2847"/>
          <a:stretch>
            <a:fillRect/>
          </a:stretch>
        </p:blipFill>
        <p:spPr>
          <a:xfrm>
            <a:off x="1219200" y="1666628"/>
            <a:ext cx="6705600" cy="282966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512801D-9E1D-B25C-DC67-9D9F8B65C6A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45940" y="4957274"/>
            <a:ext cx="5852120" cy="1399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6322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88" y="-27384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72008" y="323472"/>
            <a:ext cx="842493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3600" dirty="0">
                <a:solidFill>
                  <a:srgbClr val="E31E24"/>
                </a:solidFill>
                <a:cs typeface="Times New Roman" panose="02020603050405020304" pitchFamily="18" charset="0"/>
              </a:rPr>
              <a:t>Stack Operations</a:t>
            </a:r>
            <a:endParaRPr lang="en-IN" sz="3200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79512" y="1295565"/>
            <a:ext cx="8640960" cy="49859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8288" indent="-268288" algn="just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push()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to insert an element into the stack</a:t>
            </a:r>
          </a:p>
          <a:p>
            <a:pPr marL="268288" indent="-268288" algn="just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pop() 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remove an element from the stack</a:t>
            </a:r>
          </a:p>
          <a:p>
            <a:pPr marL="268288" indent="-268288" algn="just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peek() or top()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returns the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topmost element of the Stack without deleting it from the Stack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68288" indent="-268288" algn="just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Empty() 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returns true if stack is empty else false.</a:t>
            </a:r>
          </a:p>
          <a:p>
            <a:pPr marL="268288" indent="-268288" algn="just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size()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returns the size of stack.</a:t>
            </a:r>
          </a:p>
          <a:p>
            <a:pPr algn="just">
              <a:lnSpc>
                <a:spcPct val="150000"/>
              </a:lnSpc>
            </a:pPr>
            <a:endParaRPr lang="en-US" sz="2000" dirty="0"/>
          </a:p>
          <a:p>
            <a:pPr algn="just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Please Refer :</a:t>
            </a:r>
          </a:p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https://www.youtube.com/watch?v=HRDHgKrYHgU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sz="2400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</p:spTree>
    <p:extLst>
      <p:ext uri="{BB962C8B-B14F-4D97-AF65-F5344CB8AC3E}">
        <p14:creationId xmlns:p14="http://schemas.microsoft.com/office/powerpoint/2010/main" val="11162128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512" y="0"/>
            <a:ext cx="9180512" cy="6885384"/>
          </a:xfrm>
        </p:spPr>
      </p:pic>
      <p:cxnSp>
        <p:nvCxnSpPr>
          <p:cNvPr id="7" name="Straight Connector 6"/>
          <p:cNvCxnSpPr/>
          <p:nvPr/>
        </p:nvCxnSpPr>
        <p:spPr>
          <a:xfrm>
            <a:off x="-36513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FEE1B99-B51C-4A5A-108B-8445DFED19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032" y="294459"/>
            <a:ext cx="842493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600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Stack Operations Push &amp; Pop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79" t="5230" r="7002" b="6801"/>
          <a:stretch/>
        </p:blipFill>
        <p:spPr bwMode="auto">
          <a:xfrm>
            <a:off x="304800" y="1276628"/>
            <a:ext cx="8153400" cy="41335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ectangle 4"/>
          <p:cNvSpPr/>
          <p:nvPr/>
        </p:nvSpPr>
        <p:spPr>
          <a:xfrm>
            <a:off x="470756" y="5366266"/>
            <a:ext cx="782148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>
                <a:hlinkClick r:id="rId6"/>
              </a:rPr>
              <a:t>https://prepinsta.com/data-structures/introduction-to-stacks-in-data-structures/</a:t>
            </a:r>
            <a:endParaRPr lang="en-IN"/>
          </a:p>
          <a:p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</p:spTree>
    <p:extLst>
      <p:ext uri="{BB962C8B-B14F-4D97-AF65-F5344CB8AC3E}">
        <p14:creationId xmlns:p14="http://schemas.microsoft.com/office/powerpoint/2010/main" val="16159781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43D53D-0F1D-8481-164C-AAF50CAB93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75F1BE0-EAA8-D269-D60B-2B039D077B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9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516F061-4E13-7D84-EF4D-C4DCF023D5A0}"/>
              </a:ext>
            </a:extLst>
          </p:cNvPr>
          <p:cNvCxnSpPr/>
          <p:nvPr/>
        </p:nvCxnSpPr>
        <p:spPr>
          <a:xfrm>
            <a:off x="5368" y="1007259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D6FC93E5-27B2-E57D-28E6-C5F545D8E91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14534F5-8534-EC15-3DE9-2AF811F09073}"/>
              </a:ext>
            </a:extLst>
          </p:cNvPr>
          <p:cNvSpPr txBox="1"/>
          <p:nvPr/>
        </p:nvSpPr>
        <p:spPr>
          <a:xfrm>
            <a:off x="179512" y="1293834"/>
            <a:ext cx="8784976" cy="11339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indent="-285750" algn="just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Overflow</a:t>
            </a:r>
          </a:p>
          <a:p>
            <a:pPr marL="285750" marR="0" indent="-285750" algn="just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kern="1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Underflow</a:t>
            </a:r>
            <a:endParaRPr lang="en-US" sz="2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EFBB7C6-B3DE-5E59-11A4-5792C9CA38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08" y="259191"/>
            <a:ext cx="842493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600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Conditions in Stack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432AE3F-6D6E-1D04-6AB5-305C0A00AC4E}"/>
              </a:ext>
            </a:extLst>
          </p:cNvPr>
          <p:cNvSpPr/>
          <p:nvPr/>
        </p:nvSpPr>
        <p:spPr>
          <a:xfrm>
            <a:off x="755576" y="5491670"/>
            <a:ext cx="782148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dirty="0">
                <a:hlinkClick r:id="rId5"/>
              </a:rPr>
              <a:t>https://www.geeksforgeeks.org/dsa/stack-data-structure/</a:t>
            </a:r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392FBD0-D539-D94A-13AF-FA26D0D3CE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93AC250-0343-331B-EF88-672E639A0632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5662" t="9065" r="8801" b="10243"/>
          <a:stretch>
            <a:fillRect/>
          </a:stretch>
        </p:blipFill>
        <p:spPr>
          <a:xfrm>
            <a:off x="2268959" y="2352296"/>
            <a:ext cx="4537484" cy="2853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02560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875" y="-12700"/>
            <a:ext cx="9175750" cy="688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7" name="Straight Connector 6"/>
          <p:cNvCxnSpPr/>
          <p:nvPr/>
        </p:nvCxnSpPr>
        <p:spPr>
          <a:xfrm>
            <a:off x="-36513" y="1076351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FEE1B99-B51C-4A5A-108B-8445DFED19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640" y="289328"/>
            <a:ext cx="842493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600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PUSH Operation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6230" y="1085797"/>
            <a:ext cx="5544614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Algorithm:</a:t>
            </a:r>
          </a:p>
          <a:p>
            <a:pPr>
              <a:spcBef>
                <a:spcPts val="600"/>
              </a:spcBef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Step-1: If TOP = Max-1</a:t>
            </a:r>
          </a:p>
          <a:p>
            <a:pPr>
              <a:spcBef>
                <a:spcPts val="600"/>
              </a:spcBef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 “Overflow”</a:t>
            </a:r>
          </a:p>
          <a:p>
            <a:pPr>
              <a:spcBef>
                <a:spcPts val="600"/>
              </a:spcBef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Goto Step 4</a:t>
            </a:r>
          </a:p>
          <a:p>
            <a:pPr>
              <a:spcBef>
                <a:spcPts val="600"/>
              </a:spcBef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Step-2: Set TOP= TOP + 1</a:t>
            </a:r>
          </a:p>
          <a:p>
            <a:pPr>
              <a:spcBef>
                <a:spcPts val="600"/>
              </a:spcBef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Step-3: Set Stack[TOP]= ELEMENT</a:t>
            </a:r>
          </a:p>
          <a:p>
            <a:pPr>
              <a:spcBef>
                <a:spcPts val="600"/>
              </a:spcBef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Step-4: END</a:t>
            </a:r>
          </a:p>
          <a:p>
            <a:endParaRPr lang="en-US" sz="2400" dirty="0"/>
          </a:p>
          <a:p>
            <a:endParaRPr lang="en-IN" dirty="0"/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5"/>
          <a:srcRect l="15789" t="24513"/>
          <a:stretch>
            <a:fillRect/>
          </a:stretch>
        </p:blipFill>
        <p:spPr bwMode="auto">
          <a:xfrm>
            <a:off x="2594450" y="3887494"/>
            <a:ext cx="5829451" cy="17615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TextBox 9"/>
          <p:cNvSpPr txBox="1"/>
          <p:nvPr/>
        </p:nvSpPr>
        <p:spPr>
          <a:xfrm>
            <a:off x="2594450" y="5752216"/>
            <a:ext cx="654955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Fig: Push operation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https://www.scaler.com/topics/stack-operations-in-data-structures/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</p:spTree>
    <p:extLst>
      <p:ext uri="{BB962C8B-B14F-4D97-AF65-F5344CB8AC3E}">
        <p14:creationId xmlns:p14="http://schemas.microsoft.com/office/powerpoint/2010/main" val="8832968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ADB55-3C53-1960-9802-231A64EC3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875" y="-12700"/>
            <a:ext cx="9175750" cy="688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64C06AB1-0FEA-D879-1F4C-A54AF13BBD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414" y="268195"/>
            <a:ext cx="864505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600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Pop Operations</a:t>
            </a:r>
            <a:endParaRPr lang="en-IN" sz="3600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550C769-3FF2-465E-2CF3-1703CA2E5E23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3B7A1180-1697-901D-882B-382076FF1CC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A03BD37-21B5-DEC3-9FF3-7821A9653240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85478" y="787925"/>
            <a:ext cx="875101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b="1" u="sng"/>
          </a:p>
          <a:p>
            <a:r>
              <a:rPr lang="en-US"/>
              <a:t> </a:t>
            </a:r>
          </a:p>
          <a:p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179512" y="1177588"/>
            <a:ext cx="8140824" cy="38625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Algorithm:</a:t>
            </a:r>
          </a:p>
          <a:p>
            <a:pPr>
              <a:spcBef>
                <a:spcPts val="600"/>
              </a:spcBef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1: START </a:t>
            </a:r>
          </a:p>
          <a:p>
            <a:pPr>
              <a:spcBef>
                <a:spcPts val="600"/>
              </a:spcBef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2: if top==-1 </a:t>
            </a:r>
          </a:p>
          <a:p>
            <a:pPr>
              <a:spcBef>
                <a:spcPts val="600"/>
              </a:spcBef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then Write “Stack is Underflow” </a:t>
            </a:r>
          </a:p>
          <a:p>
            <a:pPr>
              <a:spcBef>
                <a:spcPts val="600"/>
              </a:spcBef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3: otherwise </a:t>
            </a:r>
          </a:p>
          <a:p>
            <a:pPr lvl="1">
              <a:spcBef>
                <a:spcPts val="600"/>
              </a:spcBef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 “deleted element” </a:t>
            </a:r>
          </a:p>
          <a:p>
            <a:pPr lvl="1">
              <a:spcBef>
                <a:spcPts val="600"/>
              </a:spcBef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top=top-1; </a:t>
            </a:r>
          </a:p>
          <a:p>
            <a:pPr>
              <a:spcBef>
                <a:spcPts val="600"/>
              </a:spcBef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4: END </a:t>
            </a:r>
            <a:br>
              <a:rPr lang="en-US" sz="2400" dirty="0"/>
            </a:br>
            <a:endParaRPr lang="en-US" dirty="0"/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5"/>
          <a:srcRect/>
          <a:stretch>
            <a:fillRect/>
          </a:stretch>
        </p:blipFill>
        <p:spPr bwMode="auto">
          <a:xfrm>
            <a:off x="3189154" y="4087343"/>
            <a:ext cx="5219700" cy="2533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</p:spTree>
    <p:extLst>
      <p:ext uri="{BB962C8B-B14F-4D97-AF65-F5344CB8AC3E}">
        <p14:creationId xmlns:p14="http://schemas.microsoft.com/office/powerpoint/2010/main" val="33799703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A030E1-57DB-2E76-553C-9E62913973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>
            <a:extLst>
              <a:ext uri="{FF2B5EF4-FFF2-40B4-BE49-F238E27FC236}">
                <a16:creationId xmlns:a16="http://schemas.microsoft.com/office/drawing/2014/main" id="{32331289-0F83-C874-8541-EB2D71B86B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08" y="-25400"/>
            <a:ext cx="9175750" cy="688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9D11BD78-C914-7560-4345-53A23A775A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478" y="268195"/>
            <a:ext cx="846298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600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Top of Peek Operation</a:t>
            </a:r>
            <a:endParaRPr lang="en-IN" sz="3600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5B2718F-3579-CEEC-BF33-7CE4F595792C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BFCDC220-9BC0-29FA-0653-F4B68BFE976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67C9939-6E1F-63A0-131E-3B0C39AD0839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E156926-BC69-6085-3024-730243511F3B}"/>
              </a:ext>
            </a:extLst>
          </p:cNvPr>
          <p:cNvSpPr txBox="1"/>
          <p:nvPr/>
        </p:nvSpPr>
        <p:spPr>
          <a:xfrm>
            <a:off x="285478" y="787925"/>
            <a:ext cx="875101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b="1" u="sng"/>
          </a:p>
          <a:p>
            <a:r>
              <a:rPr lang="en-US"/>
              <a:t> </a:t>
            </a:r>
          </a:p>
          <a:p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234DA10-7844-77F7-0647-2E6800EB48C9}"/>
              </a:ext>
            </a:extLst>
          </p:cNvPr>
          <p:cNvSpPr/>
          <p:nvPr/>
        </p:nvSpPr>
        <p:spPr>
          <a:xfrm>
            <a:off x="381000" y="1371600"/>
            <a:ext cx="7924800" cy="26930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Algorithm:</a:t>
            </a:r>
          </a:p>
          <a:p>
            <a:pPr>
              <a:spcBef>
                <a:spcPts val="600"/>
              </a:spcBef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Step-1: If TOP = NULL</a:t>
            </a:r>
          </a:p>
          <a:p>
            <a:pPr>
              <a:spcBef>
                <a:spcPts val="600"/>
              </a:spcBef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 “Stack is Empty”</a:t>
            </a:r>
          </a:p>
          <a:p>
            <a:pPr>
              <a:spcBef>
                <a:spcPts val="600"/>
              </a:spcBef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Goto Step 3</a:t>
            </a:r>
          </a:p>
          <a:p>
            <a:pPr>
              <a:spcBef>
                <a:spcPts val="600"/>
              </a:spcBef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Step-2: Return Stack[TOP]</a:t>
            </a:r>
          </a:p>
          <a:p>
            <a:pPr>
              <a:spcBef>
                <a:spcPts val="600"/>
              </a:spcBef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Step-3: END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FB90AB-9C5D-2D11-A876-886E0C3377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83810F3F-D17C-7AA7-29C0-B3202F6E51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/>
          <a:srcRect l="6452" t="11579" r="16129"/>
          <a:stretch>
            <a:fillRect/>
          </a:stretch>
        </p:blipFill>
        <p:spPr>
          <a:xfrm>
            <a:off x="4484714" y="1475333"/>
            <a:ext cx="3893095" cy="317594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054E722-2412-6E75-748D-E964D2B609E4}"/>
              </a:ext>
            </a:extLst>
          </p:cNvPr>
          <p:cNvSpPr txBox="1"/>
          <p:nvPr/>
        </p:nvSpPr>
        <p:spPr>
          <a:xfrm>
            <a:off x="965189" y="4979391"/>
            <a:ext cx="69215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>
                <a:hlinkClick r:id="rId6"/>
              </a:rPr>
              <a:t>https://www.geeksforgeeks.org/dsa/introduction-to-stack-data-structure-and-algorithm-tutorials/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147595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19EADA-EB26-850F-CB0D-5A564821A7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>
            <a:extLst>
              <a:ext uri="{FF2B5EF4-FFF2-40B4-BE49-F238E27FC236}">
                <a16:creationId xmlns:a16="http://schemas.microsoft.com/office/drawing/2014/main" id="{D5543106-543D-7CB0-4D3F-DC9BDDBCAD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08" y="-25400"/>
            <a:ext cx="9175750" cy="688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7CB13598-687B-97E4-D3D8-378EA0E56F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478" y="268195"/>
            <a:ext cx="846298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IN" sz="3600" dirty="0" err="1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isEmpty</a:t>
            </a:r>
            <a:r>
              <a:rPr lang="en-IN" sz="3600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 Operation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343B68A-3662-4965-A5B1-F0E9A92EADD1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223E01E3-254B-0623-6741-FBF1FF6207B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DAF15CD-972C-3393-BB4F-F9AD7DE26E53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39CDA53-9704-5D5A-421E-D44D8C64D2C2}"/>
              </a:ext>
            </a:extLst>
          </p:cNvPr>
          <p:cNvSpPr txBox="1"/>
          <p:nvPr/>
        </p:nvSpPr>
        <p:spPr>
          <a:xfrm>
            <a:off x="285478" y="787925"/>
            <a:ext cx="875101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b="1" u="sng"/>
          </a:p>
          <a:p>
            <a:r>
              <a:rPr lang="en-US"/>
              <a:t> </a:t>
            </a:r>
          </a:p>
          <a:p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6812C2C-0294-F04B-1AD3-8B0CDC7AC1A8}"/>
              </a:ext>
            </a:extLst>
          </p:cNvPr>
          <p:cNvSpPr/>
          <p:nvPr/>
        </p:nvSpPr>
        <p:spPr>
          <a:xfrm>
            <a:off x="237281" y="1356490"/>
            <a:ext cx="4601722" cy="29084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Algorithm:</a:t>
            </a:r>
          </a:p>
          <a:p>
            <a:pPr marL="457200" indent="-457200" algn="just"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 for the value of 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 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stack.</a:t>
            </a:r>
          </a:p>
          <a:p>
            <a:pPr marL="457200" indent="-457200" algn="just"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 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(top == -1)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then the stack is 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empty 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 return 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true 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 algn="just"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Otherwise, the stack is not empty so return 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false 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AD4C485-3D48-148E-6BE8-7B9BCDDE0A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34DF54C-4BD5-2F7F-B3BA-80DA0880CD47}"/>
              </a:ext>
            </a:extLst>
          </p:cNvPr>
          <p:cNvSpPr txBox="1"/>
          <p:nvPr/>
        </p:nvSpPr>
        <p:spPr>
          <a:xfrm>
            <a:off x="1129506" y="4448890"/>
            <a:ext cx="69215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>
                <a:hlinkClick r:id="rId5"/>
              </a:rPr>
              <a:t>https://www.geeksforgeeks.org/dsa/introduction-to-stack-data-structure-and-algorithm-tutorials/</a:t>
            </a:r>
            <a:endParaRPr lang="en-IN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D4E7F2A-FA92-E0C2-4BED-1647E370CE54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1667" t="26607" r="10000" b="9618"/>
          <a:stretch>
            <a:fillRect/>
          </a:stretch>
        </p:blipFill>
        <p:spPr>
          <a:xfrm>
            <a:off x="4883156" y="1757094"/>
            <a:ext cx="4226936" cy="2461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031253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470E64-936A-0315-24AB-B5B87EE588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>
            <a:extLst>
              <a:ext uri="{FF2B5EF4-FFF2-40B4-BE49-F238E27FC236}">
                <a16:creationId xmlns:a16="http://schemas.microsoft.com/office/drawing/2014/main" id="{6B750ADD-98CD-2B54-16C2-0DAEA689BC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08" y="-25400"/>
            <a:ext cx="9175750" cy="688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6181A122-D6ED-A8B6-30D1-42D0B45E70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414" y="268195"/>
            <a:ext cx="864505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IN" sz="3600" dirty="0" err="1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isFull</a:t>
            </a:r>
            <a:r>
              <a:rPr lang="en-IN" sz="3600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 Operation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7A8018F-9C15-C9A5-B9E3-B9E782E04C43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9F0EEC00-2B85-40E9-9632-EE9F78472A6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EB4076F-C677-36CC-B995-09714BC12310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24D0749-5CF0-C6AA-391F-91CA7013E9C6}"/>
              </a:ext>
            </a:extLst>
          </p:cNvPr>
          <p:cNvSpPr txBox="1"/>
          <p:nvPr/>
        </p:nvSpPr>
        <p:spPr>
          <a:xfrm>
            <a:off x="285478" y="787925"/>
            <a:ext cx="875101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b="1" u="sng"/>
          </a:p>
          <a:p>
            <a:r>
              <a:rPr lang="en-US"/>
              <a:t> </a:t>
            </a:r>
          </a:p>
          <a:p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C3EA2E2-0031-81B7-1ABB-2FD076A63DE0}"/>
              </a:ext>
            </a:extLst>
          </p:cNvPr>
          <p:cNvSpPr/>
          <p:nvPr/>
        </p:nvSpPr>
        <p:spPr>
          <a:xfrm>
            <a:off x="237281" y="1356490"/>
            <a:ext cx="4601722" cy="32624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/>
              <a:t>Algorithm:</a:t>
            </a:r>
          </a:p>
          <a:p>
            <a:pPr marL="457200" indent="-457200" fontAlgn="base">
              <a:buFont typeface="Arial" panose="020B0604020202020204" pitchFamily="34" charset="0"/>
              <a:buChar char="•"/>
            </a:pPr>
            <a:r>
              <a:rPr lang="en-IN" sz="2600"/>
              <a:t>Check for the value of top in stack.</a:t>
            </a:r>
          </a:p>
          <a:p>
            <a:pPr marL="457200" indent="-457200" fontAlgn="base">
              <a:buFont typeface="Arial" panose="020B0604020202020204" pitchFamily="34" charset="0"/>
              <a:buChar char="•"/>
            </a:pPr>
            <a:r>
              <a:rPr lang="en-IN" sz="2600"/>
              <a:t>If (top == capacity-1), then the stack is full so return true.</a:t>
            </a:r>
          </a:p>
          <a:p>
            <a:pPr marL="457200" indent="-457200" fontAlgn="base">
              <a:buFont typeface="Arial" panose="020B0604020202020204" pitchFamily="34" charset="0"/>
              <a:buChar char="•"/>
            </a:pPr>
            <a:r>
              <a:rPr lang="en-IN" sz="2600"/>
              <a:t>Otherwise, the stack is not full so return false.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305CD5D-E86E-856B-8496-CCAF827BE3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B47170B-F685-0986-3947-E2063534339B}"/>
              </a:ext>
            </a:extLst>
          </p:cNvPr>
          <p:cNvSpPr txBox="1"/>
          <p:nvPr/>
        </p:nvSpPr>
        <p:spPr>
          <a:xfrm>
            <a:off x="685800" y="5433020"/>
            <a:ext cx="69215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>
                <a:hlinkClick r:id="rId5"/>
              </a:rPr>
              <a:t>https://www.geeksforgeeks.org/dsa/introduction-to-stack-data-structure-and-algorithm-tutorials/</a:t>
            </a:r>
            <a:endParaRPr lang="en-IN"/>
          </a:p>
          <a:p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F3994A6-DBDE-BFA8-C9D9-F9BD896E38E9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1667" t="25147" r="14054" b="7327"/>
          <a:stretch>
            <a:fillRect/>
          </a:stretch>
        </p:blipFill>
        <p:spPr>
          <a:xfrm>
            <a:off x="4648200" y="1628528"/>
            <a:ext cx="4350196" cy="2714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663212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0D1827-761D-A53D-E6E4-5681300E0F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>
            <a:extLst>
              <a:ext uri="{FF2B5EF4-FFF2-40B4-BE49-F238E27FC236}">
                <a16:creationId xmlns:a16="http://schemas.microsoft.com/office/drawing/2014/main" id="{EA61EFEA-027D-01ED-B143-25E6315EEF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08" y="-25400"/>
            <a:ext cx="9175750" cy="688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C8A6C59A-BADE-9336-144D-B7429C5D0C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414" y="268195"/>
            <a:ext cx="864505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IN" sz="3600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Check for Understanding 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195928A-05AB-5AD5-4D2B-5EF9D00D4A1B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09A101DB-A9B4-E6E5-9950-41BF1A1B57F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58C0C8A-5921-4249-953E-DF730FD07874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464630A-5CAC-B401-7CB8-2B29188CA0E9}"/>
              </a:ext>
            </a:extLst>
          </p:cNvPr>
          <p:cNvSpPr txBox="1"/>
          <p:nvPr/>
        </p:nvSpPr>
        <p:spPr>
          <a:xfrm>
            <a:off x="285478" y="787925"/>
            <a:ext cx="875101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b="1" u="sng"/>
          </a:p>
          <a:p>
            <a:r>
              <a:rPr lang="en-US"/>
              <a:t> </a:t>
            </a:r>
          </a:p>
          <a:p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9C8D42A-22A9-CAA5-891B-84C1812D27F0}"/>
              </a:ext>
            </a:extLst>
          </p:cNvPr>
          <p:cNvSpPr/>
          <p:nvPr/>
        </p:nvSpPr>
        <p:spPr>
          <a:xfrm>
            <a:off x="237280" y="1356490"/>
            <a:ext cx="7575079" cy="16875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❓ What happens when we push into a full stack?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❓ Which end of the stack is used for insertion?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❓ What does pop() return?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DA1F644-8041-5A65-EBD4-27E1131121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</p:spTree>
    <p:extLst>
      <p:ext uri="{BB962C8B-B14F-4D97-AF65-F5344CB8AC3E}">
        <p14:creationId xmlns:p14="http://schemas.microsoft.com/office/powerpoint/2010/main" val="389663137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8F4852-A9E2-E815-CAC0-4B8779DB82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>
            <a:extLst>
              <a:ext uri="{FF2B5EF4-FFF2-40B4-BE49-F238E27FC236}">
                <a16:creationId xmlns:a16="http://schemas.microsoft.com/office/drawing/2014/main" id="{F01277D4-0C19-80EA-A99C-6372814E3C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875" y="-12700"/>
            <a:ext cx="9175750" cy="688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C3B164BA-B9EE-1993-0948-58FB9CF7DE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414" y="268195"/>
            <a:ext cx="864505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IN" sz="3600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Check for Understanding (Answers)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FED5D24-F11F-C07A-A254-9E5DAC530CB2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AFE4FA7C-3E32-48D5-6879-F2E58897F01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22ECEED-4E5E-AEFF-4886-BD16096C1356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700BB41-B4F7-073A-713B-D3AADE397B78}"/>
              </a:ext>
            </a:extLst>
          </p:cNvPr>
          <p:cNvSpPr txBox="1"/>
          <p:nvPr/>
        </p:nvSpPr>
        <p:spPr>
          <a:xfrm>
            <a:off x="285478" y="787925"/>
            <a:ext cx="875101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b="1" u="sng"/>
          </a:p>
          <a:p>
            <a:r>
              <a:rPr lang="en-US"/>
              <a:t> </a:t>
            </a:r>
          </a:p>
          <a:p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5C2667C-4827-697D-4CF6-337CE6036466}"/>
              </a:ext>
            </a:extLst>
          </p:cNvPr>
          <p:cNvSpPr/>
          <p:nvPr/>
        </p:nvSpPr>
        <p:spPr>
          <a:xfrm>
            <a:off x="187497" y="1369190"/>
            <a:ext cx="7575079" cy="33571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❓ What happens when we push into a full stack?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A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stack overflow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condition occurs.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❓ Which end of the stack is used for insertion?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The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 (TOP)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end of the stack.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❓ What does pop() return?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It returns (and removes) the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 element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the stack</a:t>
            </a:r>
            <a:r>
              <a:rPr lang="en-US" sz="2400" dirty="0"/>
              <a:t>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C142304-37E7-92F4-8BF6-B70E47E3C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</p:spTree>
    <p:extLst>
      <p:ext uri="{BB962C8B-B14F-4D97-AF65-F5344CB8AC3E}">
        <p14:creationId xmlns:p14="http://schemas.microsoft.com/office/powerpoint/2010/main" val="248029060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ADB55-3C53-1960-9802-231A64EC3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46D4054-DC68-23F6-F5BC-F7394AD9E2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7384"/>
            <a:ext cx="9180512" cy="6885384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64C06AB1-0FEA-D879-1F4C-A54AF13BBD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544" y="413266"/>
            <a:ext cx="8676456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buSzPct val="25000"/>
            </a:pPr>
            <a:r>
              <a:rPr lang="en-US" sz="3200" dirty="0">
                <a:solidFill>
                  <a:srgbClr val="FF0000"/>
                </a:solidFill>
                <a:cs typeface="Times New Roman" pitchFamily="18" charset="0"/>
              </a:rPr>
              <a:t>Code for push &amp; pop operation in Python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550C769-3FF2-465E-2CF3-1703CA2E5E23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3B7A1180-1697-901D-882B-382076FF1CC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A03BD37-21B5-DEC3-9FF3-7821A9653240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85478" y="787925"/>
            <a:ext cx="875101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b="1" u="sng"/>
          </a:p>
          <a:p>
            <a:r>
              <a:rPr lang="en-US"/>
              <a:t> </a:t>
            </a:r>
          </a:p>
          <a:p>
            <a:endParaRPr lang="en-IN"/>
          </a:p>
        </p:txBody>
      </p:sp>
      <p:sp>
        <p:nvSpPr>
          <p:cNvPr id="12" name="Rectangle 11"/>
          <p:cNvSpPr/>
          <p:nvPr/>
        </p:nvSpPr>
        <p:spPr>
          <a:xfrm>
            <a:off x="489496" y="1100925"/>
            <a:ext cx="5018856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stack = []</a:t>
            </a:r>
          </a:p>
          <a:p>
            <a:endParaRPr lang="en-US" sz="14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# Push operation</a:t>
            </a:r>
          </a:p>
          <a:p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def push(</a:t>
            </a:r>
            <a:r>
              <a:rPr lang="en-US" sz="1400" dirty="0" err="1">
                <a:latin typeface="Times New Roman" pitchFamily="18" charset="0"/>
                <a:cs typeface="Times New Roman" pitchFamily="18" charset="0"/>
              </a:rPr>
              <a:t>val</a:t>
            </a: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):</a:t>
            </a:r>
          </a:p>
          <a:p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sz="1400" dirty="0" err="1">
                <a:latin typeface="Times New Roman" pitchFamily="18" charset="0"/>
                <a:cs typeface="Times New Roman" pitchFamily="18" charset="0"/>
              </a:rPr>
              <a:t>stack.append</a:t>
            </a: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1400" dirty="0" err="1">
                <a:latin typeface="Times New Roman" pitchFamily="18" charset="0"/>
                <a:cs typeface="Times New Roman" pitchFamily="18" charset="0"/>
              </a:rPr>
              <a:t>val</a:t>
            </a: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    print(</a:t>
            </a:r>
            <a:r>
              <a:rPr lang="en-US" sz="1400" dirty="0" err="1">
                <a:latin typeface="Times New Roman" pitchFamily="18" charset="0"/>
                <a:cs typeface="Times New Roman" pitchFamily="18" charset="0"/>
              </a:rPr>
              <a:t>val</a:t>
            </a: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, "pushed into stack")</a:t>
            </a:r>
          </a:p>
          <a:p>
            <a:endParaRPr lang="en-US" sz="14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# Pop operation</a:t>
            </a:r>
          </a:p>
          <a:p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def pop():</a:t>
            </a:r>
          </a:p>
          <a:p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    if </a:t>
            </a:r>
            <a:r>
              <a:rPr lang="en-US" sz="1400" dirty="0" err="1">
                <a:latin typeface="Times New Roman" pitchFamily="18" charset="0"/>
                <a:cs typeface="Times New Roman" pitchFamily="18" charset="0"/>
              </a:rPr>
              <a:t>len</a:t>
            </a: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(stack) == 0:</a:t>
            </a:r>
          </a:p>
          <a:p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        print("Stack Underflow")</a:t>
            </a:r>
          </a:p>
          <a:p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    else:</a:t>
            </a:r>
          </a:p>
          <a:p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        popped = </a:t>
            </a:r>
            <a:r>
              <a:rPr lang="en-US" sz="1400" dirty="0" err="1">
                <a:latin typeface="Times New Roman" pitchFamily="18" charset="0"/>
                <a:cs typeface="Times New Roman" pitchFamily="18" charset="0"/>
              </a:rPr>
              <a:t>stack.pop</a:t>
            </a: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()</a:t>
            </a:r>
          </a:p>
          <a:p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        print("Popped element:", popped)</a:t>
            </a:r>
          </a:p>
          <a:p>
            <a:endParaRPr lang="en-US" sz="14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# Example usage</a:t>
            </a:r>
          </a:p>
          <a:p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push(10)</a:t>
            </a:r>
          </a:p>
          <a:p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push(20)</a:t>
            </a:r>
          </a:p>
          <a:p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push(30)</a:t>
            </a:r>
          </a:p>
          <a:p>
            <a:endParaRPr lang="en-US" sz="14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pop()</a:t>
            </a:r>
          </a:p>
          <a:p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pop()</a:t>
            </a:r>
          </a:p>
          <a:p>
            <a:endParaRPr lang="en-US" sz="14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print("Final Stack:", stack)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BF08B49-0251-D3C7-41CC-19B62BD5D775}"/>
              </a:ext>
            </a:extLst>
          </p:cNvPr>
          <p:cNvSpPr txBox="1"/>
          <p:nvPr/>
        </p:nvSpPr>
        <p:spPr>
          <a:xfrm>
            <a:off x="5712370" y="2640327"/>
            <a:ext cx="2721774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 pushed into stack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 pushed into stack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30 pushed into stack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Popped element: 30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Popped element: 20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Stack: [10]</a:t>
            </a:r>
          </a:p>
        </p:txBody>
      </p:sp>
    </p:spTree>
    <p:extLst>
      <p:ext uri="{BB962C8B-B14F-4D97-AF65-F5344CB8AC3E}">
        <p14:creationId xmlns:p14="http://schemas.microsoft.com/office/powerpoint/2010/main" val="83633088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24A29E-DAE2-C49E-A3B4-E71469E764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A42A613-C796-A032-5960-931FD0626E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7384"/>
            <a:ext cx="9180512" cy="6885384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6B3FAA4D-D41A-653D-2FE5-A8B5A7C3E8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544" y="413266"/>
            <a:ext cx="8676456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buSzPct val="25000"/>
            </a:pPr>
            <a:r>
              <a:rPr lang="en-US" sz="3200" dirty="0">
                <a:solidFill>
                  <a:srgbClr val="FF0000"/>
                </a:solidFill>
                <a:cs typeface="Times New Roman" pitchFamily="18" charset="0"/>
              </a:rPr>
              <a:t>Code for push &amp; pop operation in C++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FE6E02F-46DC-BBC8-2035-2B9B07509569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030E6679-12FC-4212-B7C3-D44F2C0C106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22EE800-CC5B-3A68-2562-C10061D54E40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7ABFDC2-8810-7978-C14A-7ECBFBEBA153}"/>
              </a:ext>
            </a:extLst>
          </p:cNvPr>
          <p:cNvSpPr txBox="1"/>
          <p:nvPr/>
        </p:nvSpPr>
        <p:spPr>
          <a:xfrm>
            <a:off x="285478" y="787925"/>
            <a:ext cx="875101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b="1" u="sng"/>
          </a:p>
          <a:p>
            <a:r>
              <a:rPr lang="en-US"/>
              <a:t> </a:t>
            </a:r>
          </a:p>
          <a:p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5C7E42C-B5EB-B795-38A6-A13E783AB45D}"/>
              </a:ext>
            </a:extLst>
          </p:cNvPr>
          <p:cNvSpPr/>
          <p:nvPr/>
        </p:nvSpPr>
        <p:spPr>
          <a:xfrm>
            <a:off x="467544" y="1257821"/>
            <a:ext cx="5018856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void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newstack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(stack &lt;int&gt; ss)  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{  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 stack &lt;int&gt; sg = ss;  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 while (!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sg.empty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())  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 {  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    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cout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&lt;&lt; '\t' &lt;&lt;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sg.top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();  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    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sg.pop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();  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 }  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cout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&lt;&lt; '\n';  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} 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4E28204-D8D0-3462-6D88-7776360E91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637278A-EC6D-CBF9-A09F-2A57AACE068A}"/>
              </a:ext>
            </a:extLst>
          </p:cNvPr>
          <p:cNvSpPr txBox="1"/>
          <p:nvPr/>
        </p:nvSpPr>
        <p:spPr>
          <a:xfrm>
            <a:off x="467544" y="4763111"/>
            <a:ext cx="36724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5"/>
              </a:rPr>
              <a:t>Complete code here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35923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ADB55-3C53-1960-9802-231A64EC3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875" y="-12700"/>
            <a:ext cx="9175750" cy="688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46D4054-DC68-23F6-F5BC-F7394AD9E2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550C769-3FF2-465E-2CF3-1703CA2E5E23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3B7A1180-1697-901D-882B-382076FF1CC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A03BD37-21B5-DEC3-9FF3-7821A9653240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n-US" sz="28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85478" y="787925"/>
            <a:ext cx="875101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          Data  Structure         Unit2 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8709" y="1284604"/>
            <a:ext cx="8731750" cy="16879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Observe:</a:t>
            </a: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 Stack A with random numbers is given. Observe how the prime numbers from stack A are popped and pushed into stack B whereas the others are pushed into stack C.</a:t>
            </a:r>
            <a:endParaRPr kumimoji="0" lang="en-IN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048" y="3093480"/>
            <a:ext cx="7977904" cy="3352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Rectangle 1">
            <a:extLst>
              <a:ext uri="{FF2B5EF4-FFF2-40B4-BE49-F238E27FC236}">
                <a16:creationId xmlns:a16="http://schemas.microsoft.com/office/drawing/2014/main" id="{1799136F-CE8B-BC9E-8214-E0E26709B2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268195"/>
            <a:ext cx="8367464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en-US" sz="3600" i="0" u="none" strike="noStrike" kern="1200" cap="none" spc="0" normalizeH="0" baseline="0" noProof="0" dirty="0">
                <a:ln>
                  <a:noFill/>
                </a:ln>
                <a:solidFill>
                  <a:srgbClr val="E31E24"/>
                </a:solidFill>
                <a:effectLst/>
                <a:uLnTx/>
                <a:uFillTx/>
                <a:latin typeface="Calibri"/>
                <a:ea typeface="+mn-ea"/>
                <a:cs typeface="Times New Roman" panose="02020603050405020304" pitchFamily="18" charset="0"/>
                <a:sym typeface="Arial"/>
              </a:rPr>
              <a:t>Working of stack</a:t>
            </a:r>
            <a:endParaRPr kumimoji="0" lang="en-IN" sz="3600" i="0" u="none" strike="noStrike" kern="1200" cap="none" spc="0" normalizeH="0" baseline="0" noProof="0" dirty="0">
              <a:ln>
                <a:noFill/>
              </a:ln>
              <a:solidFill>
                <a:srgbClr val="E31E24"/>
              </a:solidFill>
              <a:effectLst/>
              <a:uLnTx/>
              <a:uFillTx/>
              <a:latin typeface="Calibri"/>
              <a:ea typeface="+mn-ea"/>
              <a:cs typeface="Times New Roman" panose="02020603050405020304" pitchFamily="18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3120734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ADB55-3C53-1960-9802-231A64EC3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875" y="-12700"/>
            <a:ext cx="9175750" cy="688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46D4054-DC68-23F6-F5BC-F7394AD9E2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550C769-3FF2-465E-2CF3-1703CA2E5E23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3B7A1180-1697-901D-882B-382076FF1CC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A03BD37-21B5-DEC3-9FF3-7821A9653240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n-US" sz="28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85478" y="787925"/>
            <a:ext cx="875101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Ms.Suman           Data  Structure         Unit2  </a:t>
            </a:r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9860" y="1143000"/>
            <a:ext cx="8358604" cy="449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Rectangle 1">
            <a:extLst>
              <a:ext uri="{FF2B5EF4-FFF2-40B4-BE49-F238E27FC236}">
                <a16:creationId xmlns:a16="http://schemas.microsoft.com/office/drawing/2014/main" id="{E9F187B3-25D5-9ACB-A74E-9F35E8BE38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268195"/>
            <a:ext cx="8367464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en-US" sz="3600" i="0" u="none" strike="noStrike" kern="1200" cap="none" spc="0" normalizeH="0" baseline="0" noProof="0" dirty="0">
                <a:ln>
                  <a:noFill/>
                </a:ln>
                <a:solidFill>
                  <a:srgbClr val="E31E24"/>
                </a:solidFill>
                <a:effectLst/>
                <a:uLnTx/>
                <a:uFillTx/>
                <a:latin typeface="Calibri"/>
                <a:ea typeface="+mn-ea"/>
                <a:cs typeface="Times New Roman" panose="02020603050405020304" pitchFamily="18" charset="0"/>
                <a:sym typeface="Arial"/>
              </a:rPr>
              <a:t>Working of stack</a:t>
            </a:r>
            <a:endParaRPr kumimoji="0" lang="en-IN" sz="3600" i="0" u="none" strike="noStrike" kern="1200" cap="none" spc="0" normalizeH="0" baseline="0" noProof="0" dirty="0">
              <a:ln>
                <a:noFill/>
              </a:ln>
              <a:solidFill>
                <a:srgbClr val="E31E24"/>
              </a:solidFill>
              <a:effectLst/>
              <a:uLnTx/>
              <a:uFillTx/>
              <a:latin typeface="Calibri"/>
              <a:ea typeface="+mn-ea"/>
              <a:cs typeface="Times New Roman" panose="02020603050405020304" pitchFamily="18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5400804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ADB55-3C53-1960-9802-231A64EC3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875" y="-12700"/>
            <a:ext cx="9175750" cy="688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46D4054-DC68-23F6-F5BC-F7394AD9E2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550C769-3FF2-465E-2CF3-1703CA2E5E23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3B7A1180-1697-901D-882B-382076FF1CC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A03BD37-21B5-DEC3-9FF3-7821A9653240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n-US" sz="28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85478" y="787925"/>
            <a:ext cx="875101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Data  Structure         Unit2  </a:t>
            </a:r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071" y="1551781"/>
            <a:ext cx="8382000" cy="4181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Rectangle 1">
            <a:extLst>
              <a:ext uri="{FF2B5EF4-FFF2-40B4-BE49-F238E27FC236}">
                <a16:creationId xmlns:a16="http://schemas.microsoft.com/office/drawing/2014/main" id="{D6AD8F13-C781-5DB4-08E0-C119F5D2D5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268195"/>
            <a:ext cx="8367464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en-US" sz="3600" i="0" u="none" strike="noStrike" kern="1200" cap="none" spc="0" normalizeH="0" baseline="0" noProof="0" dirty="0">
                <a:ln>
                  <a:noFill/>
                </a:ln>
                <a:solidFill>
                  <a:srgbClr val="E31E24"/>
                </a:solidFill>
                <a:effectLst/>
                <a:uLnTx/>
                <a:uFillTx/>
                <a:latin typeface="Calibri"/>
                <a:ea typeface="+mn-ea"/>
                <a:cs typeface="Times New Roman" panose="02020603050405020304" pitchFamily="18" charset="0"/>
                <a:sym typeface="Arial"/>
              </a:rPr>
              <a:t>Working of stack</a:t>
            </a:r>
            <a:endParaRPr kumimoji="0" lang="en-IN" sz="3600" i="0" u="none" strike="noStrike" kern="1200" cap="none" spc="0" normalizeH="0" baseline="0" noProof="0" dirty="0">
              <a:ln>
                <a:noFill/>
              </a:ln>
              <a:solidFill>
                <a:srgbClr val="E31E24"/>
              </a:solidFill>
              <a:effectLst/>
              <a:uLnTx/>
              <a:uFillTx/>
              <a:latin typeface="Calibri"/>
              <a:ea typeface="+mn-ea"/>
              <a:cs typeface="Times New Roman" panose="02020603050405020304" pitchFamily="18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1635592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ADB55-3C53-1960-9802-231A64EC3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875" y="-12700"/>
            <a:ext cx="9175750" cy="688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46D4054-DC68-23F6-F5BC-F7394AD9E2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-18288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550C769-3FF2-465E-2CF3-1703CA2E5E23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3B7A1180-1697-901D-882B-382076FF1CC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A03BD37-21B5-DEC3-9FF3-7821A9653240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n-US" sz="28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85478" y="787925"/>
            <a:ext cx="875101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          Data  Structure         Unit2  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284" y="1480231"/>
            <a:ext cx="8144179" cy="4171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Rectangle 1">
            <a:extLst>
              <a:ext uri="{FF2B5EF4-FFF2-40B4-BE49-F238E27FC236}">
                <a16:creationId xmlns:a16="http://schemas.microsoft.com/office/drawing/2014/main" id="{93CD4337-2FBF-A3E4-D70D-C8E3E83082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268195"/>
            <a:ext cx="8367464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en-US" sz="3600" i="0" u="none" strike="noStrike" kern="1200" cap="none" spc="0" normalizeH="0" baseline="0" noProof="0" dirty="0">
                <a:ln>
                  <a:noFill/>
                </a:ln>
                <a:solidFill>
                  <a:srgbClr val="E31E24"/>
                </a:solidFill>
                <a:effectLst/>
                <a:uLnTx/>
                <a:uFillTx/>
                <a:latin typeface="Calibri"/>
                <a:ea typeface="+mn-ea"/>
                <a:cs typeface="Times New Roman" panose="02020603050405020304" pitchFamily="18" charset="0"/>
                <a:sym typeface="Arial"/>
              </a:rPr>
              <a:t>Working of stack</a:t>
            </a:r>
            <a:endParaRPr kumimoji="0" lang="en-IN" sz="3600" i="0" u="none" strike="noStrike" kern="1200" cap="none" spc="0" normalizeH="0" baseline="0" noProof="0" dirty="0">
              <a:ln>
                <a:noFill/>
              </a:ln>
              <a:solidFill>
                <a:srgbClr val="E31E24"/>
              </a:solidFill>
              <a:effectLst/>
              <a:uLnTx/>
              <a:uFillTx/>
              <a:latin typeface="Calibri"/>
              <a:ea typeface="+mn-ea"/>
              <a:cs typeface="Times New Roman" panose="02020603050405020304" pitchFamily="18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3823855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ADB55-3C53-1960-9802-231A64EC3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875" y="-12700"/>
            <a:ext cx="9175750" cy="688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46D4054-DC68-23F6-F5BC-F7394AD9E2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550C769-3FF2-465E-2CF3-1703CA2E5E23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3B7A1180-1697-901D-882B-382076FF1CC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A03BD37-21B5-DEC3-9FF3-7821A9653240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n-US" sz="28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85478" y="787925"/>
            <a:ext cx="875101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          Data  Structure         Unit2  </a:t>
            </a: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300163"/>
            <a:ext cx="8964488" cy="4257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Rectangle 1">
            <a:extLst>
              <a:ext uri="{FF2B5EF4-FFF2-40B4-BE49-F238E27FC236}">
                <a16:creationId xmlns:a16="http://schemas.microsoft.com/office/drawing/2014/main" id="{9FAAC4C8-1CB6-1EF8-C918-24300A1C06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268195"/>
            <a:ext cx="8367464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en-US" sz="3600" i="0" u="none" strike="noStrike" kern="1200" cap="none" spc="0" normalizeH="0" baseline="0" noProof="0" dirty="0">
                <a:ln>
                  <a:noFill/>
                </a:ln>
                <a:solidFill>
                  <a:srgbClr val="E31E24"/>
                </a:solidFill>
                <a:effectLst/>
                <a:uLnTx/>
                <a:uFillTx/>
                <a:latin typeface="Calibri"/>
                <a:ea typeface="+mn-ea"/>
                <a:cs typeface="Times New Roman" panose="02020603050405020304" pitchFamily="18" charset="0"/>
                <a:sym typeface="Arial"/>
              </a:rPr>
              <a:t>Working of stack</a:t>
            </a:r>
            <a:endParaRPr kumimoji="0" lang="en-IN" sz="3600" i="0" u="none" strike="noStrike" kern="1200" cap="none" spc="0" normalizeH="0" baseline="0" noProof="0" dirty="0">
              <a:ln>
                <a:noFill/>
              </a:ln>
              <a:solidFill>
                <a:srgbClr val="E31E24"/>
              </a:solidFill>
              <a:effectLst/>
              <a:uLnTx/>
              <a:uFillTx/>
              <a:latin typeface="Calibri"/>
              <a:ea typeface="+mn-ea"/>
              <a:cs typeface="Times New Roman" panose="02020603050405020304" pitchFamily="18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711251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ADB55-3C53-1960-9802-231A64EC3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875" y="-12700"/>
            <a:ext cx="9175750" cy="688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46D4054-DC68-23F6-F5BC-F7394AD9E2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550C769-3FF2-465E-2CF3-1703CA2E5E23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3B7A1180-1697-901D-882B-382076FF1CC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A03BD37-21B5-DEC3-9FF3-7821A9653240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n-US" sz="28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85478" y="787925"/>
            <a:ext cx="875101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          Data  Structure         Unit2  </a:t>
            </a: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256" y="1636966"/>
            <a:ext cx="8382000" cy="4067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Rectangle 1">
            <a:extLst>
              <a:ext uri="{FF2B5EF4-FFF2-40B4-BE49-F238E27FC236}">
                <a16:creationId xmlns:a16="http://schemas.microsoft.com/office/drawing/2014/main" id="{3E54FCBA-9361-2A64-1C80-E673D30A07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268195"/>
            <a:ext cx="8367464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en-US" sz="3600" i="0" u="none" strike="noStrike" kern="1200" cap="none" spc="0" normalizeH="0" baseline="0" noProof="0" dirty="0">
                <a:ln>
                  <a:noFill/>
                </a:ln>
                <a:solidFill>
                  <a:srgbClr val="E31E24"/>
                </a:solidFill>
                <a:effectLst/>
                <a:uLnTx/>
                <a:uFillTx/>
                <a:latin typeface="Calibri"/>
                <a:ea typeface="+mn-ea"/>
                <a:cs typeface="Times New Roman" panose="02020603050405020304" pitchFamily="18" charset="0"/>
                <a:sym typeface="Arial"/>
              </a:rPr>
              <a:t>Working of stack</a:t>
            </a:r>
            <a:endParaRPr kumimoji="0" lang="en-IN" sz="3600" i="0" u="none" strike="noStrike" kern="1200" cap="none" spc="0" normalizeH="0" baseline="0" noProof="0" dirty="0">
              <a:ln>
                <a:noFill/>
              </a:ln>
              <a:solidFill>
                <a:srgbClr val="E31E24"/>
              </a:solidFill>
              <a:effectLst/>
              <a:uLnTx/>
              <a:uFillTx/>
              <a:latin typeface="Calibri"/>
              <a:ea typeface="+mn-ea"/>
              <a:cs typeface="Times New Roman" panose="02020603050405020304" pitchFamily="18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8932548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ADB55-3C53-1960-9802-231A64EC3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875" y="-12700"/>
            <a:ext cx="9175750" cy="688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46D4054-DC68-23F6-F5BC-F7394AD9E2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64C06AB1-0FEA-D879-1F4C-A54AF13BBD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268195"/>
            <a:ext cx="8367464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E31E24"/>
                </a:solidFill>
                <a:effectLst/>
                <a:uLnTx/>
                <a:uFillTx/>
                <a:ea typeface="+mn-ea"/>
                <a:cs typeface="Times New Roman" panose="02020603050405020304" pitchFamily="18" charset="0"/>
                <a:sym typeface="Arial"/>
              </a:rPr>
              <a:t>Working of stack</a:t>
            </a:r>
            <a:endParaRPr kumimoji="0" lang="en-IN" sz="3600" b="1" i="0" u="none" strike="noStrike" kern="1200" cap="none" spc="0" normalizeH="0" baseline="0" noProof="0" dirty="0">
              <a:ln>
                <a:noFill/>
              </a:ln>
              <a:solidFill>
                <a:srgbClr val="E31E24"/>
              </a:solidFill>
              <a:effectLst/>
              <a:uLnTx/>
              <a:uFillTx/>
              <a:ea typeface="+mn-ea"/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550C769-3FF2-465E-2CF3-1703CA2E5E23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3B7A1180-1697-901D-882B-382076FF1CC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A03BD37-21B5-DEC3-9FF3-7821A9653240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n-US" sz="28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85478" y="787925"/>
            <a:ext cx="875101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Ms.Suman           Data  Structure         Unit2  </a:t>
            </a: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2886" y="1571082"/>
            <a:ext cx="7696200" cy="4229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3675817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91782C-20BF-D97A-49C8-D55848BE62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78150BC-0ADD-34D9-685D-0EEE20D1CC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7384"/>
            <a:ext cx="9180512" cy="6885384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2181E503-4928-4A09-3922-EA3F929FF6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544" y="382488"/>
            <a:ext cx="867645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buSzPct val="25000"/>
            </a:pPr>
            <a:r>
              <a:rPr lang="en-US" sz="3600" b="1" dirty="0">
                <a:solidFill>
                  <a:srgbClr val="FF0000"/>
                </a:solidFill>
                <a:cs typeface="Times New Roman" pitchFamily="18" charset="0"/>
              </a:rPr>
              <a:t>Practice Question</a:t>
            </a:r>
            <a:endParaRPr lang="en-IN" sz="36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E32172B-2A9F-822B-433B-C6647394BF32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2B0B3EEA-F3D2-1FBA-8D02-B021A26CD1B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A2CA479-C3E8-26AF-8A5E-66948D864345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ABD1153-9E83-D2C0-FD7A-D5CF2BF8BF26}"/>
              </a:ext>
            </a:extLst>
          </p:cNvPr>
          <p:cNvSpPr txBox="1"/>
          <p:nvPr/>
        </p:nvSpPr>
        <p:spPr>
          <a:xfrm>
            <a:off x="285478" y="787925"/>
            <a:ext cx="875101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b="1" u="sng"/>
          </a:p>
          <a:p>
            <a:r>
              <a:rPr lang="en-US"/>
              <a:t> </a:t>
            </a:r>
          </a:p>
          <a:p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8BDA230-A251-C376-B656-5605071D9DA9}"/>
              </a:ext>
            </a:extLst>
          </p:cNvPr>
          <p:cNvSpPr/>
          <p:nvPr/>
        </p:nvSpPr>
        <p:spPr>
          <a:xfrm>
            <a:off x="467544" y="1257821"/>
            <a:ext cx="5018856" cy="33499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Push 10, 20, 30 into an empty stack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Pop one element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Step-by-step stack content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 movement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984C213-7AD9-F9D8-16B2-6057BD81E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</p:spTree>
    <p:extLst>
      <p:ext uri="{BB962C8B-B14F-4D97-AF65-F5344CB8AC3E}">
        <p14:creationId xmlns:p14="http://schemas.microsoft.com/office/powerpoint/2010/main" val="140959571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8449D1-AD35-7219-397E-DB1C2D9712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15007A0-B6A2-5F9C-7DE6-07BDEFAAEE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7384"/>
            <a:ext cx="9180512" cy="6885384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EBBC3D2B-F63D-A4DD-3070-C6DDDA4577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544" y="382488"/>
            <a:ext cx="867645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buSzPct val="25000"/>
            </a:pPr>
            <a:r>
              <a:rPr lang="en-US" sz="3600" b="1" dirty="0">
                <a:solidFill>
                  <a:srgbClr val="FF0000"/>
                </a:solidFill>
                <a:cs typeface="Times New Roman" pitchFamily="18" charset="0"/>
              </a:rPr>
              <a:t>Practice Question (Solution)</a:t>
            </a:r>
            <a:endParaRPr lang="en-IN" sz="36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1CB9C95-06E7-6D43-04CB-8B123F8EA9E3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8487E8AB-453F-DB76-D218-54FC86BAB54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C4CE422-5D61-C7E2-E499-516C38AB05D1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234B77C-B41B-9F41-49F4-7F85E1E5D5F6}"/>
              </a:ext>
            </a:extLst>
          </p:cNvPr>
          <p:cNvSpPr txBox="1"/>
          <p:nvPr/>
        </p:nvSpPr>
        <p:spPr>
          <a:xfrm>
            <a:off x="285478" y="787925"/>
            <a:ext cx="875101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b="1" u="sng"/>
          </a:p>
          <a:p>
            <a:r>
              <a:rPr lang="en-US"/>
              <a:t> </a:t>
            </a:r>
          </a:p>
          <a:p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A76EBD7-7644-4702-6668-A560BB3F7850}"/>
              </a:ext>
            </a:extLst>
          </p:cNvPr>
          <p:cNvSpPr/>
          <p:nvPr/>
        </p:nvSpPr>
        <p:spPr>
          <a:xfrm>
            <a:off x="467544" y="1257821"/>
            <a:ext cx="8136904" cy="5799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Push 10, 20, 30 into an empty stack-&gt;Pop one element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CBB9106-2ED9-F192-057A-93CAEEFB2B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39D014D-7FAA-BC20-CC38-98B7C507688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6239" b="79303"/>
          <a:stretch>
            <a:fillRect/>
          </a:stretch>
        </p:blipFill>
        <p:spPr>
          <a:xfrm>
            <a:off x="611560" y="2581494"/>
            <a:ext cx="3167966" cy="149123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6B052C3-768A-7A30-B730-99E77B34BE7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0697" b="62503"/>
          <a:stretch>
            <a:fillRect/>
          </a:stretch>
        </p:blipFill>
        <p:spPr>
          <a:xfrm>
            <a:off x="2915816" y="2427799"/>
            <a:ext cx="3167966" cy="173277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6AF7BEE-E719-A7AE-AD18-FABF84DC9CE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36447" b="43604"/>
          <a:stretch>
            <a:fillRect/>
          </a:stretch>
        </p:blipFill>
        <p:spPr>
          <a:xfrm>
            <a:off x="5508103" y="2417718"/>
            <a:ext cx="3167967" cy="205767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5F66761-99AA-C53B-5175-6D91AA22085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56397" b="21554"/>
          <a:stretch>
            <a:fillRect/>
          </a:stretch>
        </p:blipFill>
        <p:spPr>
          <a:xfrm>
            <a:off x="683567" y="4051999"/>
            <a:ext cx="3167967" cy="227427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A9064E1-DB45-CC90-A0B4-AE92B0D58C6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79496"/>
          <a:stretch>
            <a:fillRect/>
          </a:stretch>
        </p:blipFill>
        <p:spPr>
          <a:xfrm>
            <a:off x="2854355" y="4105009"/>
            <a:ext cx="3167966" cy="2114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083522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A24BA4-112B-4AC9-B580-08099EEDF3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>
            <a:extLst>
              <a:ext uri="{FF2B5EF4-FFF2-40B4-BE49-F238E27FC236}">
                <a16:creationId xmlns:a16="http://schemas.microsoft.com/office/drawing/2014/main" id="{2B4938D8-C2CC-C2E0-9E9C-4AEB19663D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875" y="-12700"/>
            <a:ext cx="9175750" cy="688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CBF2B21-FAA3-D1C2-075C-987587670B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738CDA7-D36D-AA02-E2DF-853D50403516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B9C2065D-F0BB-0509-6EA1-EBB8C2B95D7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BB85326-7CBE-93DC-9EDF-71EA8C98AF93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E1DF1C4-2773-BFBF-593F-31B7B42712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1F90F8F-68AF-7469-ED22-66DC823422B1}"/>
              </a:ext>
            </a:extLst>
          </p:cNvPr>
          <p:cNvSpPr txBox="1"/>
          <p:nvPr/>
        </p:nvSpPr>
        <p:spPr>
          <a:xfrm>
            <a:off x="89946" y="366693"/>
            <a:ext cx="887454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>
              <a:buNone/>
            </a:pPr>
            <a:r>
              <a:rPr lang="en-IN" sz="2800" b="1" dirty="0">
                <a:solidFill>
                  <a:srgbClr val="E31E24"/>
                </a:solidFill>
                <a:cs typeface="Times New Roman" panose="02020603050405020304" pitchFamily="18" charset="0"/>
              </a:rPr>
              <a:t>Complexity Analysis of Operations on Stack Data Structure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3AA9A75-5309-A44F-6E83-77F749A3FB9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23728" y="1892086"/>
            <a:ext cx="4563203" cy="3354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896936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ADB55-3C53-1960-9802-231A64EC3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875" y="-12700"/>
            <a:ext cx="9175750" cy="688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46D4054-DC68-23F6-F5BC-F7394AD9E2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64C06AB1-0FEA-D879-1F4C-A54AF13BBD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268195"/>
            <a:ext cx="8367464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600" b="1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Test Your self </a:t>
            </a:r>
            <a:endParaRPr lang="en-IN" sz="3600" b="1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550C769-3FF2-465E-2CF3-1703CA2E5E23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3B7A1180-1697-901D-882B-382076FF1CC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A03BD37-21B5-DEC3-9FF3-7821A9653240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85478" y="787925"/>
            <a:ext cx="875101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b="1" u="sng"/>
          </a:p>
          <a:p>
            <a:r>
              <a:rPr lang="en-US"/>
              <a:t> </a:t>
            </a:r>
          </a:p>
          <a:p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6442" y="1219200"/>
            <a:ext cx="8548046" cy="38515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Which among the following represents a stack?</a:t>
            </a:r>
          </a:p>
          <a:p>
            <a:pPr>
              <a:spcBef>
                <a:spcPts val="600"/>
              </a:spcBef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a: People waiting at a counter, where the action of popping is when   someone has been served at the counter</a:t>
            </a:r>
          </a:p>
          <a:p>
            <a:pPr>
              <a:spcBef>
                <a:spcPts val="600"/>
              </a:spcBef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b: A hand of bangles where pushing is wearing a new bangle</a:t>
            </a:r>
          </a:p>
          <a:p>
            <a:pPr>
              <a:spcBef>
                <a:spcPts val="600"/>
              </a:spcBef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c: A pile of plates at a dinner party</a:t>
            </a:r>
          </a:p>
          <a:p>
            <a:pPr>
              <a:spcBef>
                <a:spcPts val="600"/>
              </a:spcBef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d: People going around a merry-go-round</a:t>
            </a:r>
          </a:p>
          <a:p>
            <a:endParaRPr lang="en-US" sz="2400" dirty="0"/>
          </a:p>
          <a:p>
            <a:endParaRPr lang="en-IN" sz="2400" dirty="0"/>
          </a:p>
          <a:p>
            <a:pPr>
              <a:lnSpc>
                <a:spcPct val="150000"/>
              </a:lnSpc>
            </a:pP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33016046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ADB55-3C53-1960-9802-231A64EC3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875" y="-12700"/>
            <a:ext cx="9175750" cy="688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46D4054-DC68-23F6-F5BC-F7394AD9E2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64C06AB1-0FEA-D879-1F4C-A54AF13BBD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268195"/>
            <a:ext cx="8367464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600" b="1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 </a:t>
            </a:r>
            <a:endParaRPr lang="en-IN" sz="3600" b="1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550C769-3FF2-465E-2CF3-1703CA2E5E23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3B7A1180-1697-901D-882B-382076FF1CC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A03BD37-21B5-DEC3-9FF3-7821A9653240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85478" y="787925"/>
            <a:ext cx="875101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b="1" u="sng"/>
          </a:p>
          <a:p>
            <a:r>
              <a:rPr lang="en-US"/>
              <a:t> </a:t>
            </a:r>
          </a:p>
          <a:p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0036" y="1518814"/>
            <a:ext cx="8122095" cy="38423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600"/>
              </a:spcBef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What is the time complexity of push operation in a stack? What is the time complexity of pop operation in a stack?</a:t>
            </a:r>
          </a:p>
          <a:p>
            <a:pPr algn="just">
              <a:spcBef>
                <a:spcPts val="600"/>
              </a:spcBef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a: O(n), O(n)</a:t>
            </a:r>
          </a:p>
          <a:p>
            <a:pPr algn="just">
              <a:spcBef>
                <a:spcPts val="600"/>
              </a:spcBef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b: O(1), O(n)</a:t>
            </a:r>
          </a:p>
          <a:p>
            <a:pPr algn="just">
              <a:spcBef>
                <a:spcPts val="600"/>
              </a:spcBef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c: O(n), O(1)</a:t>
            </a:r>
          </a:p>
          <a:p>
            <a:pPr algn="just">
              <a:spcBef>
                <a:spcPts val="600"/>
              </a:spcBef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d: O(1), O(1)</a:t>
            </a: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693E7E6-1C9B-549F-1C19-BD3798245E7E}"/>
              </a:ext>
            </a:extLst>
          </p:cNvPr>
          <p:cNvSpPr txBox="1"/>
          <p:nvPr/>
        </p:nvSpPr>
        <p:spPr>
          <a:xfrm>
            <a:off x="250036" y="432814"/>
            <a:ext cx="46926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buSzPct val="25000"/>
            </a:pPr>
            <a:r>
              <a:rPr lang="en-US" sz="3600" b="1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Test Your self </a:t>
            </a:r>
            <a:endParaRPr lang="en-IN" sz="3600" b="1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4474717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ADB55-3C53-1960-9802-231A64EC3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875" y="-12700"/>
            <a:ext cx="9175750" cy="688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46D4054-DC68-23F6-F5BC-F7394AD9E2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64C06AB1-0FEA-D879-1F4C-A54AF13BBD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268195"/>
            <a:ext cx="8367464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600" b="1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 </a:t>
            </a:r>
            <a:endParaRPr lang="en-IN" sz="3600" b="1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550C769-3FF2-465E-2CF3-1703CA2E5E23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3B7A1180-1697-901D-882B-382076FF1CC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A03BD37-21B5-DEC3-9FF3-7821A9653240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85478" y="787925"/>
            <a:ext cx="875101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b="1" u="sng"/>
          </a:p>
          <a:p>
            <a:r>
              <a:rPr lang="en-US"/>
              <a:t> </a:t>
            </a:r>
          </a:p>
          <a:p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5478" y="1480231"/>
            <a:ext cx="8679010" cy="43656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600"/>
              </a:spcBef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Consider these operations on an empty stack: push(3), push(5), pop(), push(10), push(11), pop(), push(100). What will be the stack configuration (first number is top of the stack, last is the bottom)</a:t>
            </a:r>
          </a:p>
          <a:p>
            <a:pPr algn="just">
              <a:spcBef>
                <a:spcPts val="600"/>
              </a:spcBef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a: 100,10,3</a:t>
            </a:r>
          </a:p>
          <a:p>
            <a:pPr algn="just">
              <a:spcBef>
                <a:spcPts val="600"/>
              </a:spcBef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b: 3,5,10,11,100</a:t>
            </a:r>
          </a:p>
          <a:p>
            <a:pPr algn="just">
              <a:spcBef>
                <a:spcPts val="600"/>
              </a:spcBef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c: 3,10,100</a:t>
            </a:r>
          </a:p>
          <a:p>
            <a:pPr algn="just">
              <a:spcBef>
                <a:spcPts val="600"/>
              </a:spcBef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d: None of the above</a:t>
            </a:r>
          </a:p>
          <a:p>
            <a:pPr algn="just">
              <a:spcBef>
                <a:spcPts val="600"/>
              </a:spcBef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Bef>
                <a:spcPts val="600"/>
              </a:spcBef>
            </a:pP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BBDFF1F-5F31-B7E1-3036-725FB0FC7359}"/>
              </a:ext>
            </a:extLst>
          </p:cNvPr>
          <p:cNvSpPr txBox="1"/>
          <p:nvPr/>
        </p:nvSpPr>
        <p:spPr>
          <a:xfrm>
            <a:off x="250036" y="432814"/>
            <a:ext cx="46926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buSzPct val="25000"/>
            </a:pPr>
            <a:r>
              <a:rPr lang="en-US" sz="3600" b="1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Test Your self </a:t>
            </a:r>
            <a:endParaRPr lang="en-IN" sz="3600" b="1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4009837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ADB55-3C53-1960-9802-231A64EC3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875" y="-12700"/>
            <a:ext cx="9175750" cy="688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46D4054-DC68-23F6-F5BC-F7394AD9E2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550C769-3FF2-465E-2CF3-1703CA2E5E23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3B7A1180-1697-901D-882B-382076FF1CC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A03BD37-21B5-DEC3-9FF3-7821A9653240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95535" y="1390471"/>
            <a:ext cx="8208913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600"/>
              </a:spcBef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Consider a stack initially empty. Perform the following operations:</a:t>
            </a:r>
          </a:p>
          <a:p>
            <a:pPr>
              <a:spcBef>
                <a:spcPts val="600"/>
              </a:spcBef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a) Push 5, Push 10, Push 15</a:t>
            </a:r>
          </a:p>
          <a:p>
            <a:pPr>
              <a:spcBef>
                <a:spcPts val="600"/>
              </a:spcBef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b) Pop an element</a:t>
            </a:r>
          </a:p>
          <a:p>
            <a:pPr>
              <a:spcBef>
                <a:spcPts val="600"/>
              </a:spcBef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c) Push 20 </a:t>
            </a:r>
          </a:p>
          <a:p>
            <a:pPr>
              <a:spcBef>
                <a:spcPts val="600"/>
              </a:spcBef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What is the final state of the stack?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D42BDB-28D1-4AFC-23BA-50E137561404}"/>
              </a:ext>
            </a:extLst>
          </p:cNvPr>
          <p:cNvSpPr txBox="1"/>
          <p:nvPr/>
        </p:nvSpPr>
        <p:spPr>
          <a:xfrm>
            <a:off x="250036" y="432814"/>
            <a:ext cx="46926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buSzPct val="25000"/>
            </a:pPr>
            <a:r>
              <a:rPr lang="en-US" sz="3600" b="1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Test Your self </a:t>
            </a:r>
            <a:endParaRPr lang="en-IN" sz="3600" b="1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4144364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ADB55-3C53-1960-9802-231A64EC3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875" y="-12700"/>
            <a:ext cx="9175750" cy="688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46D4054-DC68-23F6-F5BC-F7394AD9E2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550C769-3FF2-465E-2CF3-1703CA2E5E23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3B7A1180-1697-901D-882B-382076FF1CC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A03BD37-21B5-DEC3-9FF3-7821A9653240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85478" y="787925"/>
            <a:ext cx="875101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b="1" u="sng"/>
          </a:p>
          <a:p>
            <a:r>
              <a:rPr lang="en-US"/>
              <a:t> </a:t>
            </a:r>
          </a:p>
          <a:p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3528" y="1332701"/>
            <a:ext cx="8640960" cy="44579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Answers: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Correct Option: C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Correct Option: D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Correct Option: A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 → 20, Stack Elements (Top to Bottom): 20, 10, 5 </a:t>
            </a:r>
          </a:p>
          <a:p>
            <a:pPr>
              <a:lnSpc>
                <a:spcPct val="150000"/>
              </a:lnSpc>
            </a:pPr>
            <a:b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175B772-EEE1-AEEA-035B-824A564808E3}"/>
              </a:ext>
            </a:extLst>
          </p:cNvPr>
          <p:cNvSpPr txBox="1"/>
          <p:nvPr/>
        </p:nvSpPr>
        <p:spPr>
          <a:xfrm>
            <a:off x="250036" y="432814"/>
            <a:ext cx="46926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buSzPct val="25000"/>
            </a:pPr>
            <a:r>
              <a:rPr lang="en-US" sz="36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Test Your self </a:t>
            </a:r>
            <a:endParaRPr lang="en-IN" sz="36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9889547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076C6F-C170-850A-9BD9-6306D93953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>
            <a:extLst>
              <a:ext uri="{FF2B5EF4-FFF2-40B4-BE49-F238E27FC236}">
                <a16:creationId xmlns:a16="http://schemas.microsoft.com/office/drawing/2014/main" id="{6825B9C6-2500-4DDD-4D4C-EEE1798247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875" y="-12700"/>
            <a:ext cx="9175750" cy="688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4988C443-EA69-67DB-3833-66E747DD5C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08" y="307790"/>
            <a:ext cx="8367464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6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Stack vs Array</a:t>
            </a:r>
            <a:endParaRPr lang="en-IN" sz="36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8944E18-4377-536D-D4BD-1795756DE9F4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FF7E17FF-4846-191D-4BE3-553DEE1055A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1C4A67F-8B18-ADC8-9E07-EA11CFAB8103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90A4A28-461A-4C7C-ABA1-993BBF600E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5AE3C74-75A3-32EF-2909-3A86E7173D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2093282"/>
              </p:ext>
            </p:extLst>
          </p:nvPr>
        </p:nvGraphicFramePr>
        <p:xfrm>
          <a:off x="457200" y="1988661"/>
          <a:ext cx="8229600" cy="292608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989990596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1655477964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21955367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83728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20842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98786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70591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18598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91852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6010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5844621"/>
                  </a:ext>
                </a:extLst>
              </a:tr>
            </a:tbl>
          </a:graphicData>
        </a:graphic>
      </p:graphicFrame>
      <p:sp>
        <p:nvSpPr>
          <p:cNvPr id="10" name="Rectangle 1">
            <a:extLst>
              <a:ext uri="{FF2B5EF4-FFF2-40B4-BE49-F238E27FC236}">
                <a16:creationId xmlns:a16="http://schemas.microsoft.com/office/drawing/2014/main" id="{F023409C-D3EF-FE2C-A9F7-E7B09AB90D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6130" y="5692849"/>
            <a:ext cx="7483749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stack is a specialized structure with restricted access, while an array allows direct access to any element.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73599401-9AB3-E11E-F193-2E91CEA816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1796355"/>
              </p:ext>
            </p:extLst>
          </p:nvPr>
        </p:nvGraphicFramePr>
        <p:xfrm>
          <a:off x="946130" y="1274611"/>
          <a:ext cx="7483749" cy="431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94583">
                  <a:extLst>
                    <a:ext uri="{9D8B030D-6E8A-4147-A177-3AD203B41FA5}">
                      <a16:colId xmlns:a16="http://schemas.microsoft.com/office/drawing/2014/main" val="67989642"/>
                    </a:ext>
                  </a:extLst>
                </a:gridCol>
                <a:gridCol w="2494583">
                  <a:extLst>
                    <a:ext uri="{9D8B030D-6E8A-4147-A177-3AD203B41FA5}">
                      <a16:colId xmlns:a16="http://schemas.microsoft.com/office/drawing/2014/main" val="2561388037"/>
                    </a:ext>
                  </a:extLst>
                </a:gridCol>
                <a:gridCol w="2494583">
                  <a:extLst>
                    <a:ext uri="{9D8B030D-6E8A-4147-A177-3AD203B41FA5}">
                      <a16:colId xmlns:a16="http://schemas.microsoft.com/office/drawing/2014/main" val="5823869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Stack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Array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389797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Abstract Data Type (ADT)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Linear data structure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28872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Access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Restricted (LIFO – only top element)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Random access using index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712500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Insertion/Deletion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Only at one end (TOP)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At any position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208273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Principle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Last In First Out (LIFO)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specific order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666689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Operations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push, pop, peek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insert, delete, update, access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733088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 case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Function calls, undo/redo, expression evaluation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Storing and accessing data by index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125325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Flexibility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operations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More flexible operations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231332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1562303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96EFB0-E474-4418-7A28-DFD066D2BF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>
            <a:extLst>
              <a:ext uri="{FF2B5EF4-FFF2-40B4-BE49-F238E27FC236}">
                <a16:creationId xmlns:a16="http://schemas.microsoft.com/office/drawing/2014/main" id="{886C6D03-F4FB-7F4D-8631-C63D930757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875" y="-12700"/>
            <a:ext cx="9175750" cy="688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AB855E0C-B698-34A9-D6D2-EADF694EF3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08" y="307790"/>
            <a:ext cx="8367464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6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Stack vs Linked List</a:t>
            </a:r>
            <a:endParaRPr lang="en-IN" sz="36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1E0B430-F0B4-E436-C9AE-4804D0BE0646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5FDF23A8-C5E7-8AB0-0E0A-075CFFFFF9B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EC091C4-9B67-7116-199F-36B74ECB0CE3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129500-74D3-0F7D-BC16-DBB48BC2F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70CE54D-99D1-6CAA-5BC3-35E4B9EBE3C7}"/>
              </a:ext>
            </a:extLst>
          </p:cNvPr>
          <p:cNvGraphicFramePr>
            <a:graphicFrameLocks noGrp="1"/>
          </p:cNvGraphicFramePr>
          <p:nvPr/>
        </p:nvGraphicFramePr>
        <p:xfrm>
          <a:off x="457200" y="1988661"/>
          <a:ext cx="8229600" cy="292608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989990596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1655477964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21955367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83728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20842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98786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70591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18598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91852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6010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5844621"/>
                  </a:ext>
                </a:extLst>
              </a:tr>
            </a:tbl>
          </a:graphicData>
        </a:graphic>
      </p:graphicFrame>
      <p:sp>
        <p:nvSpPr>
          <p:cNvPr id="10" name="Rectangle 1">
            <a:extLst>
              <a:ext uri="{FF2B5EF4-FFF2-40B4-BE49-F238E27FC236}">
                <a16:creationId xmlns:a16="http://schemas.microsoft.com/office/drawing/2014/main" id="{B37C609B-D67F-5189-167E-767638A155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2035" y="5600333"/>
            <a:ext cx="7483749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stack restricts how data is accessed, while a linked list allows flexible insertion and deletion anywhere.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30D96C66-EFFE-619A-61AA-15D5F315E2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7432984"/>
              </p:ext>
            </p:extLst>
          </p:nvPr>
        </p:nvGraphicFramePr>
        <p:xfrm>
          <a:off x="938141" y="1465411"/>
          <a:ext cx="7483749" cy="4043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94583">
                  <a:extLst>
                    <a:ext uri="{9D8B030D-6E8A-4147-A177-3AD203B41FA5}">
                      <a16:colId xmlns:a16="http://schemas.microsoft.com/office/drawing/2014/main" val="67989642"/>
                    </a:ext>
                  </a:extLst>
                </a:gridCol>
                <a:gridCol w="2494583">
                  <a:extLst>
                    <a:ext uri="{9D8B030D-6E8A-4147-A177-3AD203B41FA5}">
                      <a16:colId xmlns:a16="http://schemas.microsoft.com/office/drawing/2014/main" val="2561388037"/>
                    </a:ext>
                  </a:extLst>
                </a:gridCol>
                <a:gridCol w="2494583">
                  <a:extLst>
                    <a:ext uri="{9D8B030D-6E8A-4147-A177-3AD203B41FA5}">
                      <a16:colId xmlns:a16="http://schemas.microsoft.com/office/drawing/2014/main" val="5823869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Stack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Linked List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389797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Abstract Data Type (ADT)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Linear data structure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28872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Access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Only top element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Any node (via traversal)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712500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Insertion/Deletion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Only at top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At beginning, end, or any position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208273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Memory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Can be array-based or linked-list-based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Uses dynamic memory (nodes + pointers)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666689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Order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LIFO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fixed order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733088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Implementation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Can use array or linked list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Uses nodes with pointers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125325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Flexibility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Less flexible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More flexible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231332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1763903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E51FC7-9005-7F3A-E054-61979E6E0B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>
            <a:extLst>
              <a:ext uri="{FF2B5EF4-FFF2-40B4-BE49-F238E27FC236}">
                <a16:creationId xmlns:a16="http://schemas.microsoft.com/office/drawing/2014/main" id="{65B641A6-E431-CCC3-C5B4-71A0046047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875" y="-12700"/>
            <a:ext cx="9175750" cy="688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60679D1-7A58-50EC-9BE2-AB2F7B48D4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974B9832-46A1-8CAA-BD13-11B348A863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08" y="307790"/>
            <a:ext cx="8367464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6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Quick Quiz</a:t>
            </a:r>
            <a:endParaRPr lang="en-IN" sz="36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2D522B0-C460-5410-AEA9-48F8A08202D1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FD903215-D923-3AB3-2528-185998E8AC5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1E97ABE-1544-1D4E-1E43-435F1D3D6549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6DAFDF6-24FF-254A-BFCD-E805D954B5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D480130-85F5-F6AD-29BD-A84D1B3578F3}"/>
              </a:ext>
            </a:extLst>
          </p:cNvPr>
          <p:cNvSpPr txBox="1"/>
          <p:nvPr/>
        </p:nvSpPr>
        <p:spPr>
          <a:xfrm>
            <a:off x="158874" y="1362738"/>
            <a:ext cx="869811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principle does Stack follow?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operation removes the top element?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stack underflow?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stack overflow?</a:t>
            </a:r>
          </a:p>
          <a:p>
            <a:br>
              <a:rPr lang="en-IN" sz="2400" dirty="0"/>
            </a:b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60475450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2D178D-5ED9-9F4D-198E-E0E210CAEB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>
            <a:extLst>
              <a:ext uri="{FF2B5EF4-FFF2-40B4-BE49-F238E27FC236}">
                <a16:creationId xmlns:a16="http://schemas.microsoft.com/office/drawing/2014/main" id="{153ABA27-D80D-E59F-5234-775D1E2F2F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875" y="-12700"/>
            <a:ext cx="9175750" cy="688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C755852-67B1-4A9C-6507-ADA535FE02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33FCD30D-432C-8445-D6F5-FD0E74BD51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08" y="307790"/>
            <a:ext cx="8367464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6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Quick Quiz (Answers)</a:t>
            </a:r>
            <a:endParaRPr lang="en-IN" sz="36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6B84F55-49D5-4858-F9B6-E43877F0DB84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B8B17AAE-96FB-657C-DF96-570274656CA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F30F3A6-C3C9-3FE6-DE8C-D023F554E124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EF3D14F-AA2A-B51D-2374-999913BE3C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876703C-4B27-E1F2-6FC5-0ABBA20A5B44}"/>
              </a:ext>
            </a:extLst>
          </p:cNvPr>
          <p:cNvSpPr txBox="1"/>
          <p:nvPr/>
        </p:nvSpPr>
        <p:spPr>
          <a:xfrm>
            <a:off x="158874" y="1362738"/>
            <a:ext cx="8445574" cy="43242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principle does Stack follow?</a:t>
            </a:r>
          </a:p>
          <a:p>
            <a:pPr algn="just">
              <a:spcBef>
                <a:spcPts val="600"/>
              </a:spcBef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LIFO (Last In, First Out)</a:t>
            </a:r>
          </a:p>
          <a:p>
            <a:pPr marL="342900" indent="-34290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operation removes the top element?</a:t>
            </a:r>
          </a:p>
          <a:p>
            <a:pPr algn="just">
              <a:spcBef>
                <a:spcPts val="600"/>
              </a:spcBef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Pop</a:t>
            </a:r>
          </a:p>
          <a:p>
            <a:pPr marL="342900" indent="-34290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stack underflow?</a:t>
            </a:r>
          </a:p>
          <a:p>
            <a:pPr marL="360363" algn="just">
              <a:spcBef>
                <a:spcPts val="600"/>
              </a:spcBef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Stack underflow occurs when an attempt is made to pop an element from an empty stack.</a:t>
            </a:r>
          </a:p>
          <a:p>
            <a:pPr marL="342900" indent="-34290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stack overflow?</a:t>
            </a:r>
          </a:p>
          <a:p>
            <a:pPr marL="360363" algn="just">
              <a:spcBef>
                <a:spcPts val="600"/>
              </a:spcBef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Stack overflow occurs when an attempt is made to push an element into a full stack.</a:t>
            </a:r>
          </a:p>
        </p:txBody>
      </p:sp>
    </p:spTree>
    <p:extLst>
      <p:ext uri="{BB962C8B-B14F-4D97-AF65-F5344CB8AC3E}">
        <p14:creationId xmlns:p14="http://schemas.microsoft.com/office/powerpoint/2010/main" val="382202379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0BFAD6-011A-CF68-B686-4553FF4EC9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>
            <a:extLst>
              <a:ext uri="{FF2B5EF4-FFF2-40B4-BE49-F238E27FC236}">
                <a16:creationId xmlns:a16="http://schemas.microsoft.com/office/drawing/2014/main" id="{939A67D9-9E25-CC3E-59DA-0CCE8AD8FE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875" y="-12700"/>
            <a:ext cx="9175750" cy="688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A3A1459-C56E-73F0-99CF-8F3F12E1235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D1F3721F-5D65-B484-83F5-224FDE5A3E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536" y="307790"/>
            <a:ext cx="804393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6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Stack Implementation</a:t>
            </a:r>
            <a:endParaRPr lang="en-IN" sz="36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81C7EAA-C068-7C91-F5CD-0F58560651D4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22956909-90BE-A426-A2D8-51A9EFC7F1C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F0AA17A-5DD9-4E7F-4672-C12AAA85C28E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6DA990F-FB91-B74E-C049-AB6E3FD9C9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4917824-C787-128A-3124-D5739868555F}"/>
              </a:ext>
            </a:extLst>
          </p:cNvPr>
          <p:cNvSpPr txBox="1"/>
          <p:nvPr/>
        </p:nvSpPr>
        <p:spPr>
          <a:xfrm>
            <a:off x="395536" y="1166842"/>
            <a:ext cx="8461448" cy="16879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400" dirty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Stack can be implemented using: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Arrays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Linked List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195824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ADB55-3C53-1960-9802-231A64EC3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46D4054-DC68-23F6-F5BC-F7394AD9E2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64C06AB1-0FEA-D879-1F4C-A54AF13BBD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414" y="268195"/>
            <a:ext cx="864505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6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Array representation of Stack</a:t>
            </a:r>
            <a:endParaRPr lang="en-IN" sz="36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550C769-3FF2-465E-2CF3-1703CA2E5E23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3B7A1180-1697-901D-882B-382076FF1CC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A03BD37-21B5-DEC3-9FF3-7821A9653240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85478" y="787925"/>
            <a:ext cx="875101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b="1" u="sng" dirty="0"/>
          </a:p>
          <a:p>
            <a:r>
              <a:rPr lang="en-US" dirty="0"/>
              <a:t> </a:t>
            </a:r>
          </a:p>
          <a:p>
            <a:endParaRPr lang="en-IN" dirty="0"/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5"/>
          <a:srcRect l="2617" t="2941" r="1515" b="2941"/>
          <a:stretch>
            <a:fillRect/>
          </a:stretch>
        </p:blipFill>
        <p:spPr bwMode="auto">
          <a:xfrm>
            <a:off x="858982" y="1447863"/>
            <a:ext cx="7139136" cy="38940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4" name="TextBox 13"/>
          <p:cNvSpPr txBox="1"/>
          <p:nvPr/>
        </p:nvSpPr>
        <p:spPr>
          <a:xfrm>
            <a:off x="838200" y="5114691"/>
            <a:ext cx="7010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r>
              <a:rPr lang="en-US" dirty="0"/>
              <a:t>Fig: Array Representations </a:t>
            </a:r>
          </a:p>
          <a:p>
            <a:r>
              <a:rPr lang="en-US" dirty="0">
                <a:hlinkClick r:id="rId6"/>
              </a:rPr>
              <a:t>https://prepinsta.com/data-structures/representation-of-a-stack/</a:t>
            </a:r>
            <a:endParaRPr lang="en-US" dirty="0"/>
          </a:p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</p:spTree>
    <p:extLst>
      <p:ext uri="{BB962C8B-B14F-4D97-AF65-F5344CB8AC3E}">
        <p14:creationId xmlns:p14="http://schemas.microsoft.com/office/powerpoint/2010/main" val="174986059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8A0ACA-9C19-03CD-3437-F6A731E6E4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0C1F7D5-D136-1801-3785-AB77DA61569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416CAA13-B5ED-14BD-043D-6534B02FFD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414" y="268195"/>
            <a:ext cx="864505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IN" sz="36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Why Implement Stack Using Array?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AF4F552-6BEF-67E1-FF4C-2BBDCE4D59BC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C007601A-FFEF-28A7-655D-A085C49F42C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D9F0AA4-663D-B45D-DE6D-9706E127EE1E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9B852A4-65C6-7C35-0374-6240D79E397C}"/>
              </a:ext>
            </a:extLst>
          </p:cNvPr>
          <p:cNvSpPr txBox="1"/>
          <p:nvPr/>
        </p:nvSpPr>
        <p:spPr>
          <a:xfrm>
            <a:off x="285478" y="787925"/>
            <a:ext cx="875101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b="1" u="sng" dirty="0"/>
          </a:p>
          <a:p>
            <a:r>
              <a:rPr lang="en-US" dirty="0"/>
              <a:t> </a:t>
            </a:r>
          </a:p>
          <a:p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D0E8840-0B38-2CB7-62B5-2CF1FF31D3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9800FAB-DDFB-C0C0-642F-67B7282798D9}"/>
              </a:ext>
            </a:extLst>
          </p:cNvPr>
          <p:cNvSpPr txBox="1"/>
          <p:nvPr/>
        </p:nvSpPr>
        <p:spPr>
          <a:xfrm>
            <a:off x="285478" y="1250494"/>
            <a:ext cx="8573450" cy="52245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 rtl="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IN" sz="24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IN" sz="24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Simple and Direct Access</a:t>
            </a:r>
          </a:p>
          <a:p>
            <a:pPr marL="800100" lvl="1" indent="-342900">
              <a:spcBef>
                <a:spcPts val="300"/>
              </a:spcBef>
              <a:buFont typeface="Wingdings" panose="05000000000000000000" pitchFamily="2" charset="2"/>
              <a:buChar char="v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Indexing</a:t>
            </a:r>
          </a:p>
          <a:p>
            <a:pPr marL="800100" lvl="1" indent="-342900">
              <a:spcBef>
                <a:spcPts val="300"/>
              </a:spcBef>
              <a:buFont typeface="Wingdings" panose="05000000000000000000" pitchFamily="2" charset="2"/>
              <a:buChar char="v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Complexity</a:t>
            </a:r>
            <a:endParaRPr lang="en-IN" sz="240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Predictable Memory Usage</a:t>
            </a:r>
          </a:p>
          <a:p>
            <a:pPr marL="800100" lvl="1" indent="-342900">
              <a:spcBef>
                <a:spcPts val="300"/>
              </a:spcBef>
              <a:buFont typeface="Wingdings" panose="05000000000000000000" pitchFamily="2" charset="2"/>
              <a:buChar char="v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Fixed Size</a:t>
            </a:r>
          </a:p>
          <a:p>
            <a:pPr marL="800100" lvl="1" indent="-342900">
              <a:spcBef>
                <a:spcPts val="300"/>
              </a:spcBef>
              <a:buFont typeface="Wingdings" panose="05000000000000000000" pitchFamily="2" charset="2"/>
              <a:buChar char="v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Allocation</a:t>
            </a:r>
          </a:p>
          <a:p>
            <a:pPr marL="457200" indent="-45720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Ease of Implementation</a:t>
            </a:r>
          </a:p>
          <a:p>
            <a:pPr marL="914400" lvl="1" indent="-457200">
              <a:spcBef>
                <a:spcPts val="300"/>
              </a:spcBef>
              <a:buFont typeface="Wingdings" panose="05000000000000000000" pitchFamily="2" charset="2"/>
              <a:buChar char="v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Simplicity</a:t>
            </a:r>
          </a:p>
          <a:p>
            <a:pPr marL="914400" lvl="1" indent="-457200">
              <a:spcBef>
                <a:spcPts val="300"/>
              </a:spcBef>
              <a:buFont typeface="Wingdings" panose="05000000000000000000" pitchFamily="2" charset="2"/>
              <a:buChar char="v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Less Overhead</a:t>
            </a:r>
          </a:p>
          <a:p>
            <a:pPr marL="457200" indent="-45720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Performance</a:t>
            </a:r>
          </a:p>
          <a:p>
            <a:pPr marL="914400" lvl="1" indent="-457200">
              <a:spcBef>
                <a:spcPts val="300"/>
              </a:spcBef>
              <a:buFont typeface="Wingdings" panose="05000000000000000000" pitchFamily="2" charset="2"/>
              <a:buChar char="v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Operations</a:t>
            </a:r>
          </a:p>
          <a:p>
            <a:pPr marL="914400" lvl="1" indent="-457200">
              <a:spcBef>
                <a:spcPts val="300"/>
              </a:spcBef>
              <a:buFont typeface="Wingdings" panose="05000000000000000000" pitchFamily="2" charset="2"/>
              <a:buChar char="v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Pointer Management</a:t>
            </a:r>
          </a:p>
          <a:p>
            <a:pPr algn="l" rtl="0">
              <a:buNone/>
            </a:pPr>
            <a:endParaRPr lang="en-IN" b="1" i="0" dirty="0">
              <a:solidFill>
                <a:srgbClr val="4B5563"/>
              </a:solidFill>
              <a:effectLst/>
              <a:latin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218978936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4986F4-72C0-9990-CB4C-658CD4F7EE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3847D8A-3245-6091-483F-8036345B99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-44444"/>
            <a:ext cx="9180512" cy="6885384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151A745B-B3C0-634B-AE8B-D90AA4C888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414" y="298973"/>
            <a:ext cx="864505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IN" sz="32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Limitations of Stack Implementation Using Array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C43CA48-C36F-6335-4636-B830692241E3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8231CC48-1FB3-C24D-2635-C17B37345E9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6968084-3F22-D3E4-C9B5-9D64DE145DBA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2579454-9086-DB33-BFD5-9C25018C8E9E}"/>
              </a:ext>
            </a:extLst>
          </p:cNvPr>
          <p:cNvSpPr txBox="1"/>
          <p:nvPr/>
        </p:nvSpPr>
        <p:spPr>
          <a:xfrm>
            <a:off x="285478" y="787925"/>
            <a:ext cx="875101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b="1" u="sng" dirty="0"/>
          </a:p>
          <a:p>
            <a:r>
              <a:rPr lang="en-US" dirty="0"/>
              <a:t> </a:t>
            </a:r>
          </a:p>
          <a:p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E063FC4-812B-382B-2C29-56879ECB10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8E37898-0DE9-D1F8-EE78-2007CF545804}"/>
              </a:ext>
            </a:extLst>
          </p:cNvPr>
          <p:cNvSpPr txBox="1"/>
          <p:nvPr/>
        </p:nvSpPr>
        <p:spPr>
          <a:xfrm>
            <a:off x="463043" y="1359338"/>
            <a:ext cx="8395885" cy="224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68288" indent="-26828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Fixed Size</a:t>
            </a:r>
          </a:p>
          <a:p>
            <a:pPr marL="268288" indent="-26828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Wasted Space</a:t>
            </a:r>
          </a:p>
          <a:p>
            <a:pPr marL="268288" indent="-26828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Resizing Issues</a:t>
            </a:r>
          </a:p>
          <a:p>
            <a:pPr algn="l" rtl="0">
              <a:lnSpc>
                <a:spcPct val="150000"/>
              </a:lnSpc>
              <a:buNone/>
            </a:pPr>
            <a:endParaRPr lang="en-IN" sz="2400" b="1" i="0" dirty="0">
              <a:solidFill>
                <a:srgbClr val="4B5563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218209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ADB55-3C53-1960-9802-231A64EC3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875" y="-12700"/>
            <a:ext cx="9175750" cy="688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64C06AB1-0FEA-D879-1F4C-A54AF13BBD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414" y="268195"/>
            <a:ext cx="864505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6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Stack Implementation using array in Python</a:t>
            </a:r>
            <a:endParaRPr lang="en-IN" sz="36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550C769-3FF2-465E-2CF3-1703CA2E5E23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3B7A1180-1697-901D-882B-382076FF1CC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A03BD37-21B5-DEC3-9FF3-7821A9653240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85478" y="787925"/>
            <a:ext cx="875101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b="1" u="sng" dirty="0"/>
          </a:p>
          <a:p>
            <a:r>
              <a:rPr lang="en-US" dirty="0"/>
              <a:t> </a:t>
            </a:r>
          </a:p>
          <a:p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9440" y="2799996"/>
            <a:ext cx="4374232" cy="34932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Stack implementation using array</a:t>
            </a:r>
          </a:p>
          <a:p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stack = [0] * 100</a:t>
            </a:r>
          </a:p>
          <a:p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= 100</a:t>
            </a:r>
          </a:p>
          <a:p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 = -1</a:t>
            </a:r>
          </a:p>
          <a:p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 push(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</a:p>
          <a:p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global top</a:t>
            </a:r>
          </a:p>
          <a:p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if top &gt;= n - 1:</a:t>
            </a:r>
          </a:p>
          <a:p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print("Stack Overflow")</a:t>
            </a:r>
          </a:p>
          <a:p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else:</a:t>
            </a:r>
          </a:p>
          <a:p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top += 1</a:t>
            </a:r>
          </a:p>
          <a:p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stack[top] =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BD6C535-2F01-AEC2-3457-6E63FC66A972}"/>
              </a:ext>
            </a:extLst>
          </p:cNvPr>
          <p:cNvSpPr txBox="1"/>
          <p:nvPr/>
        </p:nvSpPr>
        <p:spPr>
          <a:xfrm>
            <a:off x="4323215" y="2643129"/>
            <a:ext cx="4641272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 pop():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global top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if top &lt;= -1: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print("Stack Underflow")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else: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print("The popped element is", stack[top])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top -= 1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 display():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if top &gt;= 0: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print("Stack elements are:")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for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range(top, -1, -1):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print(stack[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], end=" ")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print()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else: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print("Stack is empty")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1398F38-7954-C3DB-EB33-AC10F60E72C4}"/>
              </a:ext>
            </a:extLst>
          </p:cNvPr>
          <p:cNvSpPr txBox="1"/>
          <p:nvPr/>
        </p:nvSpPr>
        <p:spPr>
          <a:xfrm>
            <a:off x="319440" y="1146214"/>
            <a:ext cx="8645047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program to implement a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stack using an array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performs the following operations:</a:t>
            </a:r>
          </a:p>
          <a:p>
            <a:pPr algn="just">
              <a:buFont typeface="+mj-lt"/>
              <a:buAutoNum type="arabicPeriod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Push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 element into the stack (with stack overflow condition).</a:t>
            </a:r>
          </a:p>
          <a:p>
            <a:pPr algn="just">
              <a:buFont typeface="+mj-lt"/>
              <a:buAutoNum type="arabicPeriod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Pop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 element from the stack (with stack underflow condition).</a:t>
            </a:r>
          </a:p>
          <a:p>
            <a:pPr algn="just">
              <a:buFont typeface="+mj-lt"/>
              <a:buAutoNum type="arabicPeriod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all elements of the stack from top to bottom.</a:t>
            </a:r>
          </a:p>
          <a:p>
            <a:pPr algn="just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program is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menu-driven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allowing the user to choose an operation repeatedly until the exit option is selected.</a:t>
            </a:r>
          </a:p>
        </p:txBody>
      </p:sp>
    </p:spTree>
    <p:extLst>
      <p:ext uri="{BB962C8B-B14F-4D97-AF65-F5344CB8AC3E}">
        <p14:creationId xmlns:p14="http://schemas.microsoft.com/office/powerpoint/2010/main" val="92973576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F515DE-EF9F-4C1F-C658-802DB56ADE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>
            <a:extLst>
              <a:ext uri="{FF2B5EF4-FFF2-40B4-BE49-F238E27FC236}">
                <a16:creationId xmlns:a16="http://schemas.microsoft.com/office/drawing/2014/main" id="{76592801-D4FB-6980-9A09-428EDA934D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875" y="-12700"/>
            <a:ext cx="9175750" cy="688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CE98AA46-E335-C43B-AF6D-5E5189F15A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414" y="268195"/>
            <a:ext cx="864505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6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Contd.</a:t>
            </a:r>
            <a:endParaRPr lang="en-IN" sz="36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4DF9A35-0C59-A4A1-0059-742017B6A391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60AD0333-D8CB-26DE-F03C-0E106F9BEB3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5C61F79-82FA-289C-1577-99078306411E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9C53815-0A39-46B3-DE1A-7AE7BEEEDB90}"/>
              </a:ext>
            </a:extLst>
          </p:cNvPr>
          <p:cNvSpPr txBox="1"/>
          <p:nvPr/>
        </p:nvSpPr>
        <p:spPr>
          <a:xfrm>
            <a:off x="285478" y="787925"/>
            <a:ext cx="875101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b="1" u="sng" dirty="0"/>
          </a:p>
          <a:p>
            <a:r>
              <a:rPr lang="en-US" dirty="0"/>
              <a:t> </a:t>
            </a:r>
          </a:p>
          <a:p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BE4AE73-2F19-3A94-98D8-F0067A0AB6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8D736E7-D3B0-3920-15EF-40FD1E0517D2}"/>
              </a:ext>
            </a:extLst>
          </p:cNvPr>
          <p:cNvSpPr/>
          <p:nvPr/>
        </p:nvSpPr>
        <p:spPr>
          <a:xfrm>
            <a:off x="287260" y="1136764"/>
            <a:ext cx="4374232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 main():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while True: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print("\n1) Push in stack")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print("2) Pop from stack")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print("3) Display stack")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print("4) Exit")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int(input("Enter choice: "))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if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== 1: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int(input("Enter value to be pushed: "))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push(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elif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== 2: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pop()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685E93F-92DA-078C-CB95-F53607781F2A}"/>
              </a:ext>
            </a:extLst>
          </p:cNvPr>
          <p:cNvSpPr txBox="1"/>
          <p:nvPr/>
        </p:nvSpPr>
        <p:spPr>
          <a:xfrm>
            <a:off x="4767457" y="1136764"/>
            <a:ext cx="3985407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elif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== 3: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display()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elif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== 4: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print("Exit")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break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else: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print("Invalid Choice")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__name__ == "__main__":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main()</a:t>
            </a:r>
          </a:p>
        </p:txBody>
      </p:sp>
    </p:spTree>
    <p:extLst>
      <p:ext uri="{BB962C8B-B14F-4D97-AF65-F5344CB8AC3E}">
        <p14:creationId xmlns:p14="http://schemas.microsoft.com/office/powerpoint/2010/main" val="419058018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1D5957-9E09-033E-DD28-5D38F0EC14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>
            <a:extLst>
              <a:ext uri="{FF2B5EF4-FFF2-40B4-BE49-F238E27FC236}">
                <a16:creationId xmlns:a16="http://schemas.microsoft.com/office/drawing/2014/main" id="{F8C9B453-8169-8C1F-5963-0BEFAE7283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875" y="-12700"/>
            <a:ext cx="9175750" cy="688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ADB1DB87-E431-94AA-3C24-40DDF184FD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414" y="268195"/>
            <a:ext cx="864505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6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Stack Implementation using array in C++</a:t>
            </a:r>
            <a:endParaRPr lang="en-IN" sz="36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E7C0363-0F2C-58B3-1509-64169C007004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E02A3F5A-01D1-D0C6-22A7-D700090486A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8A3722C-5560-065E-F3CB-1A25A0B0191F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3921607-7511-1A1F-4F46-5DCBE1DA71B9}"/>
              </a:ext>
            </a:extLst>
          </p:cNvPr>
          <p:cNvSpPr txBox="1"/>
          <p:nvPr/>
        </p:nvSpPr>
        <p:spPr>
          <a:xfrm>
            <a:off x="285478" y="787925"/>
            <a:ext cx="875101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b="1" u="sng" dirty="0"/>
          </a:p>
          <a:p>
            <a:r>
              <a:rPr lang="en-US" dirty="0"/>
              <a:t> </a:t>
            </a:r>
          </a:p>
          <a:p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730210F-DDF5-97BD-2590-4635849144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81CB1B8-7202-B5B5-AC15-F030EB7092F9}"/>
              </a:ext>
            </a:extLst>
          </p:cNvPr>
          <p:cNvSpPr/>
          <p:nvPr/>
        </p:nvSpPr>
        <p:spPr>
          <a:xfrm>
            <a:off x="287260" y="1136764"/>
            <a:ext cx="4374232" cy="5324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</a:t>
            </a:r>
            <a:r>
              <a:rPr lang="en-IN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iostream.h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namespace </a:t>
            </a:r>
            <a:r>
              <a:rPr lang="en-IN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std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en-IN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stack[100], n=100, top=-1;</a:t>
            </a:r>
          </a:p>
          <a:p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void push(</a:t>
            </a:r>
            <a:r>
              <a:rPr lang="en-IN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{</a:t>
            </a:r>
          </a:p>
          <a:p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if(top&gt;=n-1)</a:t>
            </a:r>
          </a:p>
          <a:p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IN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&lt;&lt;"Stack Overflow"&lt;&lt;</a:t>
            </a:r>
            <a:r>
              <a:rPr lang="en-IN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else {</a:t>
            </a:r>
          </a:p>
          <a:p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top++;</a:t>
            </a:r>
          </a:p>
          <a:p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stack[top]=</a:t>
            </a:r>
            <a:r>
              <a:rPr lang="en-IN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}</a:t>
            </a:r>
          </a:p>
          <a:p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void pop() </a:t>
            </a:r>
          </a:p>
          <a:p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    </a:t>
            </a:r>
          </a:p>
          <a:p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if(top&lt;=-1)    </a:t>
            </a:r>
          </a:p>
          <a:p>
            <a:r>
              <a:rPr lang="en-IN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&lt;&lt;"</a:t>
            </a:r>
            <a:r>
              <a:rPr lang="en-IN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StackUnderflow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"&lt;&lt;</a:t>
            </a:r>
            <a:r>
              <a:rPr lang="en-IN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   </a:t>
            </a:r>
          </a:p>
          <a:p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else </a:t>
            </a:r>
          </a:p>
          <a:p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       </a:t>
            </a:r>
            <a:r>
              <a:rPr lang="en-IN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&lt;&lt;"The popped element is "&lt;&lt; stack[top] &lt;&lt;</a:t>
            </a:r>
            <a:r>
              <a:rPr lang="en-IN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     </a:t>
            </a:r>
          </a:p>
          <a:p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top--;    } </a:t>
            </a:r>
          </a:p>
          <a:p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5D22AAF-38FC-5792-99CC-99C2DE87390E}"/>
              </a:ext>
            </a:extLst>
          </p:cNvPr>
          <p:cNvSpPr/>
          <p:nvPr/>
        </p:nvSpPr>
        <p:spPr>
          <a:xfrm>
            <a:off x="4830696" y="1136764"/>
            <a:ext cx="3633517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void display() {</a:t>
            </a:r>
          </a:p>
          <a:p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if(top&gt;=0) {</a:t>
            </a:r>
          </a:p>
          <a:p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IN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&lt;&lt;"Stack elements are:";</a:t>
            </a:r>
          </a:p>
          <a:p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for(int </a:t>
            </a:r>
            <a:r>
              <a:rPr lang="en-IN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=top; </a:t>
            </a:r>
            <a:r>
              <a:rPr lang="en-IN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&gt;=0; </a:t>
            </a:r>
            <a:r>
              <a:rPr lang="en-IN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--)</a:t>
            </a:r>
          </a:p>
          <a:p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IN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&lt;&lt;stack[</a:t>
            </a:r>
            <a:r>
              <a:rPr lang="en-IN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]&lt;&lt;" ";</a:t>
            </a:r>
          </a:p>
          <a:p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IN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&lt;&lt;</a:t>
            </a:r>
            <a:r>
              <a:rPr lang="en-IN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} else</a:t>
            </a:r>
          </a:p>
          <a:p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IN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&lt;&lt;"Stack is empty";</a:t>
            </a:r>
          </a:p>
          <a:p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main() {</a:t>
            </a:r>
          </a:p>
          <a:p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int </a:t>
            </a:r>
            <a:r>
              <a:rPr lang="en-IN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IN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&lt;&lt;"1) Push in stack"&lt;&lt;</a:t>
            </a:r>
            <a:r>
              <a:rPr lang="en-IN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IN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&lt;&lt;"2) Pop from stack"&lt;&lt;</a:t>
            </a:r>
            <a:r>
              <a:rPr lang="en-IN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IN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&lt;&lt;"3) Display stack"&lt;&lt;</a:t>
            </a:r>
            <a:r>
              <a:rPr lang="en-IN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IN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&lt;&lt;"4) Exit"&lt;&lt;</a:t>
            </a:r>
            <a:r>
              <a:rPr lang="en-IN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do {</a:t>
            </a:r>
          </a:p>
          <a:p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IN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&lt;&lt;"Enter choice: "&lt;&lt;</a:t>
            </a:r>
            <a:r>
              <a:rPr lang="en-IN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IN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cin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&gt;&gt;</a:t>
            </a:r>
            <a:r>
              <a:rPr lang="en-IN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146497334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ADB55-3C53-1960-9802-231A64EC3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875" y="-12700"/>
            <a:ext cx="9175750" cy="688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46D4054-DC68-23F6-F5BC-F7394AD9E2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512" y="-27384"/>
            <a:ext cx="9180512" cy="6885384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64C06AB1-0FEA-D879-1F4C-A54AF13BBD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414" y="268195"/>
            <a:ext cx="864505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6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Conti..</a:t>
            </a:r>
            <a:endParaRPr lang="en-IN" sz="36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550C769-3FF2-465E-2CF3-1703CA2E5E23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3B7A1180-1697-901D-882B-382076FF1CC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A03BD37-21B5-DEC3-9FF3-7821A9653240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85478" y="787925"/>
            <a:ext cx="875101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b="1" u="sng" dirty="0"/>
          </a:p>
          <a:p>
            <a:r>
              <a:rPr lang="en-US" dirty="0"/>
              <a:t> </a:t>
            </a:r>
          </a:p>
          <a:p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7768" y="1152557"/>
            <a:ext cx="4572000" cy="453970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switch(</a:t>
            </a:r>
            <a:r>
              <a:rPr lang="en-IN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{</a:t>
            </a:r>
          </a:p>
          <a:p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case 1: </a:t>
            </a:r>
          </a:p>
          <a:p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IN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&lt;&lt;"Enter value to be pushed:"&lt;&lt;</a:t>
            </a:r>
            <a:r>
              <a:rPr lang="en-IN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IN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cin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&gt;&gt;</a:t>
            </a:r>
            <a:r>
              <a:rPr lang="en-IN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push(</a:t>
            </a:r>
            <a:r>
              <a:rPr lang="en-IN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break;</a:t>
            </a:r>
          </a:p>
          <a:p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}</a:t>
            </a:r>
          </a:p>
          <a:p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case 2: {</a:t>
            </a:r>
          </a:p>
          <a:p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pop();</a:t>
            </a:r>
          </a:p>
          <a:p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break;</a:t>
            </a:r>
          </a:p>
          <a:p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}</a:t>
            </a:r>
          </a:p>
          <a:p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   </a:t>
            </a:r>
          </a:p>
          <a:p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}</a:t>
            </a:r>
          </a:p>
          <a:p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while(</a:t>
            </a:r>
            <a:r>
              <a:rPr lang="en-IN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!=4);    </a:t>
            </a:r>
          </a:p>
          <a:p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 0;</a:t>
            </a:r>
          </a:p>
          <a:p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}</a:t>
            </a:r>
            <a:r>
              <a:rPr lang="en-IN" sz="1700" dirty="0"/>
              <a:t>       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B4AF01D-3A8E-FC63-B336-65F3B956732A}"/>
              </a:ext>
            </a:extLst>
          </p:cNvPr>
          <p:cNvSpPr txBox="1"/>
          <p:nvPr/>
        </p:nvSpPr>
        <p:spPr>
          <a:xfrm>
            <a:off x="4979185" y="1241009"/>
            <a:ext cx="3769279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case 3: {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display();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break;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}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 4: {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&lt;&lt;"Exit"&lt;&lt;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break;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}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default: 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             </a:t>
            </a:r>
          </a:p>
          <a:p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&lt;&lt;"Invalid Choice"&lt;&lt;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        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}      </a:t>
            </a:r>
          </a:p>
        </p:txBody>
      </p:sp>
    </p:spTree>
    <p:extLst>
      <p:ext uri="{BB962C8B-B14F-4D97-AF65-F5344CB8AC3E}">
        <p14:creationId xmlns:p14="http://schemas.microsoft.com/office/powerpoint/2010/main" val="27650779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ADB55-3C53-1960-9802-231A64EC3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875" y="-12700"/>
            <a:ext cx="9175750" cy="688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46D4054-DC68-23F6-F5BC-F7394AD9E2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64C06AB1-0FEA-D879-1F4C-A54AF13BBD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268195"/>
            <a:ext cx="8367464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6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Test Your self </a:t>
            </a:r>
            <a:endParaRPr lang="en-IN" sz="36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550C769-3FF2-465E-2CF3-1703CA2E5E23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3B7A1180-1697-901D-882B-382076FF1CC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A03BD37-21B5-DEC3-9FF3-7821A9653240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26247" y="697913"/>
            <a:ext cx="875101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b="1" u="sng" dirty="0"/>
          </a:p>
          <a:p>
            <a:r>
              <a:rPr lang="en-US" dirty="0"/>
              <a:t> </a:t>
            </a:r>
          </a:p>
          <a:p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7628" y="1230386"/>
            <a:ext cx="8548046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8288" indent="-268288" algn="just"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 S be a stack of size n &gt;= 1. Starting with the empty stack, suppose we push the first n natural numbers in sequence, and then perform n pop operations. Assume that Push and Pop operation take X seconds each, and Y seconds elapse between the end of one such stack operation and the start of the next operation. </a:t>
            </a:r>
          </a:p>
          <a:p>
            <a:pPr marL="268288" indent="-268288"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For m &gt;= 1, define the stack-life of m as the time elapsed from the end of Push(m) to the start of the pop operation that removes m from S. </a:t>
            </a:r>
          </a:p>
          <a:p>
            <a:pPr marL="628650" indent="-360363"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average stack-life of an element of this stack is</a:t>
            </a:r>
          </a:p>
          <a:p>
            <a:pPr marL="628650" lvl="1" indent="-360363">
              <a:buFont typeface="+mj-lt"/>
              <a:buAutoNum type="alphaLcParenR"/>
            </a:pPr>
            <a:r>
              <a:rPr lang="es-E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n(X+ Y)</a:t>
            </a:r>
          </a:p>
          <a:p>
            <a:pPr marL="628650" lvl="1" indent="-360363">
              <a:buFont typeface="+mj-lt"/>
              <a:buAutoNum type="alphaLcParenR"/>
            </a:pPr>
            <a:r>
              <a:rPr lang="es-E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3Y + 2X</a:t>
            </a:r>
          </a:p>
          <a:p>
            <a:pPr marL="628650" lvl="1" indent="-360363">
              <a:buFont typeface="+mj-lt"/>
              <a:buAutoNum type="alphaLcParenR"/>
            </a:pPr>
            <a:r>
              <a:rPr lang="es-E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n(X + Y)-X</a:t>
            </a:r>
          </a:p>
          <a:p>
            <a:pPr marL="628650" lvl="1" indent="-360363">
              <a:buFont typeface="+mj-lt"/>
              <a:buAutoNum type="alphaLcParenR"/>
            </a:pPr>
            <a:r>
              <a:rPr lang="es-E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+ 2X</a:t>
            </a:r>
          </a:p>
        </p:txBody>
      </p:sp>
    </p:spTree>
    <p:extLst>
      <p:ext uri="{BB962C8B-B14F-4D97-AF65-F5344CB8AC3E}">
        <p14:creationId xmlns:p14="http://schemas.microsoft.com/office/powerpoint/2010/main" val="96626260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AF957E-E16D-D7C0-7E29-336AA49703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>
            <a:extLst>
              <a:ext uri="{FF2B5EF4-FFF2-40B4-BE49-F238E27FC236}">
                <a16:creationId xmlns:a16="http://schemas.microsoft.com/office/drawing/2014/main" id="{FDEC4AFA-EE0E-8B1C-88EE-F2D41FAA1B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875" y="-12700"/>
            <a:ext cx="9175750" cy="688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37B7663-607B-4BD1-0C0B-9CA7A85288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187A83FC-B18F-AF1C-A735-C000BB9FDF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268195"/>
            <a:ext cx="8367464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6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Test Your self </a:t>
            </a:r>
            <a:endParaRPr lang="en-IN" sz="36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C13C3D9-6815-513D-6D48-1F9EEBD1EB14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A174CE55-62A6-3888-73C5-8872D465137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59CDF06-DF69-2107-5FCD-CACF29BE6306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D1529C1-A3B0-7599-DCED-B1672D2D624D}"/>
              </a:ext>
            </a:extLst>
          </p:cNvPr>
          <p:cNvSpPr txBox="1"/>
          <p:nvPr/>
        </p:nvSpPr>
        <p:spPr>
          <a:xfrm>
            <a:off x="126247" y="697913"/>
            <a:ext cx="875101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b="1" u="sng" dirty="0"/>
          </a:p>
          <a:p>
            <a:r>
              <a:rPr lang="en-US" dirty="0"/>
              <a:t> </a:t>
            </a:r>
          </a:p>
          <a:p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6945B25-B2DB-3F31-9D66-5E45E42FD5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5690ECD-C16C-0530-9B54-DBBD720D6538}"/>
              </a:ext>
            </a:extLst>
          </p:cNvPr>
          <p:cNvSpPr txBox="1"/>
          <p:nvPr/>
        </p:nvSpPr>
        <p:spPr>
          <a:xfrm>
            <a:off x="467544" y="1234235"/>
            <a:ext cx="8237268" cy="5447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Solution</a:t>
            </a:r>
            <a:r>
              <a:rPr lang="es-E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Let's n = 3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( Pushed in Stack ) : Time take = X</a:t>
            </a:r>
            <a:b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( Pushed in Stack ) : Time take = X</a:t>
            </a:r>
            <a:b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( Pushed in Stack ) : Time take = X</a:t>
            </a:r>
            <a:b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( Popped Out of Stack ) : Time take = X</a:t>
            </a:r>
            <a:b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( Popped Out of Stack ) : Time take = X</a:t>
            </a:r>
            <a:b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( Popped Out of Stack ) : Time take = X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Stack Life of 3 = y</a:t>
            </a:r>
            <a:b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Stack Life of 2 = 3(x + y ) - x</a:t>
            </a:r>
            <a:b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Stack Life of 1 = 5(x + y ) - x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Stack Life of Element = ( Y + (3(X + Y ) - X ) + (5(X + Y ) - X) ) /3 = ( 6X + 9Y )/3 = 2X + 3Y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n= 3 the average stack life is 2X +3Y</a:t>
            </a:r>
            <a:b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Similarly for n elements, the average stack life will be 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n( X + Y ) -X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s-ES" sz="2000" dirty="0"/>
          </a:p>
        </p:txBody>
      </p:sp>
    </p:spTree>
    <p:extLst>
      <p:ext uri="{BB962C8B-B14F-4D97-AF65-F5344CB8AC3E}">
        <p14:creationId xmlns:p14="http://schemas.microsoft.com/office/powerpoint/2010/main" val="306992012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ADB55-3C53-1960-9802-231A64EC3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875" y="-12700"/>
            <a:ext cx="9175750" cy="688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46D4054-DC68-23F6-F5BC-F7394AD9E2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8458199" cy="6885384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64C06AB1-0FEA-D879-1F4C-A54AF13BBD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268195"/>
            <a:ext cx="8367464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6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 </a:t>
            </a:r>
            <a:endParaRPr lang="en-IN" sz="36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550C769-3FF2-465E-2CF3-1703CA2E5E23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3B7A1180-1697-901D-882B-382076FF1CC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A03BD37-21B5-DEC3-9FF3-7821A9653240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85478" y="787925"/>
            <a:ext cx="875101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b="1" u="sng" dirty="0"/>
          </a:p>
          <a:p>
            <a:r>
              <a:rPr lang="en-US" dirty="0"/>
              <a:t> </a:t>
            </a:r>
          </a:p>
          <a:p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8851" y="1249813"/>
            <a:ext cx="8524826" cy="49594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600"/>
              </a:spcBef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single array A[1..MAXSIZE] is used to implement two stacks. The two stacks grow from opposite ends of the array. Variables top1 and top2 (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topl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 top 2) point to the location of the topmost element in each of the stacks. If the space is to be used efficiently, the condition for “stack full” is:</a:t>
            </a:r>
          </a:p>
          <a:p>
            <a:pPr marL="534988" lvl="1" indent="-457200">
              <a:spcBef>
                <a:spcPts val="600"/>
              </a:spcBef>
              <a:buFont typeface="+mj-lt"/>
              <a:buAutoNum type="alphaLcParenR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(top1 = MAXSIZE/2) and (top2 = MAXSIZE/2+1)</a:t>
            </a:r>
          </a:p>
          <a:p>
            <a:pPr marL="534988" lvl="1" indent="-457200">
              <a:spcBef>
                <a:spcPts val="600"/>
              </a:spcBef>
              <a:buFont typeface="+mj-lt"/>
              <a:buAutoNum type="alphaLcParenR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top1 + top2 + 1 = MAXSIZE</a:t>
            </a:r>
          </a:p>
          <a:p>
            <a:pPr marL="534988" lvl="1" indent="-457200">
              <a:spcBef>
                <a:spcPts val="600"/>
              </a:spcBef>
              <a:buFont typeface="+mj-lt"/>
              <a:buAutoNum type="alphaLcParenR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(top1= MAXSIZE/2) or (top2 = MAXSIZE)</a:t>
            </a:r>
          </a:p>
          <a:p>
            <a:pPr marL="534988" lvl="1" indent="-457200">
              <a:spcBef>
                <a:spcPts val="600"/>
              </a:spcBef>
              <a:buFont typeface="+mj-lt"/>
              <a:buAutoNum type="alphaLcParenR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top1= top2 -1</a:t>
            </a:r>
          </a:p>
          <a:p>
            <a:r>
              <a:rPr lang="en-IN" sz="2400" dirty="0"/>
              <a:t> </a:t>
            </a:r>
            <a:endParaRPr lang="en-US" sz="2400" dirty="0"/>
          </a:p>
          <a:p>
            <a:endParaRPr lang="en-IN" sz="2400" dirty="0"/>
          </a:p>
          <a:p>
            <a:pPr>
              <a:lnSpc>
                <a:spcPct val="150000"/>
              </a:lnSpc>
            </a:pPr>
            <a:endParaRPr lang="en-IN" sz="2400" b="1" dirty="0"/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24685573-98D4-B091-F61E-63BEC6D134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420595"/>
            <a:ext cx="8367464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6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Test Your self </a:t>
            </a:r>
            <a:endParaRPr lang="en-IN" sz="36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5628064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ADB55-3C53-1960-9802-231A64EC3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875" y="-12700"/>
            <a:ext cx="9175750" cy="688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46D4054-DC68-23F6-F5BC-F7394AD9E2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64C06AB1-0FEA-D879-1F4C-A54AF13BBD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268195"/>
            <a:ext cx="8367464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6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 </a:t>
            </a:r>
            <a:endParaRPr lang="en-IN" sz="36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550C769-3FF2-465E-2CF3-1703CA2E5E23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3B7A1180-1697-901D-882B-382076FF1CC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A03BD37-21B5-DEC3-9FF3-7821A9653240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85478" y="787925"/>
            <a:ext cx="875101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b="1" u="sng" dirty="0"/>
          </a:p>
          <a:p>
            <a:r>
              <a:rPr lang="en-US" dirty="0"/>
              <a:t> </a:t>
            </a:r>
          </a:p>
          <a:p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1000" y="1480231"/>
            <a:ext cx="8295456" cy="39746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of the following permutation can be obtained in the same order using a stack assuming that input is the sequence 5, 6, 7, 8, 9 in that order?</a:t>
            </a:r>
          </a:p>
          <a:p>
            <a:pPr algn="just"/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+mj-lt"/>
              <a:buAutoNum type="alphaLcParenR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7, 8, 9, 5, 6</a:t>
            </a:r>
          </a:p>
          <a:p>
            <a:pPr marL="342900" indent="-342900" algn="just">
              <a:buFont typeface="+mj-lt"/>
              <a:buAutoNum type="alphaLcParenR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5, 9, 6, 7, 8</a:t>
            </a:r>
          </a:p>
          <a:p>
            <a:pPr marL="342900" indent="-342900" algn="just">
              <a:buFont typeface="+mj-lt"/>
              <a:buAutoNum type="alphaLcParenR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7, 8, 9, 6, 5</a:t>
            </a:r>
          </a:p>
          <a:p>
            <a:pPr marL="342900" indent="-342900" algn="just">
              <a:buFont typeface="+mj-lt"/>
              <a:buAutoNum type="alphaLcParenR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9, 8, 7, 5, 6</a:t>
            </a:r>
          </a:p>
          <a:p>
            <a:endParaRPr lang="en-US" sz="2800" dirty="0"/>
          </a:p>
          <a:p>
            <a:pPr>
              <a:lnSpc>
                <a:spcPct val="150000"/>
              </a:lnSpc>
            </a:pPr>
            <a:endParaRPr lang="en-IN" sz="2400" b="1" dirty="0"/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344D6F43-2966-92EB-CB16-0EFAA284DE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420595"/>
            <a:ext cx="8367464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6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Test Your self </a:t>
            </a:r>
            <a:endParaRPr lang="en-IN" sz="36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0893817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ADB55-3C53-1960-9802-231A64EC3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875" y="-12700"/>
            <a:ext cx="9175750" cy="688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46D4054-DC68-23F6-F5BC-F7394AD9E2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550C769-3FF2-465E-2CF3-1703CA2E5E23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3B7A1180-1697-901D-882B-382076FF1CC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A03BD37-21B5-DEC3-9FF3-7821A9653240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85478" y="787925"/>
            <a:ext cx="875101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b="1" u="sng" dirty="0"/>
          </a:p>
          <a:p>
            <a:r>
              <a:rPr lang="en-US" dirty="0"/>
              <a:t> </a:t>
            </a:r>
          </a:p>
          <a:p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6510" y="1171828"/>
            <a:ext cx="8568952" cy="35437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Answers: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Correct Option: C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Correct Option : D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Correct Option : C </a:t>
            </a:r>
          </a:p>
          <a:p>
            <a:br>
              <a:rPr lang="en-IN" sz="2400" b="1" dirty="0"/>
            </a:br>
            <a:endParaRPr lang="en-US" sz="2400" dirty="0"/>
          </a:p>
          <a:p>
            <a:pPr>
              <a:lnSpc>
                <a:spcPct val="150000"/>
              </a:lnSpc>
            </a:pPr>
            <a:endParaRPr lang="en-IN" sz="2400" b="1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520F862A-36B0-4F9A-DF66-ECA4603E94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268195"/>
            <a:ext cx="8367464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6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Test Your self </a:t>
            </a:r>
            <a:endParaRPr lang="en-IN" sz="36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5357272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4770FD-9205-79B0-E7EE-341FD0A291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>
            <a:extLst>
              <a:ext uri="{FF2B5EF4-FFF2-40B4-BE49-F238E27FC236}">
                <a16:creationId xmlns:a16="http://schemas.microsoft.com/office/drawing/2014/main" id="{928DC916-E267-29B0-BE2C-738662E05E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875" y="-12700"/>
            <a:ext cx="9175750" cy="688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F637989-B55D-DA30-981C-9319924CE5D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58C507D-37FF-93CC-180F-59105D7A8D24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58FB3972-5DF1-B6D9-4F9F-871E8FA0727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7DED834-C7B7-1C5C-3094-6F14492F250C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2CEEA12-3037-C9BC-BB38-DD9B3DA2E5A1}"/>
              </a:ext>
            </a:extLst>
          </p:cNvPr>
          <p:cNvSpPr txBox="1"/>
          <p:nvPr/>
        </p:nvSpPr>
        <p:spPr>
          <a:xfrm>
            <a:off x="285478" y="787925"/>
            <a:ext cx="875101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b="1" u="sng" dirty="0"/>
          </a:p>
          <a:p>
            <a:r>
              <a:rPr lang="en-US" dirty="0"/>
              <a:t> </a:t>
            </a:r>
          </a:p>
          <a:p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7765096-C3CB-0988-9DC5-9422B2AB1F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149B13F-6E9B-7A76-B780-D4CBA3CC06F3}"/>
              </a:ext>
            </a:extLst>
          </p:cNvPr>
          <p:cNvSpPr txBox="1"/>
          <p:nvPr/>
        </p:nvSpPr>
        <p:spPr>
          <a:xfrm>
            <a:off x="117728" y="1105327"/>
            <a:ext cx="8892480" cy="391305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/>
              <a:buChar char="•"/>
            </a:pPr>
            <a:r>
              <a:rPr lang="en-IN" sz="2400" dirty="0">
                <a:solidFill>
                  <a:srgbClr val="333333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In the Linked List implementation of a stack, the nodes are maintained non-contiguously in memory. </a:t>
            </a:r>
            <a:endParaRPr lang="en-US" sz="2400" dirty="0">
              <a:solidFill>
                <a:srgbClr val="000000"/>
              </a:solidFill>
              <a:latin typeface="Times New Roman" panose="02020603050405020304" pitchFamily="18" charset="0"/>
              <a:ea typeface="+mn-lt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/>
              <a:buChar char="•"/>
            </a:pPr>
            <a:r>
              <a:rPr lang="en-IN" sz="2400" dirty="0">
                <a:solidFill>
                  <a:srgbClr val="333333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Each node contains a pointer to its immediate successor node in the stack. </a:t>
            </a:r>
            <a:endParaRPr lang="en-US" sz="2400" dirty="0">
              <a:solidFill>
                <a:srgbClr val="000000"/>
              </a:solidFill>
              <a:latin typeface="Times New Roman" panose="02020603050405020304" pitchFamily="18" charset="0"/>
              <a:ea typeface="+mn-lt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/>
              <a:buChar char="•"/>
            </a:pPr>
            <a:r>
              <a:rPr lang="en-IN" sz="2400" dirty="0">
                <a:solidFill>
                  <a:srgbClr val="333333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Stack is said to be overflown if the space left in the memory heap is not enough to create a node.</a:t>
            </a:r>
            <a:endParaRPr lang="en-US" sz="24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IN" sz="2400" b="1" dirty="0"/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4CDC5A2A-0210-F8AA-1540-0C7F5B8E4E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152778"/>
            <a:ext cx="8367464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3600" b="1" dirty="0">
                <a:solidFill>
                  <a:srgbClr val="E31E24"/>
                </a:solidFill>
                <a:latin typeface="Calibri"/>
                <a:ea typeface="Calibri"/>
                <a:cs typeface="Calibri"/>
                <a:sym typeface="Arial"/>
              </a:rPr>
              <a:t>Implementation of Stack using Linked List</a:t>
            </a:r>
            <a:endParaRPr lang="en-US" dirty="0">
              <a:sym typeface="Arial"/>
            </a:endParaRPr>
          </a:p>
          <a:p>
            <a:endParaRPr lang="en-US" sz="3600" b="1" dirty="0">
              <a:solidFill>
                <a:srgbClr val="E31E24"/>
              </a:solidFill>
              <a:ea typeface="Calibri"/>
              <a:cs typeface="Times New Roman" panose="02020603050405020304" pitchFamily="18" charset="0"/>
            </a:endParaRPr>
          </a:p>
        </p:txBody>
      </p:sp>
      <p:pic>
        <p:nvPicPr>
          <p:cNvPr id="11" name="Picture 10" descr="DS Linked list implementation stack">
            <a:extLst>
              <a:ext uri="{FF2B5EF4-FFF2-40B4-BE49-F238E27FC236}">
                <a16:creationId xmlns:a16="http://schemas.microsoft.com/office/drawing/2014/main" id="{DD8D633E-DB3C-8DC4-662E-61CAEE9A3A0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97808" y="4070008"/>
            <a:ext cx="2121522" cy="2556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382681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9FD436-98A3-8D3B-459D-C67C24260C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>
            <a:extLst>
              <a:ext uri="{FF2B5EF4-FFF2-40B4-BE49-F238E27FC236}">
                <a16:creationId xmlns:a16="http://schemas.microsoft.com/office/drawing/2014/main" id="{EBA8FC1D-7511-735E-C663-A3463A2E22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875" y="-12700"/>
            <a:ext cx="9175750" cy="688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1FB8A4D-6D14-6237-4DE4-01301925E6B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079A73B-2112-3977-4D1C-B1CE9BE57773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71ABD366-1948-AF5B-DE24-B1BD4808593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EE5672E-1F4D-1A61-4A1E-01C86550061A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3368089-77A4-CBD6-76F2-D27A349F44D4}"/>
              </a:ext>
            </a:extLst>
          </p:cNvPr>
          <p:cNvSpPr txBox="1"/>
          <p:nvPr/>
        </p:nvSpPr>
        <p:spPr>
          <a:xfrm>
            <a:off x="285478" y="787925"/>
            <a:ext cx="875101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b="1" u="sng" dirty="0"/>
          </a:p>
          <a:p>
            <a:r>
              <a:rPr lang="en-US" dirty="0"/>
              <a:t> </a:t>
            </a:r>
          </a:p>
          <a:p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237D0E1-4DC3-00F7-0C7C-DBB840B8B9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Data  Structure         Unit2  </a:t>
            </a: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7A6913F3-3676-2DCD-938C-FAEF69DBA6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824" y="361196"/>
            <a:ext cx="9967664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3600" b="1" dirty="0">
                <a:solidFill>
                  <a:srgbClr val="E31E24"/>
                </a:solidFill>
                <a:latin typeface="Calibri"/>
                <a:ea typeface="Calibri"/>
                <a:cs typeface="Calibri"/>
                <a:sym typeface="Arial"/>
              </a:rPr>
              <a:t>Adding a node to the stack (Push operation)</a:t>
            </a:r>
            <a:endParaRPr lang="en-US" dirty="0">
              <a:solidFill>
                <a:srgbClr val="000000"/>
              </a:solidFill>
              <a:latin typeface="Calibri"/>
              <a:ea typeface="Calibri"/>
              <a:cs typeface="Calibri"/>
              <a:sym typeface="Arial"/>
            </a:endParaRPr>
          </a:p>
          <a:p>
            <a:endParaRPr lang="en-US" sz="3600" b="1" dirty="0">
              <a:solidFill>
                <a:srgbClr val="E31E24"/>
              </a:solidFill>
              <a:ea typeface="Calibri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DC5B0A4-DAEE-562B-B631-A1DFF5773201}"/>
              </a:ext>
            </a:extLst>
          </p:cNvPr>
          <p:cNvSpPr txBox="1"/>
          <p:nvPr/>
        </p:nvSpPr>
        <p:spPr>
          <a:xfrm>
            <a:off x="511436" y="1317561"/>
            <a:ext cx="5988249" cy="48474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1: Allocate memory for the new node and name it as NEW_NODE</a:t>
            </a:r>
          </a:p>
          <a:p>
            <a:pPr>
              <a:spcBef>
                <a:spcPts val="600"/>
              </a:spcBef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2: SET NEW_NODE-&gt; DATA=VAL</a:t>
            </a:r>
          </a:p>
          <a:p>
            <a:pPr>
              <a:spcBef>
                <a:spcPts val="600"/>
              </a:spcBef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3: IF TOP=NULL</a:t>
            </a:r>
          </a:p>
          <a:p>
            <a:pPr>
              <a:spcBef>
                <a:spcPts val="600"/>
              </a:spcBef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SET NEW_NODE-&gt;NEXT=NULL</a:t>
            </a:r>
          </a:p>
          <a:p>
            <a:pPr>
              <a:spcBef>
                <a:spcPts val="600"/>
              </a:spcBef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SET TOP=NEW_NODE</a:t>
            </a:r>
          </a:p>
          <a:p>
            <a:pPr>
              <a:spcBef>
                <a:spcPts val="600"/>
              </a:spcBef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ELSE</a:t>
            </a:r>
          </a:p>
          <a:p>
            <a:pPr>
              <a:spcBef>
                <a:spcPts val="600"/>
              </a:spcBef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SET NEW_NODE-&gt;NEXT=TOP</a:t>
            </a:r>
          </a:p>
          <a:p>
            <a:pPr>
              <a:spcBef>
                <a:spcPts val="600"/>
              </a:spcBef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SET TOP=NEW_NODE</a:t>
            </a:r>
          </a:p>
          <a:p>
            <a:pPr>
              <a:spcBef>
                <a:spcPts val="600"/>
              </a:spcBef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[END OF IF]</a:t>
            </a:r>
          </a:p>
          <a:p>
            <a:pPr>
              <a:spcBef>
                <a:spcPts val="600"/>
              </a:spcBef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4: END</a:t>
            </a:r>
          </a:p>
        </p:txBody>
      </p:sp>
    </p:spTree>
    <p:extLst>
      <p:ext uri="{BB962C8B-B14F-4D97-AF65-F5344CB8AC3E}">
        <p14:creationId xmlns:p14="http://schemas.microsoft.com/office/powerpoint/2010/main" val="3017994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B9FBA9-FFA9-8695-6918-9918B475EB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>
            <a:extLst>
              <a:ext uri="{FF2B5EF4-FFF2-40B4-BE49-F238E27FC236}">
                <a16:creationId xmlns:a16="http://schemas.microsoft.com/office/drawing/2014/main" id="{F5A07E01-2C44-86DA-22BB-03EC6DF9A8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875" y="-12700"/>
            <a:ext cx="9175750" cy="688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BA50A92-532E-6C8D-5630-1C8728B693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FCE1697-FA21-F746-38F7-2BA560B55BF5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2D9FA4A1-5282-DEC2-E622-682D8DB9628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CF5D44C-5300-40E5-AC15-784558375B89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7F001CB-D9BA-89B7-D55E-2A8EA44374E6}"/>
              </a:ext>
            </a:extLst>
          </p:cNvPr>
          <p:cNvSpPr txBox="1"/>
          <p:nvPr/>
        </p:nvSpPr>
        <p:spPr>
          <a:xfrm>
            <a:off x="285478" y="787925"/>
            <a:ext cx="875101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b="1" u="sng" dirty="0"/>
          </a:p>
          <a:p>
            <a:r>
              <a:rPr lang="en-US" dirty="0"/>
              <a:t> </a:t>
            </a:r>
          </a:p>
          <a:p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D382FD3-C631-E08F-809B-40C5BEC2C1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6D469E8D-EEED-B1E3-E86B-45D843F68D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824" y="361196"/>
            <a:ext cx="9967664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3600" b="1" dirty="0">
                <a:solidFill>
                  <a:srgbClr val="E31E24"/>
                </a:solidFill>
                <a:latin typeface="Calibri"/>
                <a:ea typeface="Calibri"/>
                <a:cs typeface="Calibri"/>
                <a:sym typeface="Arial"/>
              </a:rPr>
              <a:t>Adding a node to the stack (Push operation)</a:t>
            </a:r>
            <a:endParaRPr lang="en-US" dirty="0">
              <a:solidFill>
                <a:srgbClr val="000000"/>
              </a:solidFill>
              <a:latin typeface="Calibri"/>
              <a:ea typeface="Calibri"/>
              <a:cs typeface="Calibri"/>
              <a:sym typeface="Arial"/>
            </a:endParaRPr>
          </a:p>
          <a:p>
            <a:endParaRPr lang="en-US" sz="3600" b="1" dirty="0">
              <a:solidFill>
                <a:srgbClr val="E31E24"/>
              </a:solidFill>
              <a:ea typeface="Calibri"/>
              <a:cs typeface="Times New Roman" panose="02020603050405020304" pitchFamily="18" charset="0"/>
            </a:endParaRPr>
          </a:p>
        </p:txBody>
      </p:sp>
      <p:pic>
        <p:nvPicPr>
          <p:cNvPr id="8" name="Picture 7" descr="A diagram of a stack&#10;&#10;AI-generated content may be incorrect.">
            <a:extLst>
              <a:ext uri="{FF2B5EF4-FFF2-40B4-BE49-F238E27FC236}">
                <a16:creationId xmlns:a16="http://schemas.microsoft.com/office/drawing/2014/main" id="{11D36726-B756-31BB-0286-447868965A6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965" y="1484376"/>
            <a:ext cx="8577453" cy="4072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47390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AE4515-13B8-EEC7-5C3F-5A88C7A36F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>
            <a:extLst>
              <a:ext uri="{FF2B5EF4-FFF2-40B4-BE49-F238E27FC236}">
                <a16:creationId xmlns:a16="http://schemas.microsoft.com/office/drawing/2014/main" id="{B9EDBB2C-EF14-FC2F-12B5-EB69CE6AC8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875" y="-12700"/>
            <a:ext cx="9175750" cy="688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0D63D8A-0EC1-4735-AF7A-D0616B843562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0BB59829-833B-EDFB-6EED-ADABA88CDF8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388606B-4B7D-F481-1A08-BE0B27F8CCEF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56EB4A0-1B0E-D97F-FCE5-17743A204836}"/>
              </a:ext>
            </a:extLst>
          </p:cNvPr>
          <p:cNvSpPr txBox="1"/>
          <p:nvPr/>
        </p:nvSpPr>
        <p:spPr>
          <a:xfrm>
            <a:off x="285478" y="787925"/>
            <a:ext cx="875101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b="1" u="sng" dirty="0"/>
          </a:p>
          <a:p>
            <a:r>
              <a:rPr lang="en-US" dirty="0"/>
              <a:t> </a:t>
            </a:r>
          </a:p>
          <a:p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683407-6141-DDBA-316D-F0376783B9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27E3BFC5-9C2E-2C32-40DE-5E77FED6E4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824" y="215003"/>
            <a:ext cx="9967664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3600" b="1" dirty="0">
                <a:solidFill>
                  <a:srgbClr val="E31E24"/>
                </a:solidFill>
                <a:latin typeface="Calibri"/>
                <a:ea typeface="Calibri"/>
                <a:cs typeface="Calibri"/>
                <a:sym typeface="Arial"/>
              </a:rPr>
              <a:t>Deleting a node from the stack (POP operation)</a:t>
            </a:r>
            <a:endParaRPr lang="en-US" dirty="0"/>
          </a:p>
          <a:p>
            <a:endParaRPr lang="en-US" sz="3600" b="1" dirty="0">
              <a:solidFill>
                <a:srgbClr val="E31E24"/>
              </a:solidFill>
              <a:latin typeface="Calibri"/>
              <a:ea typeface="Calibri"/>
              <a:cs typeface="Calibri"/>
            </a:endParaRPr>
          </a:p>
          <a:p>
            <a:endParaRPr lang="en-US" sz="3600" b="1" dirty="0">
              <a:solidFill>
                <a:srgbClr val="E31E24"/>
              </a:solidFill>
              <a:ea typeface="Calibri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1FD852F-17FA-8C8C-618B-7118C66C4486}"/>
              </a:ext>
            </a:extLst>
          </p:cNvPr>
          <p:cNvSpPr txBox="1"/>
          <p:nvPr/>
        </p:nvSpPr>
        <p:spPr>
          <a:xfrm>
            <a:off x="584200" y="1287264"/>
            <a:ext cx="5080000" cy="4457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1: IF TOP=NULL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PRINT "UNDERFLOW"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Goto Step 5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[END OF IF]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2: SET PTR=TOP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3: SET TOP=TOP-&gt;NEXT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4: FREE PTR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5: END</a:t>
            </a:r>
          </a:p>
        </p:txBody>
      </p:sp>
    </p:spTree>
    <p:extLst>
      <p:ext uri="{BB962C8B-B14F-4D97-AF65-F5344CB8AC3E}">
        <p14:creationId xmlns:p14="http://schemas.microsoft.com/office/powerpoint/2010/main" val="256314651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6EE59C-FE11-4B04-06F5-EF1F8E3B83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>
            <a:extLst>
              <a:ext uri="{FF2B5EF4-FFF2-40B4-BE49-F238E27FC236}">
                <a16:creationId xmlns:a16="http://schemas.microsoft.com/office/drawing/2014/main" id="{C5FD2048-9AB5-48A2-919C-52F2E4CE8D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875" y="-12700"/>
            <a:ext cx="9175750" cy="688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45C4CE5-6BB7-C5D1-68AD-FE977F50F1A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DAAC00B-63C0-18F1-B09A-1A53E6E7AE14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59EA5850-DE0A-F4C0-8276-106B038EF02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B751EE0-C784-385B-3E01-56CCFD72B3F4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F380083-EE67-735F-84D3-D9409BB5531D}"/>
              </a:ext>
            </a:extLst>
          </p:cNvPr>
          <p:cNvSpPr txBox="1"/>
          <p:nvPr/>
        </p:nvSpPr>
        <p:spPr>
          <a:xfrm>
            <a:off x="285478" y="787925"/>
            <a:ext cx="875101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b="1" u="sng" dirty="0"/>
          </a:p>
          <a:p>
            <a:r>
              <a:rPr lang="en-US" dirty="0"/>
              <a:t> </a:t>
            </a:r>
          </a:p>
          <a:p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9619ED-6CEB-DD2F-32CF-4DD3EFCF26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5B8EF1A2-B85E-6BAD-2BF6-F676D890AB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824" y="215003"/>
            <a:ext cx="9967664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3600" b="1" dirty="0">
                <a:solidFill>
                  <a:srgbClr val="E31E24"/>
                </a:solidFill>
                <a:latin typeface="Calibri"/>
                <a:ea typeface="Calibri"/>
                <a:cs typeface="Calibri"/>
                <a:sym typeface="Arial"/>
              </a:rPr>
              <a:t>Deleting a node from the stack (POP operation)</a:t>
            </a:r>
            <a:endParaRPr lang="en-US" dirty="0"/>
          </a:p>
          <a:p>
            <a:endParaRPr lang="en-US" sz="3600" b="1" dirty="0">
              <a:solidFill>
                <a:srgbClr val="E31E24"/>
              </a:solidFill>
              <a:latin typeface="Calibri"/>
              <a:ea typeface="Calibri"/>
              <a:cs typeface="Calibri"/>
            </a:endParaRPr>
          </a:p>
          <a:p>
            <a:endParaRPr lang="en-US" sz="3600" b="1" dirty="0">
              <a:solidFill>
                <a:srgbClr val="E31E24"/>
              </a:solidFill>
              <a:ea typeface="Calibri"/>
              <a:cs typeface="Times New Roman" panose="02020603050405020304" pitchFamily="18" charset="0"/>
            </a:endParaRPr>
          </a:p>
        </p:txBody>
      </p:sp>
      <p:pic>
        <p:nvPicPr>
          <p:cNvPr id="8" name="Picture 7" descr="A diagram of a stack&#10;&#10;AI-generated content may be incorrect.">
            <a:extLst>
              <a:ext uri="{FF2B5EF4-FFF2-40B4-BE49-F238E27FC236}">
                <a16:creationId xmlns:a16="http://schemas.microsoft.com/office/drawing/2014/main" id="{E66F9B28-64DA-5887-8039-BC287C072D6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84859" y="1936320"/>
            <a:ext cx="6952254" cy="3168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684839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924A5F-18D4-4D6E-64F4-9174126A75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1BDDB06-4B6E-4707-1E17-AAE8BFCF40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DEF6197-3238-08C9-B26C-DB30D7D65F43}"/>
              </a:ext>
            </a:extLst>
          </p:cNvPr>
          <p:cNvCxnSpPr/>
          <p:nvPr/>
        </p:nvCxnSpPr>
        <p:spPr>
          <a:xfrm>
            <a:off x="-28617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B344C319-238E-5A65-3F7E-593393C1974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C6FAB2C-6B04-D9C7-C35F-2BCAD3D9C65A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n-US" sz="28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24D8156-DA4B-BB1C-9496-FC99853F1D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356" y="346497"/>
            <a:ext cx="883989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28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Key Takeaways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CC61E0-6318-2865-A850-DCAA5ACF48FE}"/>
              </a:ext>
            </a:extLst>
          </p:cNvPr>
          <p:cNvSpPr txBox="1"/>
          <p:nvPr/>
        </p:nvSpPr>
        <p:spPr>
          <a:xfrm>
            <a:off x="323530" y="1235756"/>
            <a:ext cx="784887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026" name="Picture 2" descr="Ezoic">
            <a:extLst>
              <a:ext uri="{FF2B5EF4-FFF2-40B4-BE49-F238E27FC236}">
                <a16:creationId xmlns:a16="http://schemas.microsoft.com/office/drawing/2014/main" id="{3A715DB1-87CD-88B2-807A-5931C67A56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A858CE0-C15F-AB9B-F784-3C1227766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421C46D-3F04-4F73-BF36-E6D9DA5AE143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64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8FCCBC8-63DE-671F-2BE9-9F6EDF20EAEA}"/>
              </a:ext>
            </a:extLst>
          </p:cNvPr>
          <p:cNvSpPr txBox="1"/>
          <p:nvPr/>
        </p:nvSpPr>
        <p:spPr>
          <a:xfrm>
            <a:off x="253131" y="1192799"/>
            <a:ext cx="8567339" cy="5139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Stack is a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 data structure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based on the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LIFO principle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insertions and deletions happen only at the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operations are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push, pop, peek,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isEmpty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isFull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Stack can be implemented using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arrays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linked lists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Push and pop operations take O(1) time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most cases.</a:t>
            </a:r>
          </a:p>
          <a:p>
            <a:pPr marL="342900" indent="-34290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Overflow occurs when stack is full; underflow occurs when stack is empty.</a:t>
            </a:r>
          </a:p>
          <a:p>
            <a:pPr marL="342900" indent="-34290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Array implementation is simple but has fixed size limitations.</a:t>
            </a:r>
          </a:p>
          <a:p>
            <a:pPr marL="342900" indent="-34290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Linked list implementation allows dynamic size but uses extra memory for pointers.</a:t>
            </a:r>
          </a:p>
          <a:p>
            <a:pPr marL="342900" indent="-34290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Stack is widely used in expression evaluation, recursion, undo/redo, parsing, and memory management.</a:t>
            </a:r>
          </a:p>
        </p:txBody>
      </p:sp>
    </p:spTree>
    <p:extLst>
      <p:ext uri="{BB962C8B-B14F-4D97-AF65-F5344CB8AC3E}">
        <p14:creationId xmlns:p14="http://schemas.microsoft.com/office/powerpoint/2010/main" val="34286771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0D9C3D-3F30-A3F3-A545-26CB145F08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3DC34CE-387F-2349-2368-E7AB329920C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AECC9169-F46C-9DFF-074B-9042CA367D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414" y="298973"/>
            <a:ext cx="835701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IN" sz="32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References</a:t>
            </a:r>
            <a:endParaRPr lang="en-US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9D4E920-65A2-CCE7-FEA5-14D91F60AAAE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BE0C2226-8947-177E-6706-83378DA8A4D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0741" y="6337479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E818B84-F150-B1E2-D936-7FC20CE87C0A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5475B91-F517-A8A8-3443-03C2FD642B05}"/>
              </a:ext>
            </a:extLst>
          </p:cNvPr>
          <p:cNvSpPr txBox="1"/>
          <p:nvPr/>
        </p:nvSpPr>
        <p:spPr>
          <a:xfrm>
            <a:off x="216025" y="1144192"/>
            <a:ext cx="8748463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600"/>
              </a:spcBef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Textbooks</a:t>
            </a:r>
          </a:p>
          <a:p>
            <a:pPr marL="285750" indent="-28575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Cormen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T. H.,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Leiserson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C. E., Rivest, R. L., &amp; Stein, C.,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Algorithms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MIT Press.</a:t>
            </a:r>
          </a:p>
          <a:p>
            <a:pPr marL="285750" indent="-28575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Lipschutz, S.,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Schaum’s Outline of Data Structures with C++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McGraw-Hill Education.</a:t>
            </a:r>
          </a:p>
          <a:p>
            <a:pPr algn="just">
              <a:spcBef>
                <a:spcPts val="600"/>
              </a:spcBef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 Books</a:t>
            </a:r>
          </a:p>
          <a:p>
            <a:pPr marL="285750" indent="-28575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Weiss, M. A.,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Structures and Algorithm Analysis in C++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5th Edition, Pearson Education.</a:t>
            </a:r>
          </a:p>
          <a:p>
            <a:pPr marL="285750" indent="-28575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Skiena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S. S.,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Algorithm Design Manual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3rd Edition, Springer.</a:t>
            </a:r>
          </a:p>
          <a:p>
            <a:pPr algn="just">
              <a:spcBef>
                <a:spcPts val="600"/>
              </a:spcBef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Online Resources</a:t>
            </a:r>
          </a:p>
          <a:p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GeeksforGeeks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Stack Introduction</a:t>
            </a:r>
            <a:br>
              <a:rPr lang="en-US" sz="1600" dirty="0"/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https://www.geeksforgeeks.org/stack-data-structure/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PrepInsta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Stack Operations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https://prepinsta.com/data-structures/introduction-to-stacks-in-data-structures/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Scaler – Stack Operations Algorithms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  <a:hlinkClick r:id="rId7"/>
              </a:rPr>
              <a:t>https://www.scaler.com/topics/stack-operations-in-data-structures/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JavaTpoint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Applications of Stack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  <a:hlinkClick r:id="rId8"/>
              </a:rPr>
              <a:t>https://www.javatpoint.com/applications-of-stack-in-data-structure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Programiz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Stack in Python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  <a:hlinkClick r:id="rId9"/>
              </a:rPr>
              <a:t>https://www.programiz.com/dsa/stack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1399E0A-2CFF-1DD0-69C4-94E7F4E77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65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233383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80512" cy="6858000"/>
          </a:xfr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835696" y="2708920"/>
            <a:ext cx="565103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200" dirty="0">
                <a:solidFill>
                  <a:srgbClr val="0060AA"/>
                </a:solidFill>
                <a:latin typeface="Garamond" pitchFamily="18" charset="0"/>
              </a:rPr>
              <a:t>THANK</a:t>
            </a:r>
            <a:r>
              <a:rPr lang="en-US" sz="7200" dirty="0">
                <a:latin typeface="Garamond" pitchFamily="18" charset="0"/>
              </a:rPr>
              <a:t> </a:t>
            </a:r>
            <a:r>
              <a:rPr lang="en-US" sz="7200" dirty="0">
                <a:solidFill>
                  <a:srgbClr val="E31E24"/>
                </a:solidFill>
                <a:latin typeface="Garamond" pitchFamily="18" charset="0"/>
              </a:rPr>
              <a:t>YOU</a:t>
            </a:r>
            <a:endParaRPr lang="en-IN" sz="7200" dirty="0">
              <a:latin typeface="Garamond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66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52700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23307</TotalTime>
  <Words>5105</Words>
  <Application>Microsoft Office PowerPoint</Application>
  <PresentationFormat>On-screen Show (4:3)</PresentationFormat>
  <Paragraphs>1025</Paragraphs>
  <Slides>66</Slides>
  <Notes>64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66</vt:i4>
      </vt:variant>
    </vt:vector>
  </HeadingPairs>
  <TitlesOfParts>
    <vt:vector size="77" baseType="lpstr">
      <vt:lpstr>Arial</vt:lpstr>
      <vt:lpstr>Calibri</vt:lpstr>
      <vt:lpstr>Calibri Light</vt:lpstr>
      <vt:lpstr>Garamond</vt:lpstr>
      <vt:lpstr>Inter</vt:lpstr>
      <vt:lpstr>Sylfaen</vt:lpstr>
      <vt:lpstr>Times New Roman</vt:lpstr>
      <vt:lpstr>Verdana</vt:lpstr>
      <vt:lpstr>Wingdings</vt:lpstr>
      <vt:lpstr>Office Theme</vt:lpstr>
      <vt:lpstr>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WEBDEV</dc:creator>
  <cp:lastModifiedBy>Aarti Sangwan</cp:lastModifiedBy>
  <cp:revision>1428</cp:revision>
  <cp:lastPrinted>2022-09-05T08:43:44Z</cp:lastPrinted>
  <dcterms:created xsi:type="dcterms:W3CDTF">2020-01-16T09:05:56Z</dcterms:created>
  <dcterms:modified xsi:type="dcterms:W3CDTF">2026-01-11T20:37:59Z</dcterms:modified>
</cp:coreProperties>
</file>