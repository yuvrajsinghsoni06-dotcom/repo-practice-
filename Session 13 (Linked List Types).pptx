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1011" r:id="rId2"/>
    <p:sldId id="993" r:id="rId3"/>
    <p:sldId id="1012" r:id="rId4"/>
    <p:sldId id="1013" r:id="rId5"/>
    <p:sldId id="691" r:id="rId6"/>
    <p:sldId id="1027" r:id="rId7"/>
    <p:sldId id="1091" r:id="rId8"/>
    <p:sldId id="262" r:id="rId9"/>
    <p:sldId id="263" r:id="rId10"/>
    <p:sldId id="264" r:id="rId11"/>
    <p:sldId id="265" r:id="rId12"/>
    <p:sldId id="266" r:id="rId13"/>
    <p:sldId id="267" r:id="rId14"/>
    <p:sldId id="1049" r:id="rId15"/>
    <p:sldId id="270" r:id="rId16"/>
    <p:sldId id="271" r:id="rId17"/>
    <p:sldId id="272" r:id="rId18"/>
    <p:sldId id="273" r:id="rId19"/>
    <p:sldId id="1052" r:id="rId20"/>
    <p:sldId id="1077" r:id="rId21"/>
    <p:sldId id="1078" r:id="rId22"/>
    <p:sldId id="1079" r:id="rId23"/>
    <p:sldId id="1092" r:id="rId24"/>
    <p:sldId id="1080" r:id="rId25"/>
    <p:sldId id="1081" r:id="rId26"/>
    <p:sldId id="1082" r:id="rId27"/>
    <p:sldId id="1083" r:id="rId28"/>
    <p:sldId id="1084" r:id="rId29"/>
    <p:sldId id="1085" r:id="rId30"/>
    <p:sldId id="1086" r:id="rId31"/>
    <p:sldId id="1087" r:id="rId32"/>
    <p:sldId id="1054" r:id="rId33"/>
    <p:sldId id="1055" r:id="rId34"/>
    <p:sldId id="1056" r:id="rId35"/>
    <p:sldId id="1057" r:id="rId36"/>
    <p:sldId id="1088" r:id="rId37"/>
    <p:sldId id="1094" r:id="rId38"/>
    <p:sldId id="1095" r:id="rId39"/>
    <p:sldId id="1089" r:id="rId40"/>
    <p:sldId id="1090" r:id="rId41"/>
    <p:sldId id="1093" r:id="rId42"/>
    <p:sldId id="1070" r:id="rId43"/>
    <p:sldId id="1072" r:id="rId44"/>
    <p:sldId id="1014" r:id="rId45"/>
    <p:sldId id="269" r:id="rId46"/>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B3"/>
    <a:srgbClr val="E31E24"/>
    <a:srgbClr val="4B0993"/>
    <a:srgbClr val="E83030"/>
    <a:srgbClr val="0060AA"/>
    <a:srgbClr val="006C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54" autoAdjust="0"/>
    <p:restoredTop sz="93883" autoAdjust="0"/>
  </p:normalViewPr>
  <p:slideViewPr>
    <p:cSldViewPr>
      <p:cViewPr varScale="1">
        <p:scale>
          <a:sx n="69" d="100"/>
          <a:sy n="69" d="100"/>
        </p:scale>
        <p:origin x="968" y="96"/>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07-01-2026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236393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74DFB-3008-8543-633F-58A4FDCE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05E617-873D-1C3C-F1FE-596A7096C4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17E02-BCF9-92D4-5122-7BCC78C0136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DB01162-177B-B734-FFE6-17BCFEDA52EB}"/>
              </a:ext>
            </a:extLst>
          </p:cNvPr>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1416905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B949B3-C4AB-4FB2-8B24-B07A558BD59F}" type="slidenum">
              <a:rPr kumimoji="0" lang="en-IN"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418056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1959581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F8777-BC47-2200-6A1C-EB34789B90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9F4ABC-EEF1-A951-7FAC-1F93C569E2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D04343-20BB-49D4-3398-79EEED45DEC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FB6DA01-74A2-3336-38C9-77FDE5032F78}"/>
              </a:ext>
            </a:extLst>
          </p:cNvPr>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1314048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1622E-A8CC-0DF9-351E-4530C09C0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D782-F713-0B37-E537-4E40D9E7D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3C6E0-2F99-3073-2BBE-7B5FA4DC225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7E17E35-26E9-D129-CF36-F9D071F98816}"/>
              </a:ext>
            </a:extLst>
          </p:cNvPr>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305488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8</a:t>
            </a:fld>
            <a:endParaRPr lang="en-IN" dirty="0"/>
          </a:p>
        </p:txBody>
      </p:sp>
      <p:sp>
        <p:nvSpPr>
          <p:cNvPr id="5" name="Footer Placeholder 4"/>
          <p:cNvSpPr>
            <a:spLocks noGrp="1"/>
          </p:cNvSpPr>
          <p:nvPr>
            <p:ph type="ftr" sz="quarter" idx="10"/>
          </p:nvPr>
        </p:nvSpPr>
        <p:spPr/>
        <p:txBody>
          <a:bodyPr/>
          <a:lstStyle/>
          <a:p>
            <a:r>
              <a:rPr lang="en-IN" dirty="0"/>
              <a:t>Ms.Suman KRMU    Data  Structure Unit3</a:t>
            </a:r>
          </a:p>
        </p:txBody>
      </p:sp>
      <p:sp>
        <p:nvSpPr>
          <p:cNvPr id="6" name="Header Placeholder 5"/>
          <p:cNvSpPr>
            <a:spLocks noGrp="1"/>
          </p:cNvSpPr>
          <p:nvPr>
            <p:ph type="hdr" sz="quarter" idx="11"/>
          </p:nvPr>
        </p:nvSpPr>
        <p:spPr/>
        <p:txBody>
          <a:bodyPr/>
          <a:lstStyle/>
          <a:p>
            <a:r>
              <a:rPr lang="en-IN" dirty="0"/>
              <a:t>stack</a:t>
            </a:r>
          </a:p>
        </p:txBody>
      </p:sp>
    </p:spTree>
    <p:extLst>
      <p:ext uri="{BB962C8B-B14F-4D97-AF65-F5344CB8AC3E}">
        <p14:creationId xmlns:p14="http://schemas.microsoft.com/office/powerpoint/2010/main" val="8241518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9</a:t>
            </a:fld>
            <a:endParaRPr lang="en-IN" dirty="0"/>
          </a:p>
        </p:txBody>
      </p:sp>
      <p:sp>
        <p:nvSpPr>
          <p:cNvPr id="5" name="Footer Placeholder 4"/>
          <p:cNvSpPr>
            <a:spLocks noGrp="1"/>
          </p:cNvSpPr>
          <p:nvPr>
            <p:ph type="ftr" sz="quarter" idx="10"/>
          </p:nvPr>
        </p:nvSpPr>
        <p:spPr/>
        <p:txBody>
          <a:bodyPr/>
          <a:lstStyle/>
          <a:p>
            <a:r>
              <a:rPr lang="en-IN" dirty="0"/>
              <a:t>Ms.Suman KRMU    Data  Structure Unit3</a:t>
            </a:r>
          </a:p>
        </p:txBody>
      </p:sp>
      <p:sp>
        <p:nvSpPr>
          <p:cNvPr id="6" name="Header Placeholder 5"/>
          <p:cNvSpPr>
            <a:spLocks noGrp="1"/>
          </p:cNvSpPr>
          <p:nvPr>
            <p:ph type="hdr" sz="quarter" idx="11"/>
          </p:nvPr>
        </p:nvSpPr>
        <p:spPr/>
        <p:txBody>
          <a:bodyPr/>
          <a:lstStyle/>
          <a:p>
            <a:r>
              <a:rPr lang="en-IN" dirty="0"/>
              <a:t>stack</a:t>
            </a:r>
          </a:p>
        </p:txBody>
      </p:sp>
    </p:spTree>
    <p:extLst>
      <p:ext uri="{BB962C8B-B14F-4D97-AF65-F5344CB8AC3E}">
        <p14:creationId xmlns:p14="http://schemas.microsoft.com/office/powerpoint/2010/main" val="8241518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10</a:t>
            </a:fld>
            <a:endParaRPr lang="en-IN" dirty="0"/>
          </a:p>
        </p:txBody>
      </p:sp>
      <p:sp>
        <p:nvSpPr>
          <p:cNvPr id="5" name="Footer Placeholder 4"/>
          <p:cNvSpPr>
            <a:spLocks noGrp="1"/>
          </p:cNvSpPr>
          <p:nvPr>
            <p:ph type="ftr" sz="quarter" idx="10"/>
          </p:nvPr>
        </p:nvSpPr>
        <p:spPr/>
        <p:txBody>
          <a:bodyPr/>
          <a:lstStyle/>
          <a:p>
            <a:r>
              <a:rPr lang="en-IN" dirty="0"/>
              <a:t>Ms.Suman KRMU    Data  Structure Unit3</a:t>
            </a:r>
          </a:p>
        </p:txBody>
      </p:sp>
      <p:sp>
        <p:nvSpPr>
          <p:cNvPr id="6" name="Header Placeholder 5"/>
          <p:cNvSpPr>
            <a:spLocks noGrp="1"/>
          </p:cNvSpPr>
          <p:nvPr>
            <p:ph type="hdr" sz="quarter" idx="11"/>
          </p:nvPr>
        </p:nvSpPr>
        <p:spPr/>
        <p:txBody>
          <a:bodyPr/>
          <a:lstStyle/>
          <a:p>
            <a:r>
              <a:rPr lang="en-IN" dirty="0"/>
              <a:t>stack</a:t>
            </a:r>
          </a:p>
        </p:txBody>
      </p:sp>
    </p:spTree>
    <p:extLst>
      <p:ext uri="{BB962C8B-B14F-4D97-AF65-F5344CB8AC3E}">
        <p14:creationId xmlns:p14="http://schemas.microsoft.com/office/powerpoint/2010/main" val="824151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11</a:t>
            </a:fld>
            <a:endParaRPr lang="en-IN" dirty="0"/>
          </a:p>
        </p:txBody>
      </p:sp>
      <p:sp>
        <p:nvSpPr>
          <p:cNvPr id="5" name="Footer Placeholder 4"/>
          <p:cNvSpPr>
            <a:spLocks noGrp="1"/>
          </p:cNvSpPr>
          <p:nvPr>
            <p:ph type="ftr" sz="quarter" idx="10"/>
          </p:nvPr>
        </p:nvSpPr>
        <p:spPr/>
        <p:txBody>
          <a:bodyPr/>
          <a:lstStyle/>
          <a:p>
            <a:r>
              <a:rPr lang="en-IN" dirty="0"/>
              <a:t>Ms.Suman KRMU    Data  Structure Unit3</a:t>
            </a:r>
          </a:p>
        </p:txBody>
      </p:sp>
      <p:sp>
        <p:nvSpPr>
          <p:cNvPr id="6" name="Header Placeholder 5"/>
          <p:cNvSpPr>
            <a:spLocks noGrp="1"/>
          </p:cNvSpPr>
          <p:nvPr>
            <p:ph type="hdr" sz="quarter" idx="11"/>
          </p:nvPr>
        </p:nvSpPr>
        <p:spPr/>
        <p:txBody>
          <a:bodyPr/>
          <a:lstStyle/>
          <a:p>
            <a:r>
              <a:rPr lang="en-IN" dirty="0"/>
              <a:t>stack</a:t>
            </a:r>
          </a:p>
        </p:txBody>
      </p:sp>
    </p:spTree>
    <p:extLst>
      <p:ext uri="{BB962C8B-B14F-4D97-AF65-F5344CB8AC3E}">
        <p14:creationId xmlns:p14="http://schemas.microsoft.com/office/powerpoint/2010/main" val="824151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12</a:t>
            </a:fld>
            <a:endParaRPr lang="en-IN" dirty="0"/>
          </a:p>
        </p:txBody>
      </p:sp>
      <p:sp>
        <p:nvSpPr>
          <p:cNvPr id="5" name="Footer Placeholder 4"/>
          <p:cNvSpPr>
            <a:spLocks noGrp="1"/>
          </p:cNvSpPr>
          <p:nvPr>
            <p:ph type="ftr" sz="quarter" idx="10"/>
          </p:nvPr>
        </p:nvSpPr>
        <p:spPr/>
        <p:txBody>
          <a:bodyPr/>
          <a:lstStyle/>
          <a:p>
            <a:r>
              <a:rPr lang="en-IN" dirty="0"/>
              <a:t>Ms.Suman KRMU    Data  Structure Unit3</a:t>
            </a:r>
          </a:p>
        </p:txBody>
      </p:sp>
      <p:sp>
        <p:nvSpPr>
          <p:cNvPr id="6" name="Header Placeholder 5"/>
          <p:cNvSpPr>
            <a:spLocks noGrp="1"/>
          </p:cNvSpPr>
          <p:nvPr>
            <p:ph type="hdr" sz="quarter" idx="11"/>
          </p:nvPr>
        </p:nvSpPr>
        <p:spPr/>
        <p:txBody>
          <a:bodyPr/>
          <a:lstStyle/>
          <a:p>
            <a:r>
              <a:rPr lang="en-IN" dirty="0"/>
              <a:t>stack</a:t>
            </a:r>
          </a:p>
        </p:txBody>
      </p:sp>
    </p:spTree>
    <p:extLst>
      <p:ext uri="{BB962C8B-B14F-4D97-AF65-F5344CB8AC3E}">
        <p14:creationId xmlns:p14="http://schemas.microsoft.com/office/powerpoint/2010/main" val="824151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16</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17</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18</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241518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19</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613034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8A09A-AE0A-CC35-A897-71F2B1003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7D8163-D0C9-4BA8-1D4E-7564DA97C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1906C-BDE0-BC96-7505-9CB8A55AC680}"/>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3AFA082-CCC8-456F-35C2-ED829BC24D2A}"/>
              </a:ext>
            </a:extLst>
          </p:cNvPr>
          <p:cNvSpPr>
            <a:spLocks noGrp="1"/>
          </p:cNvSpPr>
          <p:nvPr>
            <p:ph type="sldNum" sz="quarter" idx="5"/>
          </p:nvPr>
        </p:nvSpPr>
        <p:spPr/>
        <p:txBody>
          <a:bodyPr/>
          <a:lstStyle/>
          <a:p>
            <a:fld id="{DAB949B3-C4AB-4FB2-8B24-B07A558BD59F}" type="slidenum">
              <a:rPr lang="en-IN" smtClean="0"/>
              <a:pPr/>
              <a:t>20</a:t>
            </a:fld>
            <a:endParaRPr lang="en-IN"/>
          </a:p>
        </p:txBody>
      </p:sp>
      <p:sp>
        <p:nvSpPr>
          <p:cNvPr id="5" name="Footer Placeholder 4">
            <a:extLst>
              <a:ext uri="{FF2B5EF4-FFF2-40B4-BE49-F238E27FC236}">
                <a16:creationId xmlns:a16="http://schemas.microsoft.com/office/drawing/2014/main" id="{828AFFE3-BE48-9BA6-38FD-03BB373FD5C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528CCA45-8F82-8549-F676-5BE96570DEE1}"/>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027351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445B9-07B8-370D-6D14-D9655847B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09348B-D396-E0F5-95BB-7696E8DDF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416A7-7D77-11B4-DAD6-5B2A82CA5D0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3F1BAB9-5E51-813E-62DB-DFF42ED78DFF}"/>
              </a:ext>
            </a:extLst>
          </p:cNvPr>
          <p:cNvSpPr>
            <a:spLocks noGrp="1"/>
          </p:cNvSpPr>
          <p:nvPr>
            <p:ph type="sldNum" sz="quarter" idx="5"/>
          </p:nvPr>
        </p:nvSpPr>
        <p:spPr/>
        <p:txBody>
          <a:bodyPr/>
          <a:lstStyle/>
          <a:p>
            <a:fld id="{DAB949B3-C4AB-4FB2-8B24-B07A558BD59F}" type="slidenum">
              <a:rPr lang="en-IN" smtClean="0"/>
              <a:pPr/>
              <a:t>21</a:t>
            </a:fld>
            <a:endParaRPr lang="en-IN"/>
          </a:p>
        </p:txBody>
      </p:sp>
      <p:sp>
        <p:nvSpPr>
          <p:cNvPr id="5" name="Footer Placeholder 4">
            <a:extLst>
              <a:ext uri="{FF2B5EF4-FFF2-40B4-BE49-F238E27FC236}">
                <a16:creationId xmlns:a16="http://schemas.microsoft.com/office/drawing/2014/main" id="{1CA74B21-41E4-7F59-DC8C-97E749ED7EB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298B7F0-050D-5AE8-CF9F-CC7BA83608A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998270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D0E69-5330-2581-522C-E1DD8797D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46D75-32E0-60CF-C990-1E552CA65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734C5-F693-3CA7-7796-924C12C0A79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D087CCC-2393-4A52-C59E-D18C79502AF5}"/>
              </a:ext>
            </a:extLst>
          </p:cNvPr>
          <p:cNvSpPr>
            <a:spLocks noGrp="1"/>
          </p:cNvSpPr>
          <p:nvPr>
            <p:ph type="sldNum" sz="quarter" idx="5"/>
          </p:nvPr>
        </p:nvSpPr>
        <p:spPr/>
        <p:txBody>
          <a:bodyPr/>
          <a:lstStyle/>
          <a:p>
            <a:fld id="{DAB949B3-C4AB-4FB2-8B24-B07A558BD59F}" type="slidenum">
              <a:rPr lang="en-IN" smtClean="0"/>
              <a:pPr/>
              <a:t>22</a:t>
            </a:fld>
            <a:endParaRPr lang="en-IN"/>
          </a:p>
        </p:txBody>
      </p:sp>
      <p:sp>
        <p:nvSpPr>
          <p:cNvPr id="5" name="Footer Placeholder 4">
            <a:extLst>
              <a:ext uri="{FF2B5EF4-FFF2-40B4-BE49-F238E27FC236}">
                <a16:creationId xmlns:a16="http://schemas.microsoft.com/office/drawing/2014/main" id="{33640E61-BD07-235D-C93C-A28B18728E38}"/>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03F30F3-E418-DFAC-0424-E144DB46A4AD}"/>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854437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B88AC-FFB0-9A72-C9CC-8760D66E9F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A874B1-49AE-6C2A-1B5A-759CB8507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7C6D57-34F1-C317-F42C-7AC09B0131EE}"/>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61F541-0B14-A210-257C-24C639C888A9}"/>
              </a:ext>
            </a:extLst>
          </p:cNvPr>
          <p:cNvSpPr>
            <a:spLocks noGrp="1"/>
          </p:cNvSpPr>
          <p:nvPr>
            <p:ph type="sldNum" sz="quarter" idx="5"/>
          </p:nvPr>
        </p:nvSpPr>
        <p:spPr/>
        <p:txBody>
          <a:bodyPr/>
          <a:lstStyle/>
          <a:p>
            <a:fld id="{DAB949B3-C4AB-4FB2-8B24-B07A558BD59F}" type="slidenum">
              <a:rPr lang="en-IN" smtClean="0"/>
              <a:pPr/>
              <a:t>23</a:t>
            </a:fld>
            <a:endParaRPr lang="en-IN"/>
          </a:p>
        </p:txBody>
      </p:sp>
      <p:sp>
        <p:nvSpPr>
          <p:cNvPr id="5" name="Footer Placeholder 4">
            <a:extLst>
              <a:ext uri="{FF2B5EF4-FFF2-40B4-BE49-F238E27FC236}">
                <a16:creationId xmlns:a16="http://schemas.microsoft.com/office/drawing/2014/main" id="{34AE150C-94CB-B47E-7C5E-18C563A8CE37}"/>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EE77BD6-3EEE-E064-728D-1E9251BB178E}"/>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0806021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9E2D9-0157-9EC9-9315-02BA39364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6B82F-D849-92F9-3581-6F55D73AC5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56CCF-1BEC-C8E3-3978-38186AA33CD5}"/>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709E8F9-88C0-BB32-5998-08EA5BDB215C}"/>
              </a:ext>
            </a:extLst>
          </p:cNvPr>
          <p:cNvSpPr>
            <a:spLocks noGrp="1"/>
          </p:cNvSpPr>
          <p:nvPr>
            <p:ph type="sldNum" sz="quarter" idx="5"/>
          </p:nvPr>
        </p:nvSpPr>
        <p:spPr/>
        <p:txBody>
          <a:bodyPr/>
          <a:lstStyle/>
          <a:p>
            <a:fld id="{DAB949B3-C4AB-4FB2-8B24-B07A558BD59F}" type="slidenum">
              <a:rPr lang="en-IN" smtClean="0"/>
              <a:pPr/>
              <a:t>24</a:t>
            </a:fld>
            <a:endParaRPr lang="en-IN"/>
          </a:p>
        </p:txBody>
      </p:sp>
      <p:sp>
        <p:nvSpPr>
          <p:cNvPr id="5" name="Footer Placeholder 4">
            <a:extLst>
              <a:ext uri="{FF2B5EF4-FFF2-40B4-BE49-F238E27FC236}">
                <a16:creationId xmlns:a16="http://schemas.microsoft.com/office/drawing/2014/main" id="{5F8F664F-0A53-05AA-4BAE-7A939D405422}"/>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3B9A1C6C-A8F0-711C-8316-86320F4453E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6644342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5F222-16E9-EB98-2457-9B47D8CB4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56DBD-8361-1A21-737E-6AD0D9D069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29DA2-97F4-BF38-B5BC-2A8949BFA21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32487979-5033-169E-4408-503FEA0EF1B8}"/>
              </a:ext>
            </a:extLst>
          </p:cNvPr>
          <p:cNvSpPr>
            <a:spLocks noGrp="1"/>
          </p:cNvSpPr>
          <p:nvPr>
            <p:ph type="sldNum" sz="quarter" idx="5"/>
          </p:nvPr>
        </p:nvSpPr>
        <p:spPr/>
        <p:txBody>
          <a:bodyPr/>
          <a:lstStyle/>
          <a:p>
            <a:fld id="{DAB949B3-C4AB-4FB2-8B24-B07A558BD59F}" type="slidenum">
              <a:rPr lang="en-IN" smtClean="0"/>
              <a:pPr/>
              <a:t>25</a:t>
            </a:fld>
            <a:endParaRPr lang="en-IN"/>
          </a:p>
        </p:txBody>
      </p:sp>
      <p:sp>
        <p:nvSpPr>
          <p:cNvPr id="5" name="Footer Placeholder 4">
            <a:extLst>
              <a:ext uri="{FF2B5EF4-FFF2-40B4-BE49-F238E27FC236}">
                <a16:creationId xmlns:a16="http://schemas.microsoft.com/office/drawing/2014/main" id="{9C48907C-2052-0895-CE4F-2F0F91741681}"/>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76FC841-30D2-1353-F85D-E0940E03062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5835513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2FD16-E8B9-9436-7E41-4972F2A67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248AB-ADB0-276A-C522-E86F803BF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EAC40-2A22-0040-DB73-A56C77FEBA5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5FE6311-657A-4CBD-B79C-3D5FFD30F696}"/>
              </a:ext>
            </a:extLst>
          </p:cNvPr>
          <p:cNvSpPr>
            <a:spLocks noGrp="1"/>
          </p:cNvSpPr>
          <p:nvPr>
            <p:ph type="sldNum" sz="quarter" idx="5"/>
          </p:nvPr>
        </p:nvSpPr>
        <p:spPr/>
        <p:txBody>
          <a:bodyPr/>
          <a:lstStyle/>
          <a:p>
            <a:fld id="{DAB949B3-C4AB-4FB2-8B24-B07A558BD59F}" type="slidenum">
              <a:rPr lang="en-IN" smtClean="0"/>
              <a:pPr/>
              <a:t>26</a:t>
            </a:fld>
            <a:endParaRPr lang="en-IN"/>
          </a:p>
        </p:txBody>
      </p:sp>
      <p:sp>
        <p:nvSpPr>
          <p:cNvPr id="5" name="Footer Placeholder 4">
            <a:extLst>
              <a:ext uri="{FF2B5EF4-FFF2-40B4-BE49-F238E27FC236}">
                <a16:creationId xmlns:a16="http://schemas.microsoft.com/office/drawing/2014/main" id="{8175058E-87A9-0B94-0808-1AD17580FF3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501F163-2997-D9E5-1508-0E73A08ED5A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5787870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38522-D5B2-54CA-FF51-56BFF19E8A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F57B4-DBE7-F4EE-30DC-E2E6B1087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53FDB-D615-DF53-63E9-8A8D23859E3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9F65DED8-9606-93EC-8D8E-B6F44B1E3974}"/>
              </a:ext>
            </a:extLst>
          </p:cNvPr>
          <p:cNvSpPr>
            <a:spLocks noGrp="1"/>
          </p:cNvSpPr>
          <p:nvPr>
            <p:ph type="sldNum" sz="quarter" idx="5"/>
          </p:nvPr>
        </p:nvSpPr>
        <p:spPr/>
        <p:txBody>
          <a:bodyPr/>
          <a:lstStyle/>
          <a:p>
            <a:fld id="{DAB949B3-C4AB-4FB2-8B24-B07A558BD59F}" type="slidenum">
              <a:rPr lang="en-IN" smtClean="0"/>
              <a:pPr/>
              <a:t>27</a:t>
            </a:fld>
            <a:endParaRPr lang="en-IN"/>
          </a:p>
        </p:txBody>
      </p:sp>
      <p:sp>
        <p:nvSpPr>
          <p:cNvPr id="5" name="Footer Placeholder 4">
            <a:extLst>
              <a:ext uri="{FF2B5EF4-FFF2-40B4-BE49-F238E27FC236}">
                <a16:creationId xmlns:a16="http://schemas.microsoft.com/office/drawing/2014/main" id="{78074D94-511E-1BB4-96DC-AF7551C254D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F8F9537-DFCC-92B3-8E1D-699E585DDBB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54177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9AB01-E79D-6A5D-BB02-0839C9673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3689D-6154-1350-0347-4E5EB4C0AF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BEE160-446F-9D7E-5776-3EAEA652CA4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08EE2E8-BB89-7510-7F9C-E3652F5F0777}"/>
              </a:ext>
            </a:extLst>
          </p:cNvPr>
          <p:cNvSpPr>
            <a:spLocks noGrp="1"/>
          </p:cNvSpPr>
          <p:nvPr>
            <p:ph type="sldNum" sz="quarter" idx="5"/>
          </p:nvPr>
        </p:nvSpPr>
        <p:spPr/>
        <p:txBody>
          <a:bodyPr/>
          <a:lstStyle/>
          <a:p>
            <a:fld id="{DAB949B3-C4AB-4FB2-8B24-B07A558BD59F}" type="slidenum">
              <a:rPr lang="en-IN" smtClean="0"/>
              <a:pPr/>
              <a:t>28</a:t>
            </a:fld>
            <a:endParaRPr lang="en-IN"/>
          </a:p>
        </p:txBody>
      </p:sp>
      <p:sp>
        <p:nvSpPr>
          <p:cNvPr id="5" name="Footer Placeholder 4">
            <a:extLst>
              <a:ext uri="{FF2B5EF4-FFF2-40B4-BE49-F238E27FC236}">
                <a16:creationId xmlns:a16="http://schemas.microsoft.com/office/drawing/2014/main" id="{E1EFA0F3-7AF9-0E9D-FDAE-953ABEA2087E}"/>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E4411D73-DF84-9AF3-74D8-BF8C78D687A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0788000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A73E1-2B01-5E0B-CAFE-76866F8F30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2028F-9E86-FF2D-D9AB-36644B9E3A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D0981-5A37-3BDF-6A76-1D6DAB382CF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5CB4988F-6B1F-24AD-9CE3-04BDD7970B81}"/>
              </a:ext>
            </a:extLst>
          </p:cNvPr>
          <p:cNvSpPr>
            <a:spLocks noGrp="1"/>
          </p:cNvSpPr>
          <p:nvPr>
            <p:ph type="sldNum" sz="quarter" idx="5"/>
          </p:nvPr>
        </p:nvSpPr>
        <p:spPr/>
        <p:txBody>
          <a:bodyPr/>
          <a:lstStyle/>
          <a:p>
            <a:fld id="{DAB949B3-C4AB-4FB2-8B24-B07A558BD59F}" type="slidenum">
              <a:rPr lang="en-IN" smtClean="0"/>
              <a:pPr/>
              <a:t>29</a:t>
            </a:fld>
            <a:endParaRPr lang="en-IN"/>
          </a:p>
        </p:txBody>
      </p:sp>
      <p:sp>
        <p:nvSpPr>
          <p:cNvPr id="5" name="Footer Placeholder 4">
            <a:extLst>
              <a:ext uri="{FF2B5EF4-FFF2-40B4-BE49-F238E27FC236}">
                <a16:creationId xmlns:a16="http://schemas.microsoft.com/office/drawing/2014/main" id="{FF26D3AF-F2F1-BEC2-E581-E5EFAED5CF0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BCD0719E-5454-09F8-9353-1EA544498415}"/>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1241472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DB301-68FE-21DB-EAB6-EE37C2677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78662-6586-CFFA-98B5-7BF3AB562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0B1729-07F1-7C9D-4E5A-7BCDFB3D01B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6E01BE2C-3D70-D331-BA0A-6E7821CC3C1F}"/>
              </a:ext>
            </a:extLst>
          </p:cNvPr>
          <p:cNvSpPr>
            <a:spLocks noGrp="1"/>
          </p:cNvSpPr>
          <p:nvPr>
            <p:ph type="sldNum" sz="quarter" idx="5"/>
          </p:nvPr>
        </p:nvSpPr>
        <p:spPr/>
        <p:txBody>
          <a:bodyPr/>
          <a:lstStyle/>
          <a:p>
            <a:fld id="{DAB949B3-C4AB-4FB2-8B24-B07A558BD59F}" type="slidenum">
              <a:rPr lang="en-IN" smtClean="0"/>
              <a:pPr/>
              <a:t>30</a:t>
            </a:fld>
            <a:endParaRPr lang="en-IN"/>
          </a:p>
        </p:txBody>
      </p:sp>
      <p:sp>
        <p:nvSpPr>
          <p:cNvPr id="5" name="Footer Placeholder 4">
            <a:extLst>
              <a:ext uri="{FF2B5EF4-FFF2-40B4-BE49-F238E27FC236}">
                <a16:creationId xmlns:a16="http://schemas.microsoft.com/office/drawing/2014/main" id="{929E6EF7-5C23-F06F-D50B-D8DF8B5B581F}"/>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4A18B54-D3F3-CEBC-DA6A-3C006BC100E0}"/>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6546513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00FE8-C5D5-F249-4A83-3AC94C1B6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82DE6B-495E-4BAA-FFEE-242CAEF53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6464B4-A327-79C2-5AB1-025455D5EB7F}"/>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040E5CE-79DF-4FC6-FED4-FAEEFB6A1FDA}"/>
              </a:ext>
            </a:extLst>
          </p:cNvPr>
          <p:cNvSpPr>
            <a:spLocks noGrp="1"/>
          </p:cNvSpPr>
          <p:nvPr>
            <p:ph type="sldNum" sz="quarter" idx="5"/>
          </p:nvPr>
        </p:nvSpPr>
        <p:spPr/>
        <p:txBody>
          <a:bodyPr/>
          <a:lstStyle/>
          <a:p>
            <a:fld id="{DAB949B3-C4AB-4FB2-8B24-B07A558BD59F}" type="slidenum">
              <a:rPr lang="en-IN" smtClean="0"/>
              <a:pPr/>
              <a:t>31</a:t>
            </a:fld>
            <a:endParaRPr lang="en-IN"/>
          </a:p>
        </p:txBody>
      </p:sp>
      <p:sp>
        <p:nvSpPr>
          <p:cNvPr id="5" name="Footer Placeholder 4">
            <a:extLst>
              <a:ext uri="{FF2B5EF4-FFF2-40B4-BE49-F238E27FC236}">
                <a16:creationId xmlns:a16="http://schemas.microsoft.com/office/drawing/2014/main" id="{17808F52-2D1A-D824-3F8A-3E57A57BF0CA}"/>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60AB84DA-2936-9A1F-AEA5-BAD6A690C10D}"/>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136976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2213933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858071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34</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40491507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35</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444378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6686A-10F7-521D-0A20-9B077E641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6C09C-C641-C5D5-B2D5-F407C34F9B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8E9E3-AD50-FED2-DBB8-B7D4BC0A604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A054DE3-699F-4BBA-3A1D-DBD5D1310EA4}"/>
              </a:ext>
            </a:extLst>
          </p:cNvPr>
          <p:cNvSpPr>
            <a:spLocks noGrp="1"/>
          </p:cNvSpPr>
          <p:nvPr>
            <p:ph type="sldNum" sz="quarter" idx="5"/>
          </p:nvPr>
        </p:nvSpPr>
        <p:spPr/>
        <p:txBody>
          <a:bodyPr/>
          <a:lstStyle/>
          <a:p>
            <a:fld id="{DAB949B3-C4AB-4FB2-8B24-B07A558BD59F}" type="slidenum">
              <a:rPr lang="en-IN" smtClean="0"/>
              <a:pPr/>
              <a:t>36</a:t>
            </a:fld>
            <a:endParaRPr lang="en-IN"/>
          </a:p>
        </p:txBody>
      </p:sp>
      <p:sp>
        <p:nvSpPr>
          <p:cNvPr id="5" name="Footer Placeholder 4">
            <a:extLst>
              <a:ext uri="{FF2B5EF4-FFF2-40B4-BE49-F238E27FC236}">
                <a16:creationId xmlns:a16="http://schemas.microsoft.com/office/drawing/2014/main" id="{8CB1E4B4-30D2-659E-4FC2-3E3C0CB69293}"/>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A8349464-5CE0-A15E-6F83-C3C0DE7196F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8955105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BF628-4BAB-0ACF-7ED1-67F1500567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0E186-D3F0-9DB6-4D60-2C18ADDC82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68859-9371-EF0E-39DF-CEF151A02D98}"/>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00DAD315-F9F4-9255-6292-1E710A2D8078}"/>
              </a:ext>
            </a:extLst>
          </p:cNvPr>
          <p:cNvSpPr>
            <a:spLocks noGrp="1"/>
          </p:cNvSpPr>
          <p:nvPr>
            <p:ph type="sldNum" sz="quarter" idx="5"/>
          </p:nvPr>
        </p:nvSpPr>
        <p:spPr/>
        <p:txBody>
          <a:bodyPr/>
          <a:lstStyle/>
          <a:p>
            <a:fld id="{DAB949B3-C4AB-4FB2-8B24-B07A558BD59F}" type="slidenum">
              <a:rPr lang="en-IN" smtClean="0"/>
              <a:pPr/>
              <a:t>37</a:t>
            </a:fld>
            <a:endParaRPr lang="en-IN"/>
          </a:p>
        </p:txBody>
      </p:sp>
      <p:sp>
        <p:nvSpPr>
          <p:cNvPr id="5" name="Footer Placeholder 4">
            <a:extLst>
              <a:ext uri="{FF2B5EF4-FFF2-40B4-BE49-F238E27FC236}">
                <a16:creationId xmlns:a16="http://schemas.microsoft.com/office/drawing/2014/main" id="{52C18B85-1969-12B9-FC38-E78A3A4C9C4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17C297B-D187-DBFA-2AB0-318728891C8A}"/>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6984031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F48F9-CCC6-F251-766E-8E97000BA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7A38C-A77D-E089-3143-1CDEABB20E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0739AC-F8EB-084A-AD4A-BBD5C1366F9A}"/>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62399D9-539D-348E-8BBF-E02A48442B58}"/>
              </a:ext>
            </a:extLst>
          </p:cNvPr>
          <p:cNvSpPr>
            <a:spLocks noGrp="1"/>
          </p:cNvSpPr>
          <p:nvPr>
            <p:ph type="sldNum" sz="quarter" idx="5"/>
          </p:nvPr>
        </p:nvSpPr>
        <p:spPr/>
        <p:txBody>
          <a:bodyPr/>
          <a:lstStyle/>
          <a:p>
            <a:fld id="{DAB949B3-C4AB-4FB2-8B24-B07A558BD59F}" type="slidenum">
              <a:rPr lang="en-IN" smtClean="0"/>
              <a:pPr/>
              <a:t>38</a:t>
            </a:fld>
            <a:endParaRPr lang="en-IN"/>
          </a:p>
        </p:txBody>
      </p:sp>
      <p:sp>
        <p:nvSpPr>
          <p:cNvPr id="5" name="Footer Placeholder 4">
            <a:extLst>
              <a:ext uri="{FF2B5EF4-FFF2-40B4-BE49-F238E27FC236}">
                <a16:creationId xmlns:a16="http://schemas.microsoft.com/office/drawing/2014/main" id="{059BB4C4-E19D-0341-36AE-60B248FC7B9C}"/>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25A3456A-460B-F6E7-D9BC-67AC2EF08A3C}"/>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9915335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7A15C-0B06-DF9D-DA02-21D4CF366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43DDD5-DAE3-55A0-3CC0-243D293A8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DF857-AFE1-C7A6-9E55-C07030EDE223}"/>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A851747-A2CB-1710-EA97-EAEF7A53AB0B}"/>
              </a:ext>
            </a:extLst>
          </p:cNvPr>
          <p:cNvSpPr>
            <a:spLocks noGrp="1"/>
          </p:cNvSpPr>
          <p:nvPr>
            <p:ph type="sldNum" sz="quarter" idx="5"/>
          </p:nvPr>
        </p:nvSpPr>
        <p:spPr/>
        <p:txBody>
          <a:bodyPr/>
          <a:lstStyle/>
          <a:p>
            <a:fld id="{DAB949B3-C4AB-4FB2-8B24-B07A558BD59F}" type="slidenum">
              <a:rPr lang="en-IN" smtClean="0"/>
              <a:pPr/>
              <a:t>39</a:t>
            </a:fld>
            <a:endParaRPr lang="en-IN"/>
          </a:p>
        </p:txBody>
      </p:sp>
      <p:sp>
        <p:nvSpPr>
          <p:cNvPr id="5" name="Footer Placeholder 4">
            <a:extLst>
              <a:ext uri="{FF2B5EF4-FFF2-40B4-BE49-F238E27FC236}">
                <a16:creationId xmlns:a16="http://schemas.microsoft.com/office/drawing/2014/main" id="{B035B3FE-7DCF-6782-CD53-7F3CE400F1D6}"/>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83022090-92F8-1FEE-6B98-1FE687B864D3}"/>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5131204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ED9E2-C1F0-E731-473A-BBE9C49AF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38196-4EAF-A762-7733-7D7AEBCD87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13B74-C45E-E747-A4A9-23CC3AD3F90B}"/>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8AA1F726-8A27-18AD-3811-42B83EEB6112}"/>
              </a:ext>
            </a:extLst>
          </p:cNvPr>
          <p:cNvSpPr>
            <a:spLocks noGrp="1"/>
          </p:cNvSpPr>
          <p:nvPr>
            <p:ph type="sldNum" sz="quarter" idx="5"/>
          </p:nvPr>
        </p:nvSpPr>
        <p:spPr/>
        <p:txBody>
          <a:bodyPr/>
          <a:lstStyle/>
          <a:p>
            <a:fld id="{DAB949B3-C4AB-4FB2-8B24-B07A558BD59F}" type="slidenum">
              <a:rPr lang="en-IN" smtClean="0"/>
              <a:pPr/>
              <a:t>40</a:t>
            </a:fld>
            <a:endParaRPr lang="en-IN"/>
          </a:p>
        </p:txBody>
      </p:sp>
      <p:sp>
        <p:nvSpPr>
          <p:cNvPr id="5" name="Footer Placeholder 4">
            <a:extLst>
              <a:ext uri="{FF2B5EF4-FFF2-40B4-BE49-F238E27FC236}">
                <a16:creationId xmlns:a16="http://schemas.microsoft.com/office/drawing/2014/main" id="{2B017E23-A8CA-9C8B-559D-B8C8B9BEF039}"/>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477E10CF-A898-FB07-4E59-631BCA8B2484}"/>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435002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29BD-0A75-7C23-1F17-594FB82D4E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73A82-B46B-9A8E-6985-71DE218A3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40C44-3C04-AB15-B352-2621B402D07D}"/>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496C7AB8-071E-4ABD-D8EC-520A9B43518B}"/>
              </a:ext>
            </a:extLst>
          </p:cNvPr>
          <p:cNvSpPr>
            <a:spLocks noGrp="1"/>
          </p:cNvSpPr>
          <p:nvPr>
            <p:ph type="sldNum" sz="quarter" idx="5"/>
          </p:nvPr>
        </p:nvSpPr>
        <p:spPr/>
        <p:txBody>
          <a:bodyPr/>
          <a:lstStyle/>
          <a:p>
            <a:fld id="{DAB949B3-C4AB-4FB2-8B24-B07A558BD59F}" type="slidenum">
              <a:rPr lang="en-IN" smtClean="0"/>
              <a:pPr/>
              <a:t>41</a:t>
            </a:fld>
            <a:endParaRPr lang="en-IN"/>
          </a:p>
        </p:txBody>
      </p:sp>
      <p:sp>
        <p:nvSpPr>
          <p:cNvPr id="5" name="Footer Placeholder 4">
            <a:extLst>
              <a:ext uri="{FF2B5EF4-FFF2-40B4-BE49-F238E27FC236}">
                <a16:creationId xmlns:a16="http://schemas.microsoft.com/office/drawing/2014/main" id="{400DDCB3-7FDE-B245-E530-F52EFBCB7C04}"/>
              </a:ext>
            </a:extLst>
          </p:cNvPr>
          <p:cNvSpPr>
            <a:spLocks noGrp="1"/>
          </p:cNvSpPr>
          <p:nvPr>
            <p:ph type="ftr" sz="quarter" idx="10"/>
          </p:nvPr>
        </p:nvSpPr>
        <p:spPr/>
        <p:txBody>
          <a:bodyPr/>
          <a:lstStyle/>
          <a:p>
            <a:r>
              <a:rPr lang="en-IN"/>
              <a:t>Ms.Suman KRMU    Data  Structure Unit3</a:t>
            </a:r>
          </a:p>
        </p:txBody>
      </p:sp>
      <p:sp>
        <p:nvSpPr>
          <p:cNvPr id="6" name="Header Placeholder 5">
            <a:extLst>
              <a:ext uri="{FF2B5EF4-FFF2-40B4-BE49-F238E27FC236}">
                <a16:creationId xmlns:a16="http://schemas.microsoft.com/office/drawing/2014/main" id="{D0CB6FEC-6F7F-EF6B-45D5-6A7E7AD1AC0F}"/>
              </a:ext>
            </a:extLst>
          </p:cNvPr>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35011005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42</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15551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FE6D6-DE3C-4F02-4BB1-B55C0C9BC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2BD2B-7558-AC42-0F89-11BB869D7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40DB2-5228-9BD7-03F4-36E13407F5F4}"/>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E84625AE-FFFA-4019-4485-254214019FA9}"/>
              </a:ext>
            </a:extLst>
          </p:cNvPr>
          <p:cNvSpPr>
            <a:spLocks noGrp="1"/>
          </p:cNvSpPr>
          <p:nvPr>
            <p:ph type="sldNum" sz="quarter" idx="5"/>
          </p:nvPr>
        </p:nvSpPr>
        <p:spPr/>
        <p:txBody>
          <a:bodyPr/>
          <a:lstStyle/>
          <a:p>
            <a:fld id="{DAB949B3-C4AB-4FB2-8B24-B07A558BD59F}" type="slidenum">
              <a:rPr lang="en-IN" smtClean="0"/>
              <a:pPr/>
              <a:t>43</a:t>
            </a:fld>
            <a:endParaRPr lang="en-IN"/>
          </a:p>
        </p:txBody>
      </p:sp>
      <p:sp>
        <p:nvSpPr>
          <p:cNvPr id="5" name="Footer Placeholder 4"/>
          <p:cNvSpPr>
            <a:spLocks noGrp="1"/>
          </p:cNvSpPr>
          <p:nvPr>
            <p:ph type="ftr" sz="quarter" idx="10"/>
          </p:nvPr>
        </p:nvSpPr>
        <p:spPr/>
        <p:txBody>
          <a:bodyPr/>
          <a:lstStyle/>
          <a:p>
            <a:r>
              <a:rPr lang="en-IN"/>
              <a:t>Ms.Suman KRMU    Data  Structure Unit3</a:t>
            </a:r>
          </a:p>
        </p:txBody>
      </p:sp>
      <p:sp>
        <p:nvSpPr>
          <p:cNvPr id="6" name="Header Placeholder 5"/>
          <p:cNvSpPr>
            <a:spLocks noGrp="1"/>
          </p:cNvSpPr>
          <p:nvPr>
            <p:ph type="hdr" sz="quarter" idx="11"/>
          </p:nvPr>
        </p:nvSpPr>
        <p:spPr/>
        <p:txBody>
          <a:bodyPr/>
          <a:lstStyle/>
          <a:p>
            <a:r>
              <a:rPr lang="en-IN"/>
              <a:t>stack</a:t>
            </a:r>
          </a:p>
        </p:txBody>
      </p:sp>
    </p:spTree>
    <p:extLst>
      <p:ext uri="{BB962C8B-B14F-4D97-AF65-F5344CB8AC3E}">
        <p14:creationId xmlns:p14="http://schemas.microsoft.com/office/powerpoint/2010/main" val="23890709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2238-09A6-8EB0-4295-5007DFCC4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80A71-06A5-D1F8-DA16-27247CBDC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9DB18-C22C-0235-39B4-E26D3FB8C981}"/>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725C905F-3127-FA31-973F-892A372D9B36}"/>
              </a:ext>
            </a:extLst>
          </p:cNvPr>
          <p:cNvSpPr>
            <a:spLocks noGrp="1"/>
          </p:cNvSpPr>
          <p:nvPr>
            <p:ph type="sldNum" sz="quarter" idx="5"/>
          </p:nvPr>
        </p:nvSpPr>
        <p:spPr/>
        <p:txBody>
          <a:bodyPr/>
          <a:lstStyle/>
          <a:p>
            <a:fld id="{DAB949B3-C4AB-4FB2-8B24-B07A558BD59F}" type="slidenum">
              <a:rPr lang="en-IN" smtClean="0"/>
              <a:t>44</a:t>
            </a:fld>
            <a:endParaRPr lang="en-IN"/>
          </a:p>
        </p:txBody>
      </p:sp>
    </p:spTree>
    <p:extLst>
      <p:ext uri="{BB962C8B-B14F-4D97-AF65-F5344CB8AC3E}">
        <p14:creationId xmlns:p14="http://schemas.microsoft.com/office/powerpoint/2010/main" val="1279018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4224B7B-8CFF-4188-8E5F-458DAB1C0A4A}" type="datetime1">
              <a:rPr lang="en-IN" smtClean="0"/>
              <a:t>07-01-2026</a:t>
            </a:fld>
            <a:endParaRPr lang="en-IN"/>
          </a:p>
        </p:txBody>
      </p:sp>
      <p:sp>
        <p:nvSpPr>
          <p:cNvPr id="5" name="Footer Placeholder 4"/>
          <p:cNvSpPr>
            <a:spLocks noGrp="1"/>
          </p:cNvSpPr>
          <p:nvPr>
            <p:ph type="ftr" sz="quarter" idx="11"/>
          </p:nvPr>
        </p:nvSpPr>
        <p:spPr/>
        <p:txBody>
          <a:body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9A89787-5071-4C5F-8398-907FFB8E997A}" type="datetime1">
              <a:rPr lang="en-IN" smtClean="0"/>
              <a:t>07-01-2026</a:t>
            </a:fld>
            <a:endParaRPr lang="en-IN"/>
          </a:p>
        </p:txBody>
      </p:sp>
      <p:sp>
        <p:nvSpPr>
          <p:cNvPr id="5" name="Footer Placeholder 4"/>
          <p:cNvSpPr>
            <a:spLocks noGrp="1"/>
          </p:cNvSpPr>
          <p:nvPr>
            <p:ph type="ftr" sz="quarter" idx="11"/>
          </p:nvPr>
        </p:nvSpPr>
        <p:spPr/>
        <p:txBody>
          <a:bodyPr/>
          <a:lstStyle>
            <a:lvl1pPr>
              <a:defRPr/>
            </a:lvl1pPr>
          </a:lstStyle>
          <a:p>
            <a:r>
              <a:rPr lang="en-IN" dirty="0"/>
              <a:t>Dr. Aarti</a:t>
            </a:r>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2C24D9-24F3-417C-BC8F-BF4AA98118EF}" type="datetime1">
              <a:rPr lang="en-IN" smtClean="0"/>
              <a:t>07-01-2026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Dr. Aarti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geeksforgeeks.org/what-is-linked-list/" TargetMode="External"/><Relationship Id="rId5"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hyperlink" Target="https://questions.examside.com/past-years/gate/question/pconsider-the-problem-of-reversing-a-singly-linked-list-t-gate-cse-theory-of-computation-finite-automata-and-regular-language-zpfpkf4re1g8xuff" TargetMode="Externa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8" Type="http://schemas.openxmlformats.org/officeDocument/2006/relationships/hyperlink" Target="https://ocw.mit.edu/" TargetMode="External"/><Relationship Id="rId3" Type="http://schemas.openxmlformats.org/officeDocument/2006/relationships/image" Target="../media/image1.png"/><Relationship Id="rId7" Type="http://schemas.openxmlformats.org/officeDocument/2006/relationships/hyperlink" Target="https://www.tutorialspoint.com/data_structures_algorithms/linked_list_algorithms.htm"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hyperlink" Target="https://www.geeksforgeeks.org/types-of-linked-list/" TargetMode="External"/><Relationship Id="rId5" Type="http://schemas.openxmlformats.org/officeDocument/2006/relationships/hyperlink" Target="https://www.geeksforgeeks.org/what-is-linked-list/" TargetMode="External"/><Relationship Id="rId4" Type="http://schemas.openxmlformats.org/officeDocument/2006/relationships/image" Target="../media/image3.png"/><Relationship Id="rId9" Type="http://schemas.openxmlformats.org/officeDocument/2006/relationships/hyperlink" Target="https://www.programiz.com/dsa/linked-list"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0355-B08D-308D-DAFB-1DCEF1C1D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CE75B-70BC-32F0-9AE3-D3A4E8E6F868}"/>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0578983B-21DD-AA3A-59D7-A404EAAE16AD}"/>
              </a:ext>
            </a:extLst>
          </p:cNvPr>
          <p:cNvSpPr>
            <a:spLocks noGrp="1"/>
          </p:cNvSpPr>
          <p:nvPr>
            <p:ph type="subTitle" idx="1"/>
          </p:nvPr>
        </p:nvSpPr>
        <p:spPr/>
        <p:txBody>
          <a:bodyPr/>
          <a:lstStyle/>
          <a:p>
            <a:endParaRPr lang="en-IN"/>
          </a:p>
        </p:txBody>
      </p:sp>
      <p:pic>
        <p:nvPicPr>
          <p:cNvPr id="4" name="Content Placeholder 3">
            <a:extLst>
              <a:ext uri="{FF2B5EF4-FFF2-40B4-BE49-F238E27FC236}">
                <a16:creationId xmlns:a16="http://schemas.microsoft.com/office/drawing/2014/main" id="{5BD99E4B-F41D-043D-FE73-335D31AA237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2FD873DE-D9DB-5423-6553-EECC3B910E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45952" y="480488"/>
            <a:ext cx="6172601" cy="888700"/>
          </a:xfrm>
          <a:prstGeom prst="rect">
            <a:avLst/>
          </a:prstGeom>
        </p:spPr>
      </p:pic>
      <p:sp>
        <p:nvSpPr>
          <p:cNvPr id="7" name="Rectangle 1">
            <a:extLst>
              <a:ext uri="{FF2B5EF4-FFF2-40B4-BE49-F238E27FC236}">
                <a16:creationId xmlns:a16="http://schemas.microsoft.com/office/drawing/2014/main" id="{707A6CE9-669B-DEE3-BF3E-8D5506EAE30B}"/>
              </a:ext>
            </a:extLst>
          </p:cNvPr>
          <p:cNvSpPr>
            <a:spLocks noChangeArrowheads="1"/>
          </p:cNvSpPr>
          <p:nvPr/>
        </p:nvSpPr>
        <p:spPr bwMode="auto">
          <a:xfrm>
            <a:off x="1505625" y="1636320"/>
            <a:ext cx="6372708" cy="1284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lnSpc>
                <a:spcPct val="150000"/>
              </a:lnSpc>
              <a:buSzPct val="25000"/>
            </a:pPr>
            <a:r>
              <a:rPr lang="en-US" sz="2800" b="1" kern="100" dirty="0">
                <a:latin typeface="Times New Roman" panose="02020603050405020304" pitchFamily="18" charset="0"/>
                <a:ea typeface="Times New Roman" panose="02020603050405020304" pitchFamily="18" charset="0"/>
                <a:cs typeface="Times New Roman" panose="02020603050405020304" pitchFamily="18" charset="0"/>
              </a:rPr>
              <a:t>Data Structures</a:t>
            </a:r>
          </a:p>
          <a:p>
            <a:pPr lvl="0" algn="ctr">
              <a:lnSpc>
                <a:spcPct val="150000"/>
              </a:lnSpc>
              <a:buSzPct val="25000"/>
            </a:pPr>
            <a:r>
              <a:rPr lang="en-US" sz="2800" b="1" kern="100" dirty="0">
                <a:solidFill>
                  <a:srgbClr val="FF0000"/>
                </a:solidFill>
                <a:latin typeface="Times New Roman" panose="02020603050405020304" pitchFamily="18" charset="0"/>
                <a:cs typeface="Times New Roman" panose="02020603050405020304" pitchFamily="18" charset="0"/>
                <a:sym typeface="Arial"/>
              </a:rPr>
              <a:t>ETCCDS202 </a:t>
            </a:r>
            <a:endParaRPr lang="en-IN" sz="2800" b="1" dirty="0">
              <a:solidFill>
                <a:srgbClr val="FF0000"/>
              </a:solidFill>
              <a:latin typeface="Times New Roman" panose="02020603050405020304" pitchFamily="18" charset="0"/>
              <a:cs typeface="Times New Roman" panose="02020603050405020304" pitchFamily="18" charset="0"/>
              <a:sym typeface="Arial"/>
            </a:endParaRPr>
          </a:p>
        </p:txBody>
      </p:sp>
      <p:sp>
        <p:nvSpPr>
          <p:cNvPr id="8" name="Rectangle 1">
            <a:extLst>
              <a:ext uri="{FF2B5EF4-FFF2-40B4-BE49-F238E27FC236}">
                <a16:creationId xmlns:a16="http://schemas.microsoft.com/office/drawing/2014/main" id="{A8034320-BE78-5A55-6F19-03B79C05C8A7}"/>
              </a:ext>
            </a:extLst>
          </p:cNvPr>
          <p:cNvSpPr>
            <a:spLocks noChangeArrowheads="1"/>
          </p:cNvSpPr>
          <p:nvPr/>
        </p:nvSpPr>
        <p:spPr bwMode="auto">
          <a:xfrm>
            <a:off x="1451619" y="4240831"/>
            <a:ext cx="6480720"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Faculty</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School of Engineering &amp; Technology </a:t>
            </a:r>
          </a:p>
          <a:p>
            <a:pPr lvl="0" algn="ctr">
              <a:spcBef>
                <a:spcPts val="600"/>
              </a:spcBef>
              <a:buSzPct val="25000"/>
            </a:pPr>
            <a:r>
              <a:rPr lang="en-US" b="1" kern="100" dirty="0">
                <a:latin typeface="Sylfaen" panose="010A0502050306030303" pitchFamily="18" charset="0"/>
                <a:ea typeface="Times New Roman" panose="02020603050405020304" pitchFamily="18" charset="0"/>
                <a:cs typeface="Times New Roman" panose="02020603050405020304" pitchFamily="18" charset="0"/>
              </a:rPr>
              <a:t>K.R. </a:t>
            </a:r>
            <a:r>
              <a:rPr lang="en-US" b="1" kern="100" dirty="0" err="1">
                <a:latin typeface="Sylfaen" panose="010A0502050306030303" pitchFamily="18" charset="0"/>
                <a:ea typeface="Times New Roman" panose="02020603050405020304" pitchFamily="18" charset="0"/>
                <a:cs typeface="Times New Roman" panose="02020603050405020304" pitchFamily="18" charset="0"/>
              </a:rPr>
              <a:t>Mangalam</a:t>
            </a:r>
            <a:r>
              <a:rPr lang="en-US" b="1" kern="100" dirty="0">
                <a:latin typeface="Sylfaen" panose="010A0502050306030303" pitchFamily="18" charset="0"/>
                <a:ea typeface="Times New Roman" panose="02020603050405020304" pitchFamily="18" charset="0"/>
                <a:cs typeface="Times New Roman" panose="02020603050405020304" pitchFamily="18" charset="0"/>
              </a:rPr>
              <a:t> University </a:t>
            </a:r>
            <a:endParaRPr lang="en-IN" b="1" dirty="0">
              <a:solidFill>
                <a:srgbClr val="E31E24"/>
              </a:solidFill>
              <a:latin typeface="Sylfaen" panose="010A0502050306030303" pitchFamily="18" charset="0"/>
              <a:cs typeface="Times New Roman" panose="02020603050405020304" pitchFamily="18" charset="0"/>
              <a:sym typeface="Arial"/>
            </a:endParaRPr>
          </a:p>
        </p:txBody>
      </p:sp>
      <p:sp>
        <p:nvSpPr>
          <p:cNvPr id="9" name="Rectangle 1">
            <a:extLst>
              <a:ext uri="{FF2B5EF4-FFF2-40B4-BE49-F238E27FC236}">
                <a16:creationId xmlns:a16="http://schemas.microsoft.com/office/drawing/2014/main" id="{80A128E3-2186-5C09-4DCD-7BC65272487A}"/>
              </a:ext>
            </a:extLst>
          </p:cNvPr>
          <p:cNvSpPr>
            <a:spLocks noChangeArrowheads="1"/>
          </p:cNvSpPr>
          <p:nvPr/>
        </p:nvSpPr>
        <p:spPr bwMode="auto">
          <a:xfrm>
            <a:off x="1371600" y="3429000"/>
            <a:ext cx="6372708" cy="438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lvl="0" algn="ctr">
              <a:buSzPct val="25000"/>
            </a:pPr>
            <a:r>
              <a:rPr lang="en-US" sz="2400" b="1" kern="100" dirty="0">
                <a:latin typeface="Times New Roman" panose="02020603050405020304" pitchFamily="18" charset="0"/>
                <a:cs typeface="Times New Roman" panose="02020603050405020304" pitchFamily="18" charset="0"/>
                <a:sym typeface="Arial"/>
              </a:rPr>
              <a:t>Dr. Aarti</a:t>
            </a:r>
            <a:endParaRPr lang="en-IN" sz="2400" b="1" dirty="0">
              <a:solidFill>
                <a:srgbClr val="E31E24"/>
              </a:solidFill>
              <a:latin typeface="Times New Roman" panose="02020603050405020304" pitchFamily="18" charset="0"/>
              <a:cs typeface="Times New Roman" panose="02020603050405020304" pitchFamily="18" charset="0"/>
              <a:sym typeface="Arial"/>
            </a:endParaRPr>
          </a:p>
        </p:txBody>
      </p:sp>
      <p:sp>
        <p:nvSpPr>
          <p:cNvPr id="10" name="TextBox 9">
            <a:extLst>
              <a:ext uri="{FF2B5EF4-FFF2-40B4-BE49-F238E27FC236}">
                <a16:creationId xmlns:a16="http://schemas.microsoft.com/office/drawing/2014/main" id="{F1D9C7E5-CE35-9355-4CD6-2B1E6EB9A5AA}"/>
              </a:ext>
            </a:extLst>
          </p:cNvPr>
          <p:cNvSpPr txBox="1"/>
          <p:nvPr/>
        </p:nvSpPr>
        <p:spPr>
          <a:xfrm>
            <a:off x="1178176" y="5615709"/>
            <a:ext cx="7027606"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Unit 2 : </a:t>
            </a:r>
            <a:r>
              <a:rPr lang="en-US" sz="2400" b="1" kern="100" dirty="0">
                <a:latin typeface="Times New Roman" panose="02020603050405020304" pitchFamily="18" charset="0"/>
                <a:cs typeface="Times New Roman" panose="02020603050405020304" pitchFamily="18" charset="0"/>
                <a:sym typeface="Arial"/>
              </a:rPr>
              <a:t>Linear Data Structures</a:t>
            </a:r>
            <a:endParaRPr lang="en-IN" sz="24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164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sp>
        <p:nvSpPr>
          <p:cNvPr id="5" name="Rectangle 1"/>
          <p:cNvSpPr>
            <a:spLocks noChangeArrowheads="1"/>
          </p:cNvSpPr>
          <p:nvPr/>
        </p:nvSpPr>
        <p:spPr bwMode="auto">
          <a:xfrm>
            <a:off x="1547664" y="320012"/>
            <a:ext cx="54693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a:buSzPct val="25000"/>
            </a:pPr>
            <a:r>
              <a:rPr lang="en-US" sz="3200" b="1" kern="100" dirty="0">
                <a:latin typeface="Times New Roman" panose="02020603050405020304" pitchFamily="18" charset="0"/>
                <a:cs typeface="Times New Roman" panose="02020603050405020304" pitchFamily="18" charset="0"/>
                <a:sym typeface="Arial"/>
              </a:rPr>
              <a:t>Unit-2 Linear Data Structures</a:t>
            </a:r>
            <a:endParaRPr lang="en-IN" sz="3200" b="1" dirty="0">
              <a:solidFill>
                <a:srgbClr val="E31E24"/>
              </a:solidFill>
              <a:latin typeface="Times New Roman" panose="02020603050405020304" pitchFamily="18"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829266"/>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endParaRP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95536" y="1213558"/>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11	Arrays – 1D &amp; 2D</a:t>
            </a:r>
            <a:r>
              <a:rPr lang="en-US" sz="2400" b="1" dirty="0">
                <a:highlight>
                  <a:srgbClr val="FFFF00"/>
                </a:highlight>
                <a:latin typeface="Times New Roman" panose="02020603050405020304" pitchFamily="18" charset="0"/>
                <a:cs typeface="Times New Roman" panose="02020603050405020304" pitchFamily="18" charset="0"/>
              </a:rPr>
              <a:t>	</a:t>
            </a:r>
            <a:endParaRPr lang="en-IN" sz="2400" b="1" dirty="0">
              <a:highlight>
                <a:srgbClr val="FFFF00"/>
              </a:highlight>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C421C46D-3F04-4F73-BF36-E6D9DA5AE143}" type="slidenum">
              <a:rPr lang="en-IN" smtClean="0"/>
              <a:t>2</a:t>
            </a:fld>
            <a:endParaRPr lang="en-IN"/>
          </a:p>
        </p:txBody>
      </p:sp>
      <p:sp>
        <p:nvSpPr>
          <p:cNvPr id="11" name="TextBox 10"/>
          <p:cNvSpPr txBox="1"/>
          <p:nvPr/>
        </p:nvSpPr>
        <p:spPr>
          <a:xfrm>
            <a:off x="395536" y="1733775"/>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12	Static &amp; Dynamic Arrays	</a:t>
            </a:r>
            <a:endParaRPr lang="en-IN" sz="2400" b="1" dirty="0">
              <a:latin typeface="Times New Roman" panose="02020603050405020304" pitchFamily="18" charset="0"/>
              <a:cs typeface="Times New Roman" panose="02020603050405020304" pitchFamily="18" charset="0"/>
            </a:endParaRPr>
          </a:p>
        </p:txBody>
      </p:sp>
      <p:sp>
        <p:nvSpPr>
          <p:cNvPr id="12" name="TextBox 11"/>
          <p:cNvSpPr txBox="1"/>
          <p:nvPr/>
        </p:nvSpPr>
        <p:spPr>
          <a:xfrm>
            <a:off x="403243" y="2249884"/>
            <a:ext cx="8352928" cy="461665"/>
          </a:xfrm>
          <a:prstGeom prst="rect">
            <a:avLst/>
          </a:prstGeom>
          <a:solidFill>
            <a:srgbClr val="FFFF00"/>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13	Linked Lists Types	</a:t>
            </a:r>
            <a:endParaRPr lang="en-IN" sz="2400" b="1" dirty="0">
              <a:latin typeface="Times New Roman" panose="02020603050405020304" pitchFamily="18" charset="0"/>
              <a:cs typeface="Times New Roman" panose="02020603050405020304" pitchFamily="18" charset="0"/>
            </a:endParaRPr>
          </a:p>
        </p:txBody>
      </p:sp>
      <p:sp>
        <p:nvSpPr>
          <p:cNvPr id="13" name="TextBox 12"/>
          <p:cNvSpPr txBox="1"/>
          <p:nvPr/>
        </p:nvSpPr>
        <p:spPr>
          <a:xfrm>
            <a:off x="421836" y="281152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14	Linked List Operations	</a:t>
            </a:r>
            <a:endParaRPr lang="en-IN" sz="2400" b="1"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403378" y="3324993"/>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15	Stack ADT &amp; Operations	</a:t>
            </a:r>
            <a:endParaRPr lang="en-IN" sz="2400" b="1" dirty="0">
              <a:latin typeface="Times New Roman" panose="02020603050405020304" pitchFamily="18" charset="0"/>
              <a:cs typeface="Times New Roman" panose="02020603050405020304" pitchFamily="18" charset="0"/>
            </a:endParaRPr>
          </a:p>
        </p:txBody>
      </p:sp>
      <p:sp>
        <p:nvSpPr>
          <p:cNvPr id="15" name="TextBox 14"/>
          <p:cNvSpPr txBox="1"/>
          <p:nvPr/>
        </p:nvSpPr>
        <p:spPr>
          <a:xfrm>
            <a:off x="407359" y="4262830"/>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17	Queue ADT</a:t>
            </a:r>
          </a:p>
        </p:txBody>
      </p:sp>
      <p:sp>
        <p:nvSpPr>
          <p:cNvPr id="16" name="TextBox 15"/>
          <p:cNvSpPr txBox="1"/>
          <p:nvPr/>
        </p:nvSpPr>
        <p:spPr>
          <a:xfrm>
            <a:off x="421836" y="4776297"/>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18	Queue Applications</a:t>
            </a:r>
            <a:endParaRPr lang="en-IN" sz="2400" b="1"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395536" y="3787886"/>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16	 Stack Applications</a:t>
            </a:r>
          </a:p>
        </p:txBody>
      </p:sp>
      <p:sp>
        <p:nvSpPr>
          <p:cNvPr id="17" name="TextBox 16">
            <a:extLst>
              <a:ext uri="{FF2B5EF4-FFF2-40B4-BE49-F238E27FC236}">
                <a16:creationId xmlns:a16="http://schemas.microsoft.com/office/drawing/2014/main" id="{0E9AA04E-4CF0-1135-99A8-DFA66C9162E6}"/>
              </a:ext>
            </a:extLst>
          </p:cNvPr>
          <p:cNvSpPr txBox="1"/>
          <p:nvPr/>
        </p:nvSpPr>
        <p:spPr>
          <a:xfrm>
            <a:off x="414129" y="5270729"/>
            <a:ext cx="8352928" cy="461665"/>
          </a:xfrm>
          <a:prstGeom prst="rect">
            <a:avLst/>
          </a:prstGeom>
          <a:solidFill>
            <a:schemeClr val="bg1"/>
          </a:solid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19	BFS using Queue</a:t>
            </a:r>
          </a:p>
        </p:txBody>
      </p:sp>
      <p:sp>
        <p:nvSpPr>
          <p:cNvPr id="19" name="TextBox 18">
            <a:extLst>
              <a:ext uri="{FF2B5EF4-FFF2-40B4-BE49-F238E27FC236}">
                <a16:creationId xmlns:a16="http://schemas.microsoft.com/office/drawing/2014/main" id="{285B26A0-3162-1565-E432-BE0EB2B54357}"/>
              </a:ext>
            </a:extLst>
          </p:cNvPr>
          <p:cNvSpPr txBox="1"/>
          <p:nvPr/>
        </p:nvSpPr>
        <p:spPr>
          <a:xfrm>
            <a:off x="421836" y="5786838"/>
            <a:ext cx="835292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SESSION 20	Revision (Unit–2)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36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99B22-9FA9-1FAA-D08D-F3C80309002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39E82FE-96D7-2529-7945-4ACABDB58E8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0"/>
            <a:ext cx="9144000" cy="6858000"/>
          </a:xfrm>
        </p:spPr>
      </p:pic>
      <p:pic>
        <p:nvPicPr>
          <p:cNvPr id="9" name="Picture 8">
            <a:extLst>
              <a:ext uri="{FF2B5EF4-FFF2-40B4-BE49-F238E27FC236}">
                <a16:creationId xmlns:a16="http://schemas.microsoft.com/office/drawing/2014/main" id="{BC685B53-95B0-E1DB-1C9C-F5456893FE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 y="6237312"/>
            <a:ext cx="3060242" cy="439910"/>
          </a:xfrm>
          <a:prstGeom prst="rect">
            <a:avLst/>
          </a:prstGeom>
        </p:spPr>
      </p:pic>
      <p:sp>
        <p:nvSpPr>
          <p:cNvPr id="6" name="TextBox 5">
            <a:extLst>
              <a:ext uri="{FF2B5EF4-FFF2-40B4-BE49-F238E27FC236}">
                <a16:creationId xmlns:a16="http://schemas.microsoft.com/office/drawing/2014/main" id="{8236DC02-599B-DF7E-0281-3D512FA448DC}"/>
              </a:ext>
            </a:extLst>
          </p:cNvPr>
          <p:cNvSpPr txBox="1"/>
          <p:nvPr/>
        </p:nvSpPr>
        <p:spPr>
          <a:xfrm>
            <a:off x="1277634" y="1827626"/>
            <a:ext cx="6588732" cy="302775"/>
          </a:xfrm>
          <a:prstGeom prst="rect">
            <a:avLst/>
          </a:prstGeom>
          <a:noFill/>
        </p:spPr>
        <p:txBody>
          <a:bodyPr wrap="square">
            <a:spAutoFit/>
          </a:bodyPr>
          <a:lstStyle/>
          <a:p>
            <a:pPr algn="just" fontAlgn="base">
              <a:lnSpc>
                <a:spcPct val="107000"/>
              </a:lnSpc>
            </a:pPr>
            <a:r>
              <a:rPr lang="en-US" sz="1350" kern="100" dirty="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100" kern="100" dirty="0">
              <a:latin typeface="+mj-lt"/>
              <a:ea typeface="Calibri" panose="020F0502020204030204" pitchFamily="34" charset="0"/>
              <a:cs typeface="Times New Roman" panose="02020603050405020304" pitchFamily="18" charset="0"/>
            </a:endParaRPr>
          </a:p>
        </p:txBody>
      </p:sp>
      <p:sp>
        <p:nvSpPr>
          <p:cNvPr id="10" name="Rectangle 1">
            <a:extLst>
              <a:ext uri="{FF2B5EF4-FFF2-40B4-BE49-F238E27FC236}">
                <a16:creationId xmlns:a16="http://schemas.microsoft.com/office/drawing/2014/main" id="{979542EF-0836-8363-678A-2FD2B60D1FD5}"/>
              </a:ext>
            </a:extLst>
          </p:cNvPr>
          <p:cNvSpPr>
            <a:spLocks noChangeArrowheads="1"/>
          </p:cNvSpPr>
          <p:nvPr/>
        </p:nvSpPr>
        <p:spPr bwMode="auto">
          <a:xfrm>
            <a:off x="1277635" y="9478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1" name="Rectangle 1">
            <a:extLst>
              <a:ext uri="{FF2B5EF4-FFF2-40B4-BE49-F238E27FC236}">
                <a16:creationId xmlns:a16="http://schemas.microsoft.com/office/drawing/2014/main" id="{979542EF-0836-8363-678A-2FD2B60D1FD5}"/>
              </a:ext>
            </a:extLst>
          </p:cNvPr>
          <p:cNvSpPr>
            <a:spLocks noChangeArrowheads="1"/>
          </p:cNvSpPr>
          <p:nvPr/>
        </p:nvSpPr>
        <p:spPr bwMode="auto">
          <a:xfrm>
            <a:off x="1391935" y="1062163"/>
            <a:ext cx="138564" cy="484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lvl="0">
              <a:buSzPct val="25000"/>
            </a:pPr>
            <a:endParaRPr lang="en-IN" sz="2700" b="1" dirty="0">
              <a:solidFill>
                <a:srgbClr val="E31E24"/>
              </a:solidFill>
              <a:cs typeface="Times New Roman" panose="02020603050405020304" pitchFamily="18" charset="0"/>
              <a:sym typeface="Arial"/>
            </a:endParaRPr>
          </a:p>
        </p:txBody>
      </p:sp>
      <p:sp>
        <p:nvSpPr>
          <p:cNvPr id="12" name="Rectangle 11"/>
          <p:cNvSpPr/>
          <p:nvPr/>
        </p:nvSpPr>
        <p:spPr>
          <a:xfrm>
            <a:off x="936519" y="878322"/>
            <a:ext cx="7315199" cy="4247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Times New Roman" panose="02020603050405020304" pitchFamily="18" charset="0"/>
                <a:cs typeface="Times New Roman" panose="02020603050405020304" pitchFamily="18" charset="0"/>
              </a:rPr>
              <a:t>Session 13</a:t>
            </a:r>
          </a:p>
        </p:txBody>
      </p:sp>
      <p:sp>
        <p:nvSpPr>
          <p:cNvPr id="3" name="TextBox 2"/>
          <p:cNvSpPr txBox="1"/>
          <p:nvPr/>
        </p:nvSpPr>
        <p:spPr>
          <a:xfrm>
            <a:off x="2335322" y="255261"/>
            <a:ext cx="4517595"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Linked List Types</a:t>
            </a:r>
            <a:endParaRPr lang="en-IN" sz="28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C4D97C22-398E-DF29-2544-457D709AF607}"/>
              </a:ext>
            </a:extLst>
          </p:cNvPr>
          <p:cNvSpPr>
            <a:spLocks noChangeArrowheads="1"/>
          </p:cNvSpPr>
          <p:nvPr/>
        </p:nvSpPr>
        <p:spPr bwMode="auto">
          <a:xfrm>
            <a:off x="827584" y="1349782"/>
            <a:ext cx="5932586"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to Linked Lists</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Why Linked Lists?</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Representation of a Linked List</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Creation of Node and Declaration of Linked List</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Advantages and Disadvantages of Linked Lists</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Importance of Linked Lists</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Linked List vs Array</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Time Complexity Analysis (Linked List vs Array)</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Types of Linked Lists</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Comparison of Linked List Types</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Applications of Linked List Types</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Practice Questions</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Takeaways</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 Quiz</a:t>
            </a:r>
          </a:p>
          <a:p>
            <a:pPr marL="360363" marR="0" lvl="0" indent="-360363"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27437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lvl="0" indent="0" algn="just" defTabSz="914400" rtl="0" eaLnBrk="1" fontAlgn="base" latinLnBrk="0" hangingPunct="1">
              <a:lnSpc>
                <a:spcPct val="107000"/>
              </a:lnSpc>
              <a:spcBef>
                <a:spcPts val="0"/>
              </a:spcBef>
              <a:spcAft>
                <a:spcPts val="0"/>
              </a:spcAft>
              <a:buClrTx/>
              <a:buSzTx/>
              <a:buFontTx/>
              <a:buNone/>
              <a:tabLst/>
              <a:defRPr/>
            </a:pPr>
            <a:r>
              <a:rPr kumimoji="0" lang="en-US" sz="1800" b="0" i="0" u="none" strike="noStrike" kern="100" cap="none" spc="0" normalizeH="0" baseline="0" noProof="0" dirty="0">
                <a:ln>
                  <a:noFill/>
                </a:ln>
                <a:solidFill>
                  <a:srgbClr val="000000"/>
                </a:solidFill>
                <a:effectLst/>
                <a:uLnTx/>
                <a:uFillTx/>
                <a:latin typeface="Verdana" panose="020B0604030504040204" pitchFamily="34" charset="0"/>
                <a:ea typeface="Times New Roman" panose="02020603050405020304" pitchFamily="18" charset="0"/>
                <a:cs typeface="Times New Roman" panose="02020603050405020304" pitchFamily="18" charset="0"/>
              </a:rPr>
              <a:t> </a:t>
            </a:r>
            <a:endParaRPr kumimoji="0" lang="en-US" sz="2800" b="0" i="0" u="none" strike="noStrike" kern="1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51520" y="35518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Learning Objectives</a:t>
            </a:r>
          </a:p>
        </p:txBody>
      </p:sp>
      <p:sp>
        <p:nvSpPr>
          <p:cNvPr id="3" name="TextBox 2"/>
          <p:cNvSpPr txBox="1"/>
          <p:nvPr/>
        </p:nvSpPr>
        <p:spPr>
          <a:xfrm>
            <a:off x="323530" y="1235756"/>
            <a:ext cx="7848870"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p:cNvSpPr/>
          <p:nvPr/>
        </p:nvSpPr>
        <p:spPr>
          <a:xfrm>
            <a:off x="107504" y="1107776"/>
            <a:ext cx="8784976" cy="830997"/>
          </a:xfrm>
          <a:prstGeom prst="rect">
            <a:avLst/>
          </a:prstGeom>
        </p:spPr>
        <p:txBody>
          <a:bodyPr wrap="square">
            <a:spAutoFit/>
          </a:bodyPr>
          <a:lstStyle/>
          <a:p>
            <a:pPr lvl="0" algn="just">
              <a:defRPr/>
            </a:pPr>
            <a:endParaRPr lang="en-US" sz="2400" b="1" dirty="0">
              <a:solidFill>
                <a:prstClr val="black"/>
              </a:solidFill>
              <a:latin typeface="Times New Roman" panose="02020603050405020304" pitchFamily="18" charset="0"/>
              <a:cs typeface="Times New Roman" panose="02020603050405020304" pitchFamily="18" charset="0"/>
            </a:endParaRPr>
          </a:p>
          <a:p>
            <a:pPr marL="285750" lvl="0" indent="-285750" algn="just">
              <a:buFont typeface="Wingdings" panose="05000000000000000000" pitchFamily="2" charset="2"/>
              <a:buChar char="§"/>
              <a:defRPr/>
            </a:pPr>
            <a:endPar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421C46D-3F04-4F73-BF36-E6D9DA5AE143}" type="slidenum">
              <a:rPr kumimoji="0" lang="en-IN"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IN"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3" name="TextBox 12"/>
          <p:cNvSpPr txBox="1"/>
          <p:nvPr/>
        </p:nvSpPr>
        <p:spPr>
          <a:xfrm>
            <a:off x="262024" y="1200104"/>
            <a:ext cx="8496942" cy="4970591"/>
          </a:xfrm>
          <a:prstGeom prst="rect">
            <a:avLst/>
          </a:prstGeom>
          <a:noFill/>
        </p:spPr>
        <p:txBody>
          <a:bodyPr wrap="square" rtlCol="0">
            <a:spAutoFit/>
          </a:bodyPr>
          <a:lstStyle/>
          <a:p>
            <a:pPr>
              <a:lnSpc>
                <a:spcPct val="150000"/>
              </a:lnSpc>
            </a:pPr>
            <a:r>
              <a:rPr lang="en-US" sz="2400" dirty="0">
                <a:latin typeface="Times New Roman" panose="02020603050405020304" pitchFamily="18" charset="0"/>
                <a:cs typeface="Times New Roman" panose="02020603050405020304" pitchFamily="18" charset="0"/>
              </a:rPr>
              <a:t>After this lecture, students will be able to:</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Define a linked list and explain its basic structure</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Describe the need for linked lists over arrays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Explain the representation and creation of nodes in linked lists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Differentiate between singly, doubly, circular, and circular doubly linked lists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Identify advantages and disadvantages of linked lists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Compare linked lists and arrays in terms of performance and memory</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Identify suitable applications for each linked list type</a:t>
            </a:r>
            <a:endParaRPr lang="en-US" sz="2000" dirty="0"/>
          </a:p>
        </p:txBody>
      </p:sp>
    </p:spTree>
    <p:extLst>
      <p:ext uri="{BB962C8B-B14F-4D97-AF65-F5344CB8AC3E}">
        <p14:creationId xmlns:p14="http://schemas.microsoft.com/office/powerpoint/2010/main" val="327407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2800" b="1" dirty="0">
                <a:solidFill>
                  <a:srgbClr val="E31E24"/>
                </a:solidFill>
                <a:cs typeface="Times New Roman" panose="02020603050405020304" pitchFamily="18" charset="0"/>
                <a:sym typeface="Arial"/>
              </a:rPr>
              <a:t>Recapitulation (</a:t>
            </a:r>
            <a:r>
              <a:rPr lang="en-IN" sz="2800" b="1" dirty="0">
                <a:solidFill>
                  <a:srgbClr val="E31E24"/>
                </a:solidFill>
                <a:cs typeface="Times New Roman" panose="02020603050405020304" pitchFamily="18" charset="0"/>
                <a:sym typeface="Arial"/>
              </a:rPr>
              <a:t>Static and Dynamic Arrays</a:t>
            </a:r>
            <a:r>
              <a:rPr lang="en-US" sz="2800" b="1" dirty="0">
                <a:solidFill>
                  <a:srgbClr val="E31E24"/>
                </a:solidFill>
                <a:cs typeface="Times New Roman" panose="02020603050405020304" pitchFamily="18" charset="0"/>
                <a:sym typeface="Arial"/>
              </a:rPr>
              <a:t>)</a:t>
            </a:r>
            <a:endParaRPr lang="en-IN" sz="2800" b="1" dirty="0">
              <a:solidFill>
                <a:srgbClr val="E31E24"/>
              </a:solidFill>
              <a:cs typeface="Times New Roman" panose="02020603050405020304" pitchFamily="18" charset="0"/>
              <a:sym typeface="Arial"/>
            </a:endParaRPr>
          </a:p>
        </p:txBody>
      </p:sp>
      <p:sp>
        <p:nvSpPr>
          <p:cNvPr id="3" name="TextBox 2"/>
          <p:cNvSpPr txBox="1"/>
          <p:nvPr/>
        </p:nvSpPr>
        <p:spPr>
          <a:xfrm>
            <a:off x="258244" y="1065209"/>
            <a:ext cx="8580969" cy="5293757"/>
          </a:xfrm>
          <a:prstGeom prst="rect">
            <a:avLst/>
          </a:prstGeom>
          <a:noFill/>
        </p:spPr>
        <p:txBody>
          <a:bodyPr wrap="square" rtlCol="0">
            <a:spAutoFit/>
          </a:bodyPr>
          <a:lstStyle/>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An array is a linear data structure that stores elements of the same data type in contiguous memory locations.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1-D arrays store elements in linear form, while 2-D arrays store data in rows and columns.</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Static arrays have a fixed size, allocated at compile time, and are usually stored in stack memory.</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Dynamic arrays allow runtime resizing, are stored in heap memory, and provide better memory flexibility.</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In Python, lists act as dynamic arrays, automatically resizing when elements are added.</a:t>
            </a:r>
          </a:p>
          <a:p>
            <a:pPr marL="268288" lvl="0" indent="-268288" algn="just" eaLnBrk="0" fontAlgn="base" hangingPunct="0">
              <a:spcBef>
                <a:spcPts val="600"/>
              </a:spcBef>
              <a:spcAft>
                <a:spcPts val="600"/>
              </a:spcAft>
              <a:buFontTx/>
              <a:buChar char="•"/>
            </a:pPr>
            <a:r>
              <a:rPr lang="en-US" altLang="en-US" sz="2400" dirty="0">
                <a:latin typeface="Times New Roman" panose="02020603050405020304" pitchFamily="18" charset="0"/>
                <a:cs typeface="Times New Roman" panose="02020603050405020304" pitchFamily="18" charset="0"/>
              </a:rPr>
              <a:t>Static arrays are faster but rigid, whereas dynamic arrays are flexible but complex.</a:t>
            </a:r>
          </a:p>
        </p:txBody>
      </p:sp>
      <p:sp>
        <p:nvSpPr>
          <p:cNvPr id="5" name="Rectangle 4"/>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p:cNvSpPr>
            <a:spLocks noGrp="1"/>
          </p:cNvSpPr>
          <p:nvPr>
            <p:ph type="sldNum" sz="quarter" idx="12"/>
          </p:nvPr>
        </p:nvSpPr>
        <p:spPr/>
        <p:txBody>
          <a:bodyPr/>
          <a:lstStyle/>
          <a:p>
            <a:fld id="{C421C46D-3F04-4F73-BF36-E6D9DA5AE143}" type="slidenum">
              <a:rPr lang="en-IN" smtClean="0"/>
              <a:t>5</a:t>
            </a:fld>
            <a:endParaRPr lang="en-IN"/>
          </a:p>
        </p:txBody>
      </p:sp>
    </p:spTree>
    <p:extLst>
      <p:ext uri="{BB962C8B-B14F-4D97-AF65-F5344CB8AC3E}">
        <p14:creationId xmlns:p14="http://schemas.microsoft.com/office/powerpoint/2010/main" val="3613761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8FECA-5393-67D2-AB3A-88FF12CA85E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0417CCF-9D13-21D7-8A01-B566BD0E2DA4}"/>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11EEDFDC-CF63-81A9-B0FF-D66EB2B30BC0}"/>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0FCD68A-5D5F-69ED-9E1B-49A119C575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66BA3086-797F-DF92-D68F-AC598BD921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C59DB3-3A91-DA7E-7B4A-1DC48C3689CC}"/>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Pretest</a:t>
            </a:r>
          </a:p>
        </p:txBody>
      </p:sp>
      <p:sp>
        <p:nvSpPr>
          <p:cNvPr id="3" name="TextBox 2">
            <a:extLst>
              <a:ext uri="{FF2B5EF4-FFF2-40B4-BE49-F238E27FC236}">
                <a16:creationId xmlns:a16="http://schemas.microsoft.com/office/drawing/2014/main" id="{E8009213-D4D2-E2C9-27C9-02B227D89D1F}"/>
              </a:ext>
            </a:extLst>
          </p:cNvPr>
          <p:cNvSpPr txBox="1"/>
          <p:nvPr/>
        </p:nvSpPr>
        <p:spPr>
          <a:xfrm>
            <a:off x="258244" y="1065209"/>
            <a:ext cx="8580969" cy="5293757"/>
          </a:xfrm>
          <a:prstGeom prst="rect">
            <a:avLst/>
          </a:prstGeom>
          <a:noFill/>
        </p:spPr>
        <p:txBody>
          <a:bodyPr wrap="square" rtlCol="0">
            <a:spAutoFit/>
          </a:bodyPr>
          <a:lstStyle/>
          <a:p>
            <a:pPr>
              <a:spcBef>
                <a:spcPts val="600"/>
              </a:spcBef>
            </a:pPr>
            <a:r>
              <a:rPr lang="en-US" sz="2400" b="1" dirty="0">
                <a:latin typeface="Times New Roman" panose="02020603050405020304" pitchFamily="18" charset="0"/>
                <a:cs typeface="Times New Roman" panose="02020603050405020304" pitchFamily="18" charset="0"/>
              </a:rPr>
              <a:t>Fill in the Blanks</a:t>
            </a:r>
          </a:p>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Arrays store elements in __________ memory locations.</a:t>
            </a:r>
          </a:p>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The size of a static array is decided at __________ time.</a:t>
            </a:r>
          </a:p>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Dynamic arrays are stored in __________ memory.</a:t>
            </a:r>
          </a:p>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In Python, a __________ behaves as a dynamic array.</a:t>
            </a:r>
          </a:p>
          <a:p>
            <a:pPr marL="457200" indent="-457200" algn="just">
              <a:spcBef>
                <a:spcPts val="600"/>
              </a:spcBef>
              <a:buFont typeface="+mj-lt"/>
              <a:buAutoNum type="arabicPeriod"/>
            </a:pPr>
            <a:r>
              <a:rPr lang="en-US" sz="2400" dirty="0">
                <a:latin typeface="Times New Roman" panose="02020603050405020304" pitchFamily="18" charset="0"/>
                <a:cs typeface="Times New Roman" panose="02020603050405020304" pitchFamily="18" charset="0"/>
              </a:rPr>
              <a:t>The append() operation in Python lists has __________ time complexity (amortized).</a:t>
            </a:r>
          </a:p>
          <a:p>
            <a:pPr>
              <a:spcBef>
                <a:spcPts val="600"/>
              </a:spcBef>
            </a:pPr>
            <a:endParaRPr lang="en-US" sz="2400" dirty="0">
              <a:latin typeface="Times New Roman" panose="02020603050405020304" pitchFamily="18" charset="0"/>
              <a:cs typeface="Times New Roman" panose="02020603050405020304" pitchFamily="18" charset="0"/>
            </a:endParaRPr>
          </a:p>
          <a:p>
            <a:pPr>
              <a:spcBef>
                <a:spcPts val="600"/>
              </a:spcBef>
            </a:pPr>
            <a:r>
              <a:rPr lang="en-US" sz="2400" b="1" dirty="0">
                <a:latin typeface="Times New Roman" panose="02020603050405020304" pitchFamily="18" charset="0"/>
                <a:cs typeface="Times New Roman" panose="02020603050405020304" pitchFamily="18" charset="0"/>
              </a:rPr>
              <a:t>One-Word Answer Questions</a:t>
            </a:r>
          </a:p>
          <a:p>
            <a:pPr marL="457200" indent="-457200">
              <a:spcBef>
                <a:spcPts val="600"/>
              </a:spcBef>
              <a:buFont typeface="+mj-lt"/>
              <a:buAutoNum type="arabicPeriod" startAt="6"/>
            </a:pPr>
            <a:r>
              <a:rPr lang="en-US" sz="2400" dirty="0">
                <a:latin typeface="Times New Roman" panose="02020603050405020304" pitchFamily="18" charset="0"/>
                <a:cs typeface="Times New Roman" panose="02020603050405020304" pitchFamily="18" charset="0"/>
              </a:rPr>
              <a:t>Memory used by static arrays</a:t>
            </a:r>
          </a:p>
          <a:p>
            <a:pPr marL="457200" indent="-457200">
              <a:spcBef>
                <a:spcPts val="600"/>
              </a:spcBef>
              <a:buFont typeface="+mj-lt"/>
              <a:buAutoNum type="arabicPeriod" startAt="6"/>
            </a:pPr>
            <a:r>
              <a:rPr lang="en-US" sz="2400" dirty="0">
                <a:latin typeface="Times New Roman" panose="02020603050405020304" pitchFamily="18" charset="0"/>
                <a:cs typeface="Times New Roman" panose="02020603050405020304" pitchFamily="18" charset="0"/>
              </a:rPr>
              <a:t>Data structure used to implement dynamic arrays in Python</a:t>
            </a:r>
          </a:p>
          <a:p>
            <a:pPr marL="457200" indent="-457200">
              <a:spcBef>
                <a:spcPts val="600"/>
              </a:spcBef>
              <a:buFont typeface="+mj-lt"/>
              <a:buAutoNum type="arabicPeriod" startAt="6"/>
            </a:pPr>
            <a:r>
              <a:rPr lang="en-US" sz="2400" dirty="0">
                <a:latin typeface="Times New Roman" panose="02020603050405020304" pitchFamily="18" charset="0"/>
                <a:cs typeface="Times New Roman" panose="02020603050405020304" pitchFamily="18" charset="0"/>
              </a:rPr>
              <a:t>Type of memory used by dynamic arrays</a:t>
            </a:r>
          </a:p>
        </p:txBody>
      </p:sp>
      <p:sp>
        <p:nvSpPr>
          <p:cNvPr id="5" name="Rectangle 4">
            <a:extLst>
              <a:ext uri="{FF2B5EF4-FFF2-40B4-BE49-F238E27FC236}">
                <a16:creationId xmlns:a16="http://schemas.microsoft.com/office/drawing/2014/main" id="{04507CED-2EE3-4762-E052-FA7C361DC9A8}"/>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C732D7C8-79E3-F348-757E-CE701D933B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7205522B-7DAD-6F72-F197-E3266F677833}"/>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17F6B204-7BB8-BD04-E03F-2A90C354D168}"/>
              </a:ext>
            </a:extLst>
          </p:cNvPr>
          <p:cNvSpPr>
            <a:spLocks noGrp="1"/>
          </p:cNvSpPr>
          <p:nvPr>
            <p:ph type="sldNum" sz="quarter" idx="12"/>
          </p:nvPr>
        </p:nvSpPr>
        <p:spPr/>
        <p:txBody>
          <a:bodyPr/>
          <a:lstStyle/>
          <a:p>
            <a:fld id="{C421C46D-3F04-4F73-BF36-E6D9DA5AE143}" type="slidenum">
              <a:rPr lang="en-IN" smtClean="0"/>
              <a:t>6</a:t>
            </a:fld>
            <a:endParaRPr lang="en-IN"/>
          </a:p>
        </p:txBody>
      </p:sp>
    </p:spTree>
    <p:extLst>
      <p:ext uri="{BB962C8B-B14F-4D97-AF65-F5344CB8AC3E}">
        <p14:creationId xmlns:p14="http://schemas.microsoft.com/office/powerpoint/2010/main" val="1267643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59997-042F-A7CB-403D-32360E060D2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69B4EE1-D1F2-BB0F-F162-0E777DF6E5D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8256" y="0"/>
            <a:ext cx="9180512" cy="6885384"/>
          </a:xfrm>
        </p:spPr>
      </p:pic>
      <p:cxnSp>
        <p:nvCxnSpPr>
          <p:cNvPr id="7" name="Straight Connector 6">
            <a:extLst>
              <a:ext uri="{FF2B5EF4-FFF2-40B4-BE49-F238E27FC236}">
                <a16:creationId xmlns:a16="http://schemas.microsoft.com/office/drawing/2014/main" id="{EBC82533-A239-766B-A391-4D27B7707596}"/>
              </a:ext>
            </a:extLst>
          </p:cNvPr>
          <p:cNvCxnSpPr/>
          <p:nvPr/>
        </p:nvCxnSpPr>
        <p:spPr>
          <a:xfrm>
            <a:off x="72008" y="1052736"/>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7D56DF75-2C50-D59C-2B95-9FCF6991FA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65181" y="6345261"/>
            <a:ext cx="2411760" cy="346691"/>
          </a:xfrm>
          <a:prstGeom prst="rect">
            <a:avLst/>
          </a:prstGeom>
        </p:spPr>
      </p:pic>
      <p:sp>
        <p:nvSpPr>
          <p:cNvPr id="6" name="TextBox 5">
            <a:extLst>
              <a:ext uri="{FF2B5EF4-FFF2-40B4-BE49-F238E27FC236}">
                <a16:creationId xmlns:a16="http://schemas.microsoft.com/office/drawing/2014/main" id="{B2F6413E-BDF4-6A93-B1A2-EC6C1A0961E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927D91F9-917E-EDA1-5B60-45A6DE84E343}"/>
              </a:ext>
            </a:extLst>
          </p:cNvPr>
          <p:cNvSpPr>
            <a:spLocks noChangeArrowheads="1"/>
          </p:cNvSpPr>
          <p:nvPr/>
        </p:nvSpPr>
        <p:spPr bwMode="auto">
          <a:xfrm>
            <a:off x="206896" y="339393"/>
            <a:ext cx="89107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2800" b="1" dirty="0">
                <a:solidFill>
                  <a:srgbClr val="E31E24"/>
                </a:solidFill>
                <a:cs typeface="Times New Roman" panose="02020603050405020304" pitchFamily="18" charset="0"/>
                <a:sym typeface="Arial"/>
              </a:rPr>
              <a:t>Pretest (Answers)</a:t>
            </a:r>
          </a:p>
        </p:txBody>
      </p:sp>
      <p:sp>
        <p:nvSpPr>
          <p:cNvPr id="3" name="TextBox 2">
            <a:extLst>
              <a:ext uri="{FF2B5EF4-FFF2-40B4-BE49-F238E27FC236}">
                <a16:creationId xmlns:a16="http://schemas.microsoft.com/office/drawing/2014/main" id="{79451711-3214-A6B7-D6F4-1CAD28CC4CAE}"/>
              </a:ext>
            </a:extLst>
          </p:cNvPr>
          <p:cNvSpPr txBox="1"/>
          <p:nvPr/>
        </p:nvSpPr>
        <p:spPr>
          <a:xfrm>
            <a:off x="258245" y="1338608"/>
            <a:ext cx="8580969" cy="4467057"/>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Contiguous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Compile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Heap</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List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O(1)</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Stack</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List</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Heap</a:t>
            </a:r>
          </a:p>
        </p:txBody>
      </p:sp>
      <p:sp>
        <p:nvSpPr>
          <p:cNvPr id="5" name="Rectangle 4">
            <a:extLst>
              <a:ext uri="{FF2B5EF4-FFF2-40B4-BE49-F238E27FC236}">
                <a16:creationId xmlns:a16="http://schemas.microsoft.com/office/drawing/2014/main" id="{7F7F4E79-64BC-264F-B468-0FBDC7B7D00E}"/>
              </a:ext>
            </a:extLst>
          </p:cNvPr>
          <p:cNvSpPr/>
          <p:nvPr/>
        </p:nvSpPr>
        <p:spPr>
          <a:xfrm>
            <a:off x="107504" y="1107776"/>
            <a:ext cx="8784976" cy="461665"/>
          </a:xfrm>
          <a:prstGeom prst="rect">
            <a:avLst/>
          </a:prstGeom>
        </p:spPr>
        <p:txBody>
          <a:bodyPr wrap="square">
            <a:spAutoFit/>
          </a:bodyPr>
          <a:lstStyle/>
          <a:p>
            <a:pPr algn="just"/>
            <a:endParaRPr lang="en-US" sz="2400" b="1" dirty="0">
              <a:latin typeface="Times New Roman" panose="02020603050405020304" pitchFamily="18" charset="0"/>
              <a:cs typeface="Times New Roman" panose="02020603050405020304" pitchFamily="18" charset="0"/>
            </a:endParaRPr>
          </a:p>
        </p:txBody>
      </p:sp>
      <p:pic>
        <p:nvPicPr>
          <p:cNvPr id="1026" name="Picture 2" descr="Ezoic">
            <a:extLst>
              <a:ext uri="{FF2B5EF4-FFF2-40B4-BE49-F238E27FC236}">
                <a16:creationId xmlns:a16="http://schemas.microsoft.com/office/drawing/2014/main" id="{15AE3660-889E-4727-51A0-1728EF767B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3825" y="-212725"/>
            <a:ext cx="126532" cy="1333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FA2E8E1-DA9E-8425-8AF2-51601D16B7A7}"/>
              </a:ext>
            </a:extLst>
          </p:cNvPr>
          <p:cNvSpPr txBox="1"/>
          <p:nvPr/>
        </p:nvSpPr>
        <p:spPr>
          <a:xfrm>
            <a:off x="304786" y="2492516"/>
            <a:ext cx="7848870" cy="369332"/>
          </a:xfrm>
          <a:prstGeom prst="rect">
            <a:avLst/>
          </a:prstGeom>
          <a:noFill/>
        </p:spPr>
        <p:txBody>
          <a:bodyPr wrap="square" rtlCol="0">
            <a:spAutoFit/>
          </a:bodyPr>
          <a:lstStyle/>
          <a:p>
            <a:endParaRPr lang="en-IN" dirty="0"/>
          </a:p>
        </p:txBody>
      </p:sp>
      <p:sp>
        <p:nvSpPr>
          <p:cNvPr id="10" name="Slide Number Placeholder 9">
            <a:extLst>
              <a:ext uri="{FF2B5EF4-FFF2-40B4-BE49-F238E27FC236}">
                <a16:creationId xmlns:a16="http://schemas.microsoft.com/office/drawing/2014/main" id="{805E298B-8772-2B28-A24C-E96DB38D650B}"/>
              </a:ext>
            </a:extLst>
          </p:cNvPr>
          <p:cNvSpPr>
            <a:spLocks noGrp="1"/>
          </p:cNvSpPr>
          <p:nvPr>
            <p:ph type="sldNum" sz="quarter" idx="12"/>
          </p:nvPr>
        </p:nvSpPr>
        <p:spPr/>
        <p:txBody>
          <a:bodyPr/>
          <a:lstStyle/>
          <a:p>
            <a:fld id="{C421C46D-3F04-4F73-BF36-E6D9DA5AE143}" type="slidenum">
              <a:rPr lang="en-IN" smtClean="0"/>
              <a:t>7</a:t>
            </a:fld>
            <a:endParaRPr lang="en-IN"/>
          </a:p>
        </p:txBody>
      </p:sp>
    </p:spTree>
    <p:extLst>
      <p:ext uri="{BB962C8B-B14F-4D97-AF65-F5344CB8AC3E}">
        <p14:creationId xmlns:p14="http://schemas.microsoft.com/office/powerpoint/2010/main" val="485433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US" sz="3600" dirty="0">
                <a:solidFill>
                  <a:srgbClr val="FF0000"/>
                </a:solidFill>
              </a:rPr>
              <a:t>Linked List</a:t>
            </a:r>
          </a:p>
        </p:txBody>
      </p:sp>
      <p:sp>
        <p:nvSpPr>
          <p:cNvPr id="3" name="Footer Placeholder 2"/>
          <p:cNvSpPr>
            <a:spLocks noGrp="1"/>
          </p:cNvSpPr>
          <p:nvPr>
            <p:ph type="ftr" sz="quarter" idx="11"/>
          </p:nvPr>
        </p:nvSpPr>
        <p:spPr/>
        <p:txBody>
          <a:bodyPr/>
          <a:lstStyle/>
          <a:p>
            <a:r>
              <a:rPr lang="en-IN"/>
              <a:t>Data  Structure         Unit2  </a:t>
            </a:r>
            <a:endParaRPr lang="en-IN" dirty="0"/>
          </a:p>
        </p:txBody>
      </p:sp>
      <p:pic>
        <p:nvPicPr>
          <p:cNvPr id="8" name="Picture 7">
            <a:extLst>
              <a:ext uri="{FF2B5EF4-FFF2-40B4-BE49-F238E27FC236}">
                <a16:creationId xmlns:a16="http://schemas.microsoft.com/office/drawing/2014/main" id="{EE933E18-9F15-A015-7DA8-6FB3F541B028}"/>
              </a:ext>
            </a:extLst>
          </p:cNvPr>
          <p:cNvPicPr>
            <a:picLocks noChangeAspect="1"/>
          </p:cNvPicPr>
          <p:nvPr/>
        </p:nvPicPr>
        <p:blipFill>
          <a:blip r:embed="rId5"/>
          <a:stretch>
            <a:fillRect/>
          </a:stretch>
        </p:blipFill>
        <p:spPr>
          <a:xfrm>
            <a:off x="882735" y="1136586"/>
            <a:ext cx="7415041" cy="4943361"/>
          </a:xfrm>
          <a:prstGeom prst="rect">
            <a:avLst/>
          </a:prstGeom>
        </p:spPr>
      </p:pic>
      <p:sp>
        <p:nvSpPr>
          <p:cNvPr id="10" name="TextBox 9">
            <a:extLst>
              <a:ext uri="{FF2B5EF4-FFF2-40B4-BE49-F238E27FC236}">
                <a16:creationId xmlns:a16="http://schemas.microsoft.com/office/drawing/2014/main" id="{DBC1BE73-384E-6561-3C75-339BE8E7EFD8}"/>
              </a:ext>
            </a:extLst>
          </p:cNvPr>
          <p:cNvSpPr txBox="1"/>
          <p:nvPr/>
        </p:nvSpPr>
        <p:spPr>
          <a:xfrm>
            <a:off x="2690472" y="6068363"/>
            <a:ext cx="3960440" cy="338554"/>
          </a:xfrm>
          <a:prstGeom prst="rect">
            <a:avLst/>
          </a:prstGeom>
          <a:noFill/>
        </p:spPr>
        <p:txBody>
          <a:bodyPr wrap="square" rtlCol="0">
            <a:spAutoFit/>
          </a:bodyPr>
          <a:lstStyle/>
          <a:p>
            <a:pPr algn="ctr"/>
            <a:r>
              <a:rPr lang="en-IN" sz="1600" i="1" dirty="0">
                <a:latin typeface="Times New Roman" panose="02020603050405020304" pitchFamily="18" charset="0"/>
                <a:cs typeface="Times New Roman" panose="02020603050405020304" pitchFamily="18" charset="0"/>
              </a:rPr>
              <a:t>Source: AI Generated Image</a:t>
            </a:r>
          </a:p>
        </p:txBody>
      </p:sp>
    </p:spTree>
    <p:extLst>
      <p:ext uri="{BB962C8B-B14F-4D97-AF65-F5344CB8AC3E}">
        <p14:creationId xmlns:p14="http://schemas.microsoft.com/office/powerpoint/2010/main" val="658833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US" sz="3600" dirty="0">
                <a:solidFill>
                  <a:srgbClr val="FF0000"/>
                </a:solidFill>
              </a:rPr>
              <a:t>Linked List</a:t>
            </a:r>
          </a:p>
        </p:txBody>
      </p:sp>
      <p:sp>
        <p:nvSpPr>
          <p:cNvPr id="3" name="Footer Placeholder 2"/>
          <p:cNvSpPr>
            <a:spLocks noGrp="1"/>
          </p:cNvSpPr>
          <p:nvPr>
            <p:ph type="ftr" sz="quarter" idx="11"/>
          </p:nvPr>
        </p:nvSpPr>
        <p:spPr/>
        <p:txBody>
          <a:bodyPr/>
          <a:lstStyle/>
          <a:p>
            <a:r>
              <a:rPr lang="en-IN"/>
              <a:t>Data  Structure         Unit2  </a:t>
            </a:r>
            <a:endParaRPr lang="en-IN" dirty="0"/>
          </a:p>
        </p:txBody>
      </p:sp>
      <p:sp>
        <p:nvSpPr>
          <p:cNvPr id="5" name="Rectangle 4"/>
          <p:cNvSpPr/>
          <p:nvPr/>
        </p:nvSpPr>
        <p:spPr>
          <a:xfrm>
            <a:off x="381000" y="1293834"/>
            <a:ext cx="8077200" cy="4185761"/>
          </a:xfrm>
          <a:prstGeom prst="rect">
            <a:avLst/>
          </a:prstGeom>
        </p:spPr>
        <p:txBody>
          <a:bodyPr wrap="square">
            <a:spAutoFit/>
          </a:bodyPr>
          <a:lstStyle/>
          <a:p>
            <a:pPr marL="285750" indent="-28575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itchFamily="18" charset="0"/>
              </a:rPr>
              <a:t>Linked list  is  a linear data structure with series of connected nodes. </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Elements are stored in </a:t>
            </a:r>
            <a:r>
              <a:rPr lang="en-US" sz="2400" b="1" dirty="0">
                <a:latin typeface="Times New Roman" panose="02020603050405020304" pitchFamily="18" charset="0"/>
                <a:cs typeface="Times New Roman" panose="02020603050405020304" pitchFamily="18" charset="0"/>
              </a:rPr>
              <a:t>nodes</a:t>
            </a:r>
          </a:p>
          <a:p>
            <a:pPr marL="285750" indent="-285750" algn="just">
              <a:spcBef>
                <a:spcPts val="600"/>
              </a:spcBef>
              <a:spcAft>
                <a:spcPts val="600"/>
              </a:spcAft>
              <a:buFont typeface="Wingdings" pitchFamily="2" charset="2"/>
              <a:buChar char="Ø"/>
            </a:pPr>
            <a:r>
              <a:rPr lang="en-US" sz="2400" dirty="0">
                <a:latin typeface="Times New Roman" panose="02020603050405020304" pitchFamily="18" charset="0"/>
                <a:cs typeface="Times New Roman" panose="02020603050405020304" pitchFamily="18" charset="0"/>
              </a:rPr>
              <a:t>Each node contains:</a:t>
            </a:r>
          </a:p>
          <a:p>
            <a:pPr marL="742950" lvl="1" indent="-28575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a:t>
            </a:r>
          </a:p>
          <a:p>
            <a:pPr marL="742950" lvl="1" indent="-28575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Address of next node</a:t>
            </a:r>
          </a:p>
          <a:p>
            <a:pPr marL="342900" indent="-342900">
              <a:spcBef>
                <a:spcPts val="60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linked list is a </a:t>
            </a:r>
            <a:r>
              <a:rPr lang="en-US" sz="2400" b="1" dirty="0">
                <a:latin typeface="Times New Roman" panose="02020603050405020304" pitchFamily="18" charset="0"/>
                <a:cs typeface="Times New Roman" panose="02020603050405020304" pitchFamily="18" charset="0"/>
              </a:rPr>
              <a:t>linear data structure</a:t>
            </a:r>
            <a:endParaRPr lang="en-US" sz="2400" dirty="0">
              <a:latin typeface="Times New Roman" panose="02020603050405020304" pitchFamily="18" charset="0"/>
              <a:cs typeface="Times New Roman" panose="02020603050405020304" pitchFamily="18" charset="0"/>
            </a:endParaRPr>
          </a:p>
          <a:p>
            <a:pPr marL="342900" indent="-342900">
              <a:spcBef>
                <a:spcPts val="600"/>
              </a:spcBef>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first node is pointed by </a:t>
            </a:r>
            <a:r>
              <a:rPr lang="en-US" sz="2400" b="1" dirty="0">
                <a:latin typeface="Times New Roman" panose="02020603050405020304" pitchFamily="18" charset="0"/>
                <a:cs typeface="Times New Roman" panose="02020603050405020304" pitchFamily="18" charset="0"/>
              </a:rPr>
              <a:t>Head</a:t>
            </a:r>
            <a:endParaRPr lang="en-US" sz="2400" dirty="0">
              <a:latin typeface="Times New Roman" panose="02020603050405020304" pitchFamily="18" charset="0"/>
              <a:cs typeface="Times New Roman" panose="02020603050405020304" pitchFamily="18" charset="0"/>
            </a:endParaRPr>
          </a:p>
          <a:p>
            <a:pPr marL="285750" indent="-285750" algn="just">
              <a:spcBef>
                <a:spcPts val="600"/>
              </a:spcBef>
              <a:spcAft>
                <a:spcPts val="600"/>
              </a:spcAft>
              <a:buFont typeface="Wingdings" pitchFamily="2" charset="2"/>
              <a:buChar char="Ø"/>
            </a:pPr>
            <a:r>
              <a:rPr lang="en-IN" sz="2400" dirty="0">
                <a:latin typeface="Times New Roman" panose="02020603050405020304" pitchFamily="18" charset="0"/>
                <a:cs typeface="Times New Roman" pitchFamily="18" charset="0"/>
              </a:rPr>
              <a:t>The last node of the list contains a pointer to the null</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5432" y="2742171"/>
            <a:ext cx="4752528" cy="928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4447516" y="3680196"/>
            <a:ext cx="3888432" cy="307777"/>
          </a:xfrm>
          <a:prstGeom prst="rect">
            <a:avLst/>
          </a:prstGeom>
        </p:spPr>
        <p:txBody>
          <a:bodyPr wrap="square">
            <a:spAutoFit/>
          </a:bodyPr>
          <a:lstStyle/>
          <a:p>
            <a:r>
              <a:rPr lang="en-IN" sz="1400" dirty="0">
                <a:hlinkClick r:id="rId6"/>
              </a:rPr>
              <a:t>https://www.geeksforgeeks.org/what-is-linked-list/</a:t>
            </a:r>
            <a:endParaRPr lang="en-IN" sz="1400" dirty="0"/>
          </a:p>
        </p:txBody>
      </p:sp>
    </p:spTree>
    <p:extLst>
      <p:ext uri="{BB962C8B-B14F-4D97-AF65-F5344CB8AC3E}">
        <p14:creationId xmlns:p14="http://schemas.microsoft.com/office/powerpoint/2010/main" val="2304208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55575" y="45785"/>
            <a:ext cx="8751017" cy="1015663"/>
          </a:xfrm>
          <a:prstGeom prst="rect">
            <a:avLst/>
          </a:prstGeom>
          <a:noFill/>
        </p:spPr>
        <p:txBody>
          <a:bodyPr wrap="square" rtlCol="0">
            <a:spAutoFit/>
          </a:bodyPr>
          <a:lstStyle/>
          <a:p>
            <a:endParaRPr lang="en-US" sz="2400" b="1" u="sng" dirty="0"/>
          </a:p>
          <a:p>
            <a:r>
              <a:rPr lang="en-US" dirty="0"/>
              <a:t> </a:t>
            </a:r>
            <a:r>
              <a:rPr lang="en-US" sz="3600" dirty="0">
                <a:solidFill>
                  <a:srgbClr val="FF0000"/>
                </a:solidFill>
              </a:rPr>
              <a:t>Why Linked List?</a:t>
            </a:r>
          </a:p>
        </p:txBody>
      </p:sp>
      <p:sp>
        <p:nvSpPr>
          <p:cNvPr id="3" name="Footer Placeholder 2"/>
          <p:cNvSpPr>
            <a:spLocks noGrp="1"/>
          </p:cNvSpPr>
          <p:nvPr>
            <p:ph type="ftr" sz="quarter" idx="11"/>
          </p:nvPr>
        </p:nvSpPr>
        <p:spPr/>
        <p:txBody>
          <a:bodyPr/>
          <a:lstStyle/>
          <a:p>
            <a:r>
              <a:rPr lang="en-IN"/>
              <a:t>Data  Structure         Unit2  </a:t>
            </a:r>
            <a:endParaRPr lang="en-IN" dirty="0"/>
          </a:p>
        </p:txBody>
      </p:sp>
      <p:sp>
        <p:nvSpPr>
          <p:cNvPr id="5" name="Rectangle 4"/>
          <p:cNvSpPr/>
          <p:nvPr/>
        </p:nvSpPr>
        <p:spPr>
          <a:xfrm>
            <a:off x="381000" y="1293834"/>
            <a:ext cx="8077200" cy="4462760"/>
          </a:xfrm>
          <a:prstGeom prst="rect">
            <a:avLst/>
          </a:prstGeom>
        </p:spPr>
        <p:txBody>
          <a:bodyPr wrap="square">
            <a:spAutoFit/>
          </a:bodyPr>
          <a:lstStyle/>
          <a:p>
            <a:pPr algn="just">
              <a:spcBef>
                <a:spcPts val="600"/>
              </a:spcBef>
            </a:pPr>
            <a:r>
              <a:rPr lang="en-IN" sz="2400" dirty="0">
                <a:latin typeface="Times New Roman" panose="02020603050405020304" pitchFamily="18" charset="0"/>
                <a:cs typeface="Times New Roman" panose="02020603050405020304" pitchFamily="18" charset="0"/>
              </a:rPr>
              <a:t>Arrays can be used to store linear data of similar types, but arrays have the following limitations. </a:t>
            </a:r>
          </a:p>
          <a:p>
            <a:pPr marL="342900" indent="-342900" algn="just">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The size of the array is fixed:</a:t>
            </a:r>
          </a:p>
          <a:p>
            <a:pPr marL="360363" algn="just">
              <a:spcBef>
                <a:spcPts val="600"/>
              </a:spcBef>
            </a:pPr>
            <a:r>
              <a:rPr lang="en-US" sz="2400" dirty="0">
                <a:latin typeface="Times New Roman" panose="02020603050405020304" pitchFamily="18" charset="0"/>
                <a:cs typeface="Times New Roman" panose="02020603050405020304" pitchFamily="18" charset="0"/>
              </a:rPr>
              <a:t>The size of an array must be known in advance, so the upper limit on the number of elements has to be predefined, and the allocated memory remains equal to this limit regardless of actual usage.</a:t>
            </a:r>
          </a:p>
          <a:p>
            <a:pPr marL="342900" indent="-342900" algn="just">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Insertion operation is expensive:</a:t>
            </a:r>
          </a:p>
          <a:p>
            <a:pPr marL="360363" algn="just">
              <a:spcBef>
                <a:spcPts val="600"/>
              </a:spcBef>
            </a:pPr>
            <a:r>
              <a:rPr lang="en-US" sz="2400" dirty="0">
                <a:latin typeface="Times New Roman" panose="02020603050405020304" pitchFamily="18" charset="0"/>
                <a:cs typeface="Times New Roman" panose="02020603050405020304" pitchFamily="18" charset="0"/>
              </a:rPr>
              <a:t>Inserting a new element into an array is costly because space must be created for the new element, which requires shifting existing elements to new positions.</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Tree>
    <p:extLst>
      <p:ext uri="{BB962C8B-B14F-4D97-AF65-F5344CB8AC3E}">
        <p14:creationId xmlns:p14="http://schemas.microsoft.com/office/powerpoint/2010/main" val="2464069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55575" y="45785"/>
            <a:ext cx="8751017" cy="1015663"/>
          </a:xfrm>
          <a:prstGeom prst="rect">
            <a:avLst/>
          </a:prstGeom>
          <a:noFill/>
        </p:spPr>
        <p:txBody>
          <a:bodyPr wrap="square" rtlCol="0">
            <a:spAutoFit/>
          </a:bodyPr>
          <a:lstStyle/>
          <a:p>
            <a:endParaRPr lang="en-US" sz="2400" b="1" u="sng" dirty="0"/>
          </a:p>
          <a:p>
            <a:r>
              <a:rPr lang="en-US" dirty="0"/>
              <a:t> </a:t>
            </a:r>
            <a:r>
              <a:rPr lang="en-US" sz="3600" dirty="0">
                <a:solidFill>
                  <a:srgbClr val="FF0000"/>
                </a:solidFill>
              </a:rPr>
              <a:t>Example</a:t>
            </a:r>
          </a:p>
        </p:txBody>
      </p:sp>
      <p:sp>
        <p:nvSpPr>
          <p:cNvPr id="3" name="Footer Placeholder 2"/>
          <p:cNvSpPr>
            <a:spLocks noGrp="1"/>
          </p:cNvSpPr>
          <p:nvPr>
            <p:ph type="ftr" sz="quarter" idx="11"/>
          </p:nvPr>
        </p:nvSpPr>
        <p:spPr/>
        <p:txBody>
          <a:bodyPr/>
          <a:lstStyle/>
          <a:p>
            <a:r>
              <a:rPr lang="en-IN"/>
              <a:t>Data  Structure         Unit2  </a:t>
            </a:r>
            <a:endParaRPr lang="en-IN" dirty="0"/>
          </a:p>
        </p:txBody>
      </p:sp>
      <p:sp>
        <p:nvSpPr>
          <p:cNvPr id="5" name="Rectangle 4"/>
          <p:cNvSpPr/>
          <p:nvPr/>
        </p:nvSpPr>
        <p:spPr>
          <a:xfrm>
            <a:off x="381000" y="1293834"/>
            <a:ext cx="8077200" cy="501194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 a system, if we maintain a sorted list of IDs in an array id[].</a:t>
            </a:r>
          </a:p>
          <a:p>
            <a:pPr algn="ctr">
              <a:lnSpc>
                <a:spcPct val="150000"/>
              </a:lnSpc>
            </a:pPr>
            <a:r>
              <a:rPr lang="en-IN" sz="2400" dirty="0">
                <a:latin typeface="Times New Roman" panose="02020603050405020304" pitchFamily="18" charset="0"/>
                <a:cs typeface="Times New Roman" panose="02020603050405020304" pitchFamily="18" charset="0"/>
              </a:rPr>
              <a:t>id[] = [1000, 1010, 1050, 2000, 2040].</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And if we want to insert a new ID 1005, then to maintain the sorted order, we have to move all the elements after 1000 (excluding 1000).</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Deletion is also expensive with arrays unless some special techniques are used. For example, to delete 1010 in id[], everything after 1010 has to be moved.</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Tree>
    <p:extLst>
      <p:ext uri="{BB962C8B-B14F-4D97-AF65-F5344CB8AC3E}">
        <p14:creationId xmlns:p14="http://schemas.microsoft.com/office/powerpoint/2010/main" val="3937441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155575" y="45785"/>
            <a:ext cx="8751017" cy="1015663"/>
          </a:xfrm>
          <a:prstGeom prst="rect">
            <a:avLst/>
          </a:prstGeom>
          <a:noFill/>
        </p:spPr>
        <p:txBody>
          <a:bodyPr wrap="square" rtlCol="0">
            <a:spAutoFit/>
          </a:bodyPr>
          <a:lstStyle/>
          <a:p>
            <a:endParaRPr lang="en-US" sz="2400" b="1" u="sng" dirty="0"/>
          </a:p>
          <a:p>
            <a:r>
              <a:rPr lang="en-US" dirty="0"/>
              <a:t> </a:t>
            </a:r>
            <a:r>
              <a:rPr lang="en-IN" sz="3600" dirty="0">
                <a:solidFill>
                  <a:srgbClr val="FF0000"/>
                </a:solidFill>
              </a:rPr>
              <a:t>Representation</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endParaRPr lang="en-IN" dirty="0"/>
          </a:p>
        </p:txBody>
      </p:sp>
      <p:sp>
        <p:nvSpPr>
          <p:cNvPr id="5" name="Rectangle 4"/>
          <p:cNvSpPr/>
          <p:nvPr/>
        </p:nvSpPr>
        <p:spPr>
          <a:xfrm>
            <a:off x="381000" y="1293834"/>
            <a:ext cx="8077200" cy="391305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linked list is represented by a pointer to the first node of the linked list.</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first node is called the head. If the linked list is empty, then the value of the head is NULL.</a:t>
            </a:r>
          </a:p>
          <a:p>
            <a:pPr marL="342900" indent="-342900" algn="just">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Each node in a list consists of at least two parts:</a:t>
            </a:r>
          </a:p>
          <a:p>
            <a:pPr marL="817563" indent="-457200" algn="just">
              <a:lnSpc>
                <a:spcPct val="150000"/>
              </a:lnSpc>
              <a:buFont typeface="+mj-lt"/>
              <a:buAutoNum type="arabicPeriod"/>
            </a:pPr>
            <a:r>
              <a:rPr lang="en-IN" sz="2400" dirty="0">
                <a:latin typeface="Times New Roman" panose="02020603050405020304" pitchFamily="18" charset="0"/>
                <a:cs typeface="Times New Roman" panose="02020603050405020304" pitchFamily="18" charset="0"/>
              </a:rPr>
              <a:t>Data</a:t>
            </a:r>
          </a:p>
          <a:p>
            <a:pPr marL="817563" indent="-457200" algn="just">
              <a:lnSpc>
                <a:spcPct val="150000"/>
              </a:lnSpc>
              <a:buFont typeface="+mj-lt"/>
              <a:buAutoNum type="arabicPeriod"/>
            </a:pPr>
            <a:r>
              <a:rPr lang="en-IN" sz="2400" dirty="0">
                <a:latin typeface="Times New Roman" panose="02020603050405020304" pitchFamily="18" charset="0"/>
                <a:cs typeface="Times New Roman" panose="02020603050405020304" pitchFamily="18" charset="0"/>
              </a:rPr>
              <a:t>Pointer (or Reference) to the next node</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Tree>
    <p:extLst>
      <p:ext uri="{BB962C8B-B14F-4D97-AF65-F5344CB8AC3E}">
        <p14:creationId xmlns:p14="http://schemas.microsoft.com/office/powerpoint/2010/main" val="603709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569660"/>
          </a:xfrm>
          <a:prstGeom prst="rect">
            <a:avLst/>
          </a:prstGeom>
          <a:noFill/>
        </p:spPr>
        <p:txBody>
          <a:bodyPr wrap="square" rtlCol="0">
            <a:spAutoFit/>
          </a:bodyPr>
          <a:lstStyle/>
          <a:p>
            <a:endParaRPr lang="en-US" sz="2400" b="1" u="sng" dirty="0"/>
          </a:p>
          <a:p>
            <a:r>
              <a:rPr lang="en-US" dirty="0"/>
              <a:t> </a:t>
            </a:r>
            <a:r>
              <a:rPr lang="en-IN" sz="3600" dirty="0"/>
              <a:t> </a:t>
            </a:r>
            <a:r>
              <a:rPr lang="en-IN" sz="3200" dirty="0">
                <a:solidFill>
                  <a:srgbClr val="FF0000"/>
                </a:solidFill>
              </a:rPr>
              <a:t>Creation of Node and Declaration of Linked Lists</a:t>
            </a:r>
            <a:endParaRPr lang="en-IN" sz="3600" dirty="0">
              <a:solidFill>
                <a:srgbClr val="FF0000"/>
              </a:solidFill>
            </a:endParaRPr>
          </a:p>
          <a:p>
            <a:endParaRPr lang="en-US" sz="3600" b="1" dirty="0"/>
          </a:p>
        </p:txBody>
      </p:sp>
      <p:sp>
        <p:nvSpPr>
          <p:cNvPr id="3" name="Footer Placeholder 2"/>
          <p:cNvSpPr>
            <a:spLocks noGrp="1"/>
          </p:cNvSpPr>
          <p:nvPr>
            <p:ph type="ftr" sz="quarter" idx="11"/>
          </p:nvPr>
        </p:nvSpPr>
        <p:spPr/>
        <p:txBody>
          <a:bodyPr/>
          <a:lstStyle/>
          <a:p>
            <a:r>
              <a:rPr lang="en-IN"/>
              <a:t>Data  Structure         Unit2  </a:t>
            </a:r>
            <a:endParaRPr lang="en-IN" dirty="0"/>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1" name="Rectangle 10"/>
          <p:cNvSpPr/>
          <p:nvPr/>
        </p:nvSpPr>
        <p:spPr>
          <a:xfrm>
            <a:off x="914400" y="1480231"/>
            <a:ext cx="6858000" cy="4124206"/>
          </a:xfrm>
          <a:prstGeom prst="rect">
            <a:avLst/>
          </a:prstGeom>
        </p:spPr>
        <p:txBody>
          <a:bodyPr wrap="square">
            <a:spAutoFit/>
          </a:bodyPr>
          <a:lstStyle/>
          <a:p>
            <a:pPr>
              <a:spcBef>
                <a:spcPts val="600"/>
              </a:spcBef>
              <a:spcAft>
                <a:spcPts val="600"/>
              </a:spcAft>
            </a:pP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a:t>
            </a:r>
          </a:p>
          <a:p>
            <a:pPr>
              <a:spcBef>
                <a:spcPts val="600"/>
              </a:spcBef>
              <a:spcAft>
                <a:spcPts val="600"/>
              </a:spcAft>
            </a:pPr>
            <a:r>
              <a:rPr lang="en-IN" sz="2400" dirty="0">
                <a:latin typeface="Times New Roman" panose="02020603050405020304" pitchFamily="18" charset="0"/>
                <a:cs typeface="Times New Roman" panose="02020603050405020304" pitchFamily="18" charset="0"/>
              </a:rPr>
              <a:t>{</a:t>
            </a:r>
          </a:p>
          <a:p>
            <a:pPr>
              <a:spcBef>
                <a:spcPts val="600"/>
              </a:spcBef>
              <a:spcAft>
                <a:spcPts val="600"/>
              </a:spcAft>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int</a:t>
            </a:r>
            <a:r>
              <a:rPr lang="en-IN" sz="2400" dirty="0">
                <a:latin typeface="Times New Roman" panose="02020603050405020304" pitchFamily="18" charset="0"/>
                <a:cs typeface="Times New Roman" panose="02020603050405020304" pitchFamily="18" charset="0"/>
              </a:rPr>
              <a:t> data;</a:t>
            </a:r>
          </a:p>
          <a:p>
            <a:pPr>
              <a:spcBef>
                <a:spcPts val="600"/>
              </a:spcBef>
              <a:spcAft>
                <a:spcPts val="600"/>
              </a:spcAft>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 * next;</a:t>
            </a:r>
          </a:p>
          <a:p>
            <a:pPr>
              <a:spcBef>
                <a:spcPts val="600"/>
              </a:spcBef>
              <a:spcAft>
                <a:spcPts val="600"/>
              </a:spcAft>
            </a:pPr>
            <a:r>
              <a:rPr lang="en-IN" sz="2400" dirty="0">
                <a:latin typeface="Times New Roman" panose="02020603050405020304" pitchFamily="18" charset="0"/>
                <a:cs typeface="Times New Roman" panose="02020603050405020304" pitchFamily="18" charset="0"/>
              </a:rPr>
              <a:t>};</a:t>
            </a:r>
          </a:p>
          <a:p>
            <a:pPr>
              <a:spcBef>
                <a:spcPts val="600"/>
              </a:spcBef>
              <a:spcAft>
                <a:spcPts val="600"/>
              </a:spcAft>
            </a:pP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 * n;</a:t>
            </a:r>
          </a:p>
          <a:p>
            <a:pPr>
              <a:spcBef>
                <a:spcPts val="600"/>
              </a:spcBef>
              <a:spcAft>
                <a:spcPts val="600"/>
              </a:spcAft>
            </a:pPr>
            <a:endParaRPr lang="en-IN" sz="2400" dirty="0">
              <a:latin typeface="Times New Roman" panose="02020603050405020304" pitchFamily="18" charset="0"/>
              <a:cs typeface="Times New Roman" panose="02020603050405020304" pitchFamily="18" charset="0"/>
            </a:endParaRPr>
          </a:p>
          <a:p>
            <a:pPr>
              <a:spcBef>
                <a:spcPts val="600"/>
              </a:spcBef>
              <a:spcAft>
                <a:spcPts val="600"/>
              </a:spcAft>
            </a:pPr>
            <a:r>
              <a:rPr lang="en-IN" sz="2400" dirty="0">
                <a:latin typeface="Times New Roman" panose="02020603050405020304" pitchFamily="18" charset="0"/>
                <a:cs typeface="Times New Roman" panose="02020603050405020304" pitchFamily="18" charset="0"/>
              </a:rPr>
              <a:t>n=(</a:t>
            </a: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a:t>
            </a:r>
            <a:r>
              <a:rPr lang="en-IN" sz="2400" dirty="0" err="1">
                <a:latin typeface="Times New Roman" panose="02020603050405020304" pitchFamily="18" charset="0"/>
                <a:cs typeface="Times New Roman" panose="02020603050405020304" pitchFamily="18" charset="0"/>
              </a:rPr>
              <a:t>malloc</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sizeof</a:t>
            </a: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struct</a:t>
            </a:r>
            <a:r>
              <a:rPr lang="en-IN" sz="2400" dirty="0">
                <a:latin typeface="Times New Roman" panose="02020603050405020304" pitchFamily="18" charset="0"/>
                <a:cs typeface="Times New Roman" panose="02020603050405020304" pitchFamily="18" charset="0"/>
              </a:rPr>
              <a:t> node*));</a:t>
            </a:r>
          </a:p>
        </p:txBody>
      </p:sp>
      <p:pic>
        <p:nvPicPr>
          <p:cNvPr id="3074" name="Picture 2"/>
          <p:cNvPicPr>
            <a:picLocks noChangeAspect="1" noChangeArrowheads="1"/>
          </p:cNvPicPr>
          <p:nvPr/>
        </p:nvPicPr>
        <p:blipFill rotWithShape="1">
          <a:blip r:embed="rId5">
            <a:extLst>
              <a:ext uri="{28A0092B-C50C-407E-A947-70E740481C1C}">
                <a14:useLocalDpi xmlns:a14="http://schemas.microsoft.com/office/drawing/2010/main" val="0"/>
              </a:ext>
            </a:extLst>
          </a:blip>
          <a:srcRect l="26024" r="17433" b="55410"/>
          <a:stretch/>
        </p:blipFill>
        <p:spPr bwMode="auto">
          <a:xfrm>
            <a:off x="4191186" y="2541598"/>
            <a:ext cx="4177258" cy="1705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0840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569660"/>
          </a:xfrm>
          <a:prstGeom prst="rect">
            <a:avLst/>
          </a:prstGeom>
          <a:noFill/>
        </p:spPr>
        <p:txBody>
          <a:bodyPr wrap="square" rtlCol="0">
            <a:spAutoFit/>
          </a:bodyPr>
          <a:lstStyle/>
          <a:p>
            <a:endParaRPr lang="en-US" sz="2400" b="1" u="sng" dirty="0"/>
          </a:p>
          <a:p>
            <a:r>
              <a:rPr lang="en-US" dirty="0"/>
              <a:t> </a:t>
            </a:r>
            <a:r>
              <a:rPr lang="en-IN" sz="3600" dirty="0">
                <a:solidFill>
                  <a:srgbClr val="FF0000"/>
                </a:solidFill>
              </a:rPr>
              <a:t> </a:t>
            </a:r>
            <a:r>
              <a:rPr lang="en-IN" sz="3200" dirty="0">
                <a:solidFill>
                  <a:srgbClr val="FF0000"/>
                </a:solidFill>
              </a:rPr>
              <a:t>Applications </a:t>
            </a:r>
            <a:endParaRPr lang="en-IN" sz="3600" dirty="0">
              <a:solidFill>
                <a:srgbClr val="FF0000"/>
              </a:solidFill>
            </a:endParaRPr>
          </a:p>
          <a:p>
            <a:endParaRPr lang="en-US" sz="3600" b="1" dirty="0"/>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8" name="Picture 17">
            <a:extLst>
              <a:ext uri="{FF2B5EF4-FFF2-40B4-BE49-F238E27FC236}">
                <a16:creationId xmlns:a16="http://schemas.microsoft.com/office/drawing/2014/main" id="{07958704-1B9D-7335-D51A-9B89E842A7B9}"/>
              </a:ext>
            </a:extLst>
          </p:cNvPr>
          <p:cNvPicPr>
            <a:picLocks noChangeAspect="1"/>
          </p:cNvPicPr>
          <p:nvPr/>
        </p:nvPicPr>
        <p:blipFill>
          <a:blip r:embed="rId5"/>
          <a:srcRect l="787" t="16292" r="787" b="16926"/>
          <a:stretch>
            <a:fillRect/>
          </a:stretch>
        </p:blipFill>
        <p:spPr>
          <a:xfrm>
            <a:off x="72008" y="1374186"/>
            <a:ext cx="8999984" cy="4071037"/>
          </a:xfrm>
          <a:prstGeom prst="rect">
            <a:avLst/>
          </a:prstGeom>
        </p:spPr>
      </p:pic>
      <p:sp>
        <p:nvSpPr>
          <p:cNvPr id="19" name="TextBox 18">
            <a:extLst>
              <a:ext uri="{FF2B5EF4-FFF2-40B4-BE49-F238E27FC236}">
                <a16:creationId xmlns:a16="http://schemas.microsoft.com/office/drawing/2014/main" id="{36FC3CE6-DAF8-D076-6E9E-F34E591DC128}"/>
              </a:ext>
            </a:extLst>
          </p:cNvPr>
          <p:cNvSpPr txBox="1"/>
          <p:nvPr/>
        </p:nvSpPr>
        <p:spPr>
          <a:xfrm>
            <a:off x="2610036" y="5369440"/>
            <a:ext cx="3960440" cy="338554"/>
          </a:xfrm>
          <a:prstGeom prst="rect">
            <a:avLst/>
          </a:prstGeom>
          <a:noFill/>
        </p:spPr>
        <p:txBody>
          <a:bodyPr wrap="square" rtlCol="0">
            <a:spAutoFit/>
          </a:bodyPr>
          <a:lstStyle/>
          <a:p>
            <a:pPr algn="ctr"/>
            <a:r>
              <a:rPr lang="en-IN" sz="1600" i="1" dirty="0">
                <a:latin typeface="Times New Roman" panose="02020603050405020304" pitchFamily="18" charset="0"/>
                <a:cs typeface="Times New Roman" panose="02020603050405020304" pitchFamily="18" charset="0"/>
              </a:rPr>
              <a:t>Source: AI Generated Image</a:t>
            </a:r>
          </a:p>
        </p:txBody>
      </p:sp>
    </p:spTree>
    <p:extLst>
      <p:ext uri="{BB962C8B-B14F-4D97-AF65-F5344CB8AC3E}">
        <p14:creationId xmlns:p14="http://schemas.microsoft.com/office/powerpoint/2010/main" val="1452244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8" y="53136"/>
            <a:ext cx="8751017" cy="1569660"/>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Advantages And Disadvantages</a:t>
            </a:r>
            <a:endParaRPr lang="en-IN" sz="3200" dirty="0">
              <a:solidFill>
                <a:srgbClr val="FF0000"/>
              </a:solidFill>
            </a:endParaRPr>
          </a:p>
          <a:p>
            <a:endParaRPr lang="en-US" sz="3600" b="1" dirty="0"/>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p:cNvSpPr/>
          <p:nvPr/>
        </p:nvSpPr>
        <p:spPr>
          <a:xfrm>
            <a:off x="506435" y="1622796"/>
            <a:ext cx="3445430" cy="3785652"/>
          </a:xfrm>
          <a:prstGeom prst="rect">
            <a:avLst/>
          </a:prstGeom>
        </p:spPr>
        <p:txBody>
          <a:bodyPr wrap="none">
            <a:spAutoFit/>
          </a:bodyPr>
          <a:lstStyle/>
          <a:p>
            <a:pPr algn="just">
              <a:lnSpc>
                <a:spcPct val="150000"/>
              </a:lnSpc>
            </a:pPr>
            <a:r>
              <a:rPr lang="en-IN" sz="2400" b="1" dirty="0">
                <a:solidFill>
                  <a:schemeClr val="accent1"/>
                </a:solidFill>
                <a:latin typeface="Times New Roman" panose="02020603050405020304" pitchFamily="18" charset="0"/>
                <a:cs typeface="Times New Roman" panose="02020603050405020304" pitchFamily="18" charset="0"/>
              </a:rPr>
              <a:t>Advantages</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Dynamic data structure</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Insertion and deletion</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Versatility </a:t>
            </a:r>
          </a:p>
          <a:p>
            <a:pPr marL="342900" indent="-342900" algn="just">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Persistence </a:t>
            </a:r>
          </a:p>
          <a:p>
            <a:pPr algn="just"/>
            <a:endParaRPr lang="en-IN" sz="2400" dirty="0"/>
          </a:p>
        </p:txBody>
      </p:sp>
      <p:sp>
        <p:nvSpPr>
          <p:cNvPr id="13" name="Rectangle 12"/>
          <p:cNvSpPr/>
          <p:nvPr/>
        </p:nvSpPr>
        <p:spPr>
          <a:xfrm>
            <a:off x="4256405" y="1701472"/>
            <a:ext cx="4614375" cy="3359061"/>
          </a:xfrm>
          <a:prstGeom prst="rect">
            <a:avLst/>
          </a:prstGeom>
        </p:spPr>
        <p:txBody>
          <a:bodyPr wrap="square">
            <a:spAutoFit/>
          </a:bodyPr>
          <a:lstStyle/>
          <a:p>
            <a:pPr>
              <a:lnSpc>
                <a:spcPct val="150000"/>
              </a:lnSpc>
            </a:pPr>
            <a:r>
              <a:rPr lang="en-US" sz="2400" b="1" dirty="0">
                <a:solidFill>
                  <a:schemeClr val="accent1"/>
                </a:solidFill>
                <a:latin typeface="Times New Roman" panose="02020603050405020304" pitchFamily="18" charset="0"/>
                <a:cs typeface="Times New Roman" panose="02020603050405020304" pitchFamily="18" charset="0"/>
              </a:rPr>
              <a:t>Disadvantages</a:t>
            </a:r>
            <a:endParaRPr lang="en-IN" sz="2400" b="1" dirty="0">
              <a:solidFill>
                <a:schemeClr val="accent1"/>
              </a:solidFill>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Memory usage </a:t>
            </a:r>
          </a:p>
          <a:p>
            <a:pPr marL="457200" indent="-4572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Accessing an element</a:t>
            </a:r>
          </a:p>
          <a:p>
            <a:pPr marL="457200" indent="-4572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More complex implementation </a:t>
            </a:r>
          </a:p>
          <a:p>
            <a:pPr marL="457200" indent="-457200">
              <a:lnSpc>
                <a:spcPct val="150000"/>
              </a:lnSpc>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Lack of cache locality </a:t>
            </a:r>
          </a:p>
          <a:p>
            <a:pPr marL="457200" indent="-457200">
              <a:lnSpc>
                <a:spcPct val="150000"/>
              </a:lnSpc>
              <a:buFont typeface="Wingdings" panose="05000000000000000000" pitchFamily="2" charset="2"/>
              <a:buChar char="Ø"/>
            </a:pPr>
            <a:endParaRPr lang="en-IN" sz="2400" i="1" dirty="0"/>
          </a:p>
        </p:txBody>
      </p:sp>
    </p:spTree>
    <p:extLst>
      <p:ext uri="{BB962C8B-B14F-4D97-AF65-F5344CB8AC3E}">
        <p14:creationId xmlns:p14="http://schemas.microsoft.com/office/powerpoint/2010/main" val="29734732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Importance of Linked List</a:t>
            </a:r>
            <a:endParaRPr lang="en-US" sz="3600" b="1" dirty="0"/>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p:cNvSpPr/>
          <p:nvPr/>
        </p:nvSpPr>
        <p:spPr>
          <a:xfrm>
            <a:off x="155575" y="1219200"/>
            <a:ext cx="8836025" cy="3046988"/>
          </a:xfrm>
          <a:prstGeom prst="rect">
            <a:avLst/>
          </a:prstGeom>
        </p:spPr>
        <p:txBody>
          <a:bodyPr wrap="square">
            <a:spAutoFit/>
          </a:bodyPr>
          <a:lstStyle/>
          <a:p>
            <a:pPr marL="342900" indent="-342900" fontAlgn="base">
              <a:lnSpc>
                <a:spcPct val="200000"/>
              </a:lnSpc>
              <a:buFont typeface="Wingdings" pitchFamily="2" charset="2"/>
              <a:buChar char="Ø"/>
            </a:pPr>
            <a:r>
              <a:rPr lang="en-IN" sz="2400" dirty="0">
                <a:latin typeface="Times New Roman" panose="02020603050405020304" pitchFamily="18" charset="0"/>
                <a:cs typeface="Times New Roman" panose="02020603050405020304" pitchFamily="18" charset="0"/>
              </a:rPr>
              <a:t>Dynamic Data structure</a:t>
            </a:r>
          </a:p>
          <a:p>
            <a:pPr marL="342900" indent="-342900" fontAlgn="base">
              <a:lnSpc>
                <a:spcPct val="200000"/>
              </a:lnSpc>
              <a:buFont typeface="Wingdings" pitchFamily="2" charset="2"/>
              <a:buChar char="Ø"/>
            </a:pPr>
            <a:r>
              <a:rPr lang="en-IN" sz="2400" dirty="0">
                <a:latin typeface="Times New Roman" panose="02020603050405020304" pitchFamily="18" charset="0"/>
                <a:cs typeface="Times New Roman" panose="02020603050405020304" pitchFamily="18" charset="0"/>
              </a:rPr>
              <a:t>Ease of Insertion/Deletion.</a:t>
            </a:r>
          </a:p>
          <a:p>
            <a:pPr marL="342900" indent="-342900" fontAlgn="base">
              <a:lnSpc>
                <a:spcPct val="200000"/>
              </a:lnSpc>
              <a:buFont typeface="Wingdings" pitchFamily="2" charset="2"/>
              <a:buChar char="Ø"/>
            </a:pPr>
            <a:r>
              <a:rPr lang="en-IN" sz="2400" dirty="0">
                <a:latin typeface="Times New Roman" panose="02020603050405020304" pitchFamily="18" charset="0"/>
                <a:cs typeface="Times New Roman" panose="02020603050405020304" pitchFamily="18" charset="0"/>
              </a:rPr>
              <a:t>Efficient Memory Utilization </a:t>
            </a:r>
          </a:p>
          <a:p>
            <a:pPr marL="342900" indent="-342900" fontAlgn="base">
              <a:lnSpc>
                <a:spcPct val="200000"/>
              </a:lnSpc>
              <a:buFont typeface="Wingdings" pitchFamily="2" charset="2"/>
              <a:buChar char="Ø"/>
            </a:pPr>
            <a:r>
              <a:rPr lang="en-IN" sz="2400" dirty="0">
                <a:latin typeface="Times New Roman" panose="02020603050405020304" pitchFamily="18" charset="0"/>
                <a:cs typeface="Times New Roman" panose="02020603050405020304" pitchFamily="18" charset="0"/>
              </a:rPr>
              <a:t>Implementation</a:t>
            </a:r>
          </a:p>
        </p:txBody>
      </p:sp>
    </p:spTree>
    <p:extLst>
      <p:ext uri="{BB962C8B-B14F-4D97-AF65-F5344CB8AC3E}">
        <p14:creationId xmlns:p14="http://schemas.microsoft.com/office/powerpoint/2010/main" val="1089394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8" y="53137"/>
            <a:ext cx="8751017" cy="646331"/>
          </a:xfrm>
          <a:prstGeom prst="rect">
            <a:avLst/>
          </a:prstGeom>
          <a:noFill/>
        </p:spPr>
        <p:txBody>
          <a:bodyPr wrap="square" rtlCol="0">
            <a:spAutoFit/>
          </a:bodyPr>
          <a:lstStyle/>
          <a:p>
            <a:r>
              <a:rPr lang="en-IN" sz="3600" dirty="0">
                <a:solidFill>
                  <a:srgbClr val="FF0000"/>
                </a:solidFill>
              </a:rPr>
              <a:t>Linked List </a:t>
            </a:r>
            <a:r>
              <a:rPr lang="en-IN" sz="3600" dirty="0" err="1">
                <a:solidFill>
                  <a:srgbClr val="FF0000"/>
                </a:solidFill>
              </a:rPr>
              <a:t>vs</a:t>
            </a:r>
            <a:r>
              <a:rPr lang="en-IN" sz="3600" dirty="0">
                <a:solidFill>
                  <a:srgbClr val="FF0000"/>
                </a:solidFill>
              </a:rPr>
              <a:t> Array</a:t>
            </a:r>
            <a:endParaRPr lang="en-US"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5" name="Table 4"/>
          <p:cNvGraphicFramePr>
            <a:graphicFrameLocks noGrp="1"/>
          </p:cNvGraphicFramePr>
          <p:nvPr>
            <p:extLst>
              <p:ext uri="{D42A27DB-BD31-4B8C-83A1-F6EECF244321}">
                <p14:modId xmlns:p14="http://schemas.microsoft.com/office/powerpoint/2010/main" val="4106386054"/>
              </p:ext>
            </p:extLst>
          </p:nvPr>
        </p:nvGraphicFramePr>
        <p:xfrm>
          <a:off x="381000" y="685800"/>
          <a:ext cx="8690992" cy="5753100"/>
        </p:xfrm>
        <a:graphic>
          <a:graphicData uri="http://schemas.openxmlformats.org/drawingml/2006/table">
            <a:tbl>
              <a:tblPr>
                <a:tableStyleId>{BC89EF96-8CEA-46FF-86C4-4CE0E7609802}</a:tableStyleId>
              </a:tblPr>
              <a:tblGrid>
                <a:gridCol w="4345496">
                  <a:extLst>
                    <a:ext uri="{9D8B030D-6E8A-4147-A177-3AD203B41FA5}">
                      <a16:colId xmlns:a16="http://schemas.microsoft.com/office/drawing/2014/main" val="20000"/>
                    </a:ext>
                  </a:extLst>
                </a:gridCol>
                <a:gridCol w="4345496">
                  <a:extLst>
                    <a:ext uri="{9D8B030D-6E8A-4147-A177-3AD203B41FA5}">
                      <a16:colId xmlns:a16="http://schemas.microsoft.com/office/drawing/2014/main" val="20001"/>
                    </a:ext>
                  </a:extLst>
                </a:gridCol>
              </a:tblGrid>
              <a:tr h="430178">
                <a:tc>
                  <a:txBody>
                    <a:bodyPr/>
                    <a:lstStyle/>
                    <a:p>
                      <a:pPr algn="ctr" rtl="0" fontAlgn="base"/>
                      <a:r>
                        <a:rPr lang="en-IN" sz="2000" b="1" dirty="0">
                          <a:solidFill>
                            <a:srgbClr val="FF0000"/>
                          </a:solidFill>
                          <a:effectLst/>
                          <a:latin typeface="Times New Roman" panose="02020603050405020304" pitchFamily="18" charset="0"/>
                          <a:cs typeface="Times New Roman" panose="02020603050405020304" pitchFamily="18" charset="0"/>
                        </a:rPr>
                        <a:t>Array</a:t>
                      </a:r>
                    </a:p>
                  </a:txBody>
                  <a:tcPr marL="38100" marR="38100" marT="95250" marB="95250" anchor="ctr"/>
                </a:tc>
                <a:tc>
                  <a:txBody>
                    <a:bodyPr/>
                    <a:lstStyle/>
                    <a:p>
                      <a:pPr algn="ctr" rtl="0" fontAlgn="base"/>
                      <a:r>
                        <a:rPr lang="en-IN" sz="2000" b="1" dirty="0">
                          <a:solidFill>
                            <a:srgbClr val="FF0000"/>
                          </a:solidFill>
                          <a:effectLst/>
                          <a:latin typeface="Times New Roman" panose="02020603050405020304" pitchFamily="18" charset="0"/>
                          <a:cs typeface="Times New Roman" panose="02020603050405020304" pitchFamily="18" charset="0"/>
                        </a:rPr>
                        <a:t>Linked List</a:t>
                      </a:r>
                    </a:p>
                  </a:txBody>
                  <a:tcPr marL="95250" marR="95250" marT="95250" marB="95250" anchor="ctr"/>
                </a:tc>
                <a:extLst>
                  <a:ext uri="{0D108BD9-81ED-4DB2-BD59-A6C34878D82A}">
                    <a16:rowId xmlns:a16="http://schemas.microsoft.com/office/drawing/2014/main" val="10000"/>
                  </a:ext>
                </a:extLst>
              </a:tr>
              <a:tr h="620517">
                <a:tc>
                  <a:txBody>
                    <a:bodyPr/>
                    <a:lstStyle/>
                    <a:p>
                      <a:pPr algn="l" rtl="0" fontAlgn="base"/>
                      <a:r>
                        <a:rPr lang="en-IN" sz="2000" dirty="0">
                          <a:effectLst/>
                          <a:latin typeface="Times New Roman" panose="02020603050405020304" pitchFamily="18" charset="0"/>
                          <a:cs typeface="Times New Roman" panose="02020603050405020304" pitchFamily="18" charset="0"/>
                        </a:rPr>
                        <a:t>Arrays are stored in contiguous location.</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dirty="0">
                          <a:effectLst/>
                          <a:latin typeface="Times New Roman" panose="02020603050405020304" pitchFamily="18" charset="0"/>
                          <a:cs typeface="Times New Roman" panose="02020603050405020304" pitchFamily="18" charset="0"/>
                        </a:rPr>
                        <a:t>Linked Lists are not stored in contiguous location.</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1"/>
                  </a:ext>
                </a:extLst>
              </a:tr>
              <a:tr h="496360">
                <a:tc>
                  <a:txBody>
                    <a:bodyPr/>
                    <a:lstStyle/>
                    <a:p>
                      <a:pPr algn="l" rtl="0" fontAlgn="base"/>
                      <a:r>
                        <a:rPr lang="en-IN" sz="2000" dirty="0">
                          <a:effectLst/>
                          <a:latin typeface="Times New Roman" panose="02020603050405020304" pitchFamily="18" charset="0"/>
                          <a:cs typeface="Times New Roman" panose="02020603050405020304" pitchFamily="18" charset="0"/>
                        </a:rPr>
                        <a:t>Fixed size.</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a:effectLst/>
                          <a:latin typeface="Times New Roman" panose="02020603050405020304" pitchFamily="18" charset="0"/>
                          <a:cs typeface="Times New Roman" panose="02020603050405020304" pitchFamily="18" charset="0"/>
                        </a:rPr>
                        <a:t>Dynamic Size</a:t>
                      </a:r>
                      <a:endParaRPr lang="en-IN" sz="2000" b="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2"/>
                  </a:ext>
                </a:extLst>
              </a:tr>
              <a:tr h="496360">
                <a:tc>
                  <a:txBody>
                    <a:bodyPr/>
                    <a:lstStyle/>
                    <a:p>
                      <a:pPr algn="l" rtl="0" fontAlgn="base"/>
                      <a:r>
                        <a:rPr lang="en-IN" sz="2000" dirty="0">
                          <a:effectLst/>
                          <a:latin typeface="Times New Roman" panose="02020603050405020304" pitchFamily="18" charset="0"/>
                          <a:cs typeface="Times New Roman" panose="02020603050405020304" pitchFamily="18" charset="0"/>
                        </a:rPr>
                        <a:t>Memory is allocated at compile time.</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a:effectLst/>
                          <a:latin typeface="Times New Roman" panose="02020603050405020304" pitchFamily="18" charset="0"/>
                          <a:cs typeface="Times New Roman" panose="02020603050405020304" pitchFamily="18" charset="0"/>
                        </a:rPr>
                        <a:t>Memory is allocated at run time.</a:t>
                      </a:r>
                      <a:endParaRPr lang="en-IN" sz="2000" b="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3"/>
                  </a:ext>
                </a:extLst>
              </a:tr>
              <a:tr h="1025810">
                <a:tc>
                  <a:txBody>
                    <a:bodyPr/>
                    <a:lstStyle/>
                    <a:p>
                      <a:pPr algn="l" rtl="0" fontAlgn="base"/>
                      <a:r>
                        <a:rPr lang="en-IN" sz="2000" dirty="0">
                          <a:effectLst/>
                          <a:latin typeface="Times New Roman" panose="02020603050405020304" pitchFamily="18" charset="0"/>
                          <a:cs typeface="Times New Roman" panose="02020603050405020304" pitchFamily="18" charset="0"/>
                        </a:rPr>
                        <a:t>Uses less memory than Linked Lists.</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dirty="0">
                          <a:effectLst/>
                          <a:latin typeface="Times New Roman" panose="02020603050405020304" pitchFamily="18" charset="0"/>
                          <a:cs typeface="Times New Roman" panose="02020603050405020304" pitchFamily="18" charset="0"/>
                        </a:rPr>
                        <a:t>Uses more memory than Arrays as it stores both data and address of next node.</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4"/>
                  </a:ext>
                </a:extLst>
              </a:tr>
              <a:tr h="1025810">
                <a:tc>
                  <a:txBody>
                    <a:bodyPr/>
                    <a:lstStyle/>
                    <a:p>
                      <a:pPr algn="l" rtl="0" fontAlgn="base"/>
                      <a:r>
                        <a:rPr lang="en-IN" sz="2000" dirty="0">
                          <a:effectLst/>
                          <a:latin typeface="Times New Roman" panose="02020603050405020304" pitchFamily="18" charset="0"/>
                          <a:cs typeface="Times New Roman" panose="02020603050405020304" pitchFamily="18" charset="0"/>
                        </a:rPr>
                        <a:t>Elements can be accessed easily in O(1) time.</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dirty="0">
                          <a:effectLst/>
                          <a:latin typeface="Times New Roman" panose="02020603050405020304" pitchFamily="18" charset="0"/>
                          <a:cs typeface="Times New Roman" panose="02020603050405020304" pitchFamily="18" charset="0"/>
                        </a:rPr>
                        <a:t>Elements can be access by traversing through all the nodes till we reach the required node.</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5"/>
                  </a:ext>
                </a:extLst>
              </a:tr>
              <a:tr h="761085">
                <a:tc>
                  <a:txBody>
                    <a:bodyPr/>
                    <a:lstStyle/>
                    <a:p>
                      <a:pPr algn="l" rtl="0" fontAlgn="base"/>
                      <a:r>
                        <a:rPr lang="en-IN" sz="2000" dirty="0">
                          <a:effectLst/>
                          <a:latin typeface="Times New Roman" panose="02020603050405020304" pitchFamily="18" charset="0"/>
                          <a:cs typeface="Times New Roman" panose="02020603050405020304" pitchFamily="18" charset="0"/>
                        </a:rPr>
                        <a:t>Insertion and deletion operation is slower than Linked List.</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l" rtl="0" fontAlgn="base"/>
                      <a:r>
                        <a:rPr lang="en-IN" sz="2000" dirty="0">
                          <a:effectLst/>
                          <a:latin typeface="Times New Roman" panose="02020603050405020304" pitchFamily="18" charset="0"/>
                          <a:cs typeface="Times New Roman" panose="02020603050405020304" pitchFamily="18" charset="0"/>
                        </a:rPr>
                        <a:t>Insertion and deletion operation is faster than Linked List.</a:t>
                      </a:r>
                      <a:endParaRPr lang="en-IN" sz="2000" b="0" dirty="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7564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72007" y="-145918"/>
            <a:ext cx="8751017" cy="954107"/>
          </a:xfrm>
          <a:prstGeom prst="rect">
            <a:avLst/>
          </a:prstGeom>
          <a:noFill/>
        </p:spPr>
        <p:txBody>
          <a:bodyPr wrap="square" rtlCol="0">
            <a:spAutoFit/>
          </a:bodyPr>
          <a:lstStyle/>
          <a:p>
            <a:endParaRPr lang="en-US" sz="2400" b="1" u="sng" dirty="0"/>
          </a:p>
          <a:p>
            <a:r>
              <a:rPr lang="en-US" dirty="0"/>
              <a:t> </a:t>
            </a:r>
            <a:r>
              <a:rPr lang="en-IN" sz="3200" dirty="0">
                <a:solidFill>
                  <a:srgbClr val="FF0000"/>
                </a:solidFill>
              </a:rPr>
              <a:t>Time Complexity Analysis of Linked List and Array</a:t>
            </a:r>
            <a:endParaRPr lang="en-US" sz="32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AutoShape 2" descr="Understanding the basics of Linked List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6" name="Table 5"/>
          <p:cNvGraphicFramePr>
            <a:graphicFrameLocks noGrp="1"/>
          </p:cNvGraphicFramePr>
          <p:nvPr>
            <p:extLst>
              <p:ext uri="{D42A27DB-BD31-4B8C-83A1-F6EECF244321}">
                <p14:modId xmlns:p14="http://schemas.microsoft.com/office/powerpoint/2010/main" val="573343748"/>
              </p:ext>
            </p:extLst>
          </p:nvPr>
        </p:nvGraphicFramePr>
        <p:xfrm>
          <a:off x="589289" y="1188190"/>
          <a:ext cx="8229600" cy="4914900"/>
        </p:xfrm>
        <a:graphic>
          <a:graphicData uri="http://schemas.openxmlformats.org/drawingml/2006/table">
            <a:tbl>
              <a:tblPr>
                <a:tableStyleId>{BC89EF96-8CEA-46FF-86C4-4CE0E7609802}</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algn="ctr" fontAlgn="base"/>
                      <a:r>
                        <a:rPr lang="en-IN" sz="2400" b="1" dirty="0">
                          <a:effectLst/>
                          <a:latin typeface="Times New Roman" panose="02020603050405020304" pitchFamily="18" charset="0"/>
                          <a:cs typeface="Times New Roman" panose="02020603050405020304" pitchFamily="18" charset="0"/>
                        </a:rPr>
                        <a:t>Operation</a:t>
                      </a:r>
                    </a:p>
                  </a:txBody>
                  <a:tcPr marL="38100" marR="38100" marT="95250" marB="95250" anchor="ctr"/>
                </a:tc>
                <a:tc>
                  <a:txBody>
                    <a:bodyPr/>
                    <a:lstStyle/>
                    <a:p>
                      <a:pPr algn="ctr" fontAlgn="base"/>
                      <a:r>
                        <a:rPr lang="en-IN" sz="2400" b="1">
                          <a:effectLst/>
                          <a:latin typeface="Times New Roman" panose="02020603050405020304" pitchFamily="18" charset="0"/>
                          <a:cs typeface="Times New Roman" panose="02020603050405020304" pitchFamily="18" charset="0"/>
                        </a:rPr>
                        <a:t>Linked list</a:t>
                      </a:r>
                    </a:p>
                  </a:txBody>
                  <a:tcPr marL="95250" marR="95250" marT="95250" marB="95250" anchor="ctr"/>
                </a:tc>
                <a:tc>
                  <a:txBody>
                    <a:bodyPr/>
                    <a:lstStyle/>
                    <a:p>
                      <a:pPr algn="ctr" fontAlgn="base"/>
                      <a:r>
                        <a:rPr lang="en-IN" sz="2400" b="1" dirty="0">
                          <a:effectLst/>
                          <a:latin typeface="Times New Roman" panose="02020603050405020304" pitchFamily="18" charset="0"/>
                          <a:cs typeface="Times New Roman" panose="02020603050405020304" pitchFamily="18" charset="0"/>
                        </a:rPr>
                        <a:t>Array</a:t>
                      </a:r>
                    </a:p>
                  </a:txBody>
                  <a:tcPr marL="95250" marR="95250" marT="95250" marB="95250" anchor="ctr"/>
                </a:tc>
                <a:extLst>
                  <a:ext uri="{0D108BD9-81ED-4DB2-BD59-A6C34878D82A}">
                    <a16:rowId xmlns:a16="http://schemas.microsoft.com/office/drawing/2014/main" val="10000"/>
                  </a:ext>
                </a:extLst>
              </a:tr>
              <a:tr h="0">
                <a:tc>
                  <a:txBody>
                    <a:bodyPr/>
                    <a:lstStyle/>
                    <a:p>
                      <a:pPr algn="ctr" fontAlgn="ctr"/>
                      <a:r>
                        <a:rPr lang="en-IN" sz="2400" dirty="0">
                          <a:effectLst/>
                          <a:latin typeface="Times New Roman" panose="02020603050405020304" pitchFamily="18" charset="0"/>
                          <a:cs typeface="Times New Roman" panose="02020603050405020304" pitchFamily="18" charset="0"/>
                        </a:rPr>
                        <a:t>Random Access</a:t>
                      </a:r>
                      <a:endParaRPr lang="en-IN" sz="24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O(N)</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O(1)</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1"/>
                  </a:ext>
                </a:extLst>
              </a:tr>
              <a:tr h="0">
                <a:tc>
                  <a:txBody>
                    <a:bodyPr/>
                    <a:lstStyle/>
                    <a:p>
                      <a:pPr algn="ctr" fontAlgn="ctr"/>
                      <a:r>
                        <a:rPr lang="en-IN" sz="2400" dirty="0">
                          <a:effectLst/>
                          <a:latin typeface="Times New Roman" panose="02020603050405020304" pitchFamily="18" charset="0"/>
                          <a:cs typeface="Times New Roman" panose="02020603050405020304" pitchFamily="18" charset="0"/>
                        </a:rPr>
                        <a:t>Insertion and deletion at beginning</a:t>
                      </a:r>
                      <a:endParaRPr lang="en-IN" sz="24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O(1)</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O(N)</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2"/>
                  </a:ext>
                </a:extLst>
              </a:tr>
              <a:tr h="0">
                <a:tc>
                  <a:txBody>
                    <a:bodyPr/>
                    <a:lstStyle/>
                    <a:p>
                      <a:pPr algn="ctr" fontAlgn="ctr"/>
                      <a:r>
                        <a:rPr lang="en-IN" sz="2400" dirty="0">
                          <a:effectLst/>
                          <a:latin typeface="Times New Roman" panose="02020603050405020304" pitchFamily="18" charset="0"/>
                          <a:cs typeface="Times New Roman" panose="02020603050405020304" pitchFamily="18" charset="0"/>
                        </a:rPr>
                        <a:t>Insertion and deletion at end</a:t>
                      </a:r>
                      <a:endParaRPr lang="en-IN" sz="24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O(N)</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a:effectLst/>
                          <a:latin typeface="Times New Roman" panose="02020603050405020304" pitchFamily="18" charset="0"/>
                          <a:cs typeface="Times New Roman" panose="02020603050405020304" pitchFamily="18" charset="0"/>
                        </a:rPr>
                        <a:t>O(1)</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3"/>
                  </a:ext>
                </a:extLst>
              </a:tr>
              <a:tr h="0">
                <a:tc>
                  <a:txBody>
                    <a:bodyPr/>
                    <a:lstStyle/>
                    <a:p>
                      <a:pPr algn="ctr" fontAlgn="ctr"/>
                      <a:r>
                        <a:rPr lang="en-IN" sz="2400">
                          <a:effectLst/>
                          <a:latin typeface="Times New Roman" panose="02020603050405020304" pitchFamily="18" charset="0"/>
                          <a:cs typeface="Times New Roman" panose="02020603050405020304" pitchFamily="18" charset="0"/>
                        </a:rPr>
                        <a:t>Insertion and deletion at a random position</a:t>
                      </a:r>
                      <a:endParaRPr lang="en-IN" sz="2400" b="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dirty="0">
                          <a:effectLst/>
                          <a:latin typeface="Times New Roman" panose="02020603050405020304" pitchFamily="18" charset="0"/>
                          <a:cs typeface="Times New Roman" panose="02020603050405020304" pitchFamily="18" charset="0"/>
                        </a:rPr>
                        <a:t>O(N)</a:t>
                      </a:r>
                      <a:endParaRPr lang="en-IN" sz="2400" b="0" dirty="0">
                        <a:effectLst/>
                        <a:latin typeface="Times New Roman" panose="02020603050405020304" pitchFamily="18" charset="0"/>
                        <a:cs typeface="Times New Roman" panose="02020603050405020304" pitchFamily="18" charset="0"/>
                      </a:endParaRPr>
                    </a:p>
                  </a:txBody>
                  <a:tcPr marL="95250" marR="95250" marT="133350" marB="133350" anchor="ctr"/>
                </a:tc>
                <a:tc>
                  <a:txBody>
                    <a:bodyPr/>
                    <a:lstStyle/>
                    <a:p>
                      <a:pPr algn="ctr" fontAlgn="ctr"/>
                      <a:r>
                        <a:rPr lang="en-IN" sz="2400" dirty="0">
                          <a:effectLst/>
                          <a:latin typeface="Times New Roman" panose="02020603050405020304" pitchFamily="18" charset="0"/>
                          <a:cs typeface="Times New Roman" panose="02020603050405020304" pitchFamily="18" charset="0"/>
                        </a:rPr>
                        <a:t>O(N)</a:t>
                      </a:r>
                      <a:endParaRPr lang="en-IN" sz="2400" b="0" dirty="0">
                        <a:effectLst/>
                        <a:latin typeface="Times New Roman" panose="02020603050405020304" pitchFamily="18" charset="0"/>
                        <a:cs typeface="Times New Roman" panose="02020603050405020304" pitchFamily="18" charset="0"/>
                      </a:endParaRPr>
                    </a:p>
                  </a:txBody>
                  <a:tcPr marL="95250" marR="95250" marT="133350" marB="13335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74172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Types of linked list</a:t>
            </a:r>
          </a:p>
        </p:txBody>
      </p:sp>
      <p:sp>
        <p:nvSpPr>
          <p:cNvPr id="3" name="Footer Placeholder 2"/>
          <p:cNvSpPr>
            <a:spLocks noGrp="1"/>
          </p:cNvSpPr>
          <p:nvPr>
            <p:ph type="ftr" sz="quarter" idx="11"/>
          </p:nvPr>
        </p:nvSpPr>
        <p:spPr/>
        <p:txBody>
          <a:bodyPr/>
          <a:lstStyle/>
          <a:p>
            <a:r>
              <a:rPr lang="en-IN"/>
              <a:t>Data  Structure         Unit2  </a:t>
            </a:r>
          </a:p>
        </p:txBody>
      </p:sp>
      <p:pic>
        <p:nvPicPr>
          <p:cNvPr id="2048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480231"/>
            <a:ext cx="8153400" cy="4082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9995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E3C67-8E4D-773F-C20C-02FCC14D41CB}"/>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DB00F7D-BF99-2AA6-2453-11AD963EF09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B2897DEB-DCE0-9032-7DA0-B5182B7A95DF}"/>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F072DFD-D953-867D-E017-B4A85B24EA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7C26FF28-E27D-0655-B8E7-5B571C7C0D04}"/>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Singly Linked List</a:t>
            </a:r>
            <a:endParaRPr lang="en-US" sz="3600" b="1" dirty="0"/>
          </a:p>
        </p:txBody>
      </p:sp>
      <p:sp>
        <p:nvSpPr>
          <p:cNvPr id="3" name="Footer Placeholder 2">
            <a:extLst>
              <a:ext uri="{FF2B5EF4-FFF2-40B4-BE49-F238E27FC236}">
                <a16:creationId xmlns:a16="http://schemas.microsoft.com/office/drawing/2014/main" id="{DAC67434-DF77-C581-D746-C57E1953A5BC}"/>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DBD6220B-2DB4-24F5-98D0-F60BFF37E82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53127403-FBBD-89E0-C41D-A41FBB781122}"/>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4629761F-6FDB-65BA-DAC4-CA0FFE608781}"/>
              </a:ext>
            </a:extLst>
          </p:cNvPr>
          <p:cNvSpPr/>
          <p:nvPr/>
        </p:nvSpPr>
        <p:spPr>
          <a:xfrm>
            <a:off x="155575" y="1219200"/>
            <a:ext cx="8836025" cy="3970318"/>
          </a:xfrm>
          <a:prstGeom prst="rect">
            <a:avLst/>
          </a:prstGeom>
        </p:spPr>
        <p:txBody>
          <a:bodyPr wrap="square">
            <a:spAutoFit/>
          </a:bodyPr>
          <a:lstStyle/>
          <a:p>
            <a:pPr marL="342900" indent="-342900">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Singly Linked List</a:t>
            </a:r>
            <a:r>
              <a:rPr lang="en-US" sz="2400" dirty="0">
                <a:latin typeface="Times New Roman" panose="02020603050405020304" pitchFamily="18" charset="0"/>
                <a:cs typeface="Times New Roman" panose="02020603050405020304" pitchFamily="18" charset="0"/>
              </a:rPr>
              <a:t> is a linked list in which:</a:t>
            </a:r>
          </a:p>
          <a:p>
            <a:pPr marL="72072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Each node contains </a:t>
            </a:r>
            <a:r>
              <a:rPr lang="en-US" sz="2400" b="1" dirty="0">
                <a:latin typeface="Times New Roman" panose="02020603050405020304" pitchFamily="18" charset="0"/>
                <a:cs typeface="Times New Roman" panose="02020603050405020304" pitchFamily="18" charset="0"/>
              </a:rPr>
              <a:t>one pointer</a:t>
            </a:r>
            <a:endParaRPr lang="en-US" sz="2400" dirty="0">
              <a:latin typeface="Times New Roman" panose="02020603050405020304" pitchFamily="18" charset="0"/>
              <a:cs typeface="Times New Roman" panose="02020603050405020304" pitchFamily="18" charset="0"/>
            </a:endParaRPr>
          </a:p>
          <a:p>
            <a:pPr marL="72072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Pointer points to the </a:t>
            </a:r>
            <a:r>
              <a:rPr lang="en-US" sz="2400" b="1" dirty="0">
                <a:latin typeface="Times New Roman" panose="02020603050405020304" pitchFamily="18" charset="0"/>
                <a:cs typeface="Times New Roman" panose="02020603050405020304" pitchFamily="18" charset="0"/>
              </a:rPr>
              <a:t>next node</a:t>
            </a:r>
            <a:endParaRPr lang="en-US" sz="2400" dirty="0">
              <a:latin typeface="Times New Roman" panose="02020603050405020304" pitchFamily="18" charset="0"/>
              <a:cs typeface="Times New Roman" panose="02020603050405020304" pitchFamily="18" charset="0"/>
            </a:endParaRPr>
          </a:p>
          <a:p>
            <a:pPr marL="72072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Last node points to </a:t>
            </a:r>
            <a:r>
              <a:rPr lang="en-US" sz="2400" b="1" dirty="0">
                <a:latin typeface="Times New Roman" panose="02020603050405020304" pitchFamily="18" charset="0"/>
                <a:cs typeface="Times New Roman" panose="02020603050405020304" pitchFamily="18" charset="0"/>
              </a:rPr>
              <a:t>NULL</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marL="342900" indent="-342900">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Singly Linked List – Node Structure:</a:t>
            </a:r>
          </a:p>
          <a:p>
            <a:pPr marL="72072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Data field</a:t>
            </a:r>
          </a:p>
          <a:p>
            <a:pPr marL="720725" indent="-360363">
              <a:spcBef>
                <a:spcPts val="600"/>
              </a:spcBef>
              <a:spcAft>
                <a:spcPts val="600"/>
              </a:spcAf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Next pointer</a:t>
            </a:r>
          </a:p>
        </p:txBody>
      </p:sp>
      <p:pic>
        <p:nvPicPr>
          <p:cNvPr id="5" name="Picture 2">
            <a:extLst>
              <a:ext uri="{FF2B5EF4-FFF2-40B4-BE49-F238E27FC236}">
                <a16:creationId xmlns:a16="http://schemas.microsoft.com/office/drawing/2014/main" id="{23AF7A0B-65AF-308C-CEEB-CF6C9CC3835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447" t="22740" r="15070" b="57533"/>
          <a:stretch>
            <a:fillRect/>
          </a:stretch>
        </p:blipFill>
        <p:spPr bwMode="auto">
          <a:xfrm>
            <a:off x="1475657" y="5085184"/>
            <a:ext cx="6624736" cy="1107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8745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12A95-895F-3AC9-6161-54296ED439B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FE0C5C7-DD32-3BD1-A322-AD44F8AC21C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2565FDE1-735D-3A31-9AA8-EB2DAEF6D97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313E8C5-0221-4B77-DC33-A37F3FF521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9103D174-71C9-8D86-D10F-2F54C083B39B}"/>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Singly Linked List- Key Features</a:t>
            </a:r>
          </a:p>
        </p:txBody>
      </p:sp>
      <p:sp>
        <p:nvSpPr>
          <p:cNvPr id="3" name="Footer Placeholder 2">
            <a:extLst>
              <a:ext uri="{FF2B5EF4-FFF2-40B4-BE49-F238E27FC236}">
                <a16:creationId xmlns:a16="http://schemas.microsoft.com/office/drawing/2014/main" id="{B61482E5-8804-4B03-D47D-7AAE6BE25D65}"/>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085F81DF-161F-28FF-82D6-A70D40B8BE6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40E6A49C-17DB-2D74-FE07-B24D3B22C897}"/>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E3FE3B23-9B99-0D30-32B3-FD9CF29A2A6F}"/>
              </a:ext>
            </a:extLst>
          </p:cNvPr>
          <p:cNvSpPr/>
          <p:nvPr/>
        </p:nvSpPr>
        <p:spPr>
          <a:xfrm>
            <a:off x="155575" y="1219200"/>
            <a:ext cx="8836025" cy="2241960"/>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One-directional traversal</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Less memory usage</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Simple implementation</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Traversal possible only in </a:t>
            </a:r>
            <a:r>
              <a:rPr lang="en-US" sz="2400" b="1" dirty="0">
                <a:latin typeface="Times New Roman" panose="02020603050405020304" pitchFamily="18" charset="0"/>
                <a:cs typeface="Times New Roman" panose="02020603050405020304" pitchFamily="18" charset="0"/>
              </a:rPr>
              <a:t>forward direction</a:t>
            </a:r>
            <a:endParaRPr lang="en-US" sz="2400"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EFC04BE2-3627-DBFE-2CFD-CA2AD62F7B1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447" t="22740" r="15070" b="57533"/>
          <a:stretch>
            <a:fillRect/>
          </a:stretch>
        </p:blipFill>
        <p:spPr bwMode="auto">
          <a:xfrm>
            <a:off x="1043608" y="3894081"/>
            <a:ext cx="6624736" cy="1107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1635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0017E-730A-6878-F870-835F1E37A698}"/>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5761B70-CBF1-1646-B63D-2661F430F85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3AD9C8-1A84-F208-B9DF-E0F85E52705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FC43D526-36E4-5AA2-293E-3D6DCA9F6B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252D5DF3-56FE-8ECB-7F6F-5DC6EB411DCA}"/>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Check Your Understanding</a:t>
            </a:r>
          </a:p>
        </p:txBody>
      </p:sp>
      <p:sp>
        <p:nvSpPr>
          <p:cNvPr id="3" name="Footer Placeholder 2">
            <a:extLst>
              <a:ext uri="{FF2B5EF4-FFF2-40B4-BE49-F238E27FC236}">
                <a16:creationId xmlns:a16="http://schemas.microsoft.com/office/drawing/2014/main" id="{A76A4C51-5330-E2C2-4BB4-906C2E2D46D0}"/>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6EBAEA68-88AB-C863-8B4A-AB0CBE55A35D}"/>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5BE3FD6D-A1E0-C529-8F9E-7BA536F3F44F}"/>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DACADF16-4EF0-27E8-6EE0-CF81304BBD13}"/>
              </a:ext>
            </a:extLst>
          </p:cNvPr>
          <p:cNvSpPr/>
          <p:nvPr/>
        </p:nvSpPr>
        <p:spPr>
          <a:xfrm>
            <a:off x="155575" y="1219200"/>
            <a:ext cx="8836025" cy="1140633"/>
          </a:xfrm>
          <a:prstGeom prst="rect">
            <a:avLst/>
          </a:prstGeom>
        </p:spPr>
        <p:txBody>
          <a:bodyPr wrap="square">
            <a:spAutoFit/>
          </a:bodyPr>
          <a:lstStyle/>
          <a:p>
            <a:pPr>
              <a:lnSpc>
                <a:spcPct val="150000"/>
              </a:lnSpc>
            </a:pPr>
            <a:r>
              <a:rPr lang="en-US" sz="2400" dirty="0"/>
              <a:t>❓ How many pointers does a node have in a singly linked list?</a:t>
            </a:r>
            <a:br>
              <a:rPr lang="en-US" sz="2400" dirty="0"/>
            </a:br>
            <a:r>
              <a:rPr lang="en-US" sz="2400" dirty="0"/>
              <a:t>❓ What does the last node point to?</a:t>
            </a:r>
          </a:p>
        </p:txBody>
      </p:sp>
    </p:spTree>
    <p:extLst>
      <p:ext uri="{BB962C8B-B14F-4D97-AF65-F5344CB8AC3E}">
        <p14:creationId xmlns:p14="http://schemas.microsoft.com/office/powerpoint/2010/main" val="3463807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4646E-F87B-7670-F334-D71A006BDE1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BF74F4-B400-BD9E-B978-7BBC9642082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A7CC35BE-FF43-EDEB-6041-27FAE3701F6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9C5A0E5-B594-33B2-4D43-38125817506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BD14F8AA-0896-AAE9-FD5B-BD7507823861}"/>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Check Your Understanding (Answers)</a:t>
            </a:r>
          </a:p>
        </p:txBody>
      </p:sp>
      <p:sp>
        <p:nvSpPr>
          <p:cNvPr id="3" name="Footer Placeholder 2">
            <a:extLst>
              <a:ext uri="{FF2B5EF4-FFF2-40B4-BE49-F238E27FC236}">
                <a16:creationId xmlns:a16="http://schemas.microsoft.com/office/drawing/2014/main" id="{764B720C-191D-4B9E-B979-EB3CADD4E327}"/>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5AB1A5C0-D149-E163-6A85-9EE16DC3682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36AA9CEC-489F-2C1F-8B85-FA74D47596BE}"/>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100F2501-58AF-6BCE-B99A-3C93C1D15BBE}"/>
              </a:ext>
            </a:extLst>
          </p:cNvPr>
          <p:cNvSpPr/>
          <p:nvPr/>
        </p:nvSpPr>
        <p:spPr>
          <a:xfrm>
            <a:off x="155575" y="1219200"/>
            <a:ext cx="8836025" cy="2241960"/>
          </a:xfrm>
          <a:prstGeom prst="rect">
            <a:avLst/>
          </a:prstGeom>
        </p:spPr>
        <p:txBody>
          <a:bodyPr wrap="square">
            <a:spAutoFit/>
          </a:bodyPr>
          <a:lstStyle/>
          <a:p>
            <a:pPr lvl="0" algn="just"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How many pointers does a node have in a singly linked list?</a:t>
            </a:r>
          </a:p>
          <a:p>
            <a:pPr lvl="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      A node in a singly linked list has </a:t>
            </a:r>
            <a:r>
              <a:rPr lang="en-US" altLang="en-US" sz="2400" b="1" dirty="0">
                <a:latin typeface="Times New Roman" panose="02020603050405020304" pitchFamily="18" charset="0"/>
                <a:cs typeface="Times New Roman" panose="02020603050405020304" pitchFamily="18" charset="0"/>
              </a:rPr>
              <a:t>one pointer</a:t>
            </a:r>
            <a:r>
              <a:rPr lang="en-US" altLang="en-US" sz="2400" dirty="0">
                <a:latin typeface="Times New Roman" panose="02020603050405020304" pitchFamily="18" charset="0"/>
                <a:cs typeface="Times New Roman" panose="02020603050405020304" pitchFamily="18" charset="0"/>
              </a:rPr>
              <a:t>.</a:t>
            </a:r>
          </a:p>
          <a:p>
            <a:pPr lvl="0" algn="just"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What does the last node point to?</a:t>
            </a:r>
          </a:p>
          <a:p>
            <a:pPr lvl="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      The last node points to </a:t>
            </a:r>
            <a:r>
              <a:rPr lang="en-US" altLang="en-US" sz="2400" b="1" dirty="0">
                <a:latin typeface="Times New Roman" panose="02020603050405020304" pitchFamily="18" charset="0"/>
                <a:cs typeface="Times New Roman" panose="02020603050405020304" pitchFamily="18" charset="0"/>
              </a:rPr>
              <a:t>NULL</a:t>
            </a:r>
            <a:r>
              <a:rPr lang="en-US" alt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966578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E7E45-6EDA-68F8-3761-933765AA7BE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AECCB25-1217-58F7-1499-EA6196D5DDF5}"/>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E3E2E5CC-5104-5B85-D65D-209766299FCC}"/>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06140A2-17C7-B93F-3290-B67FAAA393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4D7408A9-701D-A3F1-B4FF-A71DA197AFFE}"/>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Doubly Linked List </a:t>
            </a:r>
          </a:p>
        </p:txBody>
      </p:sp>
      <p:sp>
        <p:nvSpPr>
          <p:cNvPr id="3" name="Footer Placeholder 2">
            <a:extLst>
              <a:ext uri="{FF2B5EF4-FFF2-40B4-BE49-F238E27FC236}">
                <a16:creationId xmlns:a16="http://schemas.microsoft.com/office/drawing/2014/main" id="{79E0D2B5-51DD-B2FA-CBAB-F3AC8CDA1D8E}"/>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9AEAFA2B-D233-3BB4-BB8F-79129E141DC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0DE3F6B6-ABD7-562B-093F-40FD317E938A}"/>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6474FEA5-F24F-B94B-44F9-126992F6B869}"/>
              </a:ext>
            </a:extLst>
          </p:cNvPr>
          <p:cNvSpPr/>
          <p:nvPr/>
        </p:nvSpPr>
        <p:spPr>
          <a:xfrm>
            <a:off x="155575" y="1219200"/>
            <a:ext cx="8836025" cy="4031873"/>
          </a:xfrm>
          <a:prstGeom prst="rect">
            <a:avLst/>
          </a:prstGeom>
        </p:spPr>
        <p:txBody>
          <a:bodyPr wrap="square">
            <a:spAutoFit/>
          </a:bodyPr>
          <a:lstStyle/>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Doubly Linked List</a:t>
            </a:r>
            <a:r>
              <a:rPr lang="en-US" sz="2400" dirty="0">
                <a:latin typeface="Times New Roman" panose="02020603050405020304" pitchFamily="18" charset="0"/>
                <a:cs typeface="Times New Roman" panose="02020603050405020304" pitchFamily="18" charset="0"/>
              </a:rPr>
              <a:t> is a linked list in which:</a:t>
            </a:r>
          </a:p>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node contains </a:t>
            </a:r>
            <a:r>
              <a:rPr lang="en-US" sz="2400" b="1" dirty="0">
                <a:latin typeface="Times New Roman" panose="02020603050405020304" pitchFamily="18" charset="0"/>
                <a:cs typeface="Times New Roman" panose="02020603050405020304" pitchFamily="18" charset="0"/>
              </a:rPr>
              <a:t>two pointers</a:t>
            </a:r>
            <a:endParaRPr lang="en-US" sz="2400" dirty="0">
              <a:latin typeface="Times New Roman" panose="02020603050405020304" pitchFamily="18" charset="0"/>
              <a:cs typeface="Times New Roman" panose="02020603050405020304" pitchFamily="18" charset="0"/>
            </a:endParaRPr>
          </a:p>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One points to the previous node</a:t>
            </a:r>
          </a:p>
          <a:p>
            <a:pPr marL="342900" indent="-342900">
              <a:spcBef>
                <a:spcPts val="600"/>
              </a:spcBef>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One points to the next node</a:t>
            </a:r>
          </a:p>
          <a:p>
            <a:pPr>
              <a:spcBef>
                <a:spcPts val="600"/>
              </a:spcBef>
            </a:pPr>
            <a:endParaRPr lang="en-US" sz="2400" b="1" dirty="0">
              <a:latin typeface="Times New Roman" panose="02020603050405020304" pitchFamily="18" charset="0"/>
              <a:cs typeface="Times New Roman" panose="02020603050405020304" pitchFamily="18" charset="0"/>
            </a:endParaRPr>
          </a:p>
          <a:p>
            <a:pPr marL="342900" indent="-342900">
              <a:spcBef>
                <a:spcPts val="600"/>
              </a:spcBef>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Node Structure:</a:t>
            </a:r>
            <a:endParaRPr lang="en-US" sz="2400" dirty="0">
              <a:latin typeface="Times New Roman" panose="02020603050405020304" pitchFamily="18" charset="0"/>
              <a:cs typeface="Times New Roman" panose="02020603050405020304" pitchFamily="18" charset="0"/>
            </a:endParaRPr>
          </a:p>
          <a:p>
            <a:pPr marL="628650" indent="-342900">
              <a:spcBef>
                <a:spcPts val="600"/>
              </a:spcBef>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Previous pointer</a:t>
            </a:r>
          </a:p>
          <a:p>
            <a:pPr marL="628650" indent="-342900">
              <a:spcBef>
                <a:spcPts val="600"/>
              </a:spcBef>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Data field</a:t>
            </a:r>
          </a:p>
          <a:p>
            <a:pPr marL="628650" indent="-342900">
              <a:spcBef>
                <a:spcPts val="600"/>
              </a:spcBef>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Next pointer</a:t>
            </a:r>
          </a:p>
        </p:txBody>
      </p:sp>
      <p:pic>
        <p:nvPicPr>
          <p:cNvPr id="5" name="Picture 2">
            <a:extLst>
              <a:ext uri="{FF2B5EF4-FFF2-40B4-BE49-F238E27FC236}">
                <a16:creationId xmlns:a16="http://schemas.microsoft.com/office/drawing/2014/main" id="{F493F364-12DA-7154-7368-6BB8660D6CB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893" t="43639" r="4256" b="35833"/>
          <a:stretch>
            <a:fillRect/>
          </a:stretch>
        </p:blipFill>
        <p:spPr bwMode="auto">
          <a:xfrm>
            <a:off x="899592" y="5193291"/>
            <a:ext cx="7629774" cy="117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5753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C94E7-A239-DC24-374B-3312C2964ED6}"/>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ECCF72E-2577-DE43-2A5D-862EFC8D747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70420A0F-366E-9B1F-5C47-9C155BAEEC9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67AE3BA-BF6E-5217-D40F-29C22C6CB2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3C41536F-86D2-90C5-56AD-5C4CF8050C11}"/>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Doubly Linked List – Key Features</a:t>
            </a:r>
          </a:p>
        </p:txBody>
      </p:sp>
      <p:sp>
        <p:nvSpPr>
          <p:cNvPr id="3" name="Footer Placeholder 2">
            <a:extLst>
              <a:ext uri="{FF2B5EF4-FFF2-40B4-BE49-F238E27FC236}">
                <a16:creationId xmlns:a16="http://schemas.microsoft.com/office/drawing/2014/main" id="{1E376998-E633-13D8-8E07-258049065578}"/>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B57580D6-D142-427F-21F5-A63AC3C51B9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FE1A82A7-669B-00E3-F9C2-E5813252FDB8}"/>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ACE8E971-3070-CC67-1B9B-B78732E0781A}"/>
              </a:ext>
            </a:extLst>
          </p:cNvPr>
          <p:cNvSpPr/>
          <p:nvPr/>
        </p:nvSpPr>
        <p:spPr>
          <a:xfrm>
            <a:off x="155575" y="1219200"/>
            <a:ext cx="8836025" cy="2241960"/>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Bidirectional traversal</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Easier deletion</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more memory</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Extra pointer increases memory overhead</a:t>
            </a:r>
          </a:p>
        </p:txBody>
      </p:sp>
      <p:pic>
        <p:nvPicPr>
          <p:cNvPr id="5" name="Picture 2">
            <a:extLst>
              <a:ext uri="{FF2B5EF4-FFF2-40B4-BE49-F238E27FC236}">
                <a16:creationId xmlns:a16="http://schemas.microsoft.com/office/drawing/2014/main" id="{B7A66E9C-7CEA-5B3F-AACD-BE8F3A04BC9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893" t="43639" r="4256" b="35833"/>
          <a:stretch>
            <a:fillRect/>
          </a:stretch>
        </p:blipFill>
        <p:spPr bwMode="auto">
          <a:xfrm>
            <a:off x="775369" y="3850306"/>
            <a:ext cx="7629774" cy="117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2171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378F4-2990-D953-F7AD-8984CCBA4A6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DCD02FB-2619-50DA-5D39-60409D4D274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D64CEBAE-5985-95D2-9938-A5E0EA8BA67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F83F712-197D-1E60-AFF7-79EA9AFC70E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01B8414D-960B-EC91-FEB9-4F379DCB1136}"/>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Check Your Understanding (Answers)</a:t>
            </a:r>
          </a:p>
        </p:txBody>
      </p:sp>
      <p:sp>
        <p:nvSpPr>
          <p:cNvPr id="3" name="Footer Placeholder 2">
            <a:extLst>
              <a:ext uri="{FF2B5EF4-FFF2-40B4-BE49-F238E27FC236}">
                <a16:creationId xmlns:a16="http://schemas.microsoft.com/office/drawing/2014/main" id="{ED6A9BC7-7C66-15BB-A3FE-A1C1704D3939}"/>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C0AE5719-CAA4-03E5-5AAD-ACA3E5D3256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42FF1352-49A0-5935-E188-73FA4720338F}"/>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FBCF5AFC-19FA-30B2-5835-F190F806734A}"/>
              </a:ext>
            </a:extLst>
          </p:cNvPr>
          <p:cNvSpPr/>
          <p:nvPr/>
        </p:nvSpPr>
        <p:spPr>
          <a:xfrm>
            <a:off x="155575" y="1219200"/>
            <a:ext cx="8836025" cy="2241960"/>
          </a:xfrm>
          <a:prstGeom prst="rect">
            <a:avLst/>
          </a:prstGeom>
        </p:spPr>
        <p:txBody>
          <a:bodyPr wrap="square">
            <a:spAutoFit/>
          </a:bodyPr>
          <a:lstStyle/>
          <a:p>
            <a:pPr lvl="0"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How many pointers are present in a doubly linked list node?</a:t>
            </a:r>
            <a:br>
              <a:rPr lang="en-US" altLang="en-US" sz="2400" dirty="0">
                <a:latin typeface="Times New Roman" panose="02020603050405020304" pitchFamily="18" charset="0"/>
                <a:cs typeface="Times New Roman" panose="02020603050405020304" pitchFamily="18" charset="0"/>
              </a:rPr>
            </a:br>
            <a:r>
              <a:rPr lang="en-US" altLang="en-US" sz="2400" dirty="0">
                <a:latin typeface="Times New Roman" panose="02020603050405020304" pitchFamily="18" charset="0"/>
                <a:cs typeface="Times New Roman" panose="02020603050405020304" pitchFamily="18" charset="0"/>
              </a:rPr>
              <a:t>       A doubly linked list node has two pointers (previous and next).</a:t>
            </a:r>
          </a:p>
          <a:p>
            <a:pPr lvl="0" algn="just" eaLnBrk="0" fontAlgn="base" hangingPunct="0">
              <a:lnSpc>
                <a:spcPct val="150000"/>
              </a:lnSpc>
              <a:spcBef>
                <a:spcPct val="0"/>
              </a:spcBef>
              <a:spcAft>
                <a:spcPct val="0"/>
              </a:spcAft>
            </a:pPr>
            <a:r>
              <a:rPr lang="en-US" altLang="en-US" sz="2400" b="1" dirty="0">
                <a:latin typeface="Times New Roman" panose="02020603050405020304" pitchFamily="18" charset="0"/>
                <a:cs typeface="Times New Roman" panose="02020603050405020304" pitchFamily="18" charset="0"/>
              </a:rPr>
              <a:t>❓ Can traversal happen in both directions?</a:t>
            </a:r>
          </a:p>
          <a:p>
            <a:pPr marL="442913" lvl="0"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 Yes, traversal can happen in both forward and backward directions</a:t>
            </a:r>
          </a:p>
        </p:txBody>
      </p:sp>
    </p:spTree>
    <p:extLst>
      <p:ext uri="{BB962C8B-B14F-4D97-AF65-F5344CB8AC3E}">
        <p14:creationId xmlns:p14="http://schemas.microsoft.com/office/powerpoint/2010/main" val="2729885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E51F4-1BE1-E934-4149-A5CDC3CDFB7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6114DC2-CF61-8BB9-E646-D68642CD096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55E1EF6A-8AB5-6307-E2DB-82E3D9CCAFA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EFDF16C-522A-84A9-CF7D-ED1FDE9FF3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C928B11F-1155-33E1-76E5-75464FBB3531}"/>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Circular Linked List </a:t>
            </a:r>
          </a:p>
        </p:txBody>
      </p:sp>
      <p:sp>
        <p:nvSpPr>
          <p:cNvPr id="3" name="Footer Placeholder 2">
            <a:extLst>
              <a:ext uri="{FF2B5EF4-FFF2-40B4-BE49-F238E27FC236}">
                <a16:creationId xmlns:a16="http://schemas.microsoft.com/office/drawing/2014/main" id="{3B91D512-EF14-06C4-1FD0-9E66C977F2EE}"/>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30914BAF-8D5C-A4B1-4ED5-AB1E9DAFD576}"/>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FDB41B29-7D64-57E0-A31B-DF3FC4212AF5}"/>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9AD649FE-6AEE-1EE4-E313-D3C9FCE40767}"/>
              </a:ext>
            </a:extLst>
          </p:cNvPr>
          <p:cNvSpPr/>
          <p:nvPr/>
        </p:nvSpPr>
        <p:spPr>
          <a:xfrm>
            <a:off x="155575" y="1219200"/>
            <a:ext cx="8836025" cy="3139321"/>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Circular Linked List</a:t>
            </a:r>
            <a:r>
              <a:rPr lang="en-US" sz="2400" dirty="0">
                <a:latin typeface="Times New Roman" panose="02020603050405020304" pitchFamily="18" charset="0"/>
                <a:cs typeface="Times New Roman" panose="02020603050405020304" pitchFamily="18" charset="0"/>
              </a:rPr>
              <a:t> is a linked list in which:</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last node does </a:t>
            </a:r>
            <a:r>
              <a:rPr lang="en-US" sz="2400" b="1" dirty="0">
                <a:latin typeface="Times New Roman" panose="02020603050405020304" pitchFamily="18" charset="0"/>
                <a:cs typeface="Times New Roman" panose="02020603050405020304" pitchFamily="18" charset="0"/>
              </a:rPr>
              <a:t>not point to NULL</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points back to the </a:t>
            </a:r>
            <a:r>
              <a:rPr lang="en-US" sz="2400" b="1" dirty="0">
                <a:latin typeface="Times New Roman" panose="02020603050405020304" pitchFamily="18" charset="0"/>
                <a:cs typeface="Times New Roman" panose="02020603050405020304" pitchFamily="18" charset="0"/>
              </a:rPr>
              <a:t>first node (head)</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Circular Linked List – Representation</a:t>
            </a:r>
          </a:p>
          <a:p>
            <a:endParaRPr lang="en-US" dirty="0"/>
          </a:p>
          <a:p>
            <a:endParaRPr lang="en-US" sz="2400" dirty="0"/>
          </a:p>
        </p:txBody>
      </p:sp>
      <p:pic>
        <p:nvPicPr>
          <p:cNvPr id="5" name="Picture 2">
            <a:extLst>
              <a:ext uri="{FF2B5EF4-FFF2-40B4-BE49-F238E27FC236}">
                <a16:creationId xmlns:a16="http://schemas.microsoft.com/office/drawing/2014/main" id="{2E1B6CCC-DC83-7547-6C50-F42C900F4A2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892" t="66732" r="10304" b="7583"/>
          <a:stretch>
            <a:fillRect/>
          </a:stretch>
        </p:blipFill>
        <p:spPr bwMode="auto">
          <a:xfrm>
            <a:off x="1097868" y="3868830"/>
            <a:ext cx="6984776" cy="1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2F04B511-D904-FB65-F958-DE9B494A68B3}"/>
              </a:ext>
            </a:extLst>
          </p:cNvPr>
          <p:cNvSpPr txBox="1"/>
          <p:nvPr/>
        </p:nvSpPr>
        <p:spPr>
          <a:xfrm>
            <a:off x="619772" y="5655994"/>
            <a:ext cx="4599708"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Note: </a:t>
            </a:r>
            <a:r>
              <a:rPr lang="en-US" sz="2400" dirty="0">
                <a:latin typeface="Times New Roman" panose="02020603050405020304" pitchFamily="18" charset="0"/>
                <a:cs typeface="Times New Roman" panose="02020603050405020304" pitchFamily="18" charset="0"/>
              </a:rPr>
              <a:t>No NULL pointer in the list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889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177CB-4182-A368-10C8-82CA36024125}"/>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97832BC-B63A-0BE2-7809-9D79436979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B387935C-605D-BEC5-F149-FE76D0BB215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9715FC7-0182-517D-972E-30978FB721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04C21CD4-8DA6-20F7-D4F2-A07055D00DBB}"/>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Circular Linked List- Key Features </a:t>
            </a:r>
          </a:p>
        </p:txBody>
      </p:sp>
      <p:sp>
        <p:nvSpPr>
          <p:cNvPr id="3" name="Footer Placeholder 2">
            <a:extLst>
              <a:ext uri="{FF2B5EF4-FFF2-40B4-BE49-F238E27FC236}">
                <a16:creationId xmlns:a16="http://schemas.microsoft.com/office/drawing/2014/main" id="{77C6359C-D495-FB20-6868-104868290283}"/>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B746517A-E2A3-54A9-4863-891EC86D9B1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C1AE7F6C-36C7-BBC9-20FD-EBFD96F5B749}"/>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C8F85B96-702F-A5CC-131A-1CB376A5E739}"/>
              </a:ext>
            </a:extLst>
          </p:cNvPr>
          <p:cNvSpPr/>
          <p:nvPr/>
        </p:nvSpPr>
        <p:spPr>
          <a:xfrm>
            <a:off x="155575" y="1219200"/>
            <a:ext cx="8836025" cy="1687963"/>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Continuous traversal possible</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No NULL pointers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Useful for cyclic operations</a:t>
            </a:r>
          </a:p>
        </p:txBody>
      </p:sp>
      <p:pic>
        <p:nvPicPr>
          <p:cNvPr id="6" name="Picture 2">
            <a:extLst>
              <a:ext uri="{FF2B5EF4-FFF2-40B4-BE49-F238E27FC236}">
                <a16:creationId xmlns:a16="http://schemas.microsoft.com/office/drawing/2014/main" id="{7D6E6DBC-7B8C-9E81-7317-C51C13F0A4A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892" t="66732" r="10304" b="7583"/>
          <a:stretch>
            <a:fillRect/>
          </a:stretch>
        </p:blipFill>
        <p:spPr bwMode="auto">
          <a:xfrm>
            <a:off x="955128" y="3252629"/>
            <a:ext cx="6984776" cy="1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78601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714BA-723D-44C1-5ECC-EABA39D143A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6EF2A6E-95F6-4C9A-340D-00734B04AFD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B20FA082-2255-0AE6-D1FB-3D71976CDDB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195793C-8594-CAC1-B711-10E377C0088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B8BE9D41-E7E7-641D-2889-1EF80380CCBE}"/>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Circular Doubly Linked List</a:t>
            </a:r>
          </a:p>
        </p:txBody>
      </p:sp>
      <p:sp>
        <p:nvSpPr>
          <p:cNvPr id="3" name="Footer Placeholder 2">
            <a:extLst>
              <a:ext uri="{FF2B5EF4-FFF2-40B4-BE49-F238E27FC236}">
                <a16:creationId xmlns:a16="http://schemas.microsoft.com/office/drawing/2014/main" id="{671A0A45-2D80-AAE0-C9B5-689FF09EFA99}"/>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02410FBC-F465-9AC2-BE6B-2F0E43145D5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28D15A44-F69B-D9DC-3FDC-4E7B9CE6FDE9}"/>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F322C769-8DDD-6867-2B46-7C4FC3EBE8BB}"/>
              </a:ext>
            </a:extLst>
          </p:cNvPr>
          <p:cNvSpPr/>
          <p:nvPr/>
        </p:nvSpPr>
        <p:spPr>
          <a:xfrm>
            <a:off x="155575" y="1219200"/>
            <a:ext cx="8836025" cy="2492990"/>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Combines features of doubly and circular linked lists</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Last node points to first</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First node points to last</a:t>
            </a:r>
          </a:p>
          <a:p>
            <a:endParaRPr lang="en-US" sz="2400" dirty="0"/>
          </a:p>
          <a:p>
            <a:pPr marL="342900" indent="-342900">
              <a:buFont typeface="Arial" panose="020B0604020202020204" pitchFamily="34" charset="0"/>
              <a:buChar char="•"/>
            </a:pPr>
            <a:r>
              <a:rPr lang="en-US" sz="2400" b="1" dirty="0"/>
              <a:t>Circular Doubly Linked List – Structure</a:t>
            </a:r>
          </a:p>
        </p:txBody>
      </p:sp>
      <p:pic>
        <p:nvPicPr>
          <p:cNvPr id="11" name="Picture 10">
            <a:extLst>
              <a:ext uri="{FF2B5EF4-FFF2-40B4-BE49-F238E27FC236}">
                <a16:creationId xmlns:a16="http://schemas.microsoft.com/office/drawing/2014/main" id="{FBD611AF-6A9A-2BC4-37D7-60C9630D7D0F}"/>
              </a:ext>
            </a:extLst>
          </p:cNvPr>
          <p:cNvPicPr>
            <a:picLocks noChangeAspect="1"/>
          </p:cNvPicPr>
          <p:nvPr/>
        </p:nvPicPr>
        <p:blipFill>
          <a:blip r:embed="rId5"/>
          <a:stretch>
            <a:fillRect/>
          </a:stretch>
        </p:blipFill>
        <p:spPr>
          <a:xfrm>
            <a:off x="2483768" y="3742393"/>
            <a:ext cx="3888432" cy="2592288"/>
          </a:xfrm>
          <a:prstGeom prst="rect">
            <a:avLst/>
          </a:prstGeom>
        </p:spPr>
      </p:pic>
    </p:spTree>
    <p:extLst>
      <p:ext uri="{BB962C8B-B14F-4D97-AF65-F5344CB8AC3E}">
        <p14:creationId xmlns:p14="http://schemas.microsoft.com/office/powerpoint/2010/main" val="9395513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FF044-720B-7299-1659-F943BD7E512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2AB0C09-D8CA-743F-3703-4B972D24BECC}"/>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A024DA5-644A-3418-F6F6-82160B5F8602}"/>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5E679741-F690-63FD-ADD4-C65E9533AFA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3A0246EF-EABA-F523-B706-AE85C882D81B}"/>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Comparison of Linked List Types</a:t>
            </a:r>
          </a:p>
        </p:txBody>
      </p:sp>
      <p:sp>
        <p:nvSpPr>
          <p:cNvPr id="3" name="Footer Placeholder 2">
            <a:extLst>
              <a:ext uri="{FF2B5EF4-FFF2-40B4-BE49-F238E27FC236}">
                <a16:creationId xmlns:a16="http://schemas.microsoft.com/office/drawing/2014/main" id="{A06AC3AB-9662-07C2-6622-1EAC864F7F5C}"/>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F9723394-3E0D-259F-2FC4-E2185961A017}"/>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2510F030-93E9-6CDC-EE5D-EFD79B672391}"/>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5" name="Table 4">
            <a:extLst>
              <a:ext uri="{FF2B5EF4-FFF2-40B4-BE49-F238E27FC236}">
                <a16:creationId xmlns:a16="http://schemas.microsoft.com/office/drawing/2014/main" id="{2EA4F328-7192-C79E-EB3F-47DB0AEC70FC}"/>
              </a:ext>
            </a:extLst>
          </p:cNvPr>
          <p:cNvGraphicFramePr>
            <a:graphicFrameLocks noGrp="1"/>
          </p:cNvGraphicFramePr>
          <p:nvPr>
            <p:extLst>
              <p:ext uri="{D42A27DB-BD31-4B8C-83A1-F6EECF244321}">
                <p14:modId xmlns:p14="http://schemas.microsoft.com/office/powerpoint/2010/main" val="1703180925"/>
              </p:ext>
            </p:extLst>
          </p:nvPr>
        </p:nvGraphicFramePr>
        <p:xfrm>
          <a:off x="461979" y="1898277"/>
          <a:ext cx="8229600" cy="1828800"/>
        </p:xfrm>
        <a:graphic>
          <a:graphicData uri="http://schemas.openxmlformats.org/drawingml/2006/table">
            <a:tbl>
              <a:tblPr>
                <a:tableStyleId>{BC89EF96-8CEA-46FF-86C4-4CE0E7609802}</a:tableStyleId>
              </a:tblPr>
              <a:tblGrid>
                <a:gridCol w="2057400">
                  <a:extLst>
                    <a:ext uri="{9D8B030D-6E8A-4147-A177-3AD203B41FA5}">
                      <a16:colId xmlns:a16="http://schemas.microsoft.com/office/drawing/2014/main" val="2686315814"/>
                    </a:ext>
                  </a:extLst>
                </a:gridCol>
                <a:gridCol w="2057400">
                  <a:extLst>
                    <a:ext uri="{9D8B030D-6E8A-4147-A177-3AD203B41FA5}">
                      <a16:colId xmlns:a16="http://schemas.microsoft.com/office/drawing/2014/main" val="1463085335"/>
                    </a:ext>
                  </a:extLst>
                </a:gridCol>
                <a:gridCol w="2057400">
                  <a:extLst>
                    <a:ext uri="{9D8B030D-6E8A-4147-A177-3AD203B41FA5}">
                      <a16:colId xmlns:a16="http://schemas.microsoft.com/office/drawing/2014/main" val="1201696886"/>
                    </a:ext>
                  </a:extLst>
                </a:gridCol>
                <a:gridCol w="2057400">
                  <a:extLst>
                    <a:ext uri="{9D8B030D-6E8A-4147-A177-3AD203B41FA5}">
                      <a16:colId xmlns:a16="http://schemas.microsoft.com/office/drawing/2014/main" val="1654671495"/>
                    </a:ext>
                  </a:extLst>
                </a:gridCol>
              </a:tblGrid>
              <a:tr h="0">
                <a:tc>
                  <a:txBody>
                    <a:bodyPr/>
                    <a:lstStyle/>
                    <a:p>
                      <a:pPr>
                        <a:buNone/>
                      </a:pPr>
                      <a:r>
                        <a:rPr lang="en-IN" b="1" dirty="0"/>
                        <a:t>Feature</a:t>
                      </a:r>
                    </a:p>
                  </a:txBody>
                  <a:tcPr anchor="ctr"/>
                </a:tc>
                <a:tc>
                  <a:txBody>
                    <a:bodyPr/>
                    <a:lstStyle/>
                    <a:p>
                      <a:pPr>
                        <a:buNone/>
                      </a:pPr>
                      <a:r>
                        <a:rPr lang="en-IN" b="1"/>
                        <a:t>Singly LL</a:t>
                      </a:r>
                    </a:p>
                  </a:txBody>
                  <a:tcPr anchor="ctr"/>
                </a:tc>
                <a:tc>
                  <a:txBody>
                    <a:bodyPr/>
                    <a:lstStyle/>
                    <a:p>
                      <a:pPr>
                        <a:buNone/>
                      </a:pPr>
                      <a:r>
                        <a:rPr lang="en-IN" b="1"/>
                        <a:t>Doubly LL</a:t>
                      </a:r>
                    </a:p>
                  </a:txBody>
                  <a:tcPr anchor="ctr"/>
                </a:tc>
                <a:tc>
                  <a:txBody>
                    <a:bodyPr/>
                    <a:lstStyle/>
                    <a:p>
                      <a:pPr>
                        <a:buNone/>
                      </a:pPr>
                      <a:r>
                        <a:rPr lang="en-IN" b="1" dirty="0"/>
                        <a:t>Circular LL</a:t>
                      </a:r>
                    </a:p>
                  </a:txBody>
                  <a:tcPr anchor="ctr"/>
                </a:tc>
                <a:extLst>
                  <a:ext uri="{0D108BD9-81ED-4DB2-BD59-A6C34878D82A}">
                    <a16:rowId xmlns:a16="http://schemas.microsoft.com/office/drawing/2014/main" val="3972564598"/>
                  </a:ext>
                </a:extLst>
              </a:tr>
              <a:tr h="0">
                <a:tc>
                  <a:txBody>
                    <a:bodyPr/>
                    <a:lstStyle/>
                    <a:p>
                      <a:pPr>
                        <a:buNone/>
                      </a:pPr>
                      <a:r>
                        <a:rPr lang="en-IN" dirty="0"/>
                        <a:t>Pointers per node</a:t>
                      </a:r>
                    </a:p>
                  </a:txBody>
                  <a:tcPr anchor="ctr"/>
                </a:tc>
                <a:tc>
                  <a:txBody>
                    <a:bodyPr/>
                    <a:lstStyle/>
                    <a:p>
                      <a:pPr>
                        <a:buNone/>
                      </a:pPr>
                      <a:r>
                        <a:rPr lang="en-IN"/>
                        <a:t>1</a:t>
                      </a:r>
                    </a:p>
                  </a:txBody>
                  <a:tcPr anchor="ctr"/>
                </a:tc>
                <a:tc>
                  <a:txBody>
                    <a:bodyPr/>
                    <a:lstStyle/>
                    <a:p>
                      <a:pPr>
                        <a:buNone/>
                      </a:pPr>
                      <a:r>
                        <a:rPr lang="en-IN"/>
                        <a:t>2</a:t>
                      </a:r>
                    </a:p>
                  </a:txBody>
                  <a:tcPr anchor="ctr"/>
                </a:tc>
                <a:tc>
                  <a:txBody>
                    <a:bodyPr/>
                    <a:lstStyle/>
                    <a:p>
                      <a:pPr>
                        <a:buNone/>
                      </a:pPr>
                      <a:r>
                        <a:rPr lang="en-IN"/>
                        <a:t>1 / 2</a:t>
                      </a:r>
                    </a:p>
                  </a:txBody>
                  <a:tcPr anchor="ctr"/>
                </a:tc>
                <a:extLst>
                  <a:ext uri="{0D108BD9-81ED-4DB2-BD59-A6C34878D82A}">
                    <a16:rowId xmlns:a16="http://schemas.microsoft.com/office/drawing/2014/main" val="2552792460"/>
                  </a:ext>
                </a:extLst>
              </a:tr>
              <a:tr h="0">
                <a:tc>
                  <a:txBody>
                    <a:bodyPr/>
                    <a:lstStyle/>
                    <a:p>
                      <a:pPr>
                        <a:buNone/>
                      </a:pPr>
                      <a:r>
                        <a:rPr lang="en-IN"/>
                        <a:t>Traversal</a:t>
                      </a:r>
                    </a:p>
                  </a:txBody>
                  <a:tcPr anchor="ctr"/>
                </a:tc>
                <a:tc>
                  <a:txBody>
                    <a:bodyPr/>
                    <a:lstStyle/>
                    <a:p>
                      <a:pPr>
                        <a:buNone/>
                      </a:pPr>
                      <a:r>
                        <a:rPr lang="en-IN"/>
                        <a:t>One-way</a:t>
                      </a:r>
                    </a:p>
                  </a:txBody>
                  <a:tcPr anchor="ctr"/>
                </a:tc>
                <a:tc>
                  <a:txBody>
                    <a:bodyPr/>
                    <a:lstStyle/>
                    <a:p>
                      <a:pPr>
                        <a:buNone/>
                      </a:pPr>
                      <a:r>
                        <a:rPr lang="en-IN"/>
                        <a:t>Two-way</a:t>
                      </a:r>
                    </a:p>
                  </a:txBody>
                  <a:tcPr anchor="ctr"/>
                </a:tc>
                <a:tc>
                  <a:txBody>
                    <a:bodyPr/>
                    <a:lstStyle/>
                    <a:p>
                      <a:pPr>
                        <a:buNone/>
                      </a:pPr>
                      <a:r>
                        <a:rPr lang="en-IN"/>
                        <a:t>Circular</a:t>
                      </a:r>
                    </a:p>
                  </a:txBody>
                  <a:tcPr anchor="ctr"/>
                </a:tc>
                <a:extLst>
                  <a:ext uri="{0D108BD9-81ED-4DB2-BD59-A6C34878D82A}">
                    <a16:rowId xmlns:a16="http://schemas.microsoft.com/office/drawing/2014/main" val="3074414834"/>
                  </a:ext>
                </a:extLst>
              </a:tr>
              <a:tr h="0">
                <a:tc>
                  <a:txBody>
                    <a:bodyPr/>
                    <a:lstStyle/>
                    <a:p>
                      <a:pPr>
                        <a:buNone/>
                      </a:pPr>
                      <a:r>
                        <a:rPr lang="en-IN" dirty="0"/>
                        <a:t>Memory usage</a:t>
                      </a:r>
                    </a:p>
                  </a:txBody>
                  <a:tcPr anchor="ctr"/>
                </a:tc>
                <a:tc>
                  <a:txBody>
                    <a:bodyPr/>
                    <a:lstStyle/>
                    <a:p>
                      <a:pPr>
                        <a:buNone/>
                      </a:pPr>
                      <a:r>
                        <a:rPr lang="en-IN"/>
                        <a:t>Low</a:t>
                      </a:r>
                    </a:p>
                  </a:txBody>
                  <a:tcPr anchor="ctr"/>
                </a:tc>
                <a:tc>
                  <a:txBody>
                    <a:bodyPr/>
                    <a:lstStyle/>
                    <a:p>
                      <a:pPr>
                        <a:buNone/>
                      </a:pPr>
                      <a:r>
                        <a:rPr lang="en-IN"/>
                        <a:t>High</a:t>
                      </a:r>
                    </a:p>
                  </a:txBody>
                  <a:tcPr anchor="ctr"/>
                </a:tc>
                <a:tc>
                  <a:txBody>
                    <a:bodyPr/>
                    <a:lstStyle/>
                    <a:p>
                      <a:pPr>
                        <a:buNone/>
                      </a:pPr>
                      <a:r>
                        <a:rPr lang="en-IN"/>
                        <a:t>Medium</a:t>
                      </a:r>
                    </a:p>
                  </a:txBody>
                  <a:tcPr anchor="ctr"/>
                </a:tc>
                <a:extLst>
                  <a:ext uri="{0D108BD9-81ED-4DB2-BD59-A6C34878D82A}">
                    <a16:rowId xmlns:a16="http://schemas.microsoft.com/office/drawing/2014/main" val="1790434172"/>
                  </a:ext>
                </a:extLst>
              </a:tr>
              <a:tr h="0">
                <a:tc>
                  <a:txBody>
                    <a:bodyPr/>
                    <a:lstStyle/>
                    <a:p>
                      <a:pPr>
                        <a:buNone/>
                      </a:pPr>
                      <a:r>
                        <a:rPr lang="en-IN"/>
                        <a:t>NULL pointer</a:t>
                      </a:r>
                    </a:p>
                  </a:txBody>
                  <a:tcPr anchor="ctr"/>
                </a:tc>
                <a:tc>
                  <a:txBody>
                    <a:bodyPr/>
                    <a:lstStyle/>
                    <a:p>
                      <a:pPr>
                        <a:buNone/>
                      </a:pPr>
                      <a:r>
                        <a:rPr lang="en-IN"/>
                        <a:t>Yes</a:t>
                      </a:r>
                    </a:p>
                  </a:txBody>
                  <a:tcPr anchor="ctr"/>
                </a:tc>
                <a:tc>
                  <a:txBody>
                    <a:bodyPr/>
                    <a:lstStyle/>
                    <a:p>
                      <a:pPr>
                        <a:buNone/>
                      </a:pPr>
                      <a:r>
                        <a:rPr lang="en-IN"/>
                        <a:t>Yes</a:t>
                      </a:r>
                    </a:p>
                  </a:txBody>
                  <a:tcPr anchor="ctr"/>
                </a:tc>
                <a:tc>
                  <a:txBody>
                    <a:bodyPr/>
                    <a:lstStyle/>
                    <a:p>
                      <a:pPr>
                        <a:buNone/>
                      </a:pPr>
                      <a:r>
                        <a:rPr lang="en-IN" dirty="0"/>
                        <a:t>No</a:t>
                      </a:r>
                    </a:p>
                  </a:txBody>
                  <a:tcPr anchor="ctr"/>
                </a:tc>
                <a:extLst>
                  <a:ext uri="{0D108BD9-81ED-4DB2-BD59-A6C34878D82A}">
                    <a16:rowId xmlns:a16="http://schemas.microsoft.com/office/drawing/2014/main" val="2160435338"/>
                  </a:ext>
                </a:extLst>
              </a:tr>
            </a:tbl>
          </a:graphicData>
        </a:graphic>
      </p:graphicFrame>
    </p:spTree>
    <p:extLst>
      <p:ext uri="{BB962C8B-B14F-4D97-AF65-F5344CB8AC3E}">
        <p14:creationId xmlns:p14="http://schemas.microsoft.com/office/powerpoint/2010/main" val="14906006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A1ED-75D2-8D83-9F34-7BB93066A95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F4C12A1-5B00-BEAF-75B2-8BF161FEAD58}"/>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7961380E-991D-5F35-91C2-D127BB90069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F89E9CE-19A9-A979-C13C-682EABA4382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3B3D9622-88A9-A75A-1157-96F422C217B4}"/>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Applications of Linked List Types</a:t>
            </a:r>
          </a:p>
        </p:txBody>
      </p:sp>
      <p:sp>
        <p:nvSpPr>
          <p:cNvPr id="3" name="Footer Placeholder 2">
            <a:extLst>
              <a:ext uri="{FF2B5EF4-FFF2-40B4-BE49-F238E27FC236}">
                <a16:creationId xmlns:a16="http://schemas.microsoft.com/office/drawing/2014/main" id="{995E7F65-FABF-6A69-D874-D7B6312076E4}"/>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EA94CAFD-8326-E500-51EF-79B7AE39BD3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DF178AD0-0858-4CE2-3A02-A38C53CFD7CF}"/>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EA4C76FB-C7C2-3F2D-71A8-76B7969519E7}"/>
              </a:ext>
            </a:extLst>
          </p:cNvPr>
          <p:cNvSpPr/>
          <p:nvPr/>
        </p:nvSpPr>
        <p:spPr>
          <a:xfrm>
            <a:off x="155575" y="1219200"/>
            <a:ext cx="8592889" cy="2795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Singly Linked List:</a:t>
            </a:r>
            <a:r>
              <a:rPr lang="en-IN" sz="2400" dirty="0">
                <a:latin typeface="Times New Roman" panose="02020603050405020304" pitchFamily="18" charset="0"/>
                <a:cs typeface="Times New Roman" panose="02020603050405020304" pitchFamily="18" charset="0"/>
              </a:rPr>
              <a:t> Music playlists</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Doubly Linked List:</a:t>
            </a:r>
            <a:r>
              <a:rPr lang="en-IN" sz="2400" dirty="0">
                <a:latin typeface="Times New Roman" panose="02020603050405020304" pitchFamily="18" charset="0"/>
                <a:cs typeface="Times New Roman" panose="02020603050405020304" pitchFamily="18" charset="0"/>
              </a:rPr>
              <a:t> Browser back &amp; forward navigation</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Circular Linked List:</a:t>
            </a:r>
            <a:r>
              <a:rPr lang="en-IN" sz="2400" dirty="0">
                <a:latin typeface="Times New Roman" panose="02020603050405020304" pitchFamily="18" charset="0"/>
                <a:cs typeface="Times New Roman" panose="02020603050405020304" pitchFamily="18" charset="0"/>
              </a:rPr>
              <a:t> CPU scheduling</a:t>
            </a:r>
          </a:p>
          <a:p>
            <a:pPr marL="342900" indent="-342900" algn="just">
              <a:lnSpc>
                <a:spcPct val="15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Circular Doubly Linked List:</a:t>
            </a:r>
            <a:r>
              <a:rPr lang="en-IN" sz="2400" dirty="0">
                <a:latin typeface="Times New Roman" panose="02020603050405020304" pitchFamily="18" charset="0"/>
                <a:cs typeface="Times New Roman" panose="02020603050405020304" pitchFamily="18" charset="0"/>
              </a:rPr>
              <a:t> Multiplayer games, navigation systems</a:t>
            </a:r>
          </a:p>
        </p:txBody>
      </p:sp>
    </p:spTree>
    <p:extLst>
      <p:ext uri="{BB962C8B-B14F-4D97-AF65-F5344CB8AC3E}">
        <p14:creationId xmlns:p14="http://schemas.microsoft.com/office/powerpoint/2010/main" val="2897332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954107"/>
          </a:xfrm>
          <a:prstGeom prst="rect">
            <a:avLst/>
          </a:prstGeom>
          <a:noFill/>
        </p:spPr>
        <p:txBody>
          <a:bodyPr wrap="square" rtlCol="0">
            <a:spAutoFit/>
          </a:bodyPr>
          <a:lstStyle/>
          <a:p>
            <a:endParaRPr lang="en-US" sz="2400" b="1" u="sng" dirty="0"/>
          </a:p>
          <a:p>
            <a:r>
              <a:rPr lang="en-US" sz="3200" dirty="0">
                <a:solidFill>
                  <a:srgbClr val="FF0000"/>
                </a:solidFill>
              </a:rPr>
              <a:t>Identify the type of Linked List</a:t>
            </a:r>
            <a:endParaRPr lang="en-US" sz="3200" dirty="0"/>
          </a:p>
        </p:txBody>
      </p:sp>
      <p:sp>
        <p:nvSpPr>
          <p:cNvPr id="3" name="Footer Placeholder 2"/>
          <p:cNvSpPr>
            <a:spLocks noGrp="1"/>
          </p:cNvSpPr>
          <p:nvPr>
            <p:ph type="ftr" sz="quarter" idx="11"/>
          </p:nvPr>
        </p:nvSpPr>
        <p:spPr/>
        <p:txBody>
          <a:bodyPr/>
          <a:lstStyle/>
          <a:p>
            <a:r>
              <a:rPr lang="en-IN"/>
              <a:t>Data  Structure         Unit2  </a:t>
            </a:r>
          </a:p>
        </p:txBody>
      </p:sp>
      <p:pic>
        <p:nvPicPr>
          <p:cNvPr id="2253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666628"/>
            <a:ext cx="7467600" cy="414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8024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Identify the type of Linked List </a:t>
            </a:r>
          </a:p>
        </p:txBody>
      </p:sp>
      <p:sp>
        <p:nvSpPr>
          <p:cNvPr id="3" name="Footer Placeholder 2"/>
          <p:cNvSpPr>
            <a:spLocks noGrp="1"/>
          </p:cNvSpPr>
          <p:nvPr>
            <p:ph type="ftr" sz="quarter" idx="11"/>
          </p:nvPr>
        </p:nvSpPr>
        <p:spPr/>
        <p:txBody>
          <a:bodyPr/>
          <a:lstStyle/>
          <a:p>
            <a:r>
              <a:rPr lang="en-IN"/>
              <a:t>Data  Structure         Unit2  </a:t>
            </a:r>
          </a:p>
        </p:txBody>
      </p:sp>
      <p:pic>
        <p:nvPicPr>
          <p:cNvPr id="8" name="Picture 7">
            <a:extLst>
              <a:ext uri="{FF2B5EF4-FFF2-40B4-BE49-F238E27FC236}">
                <a16:creationId xmlns:a16="http://schemas.microsoft.com/office/drawing/2014/main" id="{EE0A1058-C613-3B00-1BB2-99B6DAE080F1}"/>
              </a:ext>
            </a:extLst>
          </p:cNvPr>
          <p:cNvPicPr>
            <a:picLocks noChangeAspect="1"/>
          </p:cNvPicPr>
          <p:nvPr/>
        </p:nvPicPr>
        <p:blipFill>
          <a:blip r:embed="rId5"/>
          <a:stretch>
            <a:fillRect/>
          </a:stretch>
        </p:blipFill>
        <p:spPr>
          <a:xfrm>
            <a:off x="1475656" y="1661940"/>
            <a:ext cx="6336704" cy="4224469"/>
          </a:xfrm>
          <a:prstGeom prst="rect">
            <a:avLst/>
          </a:prstGeom>
        </p:spPr>
      </p:pic>
    </p:spTree>
    <p:extLst>
      <p:ext uri="{BB962C8B-B14F-4D97-AF65-F5344CB8AC3E}">
        <p14:creationId xmlns:p14="http://schemas.microsoft.com/office/powerpoint/2010/main" val="2940173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Identify the type of Linked List </a:t>
            </a:r>
          </a:p>
        </p:txBody>
      </p:sp>
      <p:sp>
        <p:nvSpPr>
          <p:cNvPr id="3" name="Footer Placeholder 2"/>
          <p:cNvSpPr>
            <a:spLocks noGrp="1"/>
          </p:cNvSpPr>
          <p:nvPr>
            <p:ph type="ftr" sz="quarter" idx="11"/>
          </p:nvPr>
        </p:nvSpPr>
        <p:spPr/>
        <p:txBody>
          <a:bodyPr/>
          <a:lstStyle/>
          <a:p>
            <a:r>
              <a:rPr lang="en-IN"/>
              <a:t>Data  Structure         Unit2  </a:t>
            </a:r>
          </a:p>
        </p:txBody>
      </p:sp>
      <p:pic>
        <p:nvPicPr>
          <p:cNvPr id="8" name="Picture 7">
            <a:extLst>
              <a:ext uri="{FF2B5EF4-FFF2-40B4-BE49-F238E27FC236}">
                <a16:creationId xmlns:a16="http://schemas.microsoft.com/office/drawing/2014/main" id="{85047FA6-035E-7250-0907-2CE598DDE2C9}"/>
              </a:ext>
            </a:extLst>
          </p:cNvPr>
          <p:cNvPicPr>
            <a:picLocks noChangeAspect="1"/>
          </p:cNvPicPr>
          <p:nvPr/>
        </p:nvPicPr>
        <p:blipFill>
          <a:blip r:embed="rId5"/>
          <a:stretch>
            <a:fillRect/>
          </a:stretch>
        </p:blipFill>
        <p:spPr>
          <a:xfrm>
            <a:off x="936104" y="1429767"/>
            <a:ext cx="7308304" cy="4872203"/>
          </a:xfrm>
          <a:prstGeom prst="rect">
            <a:avLst/>
          </a:prstGeom>
        </p:spPr>
      </p:pic>
    </p:spTree>
    <p:extLst>
      <p:ext uri="{BB962C8B-B14F-4D97-AF65-F5344CB8AC3E}">
        <p14:creationId xmlns:p14="http://schemas.microsoft.com/office/powerpoint/2010/main" val="35294590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Identify the type of Linked List </a:t>
            </a:r>
          </a:p>
        </p:txBody>
      </p:sp>
      <p:sp>
        <p:nvSpPr>
          <p:cNvPr id="3" name="Footer Placeholder 2"/>
          <p:cNvSpPr>
            <a:spLocks noGrp="1"/>
          </p:cNvSpPr>
          <p:nvPr>
            <p:ph type="ftr" sz="quarter" idx="11"/>
          </p:nvPr>
        </p:nvSpPr>
        <p:spPr/>
        <p:txBody>
          <a:bodyPr/>
          <a:lstStyle/>
          <a:p>
            <a:r>
              <a:rPr lang="en-IN"/>
              <a:t>Data  Structure         Unit2  </a:t>
            </a:r>
          </a:p>
        </p:txBody>
      </p:sp>
      <p:pic>
        <p:nvPicPr>
          <p:cNvPr id="8" name="Picture 7">
            <a:extLst>
              <a:ext uri="{FF2B5EF4-FFF2-40B4-BE49-F238E27FC236}">
                <a16:creationId xmlns:a16="http://schemas.microsoft.com/office/drawing/2014/main" id="{A67DD17E-6969-71F7-4344-13638F7663F4}"/>
              </a:ext>
            </a:extLst>
          </p:cNvPr>
          <p:cNvPicPr>
            <a:picLocks noChangeAspect="1"/>
          </p:cNvPicPr>
          <p:nvPr/>
        </p:nvPicPr>
        <p:blipFill>
          <a:blip r:embed="rId5"/>
          <a:stretch>
            <a:fillRect/>
          </a:stretch>
        </p:blipFill>
        <p:spPr>
          <a:xfrm>
            <a:off x="1277888" y="1458099"/>
            <a:ext cx="6660234" cy="4440156"/>
          </a:xfrm>
          <a:prstGeom prst="rect">
            <a:avLst/>
          </a:prstGeom>
        </p:spPr>
      </p:pic>
    </p:spTree>
    <p:extLst>
      <p:ext uri="{BB962C8B-B14F-4D97-AF65-F5344CB8AC3E}">
        <p14:creationId xmlns:p14="http://schemas.microsoft.com/office/powerpoint/2010/main" val="2891163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7B3EC-A385-A13B-08B1-E8823BC1FB94}"/>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A8400CD-4296-299E-9ED8-7A0CD201EBDE}"/>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940105CB-5781-A30F-9070-EF87F342820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D191C95-C0C1-2961-B5F0-52B7C891E5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63B01FE7-FE29-6556-068F-3FB9FAB72F4C}"/>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Practice Question</a:t>
            </a:r>
          </a:p>
        </p:txBody>
      </p:sp>
      <p:sp>
        <p:nvSpPr>
          <p:cNvPr id="3" name="Footer Placeholder 2">
            <a:extLst>
              <a:ext uri="{FF2B5EF4-FFF2-40B4-BE49-F238E27FC236}">
                <a16:creationId xmlns:a16="http://schemas.microsoft.com/office/drawing/2014/main" id="{E8F5E30C-140C-0AD1-3A5F-BE98FBE58DA8}"/>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B463BCC5-C43D-2E54-EE22-0CB114B69EB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377C63F8-429C-5826-4D66-7D0B7A6E648B}"/>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3F6E229A-FA6C-6567-9B2D-7A6DB8758569}"/>
              </a:ext>
            </a:extLst>
          </p:cNvPr>
          <p:cNvSpPr/>
          <p:nvPr/>
        </p:nvSpPr>
        <p:spPr>
          <a:xfrm>
            <a:off x="155575" y="1219200"/>
            <a:ext cx="8592889" cy="57996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Write node structure for each linked list type</a:t>
            </a:r>
          </a:p>
        </p:txBody>
      </p:sp>
    </p:spTree>
    <p:extLst>
      <p:ext uri="{BB962C8B-B14F-4D97-AF65-F5344CB8AC3E}">
        <p14:creationId xmlns:p14="http://schemas.microsoft.com/office/powerpoint/2010/main" val="619100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11A6C-F97F-829D-2520-9665E5B7BA2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297D6D5-0097-5F2B-25F2-6DEC0B40D25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7C200A36-D298-9357-B72A-11B1C27AE4E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EBE0458-1F35-556E-834D-293DD6474F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84F93615-51E1-872C-9E5C-FB2E53202F0A}"/>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Practice Questions (Answer)</a:t>
            </a:r>
          </a:p>
        </p:txBody>
      </p:sp>
      <p:sp>
        <p:nvSpPr>
          <p:cNvPr id="3" name="Footer Placeholder 2">
            <a:extLst>
              <a:ext uri="{FF2B5EF4-FFF2-40B4-BE49-F238E27FC236}">
                <a16:creationId xmlns:a16="http://schemas.microsoft.com/office/drawing/2014/main" id="{26D66AFC-CA9C-7D10-9BFA-882DF600279D}"/>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62393D75-7E96-CE71-7806-5947562C0D0B}"/>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53215D6C-72AA-AE07-2578-28005595F895}"/>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77DCDB4D-376C-892A-8676-443DD03A23D5}"/>
              </a:ext>
            </a:extLst>
          </p:cNvPr>
          <p:cNvSpPr/>
          <p:nvPr/>
        </p:nvSpPr>
        <p:spPr>
          <a:xfrm>
            <a:off x="155575" y="1007386"/>
            <a:ext cx="8592889" cy="57996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Write node structure for each linked list type</a:t>
            </a:r>
          </a:p>
        </p:txBody>
      </p:sp>
      <p:graphicFrame>
        <p:nvGraphicFramePr>
          <p:cNvPr id="5" name="Table 4">
            <a:extLst>
              <a:ext uri="{FF2B5EF4-FFF2-40B4-BE49-F238E27FC236}">
                <a16:creationId xmlns:a16="http://schemas.microsoft.com/office/drawing/2014/main" id="{101DBBE0-0CDE-F856-4246-076FCD9D7395}"/>
              </a:ext>
            </a:extLst>
          </p:cNvPr>
          <p:cNvGraphicFramePr>
            <a:graphicFrameLocks noGrp="1"/>
          </p:cNvGraphicFramePr>
          <p:nvPr>
            <p:extLst>
              <p:ext uri="{D42A27DB-BD31-4B8C-83A1-F6EECF244321}">
                <p14:modId xmlns:p14="http://schemas.microsoft.com/office/powerpoint/2010/main" val="3321325939"/>
              </p:ext>
            </p:extLst>
          </p:nvPr>
        </p:nvGraphicFramePr>
        <p:xfrm>
          <a:off x="72008" y="1596302"/>
          <a:ext cx="8999984" cy="4614516"/>
        </p:xfrm>
        <a:graphic>
          <a:graphicData uri="http://schemas.openxmlformats.org/drawingml/2006/table">
            <a:tbl>
              <a:tblPr firstRow="1" bandRow="1">
                <a:tableStyleId>{5C22544A-7EE6-4342-B048-85BDC9FD1C3A}</a:tableStyleId>
              </a:tblPr>
              <a:tblGrid>
                <a:gridCol w="2249996">
                  <a:extLst>
                    <a:ext uri="{9D8B030D-6E8A-4147-A177-3AD203B41FA5}">
                      <a16:colId xmlns:a16="http://schemas.microsoft.com/office/drawing/2014/main" val="295690613"/>
                    </a:ext>
                  </a:extLst>
                </a:gridCol>
                <a:gridCol w="2249996">
                  <a:extLst>
                    <a:ext uri="{9D8B030D-6E8A-4147-A177-3AD203B41FA5}">
                      <a16:colId xmlns:a16="http://schemas.microsoft.com/office/drawing/2014/main" val="4251544077"/>
                    </a:ext>
                  </a:extLst>
                </a:gridCol>
                <a:gridCol w="2249996">
                  <a:extLst>
                    <a:ext uri="{9D8B030D-6E8A-4147-A177-3AD203B41FA5}">
                      <a16:colId xmlns:a16="http://schemas.microsoft.com/office/drawing/2014/main" val="3200855961"/>
                    </a:ext>
                  </a:extLst>
                </a:gridCol>
                <a:gridCol w="2249996">
                  <a:extLst>
                    <a:ext uri="{9D8B030D-6E8A-4147-A177-3AD203B41FA5}">
                      <a16:colId xmlns:a16="http://schemas.microsoft.com/office/drawing/2014/main" val="17877837"/>
                    </a:ext>
                  </a:extLst>
                </a:gridCol>
              </a:tblGrid>
              <a:tr h="8503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Times New Roman" panose="02020603050405020304" pitchFamily="18" charset="0"/>
                          <a:cs typeface="Times New Roman" panose="02020603050405020304" pitchFamily="18" charset="0"/>
                        </a:rPr>
                        <a:t>1️⃣ Singly Linked List – Node Structure</a:t>
                      </a:r>
                      <a:endParaRPr lang="en-IN" sz="17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Times New Roman" panose="02020603050405020304" pitchFamily="18" charset="0"/>
                          <a:cs typeface="Times New Roman" panose="02020603050405020304" pitchFamily="18" charset="0"/>
                        </a:rPr>
                        <a:t>2️⃣ Doubly Linked List – Node Structure</a:t>
                      </a:r>
                      <a:endParaRPr lang="en-IN" sz="17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Times New Roman" panose="02020603050405020304" pitchFamily="18" charset="0"/>
                          <a:cs typeface="Times New Roman" panose="02020603050405020304" pitchFamily="18" charset="0"/>
                        </a:rPr>
                        <a:t>3️⃣ Circular Singly Linked List – Node Structure</a:t>
                      </a:r>
                      <a:endParaRPr lang="en-IN" sz="17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Times New Roman" panose="02020603050405020304" pitchFamily="18" charset="0"/>
                          <a:cs typeface="Times New Roman" panose="02020603050405020304" pitchFamily="18" charset="0"/>
                        </a:rPr>
                        <a:t>4️⃣ Circular Doubly Linked List – Node Structure</a:t>
                      </a:r>
                      <a:endParaRPr lang="en-IN" sz="17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26521838"/>
                  </a:ext>
                </a:extLst>
              </a:tr>
              <a:tr h="3745836">
                <a:tc>
                  <a:txBody>
                    <a:bodyPr/>
                    <a:lstStyle/>
                    <a:p>
                      <a:pPr rtl="0">
                        <a:buNone/>
                      </a:pPr>
                      <a:r>
                        <a:rPr lang="en-US" sz="1700" dirty="0">
                          <a:latin typeface="Times New Roman" panose="02020603050405020304" pitchFamily="18" charset="0"/>
                          <a:cs typeface="Times New Roman" panose="02020603050405020304" pitchFamily="18" charset="0"/>
                        </a:rPr>
                        <a:t>struct Node {</a:t>
                      </a:r>
                    </a:p>
                    <a:p>
                      <a:pPr rtl="0">
                        <a:buNone/>
                      </a:pPr>
                      <a:r>
                        <a:rPr lang="en-US" sz="1700" dirty="0">
                          <a:latin typeface="Times New Roman" panose="02020603050405020304" pitchFamily="18" charset="0"/>
                          <a:cs typeface="Times New Roman" panose="02020603050405020304" pitchFamily="18" charset="0"/>
                        </a:rPr>
                        <a:t>    int data;</a:t>
                      </a:r>
                    </a:p>
                    <a:p>
                      <a:pPr rtl="0">
                        <a:buNone/>
                      </a:pPr>
                      <a:r>
                        <a:rPr lang="en-US" sz="1700" dirty="0">
                          <a:latin typeface="Times New Roman" panose="02020603050405020304" pitchFamily="18" charset="0"/>
                          <a:cs typeface="Times New Roman" panose="02020603050405020304" pitchFamily="18" charset="0"/>
                        </a:rPr>
                        <a:t>    struct Node* next;</a:t>
                      </a:r>
                    </a:p>
                    <a:p>
                      <a:pPr rtl="0">
                        <a:buNone/>
                      </a:pPr>
                      <a:r>
                        <a:rPr lang="en-US" sz="1700" dirty="0">
                          <a:latin typeface="Times New Roman" panose="02020603050405020304" pitchFamily="18" charset="0"/>
                          <a:cs typeface="Times New Roman" panose="02020603050405020304" pitchFamily="18" charset="0"/>
                        </a:rPr>
                        <a:t>};</a:t>
                      </a:r>
                    </a:p>
                    <a:p>
                      <a:pPr>
                        <a:buNone/>
                      </a:pPr>
                      <a:endParaRPr lang="en-US" sz="1700" dirty="0">
                        <a:latin typeface="Times New Roman" panose="02020603050405020304" pitchFamily="18" charset="0"/>
                        <a:cs typeface="Times New Roman" panose="02020603050405020304" pitchFamily="18" charset="0"/>
                      </a:endParaRPr>
                    </a:p>
                    <a:p>
                      <a:pPr>
                        <a:buNone/>
                      </a:pPr>
                      <a:r>
                        <a:rPr lang="en-US" sz="1700" dirty="0">
                          <a:latin typeface="Times New Roman" panose="02020603050405020304" pitchFamily="18" charset="0"/>
                          <a:cs typeface="Times New Roman" panose="02020603050405020304" pitchFamily="18" charset="0"/>
                        </a:rPr>
                        <a:t>📌 </a:t>
                      </a:r>
                      <a:r>
                        <a:rPr lang="en-US" sz="1700" b="1" dirty="0">
                          <a:latin typeface="Times New Roman" panose="02020603050405020304" pitchFamily="18" charset="0"/>
                          <a:cs typeface="Times New Roman" panose="02020603050405020304" pitchFamily="18" charset="0"/>
                        </a:rPr>
                        <a:t>Explanation:</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Each node contains </a:t>
                      </a:r>
                      <a:r>
                        <a:rPr lang="en-US" sz="1700" b="1" dirty="0">
                          <a:latin typeface="Times New Roman" panose="02020603050405020304" pitchFamily="18" charset="0"/>
                          <a:cs typeface="Times New Roman" panose="02020603050405020304" pitchFamily="18" charset="0"/>
                        </a:rPr>
                        <a:t>data</a:t>
                      </a:r>
                      <a:r>
                        <a:rPr lang="en-US" sz="1700" dirty="0">
                          <a:latin typeface="Times New Roman" panose="02020603050405020304" pitchFamily="18" charset="0"/>
                          <a:cs typeface="Times New Roman" panose="02020603050405020304" pitchFamily="18" charset="0"/>
                        </a:rPr>
                        <a:t> and a single pointer next that points to the next node in the list.</a:t>
                      </a:r>
                      <a:endParaRPr lang="en-IN" sz="1700" dirty="0">
                        <a:latin typeface="Times New Roman" panose="02020603050405020304" pitchFamily="18" charset="0"/>
                        <a:cs typeface="Times New Roman" panose="02020603050405020304" pitchFamily="18" charset="0"/>
                      </a:endParaRPr>
                    </a:p>
                  </a:txBody>
                  <a:tcPr/>
                </a:tc>
                <a:tc>
                  <a:txBody>
                    <a:bodyPr/>
                    <a:lstStyle/>
                    <a:p>
                      <a:pPr rtl="0">
                        <a:buNone/>
                      </a:pPr>
                      <a:r>
                        <a:rPr lang="en-US" sz="1700" dirty="0">
                          <a:latin typeface="Times New Roman" panose="02020603050405020304" pitchFamily="18" charset="0"/>
                          <a:cs typeface="Times New Roman" panose="02020603050405020304" pitchFamily="18" charset="0"/>
                        </a:rPr>
                        <a:t>struct Node {</a:t>
                      </a:r>
                    </a:p>
                    <a:p>
                      <a:pPr rtl="0">
                        <a:buNone/>
                      </a:pPr>
                      <a:r>
                        <a:rPr lang="en-US" sz="1700" dirty="0">
                          <a:latin typeface="Times New Roman" panose="02020603050405020304" pitchFamily="18" charset="0"/>
                          <a:cs typeface="Times New Roman" panose="02020603050405020304" pitchFamily="18" charset="0"/>
                        </a:rPr>
                        <a:t>    int data;</a:t>
                      </a:r>
                    </a:p>
                    <a:p>
                      <a:pPr rtl="0">
                        <a:buNone/>
                      </a:pPr>
                      <a:r>
                        <a:rPr lang="en-US" sz="1700" dirty="0">
                          <a:latin typeface="Times New Roman" panose="02020603050405020304" pitchFamily="18" charset="0"/>
                          <a:cs typeface="Times New Roman" panose="02020603050405020304" pitchFamily="18" charset="0"/>
                        </a:rPr>
                        <a:t>    struct Node* </a:t>
                      </a:r>
                      <a:r>
                        <a:rPr lang="en-US" sz="1700" dirty="0" err="1">
                          <a:latin typeface="Times New Roman" panose="02020603050405020304" pitchFamily="18" charset="0"/>
                          <a:cs typeface="Times New Roman" panose="02020603050405020304" pitchFamily="18" charset="0"/>
                        </a:rPr>
                        <a:t>prev</a:t>
                      </a:r>
                      <a:r>
                        <a:rPr lang="en-US" sz="1700" dirty="0">
                          <a:latin typeface="Times New Roman" panose="02020603050405020304" pitchFamily="18" charset="0"/>
                          <a:cs typeface="Times New Roman" panose="02020603050405020304" pitchFamily="18" charset="0"/>
                        </a:rPr>
                        <a:t>;</a:t>
                      </a:r>
                    </a:p>
                    <a:p>
                      <a:pPr rtl="0">
                        <a:buNone/>
                      </a:pPr>
                      <a:r>
                        <a:rPr lang="en-US" sz="1700" dirty="0">
                          <a:latin typeface="Times New Roman" panose="02020603050405020304" pitchFamily="18" charset="0"/>
                          <a:cs typeface="Times New Roman" panose="02020603050405020304" pitchFamily="18" charset="0"/>
                        </a:rPr>
                        <a:t>    struct Node* next;</a:t>
                      </a:r>
                    </a:p>
                    <a:p>
                      <a:pPr rtl="0">
                        <a:buNone/>
                      </a:pPr>
                      <a:r>
                        <a:rPr lang="en-US" sz="1700" dirty="0">
                          <a:latin typeface="Times New Roman" panose="02020603050405020304" pitchFamily="18" charset="0"/>
                          <a:cs typeface="Times New Roman" panose="02020603050405020304" pitchFamily="18" charset="0"/>
                        </a:rPr>
                        <a:t>};</a:t>
                      </a:r>
                    </a:p>
                    <a:p>
                      <a:pPr>
                        <a:buNone/>
                      </a:pPr>
                      <a:endParaRPr lang="en-US" sz="1700" dirty="0">
                        <a:latin typeface="Times New Roman" panose="02020603050405020304" pitchFamily="18" charset="0"/>
                        <a:cs typeface="Times New Roman" panose="02020603050405020304" pitchFamily="18" charset="0"/>
                      </a:endParaRPr>
                    </a:p>
                    <a:p>
                      <a:pPr>
                        <a:buNone/>
                      </a:pPr>
                      <a:r>
                        <a:rPr lang="en-US" sz="1700" dirty="0">
                          <a:latin typeface="Times New Roman" panose="02020603050405020304" pitchFamily="18" charset="0"/>
                          <a:cs typeface="Times New Roman" panose="02020603050405020304" pitchFamily="18" charset="0"/>
                        </a:rPr>
                        <a:t>📌 </a:t>
                      </a:r>
                      <a:r>
                        <a:rPr lang="en-US" sz="1700" b="1" dirty="0">
                          <a:latin typeface="Times New Roman" panose="02020603050405020304" pitchFamily="18" charset="0"/>
                          <a:cs typeface="Times New Roman" panose="02020603050405020304" pitchFamily="18" charset="0"/>
                        </a:rPr>
                        <a:t>Explanation:</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Each node contains </a:t>
                      </a:r>
                      <a:r>
                        <a:rPr lang="en-US" sz="1700" b="1" dirty="0">
                          <a:latin typeface="Times New Roman" panose="02020603050405020304" pitchFamily="18" charset="0"/>
                          <a:cs typeface="Times New Roman" panose="02020603050405020304" pitchFamily="18" charset="0"/>
                        </a:rPr>
                        <a:t>data</a:t>
                      </a:r>
                      <a:r>
                        <a:rPr lang="en-US" sz="1700" dirty="0">
                          <a:latin typeface="Times New Roman" panose="02020603050405020304" pitchFamily="18" charset="0"/>
                          <a:cs typeface="Times New Roman" panose="02020603050405020304" pitchFamily="18" charset="0"/>
                        </a:rPr>
                        <a:t>, a pointer to the </a:t>
                      </a:r>
                      <a:r>
                        <a:rPr lang="en-US" sz="1700" b="1" dirty="0">
                          <a:latin typeface="Times New Roman" panose="02020603050405020304" pitchFamily="18" charset="0"/>
                          <a:cs typeface="Times New Roman" panose="02020603050405020304" pitchFamily="18" charset="0"/>
                        </a:rPr>
                        <a:t>previous node</a:t>
                      </a:r>
                      <a:r>
                        <a:rPr lang="en-US" sz="1700" dirty="0">
                          <a:latin typeface="Times New Roman" panose="02020603050405020304" pitchFamily="18" charset="0"/>
                          <a:cs typeface="Times New Roman" panose="02020603050405020304" pitchFamily="18" charset="0"/>
                        </a:rPr>
                        <a:t>, and a pointer to the </a:t>
                      </a:r>
                      <a:r>
                        <a:rPr lang="en-US" sz="1700" b="1" dirty="0">
                          <a:latin typeface="Times New Roman" panose="02020603050405020304" pitchFamily="18" charset="0"/>
                          <a:cs typeface="Times New Roman" panose="02020603050405020304" pitchFamily="18" charset="0"/>
                        </a:rPr>
                        <a:t>next node</a:t>
                      </a:r>
                      <a:r>
                        <a:rPr lang="en-US" sz="1700" dirty="0">
                          <a:latin typeface="Times New Roman" panose="02020603050405020304" pitchFamily="18" charset="0"/>
                          <a:cs typeface="Times New Roman" panose="02020603050405020304" pitchFamily="18" charset="0"/>
                        </a:rPr>
                        <a:t>.</a:t>
                      </a:r>
                      <a:endParaRPr lang="en-IN" sz="1700" dirty="0">
                        <a:latin typeface="Times New Roman" panose="02020603050405020304" pitchFamily="18" charset="0"/>
                        <a:cs typeface="Times New Roman" panose="02020603050405020304" pitchFamily="18" charset="0"/>
                      </a:endParaRPr>
                    </a:p>
                  </a:txBody>
                  <a:tcPr/>
                </a:tc>
                <a:tc>
                  <a:txBody>
                    <a:bodyPr/>
                    <a:lstStyle/>
                    <a:p>
                      <a:pPr rtl="0">
                        <a:buNone/>
                      </a:pPr>
                      <a:r>
                        <a:rPr lang="en-US" sz="1700" dirty="0">
                          <a:latin typeface="Times New Roman" panose="02020603050405020304" pitchFamily="18" charset="0"/>
                          <a:cs typeface="Times New Roman" panose="02020603050405020304" pitchFamily="18" charset="0"/>
                        </a:rPr>
                        <a:t>struct Node {</a:t>
                      </a:r>
                    </a:p>
                    <a:p>
                      <a:pPr rtl="0">
                        <a:buNone/>
                      </a:pPr>
                      <a:r>
                        <a:rPr lang="en-US" sz="1700" dirty="0">
                          <a:latin typeface="Times New Roman" panose="02020603050405020304" pitchFamily="18" charset="0"/>
                          <a:cs typeface="Times New Roman" panose="02020603050405020304" pitchFamily="18" charset="0"/>
                        </a:rPr>
                        <a:t>    int data;</a:t>
                      </a:r>
                    </a:p>
                    <a:p>
                      <a:pPr rtl="0">
                        <a:buNone/>
                      </a:pPr>
                      <a:r>
                        <a:rPr lang="en-US" sz="1700" dirty="0">
                          <a:latin typeface="Times New Roman" panose="02020603050405020304" pitchFamily="18" charset="0"/>
                          <a:cs typeface="Times New Roman" panose="02020603050405020304" pitchFamily="18" charset="0"/>
                        </a:rPr>
                        <a:t>    struct Node* next;</a:t>
                      </a:r>
                    </a:p>
                    <a:p>
                      <a:pPr rtl="0">
                        <a:buNone/>
                      </a:pPr>
                      <a:r>
                        <a:rPr lang="en-US" sz="1700" dirty="0">
                          <a:latin typeface="Times New Roman" panose="02020603050405020304" pitchFamily="18" charset="0"/>
                          <a:cs typeface="Times New Roman" panose="02020603050405020304" pitchFamily="18" charset="0"/>
                        </a:rPr>
                        <a:t>};</a:t>
                      </a:r>
                    </a:p>
                    <a:p>
                      <a:pPr>
                        <a:buNone/>
                      </a:pPr>
                      <a:endParaRPr lang="en-US" sz="1700" dirty="0">
                        <a:latin typeface="Times New Roman" panose="02020603050405020304" pitchFamily="18" charset="0"/>
                        <a:cs typeface="Times New Roman" panose="02020603050405020304" pitchFamily="18" charset="0"/>
                      </a:endParaRPr>
                    </a:p>
                    <a:p>
                      <a:pPr>
                        <a:buNone/>
                      </a:pPr>
                      <a:r>
                        <a:rPr lang="en-US" sz="1700" dirty="0">
                          <a:latin typeface="Times New Roman" panose="02020603050405020304" pitchFamily="18" charset="0"/>
                          <a:cs typeface="Times New Roman" panose="02020603050405020304" pitchFamily="18" charset="0"/>
                        </a:rPr>
                        <a:t>📌 </a:t>
                      </a:r>
                      <a:r>
                        <a:rPr lang="en-US" sz="1700" b="1" dirty="0">
                          <a:latin typeface="Times New Roman" panose="02020603050405020304" pitchFamily="18" charset="0"/>
                          <a:cs typeface="Times New Roman" panose="02020603050405020304" pitchFamily="18" charset="0"/>
                        </a:rPr>
                        <a:t>Explanation:</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The node structure is the same as a singly linked list, but the </a:t>
                      </a:r>
                      <a:r>
                        <a:rPr lang="en-US" sz="1700" b="1" dirty="0">
                          <a:latin typeface="Times New Roman" panose="02020603050405020304" pitchFamily="18" charset="0"/>
                          <a:cs typeface="Times New Roman" panose="02020603050405020304" pitchFamily="18" charset="0"/>
                        </a:rPr>
                        <a:t>last node’s next pointer points to the head</a:t>
                      </a:r>
                      <a:r>
                        <a:rPr lang="en-US" sz="1700" dirty="0">
                          <a:latin typeface="Times New Roman" panose="02020603050405020304" pitchFamily="18" charset="0"/>
                          <a:cs typeface="Times New Roman" panose="02020603050405020304" pitchFamily="18" charset="0"/>
                        </a:rPr>
                        <a:t> instead of NULL.</a:t>
                      </a:r>
                      <a:endParaRPr lang="en-IN" sz="1700" dirty="0">
                        <a:latin typeface="Times New Roman" panose="02020603050405020304" pitchFamily="18" charset="0"/>
                        <a:cs typeface="Times New Roman" panose="02020603050405020304" pitchFamily="18" charset="0"/>
                      </a:endParaRPr>
                    </a:p>
                  </a:txBody>
                  <a:tcPr/>
                </a:tc>
                <a:tc>
                  <a:txBody>
                    <a:bodyPr/>
                    <a:lstStyle/>
                    <a:p>
                      <a:pPr rtl="0">
                        <a:buNone/>
                      </a:pPr>
                      <a:r>
                        <a:rPr lang="en-US" sz="1700" dirty="0">
                          <a:latin typeface="Times New Roman" panose="02020603050405020304" pitchFamily="18" charset="0"/>
                          <a:cs typeface="Times New Roman" panose="02020603050405020304" pitchFamily="18" charset="0"/>
                        </a:rPr>
                        <a:t>struct Node {</a:t>
                      </a:r>
                    </a:p>
                    <a:p>
                      <a:pPr rtl="0">
                        <a:buNone/>
                      </a:pPr>
                      <a:r>
                        <a:rPr lang="en-US" sz="1700" dirty="0">
                          <a:latin typeface="Times New Roman" panose="02020603050405020304" pitchFamily="18" charset="0"/>
                          <a:cs typeface="Times New Roman" panose="02020603050405020304" pitchFamily="18" charset="0"/>
                        </a:rPr>
                        <a:t>    int data;</a:t>
                      </a:r>
                    </a:p>
                    <a:p>
                      <a:pPr rtl="0">
                        <a:buNone/>
                      </a:pPr>
                      <a:r>
                        <a:rPr lang="en-US" sz="1700" dirty="0">
                          <a:latin typeface="Times New Roman" panose="02020603050405020304" pitchFamily="18" charset="0"/>
                          <a:cs typeface="Times New Roman" panose="02020603050405020304" pitchFamily="18" charset="0"/>
                        </a:rPr>
                        <a:t>    struct Node* </a:t>
                      </a:r>
                      <a:r>
                        <a:rPr lang="en-US" sz="1700" dirty="0" err="1">
                          <a:latin typeface="Times New Roman" panose="02020603050405020304" pitchFamily="18" charset="0"/>
                          <a:cs typeface="Times New Roman" panose="02020603050405020304" pitchFamily="18" charset="0"/>
                        </a:rPr>
                        <a:t>prev</a:t>
                      </a:r>
                      <a:r>
                        <a:rPr lang="en-US" sz="1700" dirty="0">
                          <a:latin typeface="Times New Roman" panose="02020603050405020304" pitchFamily="18" charset="0"/>
                          <a:cs typeface="Times New Roman" panose="02020603050405020304" pitchFamily="18" charset="0"/>
                        </a:rPr>
                        <a:t>;</a:t>
                      </a:r>
                    </a:p>
                    <a:p>
                      <a:pPr rtl="0">
                        <a:buNone/>
                      </a:pPr>
                      <a:r>
                        <a:rPr lang="en-US" sz="1700" dirty="0">
                          <a:latin typeface="Times New Roman" panose="02020603050405020304" pitchFamily="18" charset="0"/>
                          <a:cs typeface="Times New Roman" panose="02020603050405020304" pitchFamily="18" charset="0"/>
                        </a:rPr>
                        <a:t>    struct Node* next;</a:t>
                      </a:r>
                    </a:p>
                    <a:p>
                      <a:pPr rtl="0">
                        <a:buNone/>
                      </a:pPr>
                      <a:r>
                        <a:rPr lang="en-US" sz="1700" dirty="0">
                          <a:latin typeface="Times New Roman" panose="02020603050405020304" pitchFamily="18" charset="0"/>
                          <a:cs typeface="Times New Roman" panose="02020603050405020304" pitchFamily="18" charset="0"/>
                        </a:rPr>
                        <a:t>};</a:t>
                      </a:r>
                    </a:p>
                    <a:p>
                      <a:pPr>
                        <a:buNone/>
                      </a:pPr>
                      <a:endParaRPr lang="en-US" sz="1700" dirty="0">
                        <a:latin typeface="Times New Roman" panose="02020603050405020304" pitchFamily="18" charset="0"/>
                        <a:cs typeface="Times New Roman" panose="02020603050405020304" pitchFamily="18" charset="0"/>
                      </a:endParaRPr>
                    </a:p>
                    <a:p>
                      <a:pPr>
                        <a:buNone/>
                      </a:pPr>
                      <a:r>
                        <a:rPr lang="en-US" sz="1700" dirty="0">
                          <a:latin typeface="Times New Roman" panose="02020603050405020304" pitchFamily="18" charset="0"/>
                          <a:cs typeface="Times New Roman" panose="02020603050405020304" pitchFamily="18" charset="0"/>
                        </a:rPr>
                        <a:t>📌 </a:t>
                      </a:r>
                      <a:r>
                        <a:rPr lang="en-US" sz="1700" b="1" dirty="0">
                          <a:latin typeface="Times New Roman" panose="02020603050405020304" pitchFamily="18" charset="0"/>
                          <a:cs typeface="Times New Roman" panose="02020603050405020304" pitchFamily="18" charset="0"/>
                        </a:rPr>
                        <a:t>Explanation:</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Each node has </a:t>
                      </a:r>
                      <a:r>
                        <a:rPr lang="en-US" sz="1700" b="1" dirty="0">
                          <a:latin typeface="Times New Roman" panose="02020603050405020304" pitchFamily="18" charset="0"/>
                          <a:cs typeface="Times New Roman" panose="02020603050405020304" pitchFamily="18" charset="0"/>
                        </a:rPr>
                        <a:t>two pointers</a:t>
                      </a:r>
                      <a:r>
                        <a:rPr lang="en-US" sz="1700" dirty="0">
                          <a:latin typeface="Times New Roman" panose="02020603050405020304" pitchFamily="18" charset="0"/>
                          <a:cs typeface="Times New Roman" panose="02020603050405020304" pitchFamily="18" charset="0"/>
                        </a:rPr>
                        <a:t>, and the list is circular—</a:t>
                      </a:r>
                    </a:p>
                    <a:p>
                      <a:pPr>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next of last node → head</a:t>
                      </a:r>
                    </a:p>
                    <a:p>
                      <a:pPr>
                        <a:buFont typeface="Arial" panose="020B0604020202020204" pitchFamily="34" charset="0"/>
                        <a:buChar char="•"/>
                      </a:pPr>
                      <a:r>
                        <a:rPr lang="en-US" sz="1700" dirty="0" err="1">
                          <a:latin typeface="Times New Roman" panose="02020603050405020304" pitchFamily="18" charset="0"/>
                          <a:cs typeface="Times New Roman" panose="02020603050405020304" pitchFamily="18" charset="0"/>
                        </a:rPr>
                        <a:t>prev</a:t>
                      </a:r>
                      <a:r>
                        <a:rPr lang="en-US" sz="1700" dirty="0">
                          <a:latin typeface="Times New Roman" panose="02020603050405020304" pitchFamily="18" charset="0"/>
                          <a:cs typeface="Times New Roman" panose="02020603050405020304" pitchFamily="18" charset="0"/>
                        </a:rPr>
                        <a:t> of head → last node</a:t>
                      </a:r>
                      <a:endParaRPr lang="en-IN" sz="17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17326932"/>
                  </a:ext>
                </a:extLst>
              </a:tr>
            </a:tbl>
          </a:graphicData>
        </a:graphic>
      </p:graphicFrame>
    </p:spTree>
    <p:extLst>
      <p:ext uri="{BB962C8B-B14F-4D97-AF65-F5344CB8AC3E}">
        <p14:creationId xmlns:p14="http://schemas.microsoft.com/office/powerpoint/2010/main" val="24212073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93EDA-D423-4F2E-0B53-D5E322C57DF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530DFAC-FA96-ABEA-698F-7144DDBFBED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969F7C34-EA9B-DFBD-90D1-57D09739DC46}"/>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C4B5EBCE-4331-D67E-F927-6F951A1E939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D518597D-FC90-A36C-1F84-B3685B5643F0}"/>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Practice Questions (Answer)</a:t>
            </a:r>
          </a:p>
        </p:txBody>
      </p:sp>
      <p:sp>
        <p:nvSpPr>
          <p:cNvPr id="3" name="Footer Placeholder 2">
            <a:extLst>
              <a:ext uri="{FF2B5EF4-FFF2-40B4-BE49-F238E27FC236}">
                <a16:creationId xmlns:a16="http://schemas.microsoft.com/office/drawing/2014/main" id="{C5B5987F-A4B6-8F30-F958-75A6C747BF53}"/>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1F4F1786-9D59-70B6-E721-2FE2F563804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B4FC1296-E05F-4FB6-8A4C-664CDDE6BEE6}"/>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C6CD2FC8-5224-8D79-53D8-4F3D065A2E0D}"/>
              </a:ext>
            </a:extLst>
          </p:cNvPr>
          <p:cNvSpPr/>
          <p:nvPr/>
        </p:nvSpPr>
        <p:spPr>
          <a:xfrm>
            <a:off x="155575" y="1007386"/>
            <a:ext cx="8592889" cy="57996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Write node structure for each linked list type </a:t>
            </a:r>
            <a:r>
              <a:rPr lang="en-US" sz="2400" b="1" dirty="0">
                <a:latin typeface="Times New Roman" panose="02020603050405020304" pitchFamily="18" charset="0"/>
                <a:cs typeface="Times New Roman" panose="02020603050405020304" pitchFamily="18" charset="0"/>
              </a:rPr>
              <a:t>(Python)</a:t>
            </a:r>
          </a:p>
        </p:txBody>
      </p:sp>
      <p:graphicFrame>
        <p:nvGraphicFramePr>
          <p:cNvPr id="5" name="Table 4">
            <a:extLst>
              <a:ext uri="{FF2B5EF4-FFF2-40B4-BE49-F238E27FC236}">
                <a16:creationId xmlns:a16="http://schemas.microsoft.com/office/drawing/2014/main" id="{8FF7DA03-4521-C8AA-2DBE-2A4AD842D1AE}"/>
              </a:ext>
            </a:extLst>
          </p:cNvPr>
          <p:cNvGraphicFramePr>
            <a:graphicFrameLocks noGrp="1"/>
          </p:cNvGraphicFramePr>
          <p:nvPr>
            <p:extLst>
              <p:ext uri="{D42A27DB-BD31-4B8C-83A1-F6EECF244321}">
                <p14:modId xmlns:p14="http://schemas.microsoft.com/office/powerpoint/2010/main" val="3661844161"/>
              </p:ext>
            </p:extLst>
          </p:nvPr>
        </p:nvGraphicFramePr>
        <p:xfrm>
          <a:off x="72008" y="1596302"/>
          <a:ext cx="8999984" cy="4800600"/>
        </p:xfrm>
        <a:graphic>
          <a:graphicData uri="http://schemas.openxmlformats.org/drawingml/2006/table">
            <a:tbl>
              <a:tblPr firstRow="1" bandRow="1">
                <a:tableStyleId>{5C22544A-7EE6-4342-B048-85BDC9FD1C3A}</a:tableStyleId>
              </a:tblPr>
              <a:tblGrid>
                <a:gridCol w="2249996">
                  <a:extLst>
                    <a:ext uri="{9D8B030D-6E8A-4147-A177-3AD203B41FA5}">
                      <a16:colId xmlns:a16="http://schemas.microsoft.com/office/drawing/2014/main" val="295690613"/>
                    </a:ext>
                  </a:extLst>
                </a:gridCol>
                <a:gridCol w="2249996">
                  <a:extLst>
                    <a:ext uri="{9D8B030D-6E8A-4147-A177-3AD203B41FA5}">
                      <a16:colId xmlns:a16="http://schemas.microsoft.com/office/drawing/2014/main" val="4251544077"/>
                    </a:ext>
                  </a:extLst>
                </a:gridCol>
                <a:gridCol w="2249996">
                  <a:extLst>
                    <a:ext uri="{9D8B030D-6E8A-4147-A177-3AD203B41FA5}">
                      <a16:colId xmlns:a16="http://schemas.microsoft.com/office/drawing/2014/main" val="3200855961"/>
                    </a:ext>
                  </a:extLst>
                </a:gridCol>
                <a:gridCol w="2249996">
                  <a:extLst>
                    <a:ext uri="{9D8B030D-6E8A-4147-A177-3AD203B41FA5}">
                      <a16:colId xmlns:a16="http://schemas.microsoft.com/office/drawing/2014/main" val="17877837"/>
                    </a:ext>
                  </a:extLst>
                </a:gridCol>
              </a:tblGrid>
              <a:tr h="8503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Times New Roman" panose="02020603050405020304" pitchFamily="18" charset="0"/>
                          <a:cs typeface="Times New Roman" panose="02020603050405020304" pitchFamily="18" charset="0"/>
                        </a:rPr>
                        <a:t>1️⃣ Singly Linked List – Node Structure</a:t>
                      </a:r>
                      <a:endParaRPr lang="en-IN" sz="17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Times New Roman" panose="02020603050405020304" pitchFamily="18" charset="0"/>
                          <a:cs typeface="Times New Roman" panose="02020603050405020304" pitchFamily="18" charset="0"/>
                        </a:rPr>
                        <a:t>2️⃣ Doubly Linked List – Node Structure</a:t>
                      </a:r>
                      <a:endParaRPr lang="en-IN" sz="17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Times New Roman" panose="02020603050405020304" pitchFamily="18" charset="0"/>
                          <a:cs typeface="Times New Roman" panose="02020603050405020304" pitchFamily="18" charset="0"/>
                        </a:rPr>
                        <a:t>3️⃣ Circular Singly Linked List – Node Structure</a:t>
                      </a:r>
                      <a:endParaRPr lang="en-IN" sz="17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Times New Roman" panose="02020603050405020304" pitchFamily="18" charset="0"/>
                          <a:cs typeface="Times New Roman" panose="02020603050405020304" pitchFamily="18" charset="0"/>
                        </a:rPr>
                        <a:t>4️⃣ Circular Doubly Linked List – Node Structure</a:t>
                      </a:r>
                      <a:endParaRPr lang="en-IN" sz="17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26521838"/>
                  </a:ext>
                </a:extLst>
              </a:tr>
              <a:tr h="3745836">
                <a:tc>
                  <a:txBody>
                    <a:bodyPr/>
                    <a:lstStyle/>
                    <a:p>
                      <a:pPr rtl="0">
                        <a:buNone/>
                      </a:pPr>
                      <a:r>
                        <a:rPr lang="en-IN" sz="1800" dirty="0">
                          <a:latin typeface="Times New Roman" panose="02020603050405020304" pitchFamily="18" charset="0"/>
                          <a:cs typeface="Times New Roman" panose="02020603050405020304" pitchFamily="18" charset="0"/>
                        </a:rPr>
                        <a:t>class Node:</a:t>
                      </a:r>
                    </a:p>
                    <a:p>
                      <a:pPr rtl="0">
                        <a:buNone/>
                      </a:pPr>
                      <a:r>
                        <a:rPr lang="en-IN" sz="1800" dirty="0">
                          <a:latin typeface="Times New Roman" panose="02020603050405020304" pitchFamily="18" charset="0"/>
                          <a:cs typeface="Times New Roman" panose="02020603050405020304" pitchFamily="18" charset="0"/>
                        </a:rPr>
                        <a:t>    def __</a:t>
                      </a:r>
                      <a:r>
                        <a:rPr lang="en-IN" sz="1800" dirty="0" err="1">
                          <a:latin typeface="Times New Roman" panose="02020603050405020304" pitchFamily="18" charset="0"/>
                          <a:cs typeface="Times New Roman" panose="02020603050405020304" pitchFamily="18" charset="0"/>
                        </a:rPr>
                        <a:t>init</a:t>
                      </a:r>
                      <a:r>
                        <a:rPr lang="en-IN" sz="1800" dirty="0">
                          <a:latin typeface="Times New Roman" panose="02020603050405020304" pitchFamily="18" charset="0"/>
                          <a:cs typeface="Times New Roman" panose="02020603050405020304" pitchFamily="18" charset="0"/>
                        </a:rPr>
                        <a:t>__(self, data):</a:t>
                      </a:r>
                    </a:p>
                    <a:p>
                      <a:pPr rtl="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self.data</a:t>
                      </a:r>
                      <a:r>
                        <a:rPr lang="en-IN" sz="1800" dirty="0">
                          <a:latin typeface="Times New Roman" panose="02020603050405020304" pitchFamily="18" charset="0"/>
                          <a:cs typeface="Times New Roman" panose="02020603050405020304" pitchFamily="18" charset="0"/>
                        </a:rPr>
                        <a:t> = data</a:t>
                      </a:r>
                    </a:p>
                    <a:p>
                      <a:pPr rtl="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self.next</a:t>
                      </a:r>
                      <a:r>
                        <a:rPr lang="en-IN" sz="1800" dirty="0">
                          <a:latin typeface="Times New Roman" panose="02020603050405020304" pitchFamily="18" charset="0"/>
                          <a:cs typeface="Times New Roman" panose="02020603050405020304" pitchFamily="18" charset="0"/>
                        </a:rPr>
                        <a:t> = None</a:t>
                      </a:r>
                    </a:p>
                    <a:p>
                      <a:pPr>
                        <a:buNone/>
                      </a:pPr>
                      <a:endParaRPr lang="en-IN" sz="1800" dirty="0">
                        <a:latin typeface="Times New Roman" panose="02020603050405020304" pitchFamily="18" charset="0"/>
                        <a:cs typeface="Times New Roman" panose="02020603050405020304" pitchFamily="18" charset="0"/>
                      </a:endParaRPr>
                    </a:p>
                    <a:p>
                      <a:pPr>
                        <a:buNone/>
                      </a:pPr>
                      <a:r>
                        <a:rPr lang="en-IN" sz="1800" dirty="0">
                          <a:latin typeface="Times New Roman" panose="02020603050405020304" pitchFamily="18" charset="0"/>
                          <a:cs typeface="Times New Roman" panose="02020603050405020304" pitchFamily="18" charset="0"/>
                        </a:rPr>
                        <a:t>📌 Each node stores </a:t>
                      </a:r>
                      <a:r>
                        <a:rPr lang="en-IN" sz="1800" b="1" dirty="0">
                          <a:latin typeface="Times New Roman" panose="02020603050405020304" pitchFamily="18" charset="0"/>
                          <a:cs typeface="Times New Roman" panose="02020603050405020304" pitchFamily="18" charset="0"/>
                        </a:rPr>
                        <a:t>data</a:t>
                      </a:r>
                      <a:r>
                        <a:rPr lang="en-IN" sz="1800" dirty="0">
                          <a:latin typeface="Times New Roman" panose="02020603050405020304" pitchFamily="18" charset="0"/>
                          <a:cs typeface="Times New Roman" panose="02020603050405020304" pitchFamily="18" charset="0"/>
                        </a:rPr>
                        <a:t> and a reference to the </a:t>
                      </a:r>
                      <a:r>
                        <a:rPr lang="en-IN" sz="1800" b="1" dirty="0">
                          <a:latin typeface="Times New Roman" panose="02020603050405020304" pitchFamily="18" charset="0"/>
                          <a:cs typeface="Times New Roman" panose="02020603050405020304" pitchFamily="18" charset="0"/>
                        </a:rPr>
                        <a:t>next node</a:t>
                      </a:r>
                      <a:r>
                        <a:rPr lang="en-IN" sz="1800" dirty="0">
                          <a:latin typeface="Times New Roman" panose="02020603050405020304" pitchFamily="18" charset="0"/>
                          <a:cs typeface="Times New Roman" panose="02020603050405020304" pitchFamily="18" charset="0"/>
                        </a:rPr>
                        <a:t>.</a:t>
                      </a:r>
                    </a:p>
                  </a:txBody>
                  <a:tcPr/>
                </a:tc>
                <a:tc>
                  <a:txBody>
                    <a:bodyPr/>
                    <a:lstStyle/>
                    <a:p>
                      <a:pPr rtl="0">
                        <a:buNone/>
                      </a:pPr>
                      <a:r>
                        <a:rPr lang="en-IN" sz="1800" dirty="0">
                          <a:latin typeface="Times New Roman" panose="02020603050405020304" pitchFamily="18" charset="0"/>
                          <a:cs typeface="Times New Roman" panose="02020603050405020304" pitchFamily="18" charset="0"/>
                        </a:rPr>
                        <a:t>class Node:</a:t>
                      </a:r>
                    </a:p>
                    <a:p>
                      <a:pPr rtl="0">
                        <a:buNone/>
                      </a:pPr>
                      <a:r>
                        <a:rPr lang="en-IN" sz="1800" dirty="0">
                          <a:latin typeface="Times New Roman" panose="02020603050405020304" pitchFamily="18" charset="0"/>
                          <a:cs typeface="Times New Roman" panose="02020603050405020304" pitchFamily="18" charset="0"/>
                        </a:rPr>
                        <a:t>    def __</a:t>
                      </a:r>
                      <a:r>
                        <a:rPr lang="en-IN" sz="1800" dirty="0" err="1">
                          <a:latin typeface="Times New Roman" panose="02020603050405020304" pitchFamily="18" charset="0"/>
                          <a:cs typeface="Times New Roman" panose="02020603050405020304" pitchFamily="18" charset="0"/>
                        </a:rPr>
                        <a:t>init</a:t>
                      </a:r>
                      <a:r>
                        <a:rPr lang="en-IN" sz="1800" dirty="0">
                          <a:latin typeface="Times New Roman" panose="02020603050405020304" pitchFamily="18" charset="0"/>
                          <a:cs typeface="Times New Roman" panose="02020603050405020304" pitchFamily="18" charset="0"/>
                        </a:rPr>
                        <a:t>__(self, data):</a:t>
                      </a:r>
                    </a:p>
                    <a:p>
                      <a:pPr rtl="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self.data</a:t>
                      </a:r>
                      <a:r>
                        <a:rPr lang="en-IN" sz="1800" dirty="0">
                          <a:latin typeface="Times New Roman" panose="02020603050405020304" pitchFamily="18" charset="0"/>
                          <a:cs typeface="Times New Roman" panose="02020603050405020304" pitchFamily="18" charset="0"/>
                        </a:rPr>
                        <a:t> = data</a:t>
                      </a:r>
                    </a:p>
                    <a:p>
                      <a:pPr rtl="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self.prev</a:t>
                      </a:r>
                      <a:r>
                        <a:rPr lang="en-IN" sz="1800" dirty="0">
                          <a:latin typeface="Times New Roman" panose="02020603050405020304" pitchFamily="18" charset="0"/>
                          <a:cs typeface="Times New Roman" panose="02020603050405020304" pitchFamily="18" charset="0"/>
                        </a:rPr>
                        <a:t> = None</a:t>
                      </a:r>
                    </a:p>
                    <a:p>
                      <a:pPr rtl="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self.next</a:t>
                      </a:r>
                      <a:r>
                        <a:rPr lang="en-IN" sz="1800" dirty="0">
                          <a:latin typeface="Times New Roman" panose="02020603050405020304" pitchFamily="18" charset="0"/>
                          <a:cs typeface="Times New Roman" panose="02020603050405020304" pitchFamily="18" charset="0"/>
                        </a:rPr>
                        <a:t> = None</a:t>
                      </a:r>
                    </a:p>
                    <a:p>
                      <a:pPr>
                        <a:buNone/>
                      </a:pPr>
                      <a:endParaRPr lang="en-IN" sz="1800" dirty="0">
                        <a:latin typeface="Times New Roman" panose="02020603050405020304" pitchFamily="18" charset="0"/>
                        <a:cs typeface="Times New Roman" panose="02020603050405020304" pitchFamily="18" charset="0"/>
                      </a:endParaRPr>
                    </a:p>
                    <a:p>
                      <a:pPr>
                        <a:buNone/>
                      </a:pPr>
                      <a:r>
                        <a:rPr lang="en-IN" sz="1800" dirty="0">
                          <a:latin typeface="Times New Roman" panose="02020603050405020304" pitchFamily="18" charset="0"/>
                          <a:cs typeface="Times New Roman" panose="02020603050405020304" pitchFamily="18" charset="0"/>
                        </a:rPr>
                        <a:t>📌 Each node stores </a:t>
                      </a:r>
                      <a:r>
                        <a:rPr lang="en-IN" sz="1800" b="1" dirty="0">
                          <a:latin typeface="Times New Roman" panose="02020603050405020304" pitchFamily="18" charset="0"/>
                          <a:cs typeface="Times New Roman" panose="02020603050405020304" pitchFamily="18" charset="0"/>
                        </a:rPr>
                        <a:t>data</a:t>
                      </a:r>
                      <a:r>
                        <a:rPr lang="en-IN" sz="1800" dirty="0">
                          <a:latin typeface="Times New Roman" panose="02020603050405020304" pitchFamily="18" charset="0"/>
                          <a:cs typeface="Times New Roman" panose="02020603050405020304" pitchFamily="18" charset="0"/>
                        </a:rPr>
                        <a:t>, a reference to the </a:t>
                      </a:r>
                      <a:r>
                        <a:rPr lang="en-IN" sz="1800" b="1" dirty="0">
                          <a:latin typeface="Times New Roman" panose="02020603050405020304" pitchFamily="18" charset="0"/>
                          <a:cs typeface="Times New Roman" panose="02020603050405020304" pitchFamily="18" charset="0"/>
                        </a:rPr>
                        <a:t>previous node</a:t>
                      </a:r>
                      <a:r>
                        <a:rPr lang="en-IN" sz="1800" dirty="0">
                          <a:latin typeface="Times New Roman" panose="02020603050405020304" pitchFamily="18" charset="0"/>
                          <a:cs typeface="Times New Roman" panose="02020603050405020304" pitchFamily="18" charset="0"/>
                        </a:rPr>
                        <a:t>, and a reference to the </a:t>
                      </a:r>
                      <a:r>
                        <a:rPr lang="en-IN" sz="1800" b="1" dirty="0">
                          <a:latin typeface="Times New Roman" panose="02020603050405020304" pitchFamily="18" charset="0"/>
                          <a:cs typeface="Times New Roman" panose="02020603050405020304" pitchFamily="18" charset="0"/>
                        </a:rPr>
                        <a:t>next node</a:t>
                      </a:r>
                      <a:r>
                        <a:rPr lang="en-IN" sz="1800" dirty="0">
                          <a:latin typeface="Times New Roman" panose="02020603050405020304" pitchFamily="18" charset="0"/>
                          <a:cs typeface="Times New Roman" panose="02020603050405020304" pitchFamily="18" charset="0"/>
                        </a:rPr>
                        <a:t>.</a:t>
                      </a:r>
                    </a:p>
                  </a:txBody>
                  <a:tcPr/>
                </a:tc>
                <a:tc>
                  <a:txBody>
                    <a:bodyPr/>
                    <a:lstStyle/>
                    <a:p>
                      <a:pPr rtl="0">
                        <a:buNone/>
                      </a:pPr>
                      <a:r>
                        <a:rPr lang="en-IN" sz="1800" dirty="0">
                          <a:latin typeface="Times New Roman" panose="02020603050405020304" pitchFamily="18" charset="0"/>
                          <a:cs typeface="Times New Roman" panose="02020603050405020304" pitchFamily="18" charset="0"/>
                        </a:rPr>
                        <a:t>class Node:</a:t>
                      </a:r>
                    </a:p>
                    <a:p>
                      <a:pPr rtl="0">
                        <a:buNone/>
                      </a:pPr>
                      <a:r>
                        <a:rPr lang="en-IN" sz="1800" dirty="0">
                          <a:latin typeface="Times New Roman" panose="02020603050405020304" pitchFamily="18" charset="0"/>
                          <a:cs typeface="Times New Roman" panose="02020603050405020304" pitchFamily="18" charset="0"/>
                        </a:rPr>
                        <a:t>    def __</a:t>
                      </a:r>
                      <a:r>
                        <a:rPr lang="en-IN" sz="1800" dirty="0" err="1">
                          <a:latin typeface="Times New Roman" panose="02020603050405020304" pitchFamily="18" charset="0"/>
                          <a:cs typeface="Times New Roman" panose="02020603050405020304" pitchFamily="18" charset="0"/>
                        </a:rPr>
                        <a:t>init</a:t>
                      </a:r>
                      <a:r>
                        <a:rPr lang="en-IN" sz="1800" dirty="0">
                          <a:latin typeface="Times New Roman" panose="02020603050405020304" pitchFamily="18" charset="0"/>
                          <a:cs typeface="Times New Roman" panose="02020603050405020304" pitchFamily="18" charset="0"/>
                        </a:rPr>
                        <a:t>__(self, data):</a:t>
                      </a:r>
                    </a:p>
                    <a:p>
                      <a:pPr rtl="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self.data</a:t>
                      </a:r>
                      <a:r>
                        <a:rPr lang="en-IN" sz="1800" dirty="0">
                          <a:latin typeface="Times New Roman" panose="02020603050405020304" pitchFamily="18" charset="0"/>
                          <a:cs typeface="Times New Roman" panose="02020603050405020304" pitchFamily="18" charset="0"/>
                        </a:rPr>
                        <a:t> = data</a:t>
                      </a:r>
                    </a:p>
                    <a:p>
                      <a:pPr rtl="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self.next</a:t>
                      </a:r>
                      <a:r>
                        <a:rPr lang="en-IN" sz="1800" dirty="0">
                          <a:latin typeface="Times New Roman" panose="02020603050405020304" pitchFamily="18" charset="0"/>
                          <a:cs typeface="Times New Roman" panose="02020603050405020304" pitchFamily="18" charset="0"/>
                        </a:rPr>
                        <a:t> = None</a:t>
                      </a:r>
                    </a:p>
                    <a:p>
                      <a:pPr>
                        <a:buNone/>
                      </a:pPr>
                      <a:endParaRPr lang="en-IN" sz="1800" dirty="0">
                        <a:latin typeface="Times New Roman" panose="02020603050405020304" pitchFamily="18" charset="0"/>
                        <a:cs typeface="Times New Roman" panose="02020603050405020304" pitchFamily="18" charset="0"/>
                      </a:endParaRPr>
                    </a:p>
                    <a:p>
                      <a:pPr>
                        <a:buNone/>
                      </a:pPr>
                      <a:r>
                        <a:rPr lang="en-IN" sz="1800" dirty="0">
                          <a:latin typeface="Times New Roman" panose="02020603050405020304" pitchFamily="18" charset="0"/>
                          <a:cs typeface="Times New Roman" panose="02020603050405020304" pitchFamily="18" charset="0"/>
                        </a:rPr>
                        <a:t>📌 Structure is the same as singly linked list, but the </a:t>
                      </a:r>
                      <a:r>
                        <a:rPr lang="en-IN" sz="1800" b="1" dirty="0">
                          <a:latin typeface="Times New Roman" panose="02020603050405020304" pitchFamily="18" charset="0"/>
                          <a:cs typeface="Times New Roman" panose="02020603050405020304" pitchFamily="18" charset="0"/>
                        </a:rPr>
                        <a:t>last node’s next points to the head</a:t>
                      </a:r>
                      <a:r>
                        <a:rPr lang="en-IN" sz="1800" dirty="0">
                          <a:latin typeface="Times New Roman" panose="02020603050405020304" pitchFamily="18" charset="0"/>
                          <a:cs typeface="Times New Roman" panose="02020603050405020304" pitchFamily="18" charset="0"/>
                        </a:rPr>
                        <a:t>.</a:t>
                      </a:r>
                    </a:p>
                  </a:txBody>
                  <a:tcPr/>
                </a:tc>
                <a:tc>
                  <a:txBody>
                    <a:bodyPr/>
                    <a:lstStyle/>
                    <a:p>
                      <a:pPr rtl="0">
                        <a:buNone/>
                      </a:pPr>
                      <a:r>
                        <a:rPr lang="en-IN" sz="1800" dirty="0">
                          <a:latin typeface="Times New Roman" panose="02020603050405020304" pitchFamily="18" charset="0"/>
                          <a:cs typeface="Times New Roman" panose="02020603050405020304" pitchFamily="18" charset="0"/>
                        </a:rPr>
                        <a:t>class Node:</a:t>
                      </a:r>
                    </a:p>
                    <a:p>
                      <a:pPr rtl="0">
                        <a:buNone/>
                      </a:pPr>
                      <a:r>
                        <a:rPr lang="en-IN" sz="1800" dirty="0">
                          <a:latin typeface="Times New Roman" panose="02020603050405020304" pitchFamily="18" charset="0"/>
                          <a:cs typeface="Times New Roman" panose="02020603050405020304" pitchFamily="18" charset="0"/>
                        </a:rPr>
                        <a:t>    def __</a:t>
                      </a:r>
                      <a:r>
                        <a:rPr lang="en-IN" sz="1800" dirty="0" err="1">
                          <a:latin typeface="Times New Roman" panose="02020603050405020304" pitchFamily="18" charset="0"/>
                          <a:cs typeface="Times New Roman" panose="02020603050405020304" pitchFamily="18" charset="0"/>
                        </a:rPr>
                        <a:t>init</a:t>
                      </a:r>
                      <a:r>
                        <a:rPr lang="en-IN" sz="1800" dirty="0">
                          <a:latin typeface="Times New Roman" panose="02020603050405020304" pitchFamily="18" charset="0"/>
                          <a:cs typeface="Times New Roman" panose="02020603050405020304" pitchFamily="18" charset="0"/>
                        </a:rPr>
                        <a:t>__(self, data):</a:t>
                      </a:r>
                    </a:p>
                    <a:p>
                      <a:pPr rtl="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self.data</a:t>
                      </a:r>
                      <a:r>
                        <a:rPr lang="en-IN" sz="1800" dirty="0">
                          <a:latin typeface="Times New Roman" panose="02020603050405020304" pitchFamily="18" charset="0"/>
                          <a:cs typeface="Times New Roman" panose="02020603050405020304" pitchFamily="18" charset="0"/>
                        </a:rPr>
                        <a:t> = data</a:t>
                      </a:r>
                    </a:p>
                    <a:p>
                      <a:pPr rtl="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self.prev</a:t>
                      </a:r>
                      <a:r>
                        <a:rPr lang="en-IN" sz="1800" dirty="0">
                          <a:latin typeface="Times New Roman" panose="02020603050405020304" pitchFamily="18" charset="0"/>
                          <a:cs typeface="Times New Roman" panose="02020603050405020304" pitchFamily="18" charset="0"/>
                        </a:rPr>
                        <a:t> = None</a:t>
                      </a:r>
                    </a:p>
                    <a:p>
                      <a:pPr rtl="0">
                        <a:buNone/>
                      </a:pP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self.next</a:t>
                      </a:r>
                      <a:r>
                        <a:rPr lang="en-IN" sz="1800" dirty="0">
                          <a:latin typeface="Times New Roman" panose="02020603050405020304" pitchFamily="18" charset="0"/>
                          <a:cs typeface="Times New Roman" panose="02020603050405020304" pitchFamily="18" charset="0"/>
                        </a:rPr>
                        <a:t> = None</a:t>
                      </a:r>
                    </a:p>
                    <a:p>
                      <a:pPr>
                        <a:buNone/>
                      </a:pPr>
                      <a:endParaRPr lang="en-IN" sz="1800" dirty="0">
                        <a:latin typeface="Times New Roman" panose="02020603050405020304" pitchFamily="18" charset="0"/>
                        <a:cs typeface="Times New Roman" panose="02020603050405020304" pitchFamily="18" charset="0"/>
                      </a:endParaRPr>
                    </a:p>
                    <a:p>
                      <a:pPr>
                        <a:buNone/>
                      </a:pPr>
                      <a:r>
                        <a:rPr lang="en-IN" sz="1800" dirty="0">
                          <a:latin typeface="Times New Roman" panose="02020603050405020304" pitchFamily="18" charset="0"/>
                          <a:cs typeface="Times New Roman" panose="02020603050405020304" pitchFamily="18" charset="0"/>
                        </a:rPr>
                        <a:t>📌 Structure is the same as doubly linked list, but:</a:t>
                      </a:r>
                    </a:p>
                    <a:p>
                      <a:pPr>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next of last node → head</a:t>
                      </a:r>
                    </a:p>
                    <a:p>
                      <a:pPr>
                        <a:buFont typeface="Arial" panose="020B0604020202020204" pitchFamily="34" charset="0"/>
                        <a:buChar char="•"/>
                      </a:pPr>
                      <a:r>
                        <a:rPr lang="en-IN" sz="1800" dirty="0" err="1">
                          <a:latin typeface="Times New Roman" panose="02020603050405020304" pitchFamily="18" charset="0"/>
                          <a:cs typeface="Times New Roman" panose="02020603050405020304" pitchFamily="18" charset="0"/>
                        </a:rPr>
                        <a:t>prev</a:t>
                      </a:r>
                      <a:r>
                        <a:rPr lang="en-IN" sz="1800" dirty="0">
                          <a:latin typeface="Times New Roman" panose="02020603050405020304" pitchFamily="18" charset="0"/>
                          <a:cs typeface="Times New Roman" panose="02020603050405020304" pitchFamily="18" charset="0"/>
                        </a:rPr>
                        <a:t> of head → last node</a:t>
                      </a:r>
                    </a:p>
                  </a:txBody>
                  <a:tcPr/>
                </a:tc>
                <a:extLst>
                  <a:ext uri="{0D108BD9-81ED-4DB2-BD59-A6C34878D82A}">
                    <a16:rowId xmlns:a16="http://schemas.microsoft.com/office/drawing/2014/main" val="617326932"/>
                  </a:ext>
                </a:extLst>
              </a:tr>
            </a:tbl>
          </a:graphicData>
        </a:graphic>
      </p:graphicFrame>
    </p:spTree>
    <p:extLst>
      <p:ext uri="{BB962C8B-B14F-4D97-AF65-F5344CB8AC3E}">
        <p14:creationId xmlns:p14="http://schemas.microsoft.com/office/powerpoint/2010/main" val="3881752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2F0FB-D984-9DFB-6A7C-8AE34DB47E61}"/>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BB3EF78-FA50-62BC-A07C-AE2CB3B20EA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00E0906A-3C8D-9DAE-AE94-5885FE2453C8}"/>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2606DB9B-A6E5-B645-57B2-A4FF935CD6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371CC475-F861-72EC-E3DA-0CD3898146EA}"/>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Key Takeaways </a:t>
            </a:r>
          </a:p>
        </p:txBody>
      </p:sp>
      <p:sp>
        <p:nvSpPr>
          <p:cNvPr id="3" name="Footer Placeholder 2">
            <a:extLst>
              <a:ext uri="{FF2B5EF4-FFF2-40B4-BE49-F238E27FC236}">
                <a16:creationId xmlns:a16="http://schemas.microsoft.com/office/drawing/2014/main" id="{DDBE034A-9125-C539-5A41-F902553904D2}"/>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2883C25F-961B-569A-AD2B-157CE91A2B7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6F920415-DFD8-88FB-034C-C54C1A5E3CE5}"/>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D91982E1-E910-EC27-7F6A-463908C3AB7F}"/>
              </a:ext>
            </a:extLst>
          </p:cNvPr>
          <p:cNvSpPr/>
          <p:nvPr/>
        </p:nvSpPr>
        <p:spPr>
          <a:xfrm>
            <a:off x="155575" y="1219200"/>
            <a:ext cx="8592889" cy="2795958"/>
          </a:xfrm>
          <a:prstGeom prst="rect">
            <a:avLst/>
          </a:prstGeom>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Linked lists use pointers to connect nodes</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Different types exist based on pointer usage</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Singly LL is memory efficient</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Doubly LL allows backward traversal</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Circular LL avoids NULL pointers</a:t>
            </a:r>
          </a:p>
        </p:txBody>
      </p:sp>
    </p:spTree>
    <p:extLst>
      <p:ext uri="{BB962C8B-B14F-4D97-AF65-F5344CB8AC3E}">
        <p14:creationId xmlns:p14="http://schemas.microsoft.com/office/powerpoint/2010/main" val="35280488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8F15E-929C-834E-92E3-54F9462972CC}"/>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E6C2562-9012-8558-EAAF-7DDAF2842356}"/>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1E9D2A6B-4DF1-9B07-1F28-7547AC2FAF3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E42AC623-A304-8B82-92E2-B464B065FD2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6626D18E-D9CF-97F9-D4C1-347E5CF563A8}"/>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Quick Quiz</a:t>
            </a:r>
          </a:p>
        </p:txBody>
      </p:sp>
      <p:sp>
        <p:nvSpPr>
          <p:cNvPr id="3" name="Footer Placeholder 2">
            <a:extLst>
              <a:ext uri="{FF2B5EF4-FFF2-40B4-BE49-F238E27FC236}">
                <a16:creationId xmlns:a16="http://schemas.microsoft.com/office/drawing/2014/main" id="{06D23E64-5CBE-4627-9B49-890D201BDC7A}"/>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A6B2A499-2113-54BD-6D10-ECABCEF8FA81}"/>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2008F5F9-6E96-B855-2EBE-BBC41B21BB47}"/>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AC8871FE-D4E7-B2B2-7F4C-9D9FC32EBB4B}"/>
              </a:ext>
            </a:extLst>
          </p:cNvPr>
          <p:cNvSpPr/>
          <p:nvPr/>
        </p:nvSpPr>
        <p:spPr>
          <a:xfrm>
            <a:off x="155575" y="1219200"/>
            <a:ext cx="8592889" cy="1687963"/>
          </a:xfrm>
          <a:prstGeom prst="rect">
            <a:avLst/>
          </a:prstGeom>
        </p:spPr>
        <p:txBody>
          <a:bodyPr wrap="square">
            <a:spAutoFit/>
          </a:bodyPr>
          <a:lstStyle/>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Which linked list supports backward traversal?</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Which linked list has no NULL pointer?</a:t>
            </a:r>
          </a:p>
          <a:p>
            <a:pPr marL="342900" indent="-34290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Which linked list uses the least memory?</a:t>
            </a:r>
          </a:p>
        </p:txBody>
      </p:sp>
    </p:spTree>
    <p:extLst>
      <p:ext uri="{BB962C8B-B14F-4D97-AF65-F5344CB8AC3E}">
        <p14:creationId xmlns:p14="http://schemas.microsoft.com/office/powerpoint/2010/main" val="27347258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6085-1F73-D624-BF56-3278B717413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F738F34-93A2-B255-D7AE-47AEBEF86067}"/>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F4CDB478-4B3E-F659-EF94-374188FA6E31}"/>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CE43166-59CD-6848-41BB-A245D033D1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a:extLst>
              <a:ext uri="{FF2B5EF4-FFF2-40B4-BE49-F238E27FC236}">
                <a16:creationId xmlns:a16="http://schemas.microsoft.com/office/drawing/2014/main" id="{FE28C30F-71E9-A2EE-0F33-1E8E1BB28F80}"/>
              </a:ext>
            </a:extLst>
          </p:cNvPr>
          <p:cNvSpPr txBox="1"/>
          <p:nvPr/>
        </p:nvSpPr>
        <p:spPr>
          <a:xfrm>
            <a:off x="72008" y="53136"/>
            <a:ext cx="8751017" cy="1015663"/>
          </a:xfrm>
          <a:prstGeom prst="rect">
            <a:avLst/>
          </a:prstGeom>
          <a:noFill/>
        </p:spPr>
        <p:txBody>
          <a:bodyPr wrap="square" rtlCol="0">
            <a:spAutoFit/>
          </a:bodyPr>
          <a:lstStyle/>
          <a:p>
            <a:endParaRPr lang="en-US" sz="2400" b="1" u="sng" dirty="0"/>
          </a:p>
          <a:p>
            <a:r>
              <a:rPr lang="en-US" dirty="0"/>
              <a:t> </a:t>
            </a:r>
            <a:r>
              <a:rPr lang="en-IN" sz="3600" dirty="0"/>
              <a:t> </a:t>
            </a:r>
            <a:r>
              <a:rPr lang="en-US" sz="3200" dirty="0">
                <a:solidFill>
                  <a:srgbClr val="FF0000"/>
                </a:solidFill>
              </a:rPr>
              <a:t>Quick Quiz (Answers)</a:t>
            </a:r>
          </a:p>
        </p:txBody>
      </p:sp>
      <p:sp>
        <p:nvSpPr>
          <p:cNvPr id="3" name="Footer Placeholder 2">
            <a:extLst>
              <a:ext uri="{FF2B5EF4-FFF2-40B4-BE49-F238E27FC236}">
                <a16:creationId xmlns:a16="http://schemas.microsoft.com/office/drawing/2014/main" id="{00276D87-1A37-A855-DCB6-EA028ABDE356}"/>
              </a:ext>
            </a:extLst>
          </p:cNvPr>
          <p:cNvSpPr>
            <a:spLocks noGrp="1"/>
          </p:cNvSpPr>
          <p:nvPr>
            <p:ph type="ftr" sz="quarter" idx="11"/>
          </p:nvPr>
        </p:nvSpPr>
        <p:spPr/>
        <p:txBody>
          <a:bodyPr/>
          <a:lstStyle/>
          <a:p>
            <a:r>
              <a:rPr lang="en-IN"/>
              <a:t>Data  Structure         Unit2  </a:t>
            </a:r>
          </a:p>
        </p:txBody>
      </p:sp>
      <p:sp>
        <p:nvSpPr>
          <p:cNvPr id="8" name="AutoShape 2" descr="Understanding the basics of Linked List ...">
            <a:extLst>
              <a:ext uri="{FF2B5EF4-FFF2-40B4-BE49-F238E27FC236}">
                <a16:creationId xmlns:a16="http://schemas.microsoft.com/office/drawing/2014/main" id="{304002ED-CF9E-1959-6A51-B37B0E00275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2" descr="For What Application a Linked List Can Be Used? - Scaler Topics">
            <a:extLst>
              <a:ext uri="{FF2B5EF4-FFF2-40B4-BE49-F238E27FC236}">
                <a16:creationId xmlns:a16="http://schemas.microsoft.com/office/drawing/2014/main" id="{4F8E0474-915F-2CDE-4AC8-B59039F22E0A}"/>
              </a:ext>
            </a:extLst>
          </p:cNvP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Rectangle 11">
            <a:extLst>
              <a:ext uri="{FF2B5EF4-FFF2-40B4-BE49-F238E27FC236}">
                <a16:creationId xmlns:a16="http://schemas.microsoft.com/office/drawing/2014/main" id="{A001F6BD-13C4-F16A-F2D9-4F971A2CA06A}"/>
              </a:ext>
            </a:extLst>
          </p:cNvPr>
          <p:cNvSpPr/>
          <p:nvPr/>
        </p:nvSpPr>
        <p:spPr>
          <a:xfrm>
            <a:off x="155575" y="1219200"/>
            <a:ext cx="8592889" cy="3349507"/>
          </a:xfrm>
          <a:prstGeom prst="rect">
            <a:avLst/>
          </a:prstGeom>
        </p:spPr>
        <p:txBody>
          <a:bodyPr wrap="square">
            <a:spAutoFit/>
          </a:bodyPr>
          <a:lstStyle/>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Which linked list supports backward traversal?</a:t>
            </a:r>
            <a:br>
              <a:rPr lang="en-US" sz="2400" b="1"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Doubly linked list supports backward traversal.</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Which linked list has no NULL pointer?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Circular linked list has no NULL pointer.</a:t>
            </a:r>
          </a:p>
          <a:p>
            <a:pPr marL="34290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Which linked list uses the least memory?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Singly linked list uses the least memory.</a:t>
            </a:r>
          </a:p>
        </p:txBody>
      </p:sp>
    </p:spTree>
    <p:extLst>
      <p:ext uri="{BB962C8B-B14F-4D97-AF65-F5344CB8AC3E}">
        <p14:creationId xmlns:p14="http://schemas.microsoft.com/office/powerpoint/2010/main" val="9132818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72008" y="1756092"/>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sz="3600" dirty="0">
                <a:solidFill>
                  <a:srgbClr val="FF0000"/>
                </a:solidFill>
              </a:rPr>
              <a:t>Test Your self </a:t>
            </a:r>
            <a:endParaRPr lang="en-IN"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8" name="Rectangle 7"/>
          <p:cNvSpPr/>
          <p:nvPr/>
        </p:nvSpPr>
        <p:spPr>
          <a:xfrm>
            <a:off x="395536" y="1321908"/>
            <a:ext cx="8427489" cy="4785926"/>
          </a:xfrm>
          <a:prstGeom prst="rect">
            <a:avLst/>
          </a:prstGeom>
        </p:spPr>
        <p:txBody>
          <a:bodyPr wrap="square">
            <a:spAutoFit/>
          </a:bodyPr>
          <a:lstStyle/>
          <a:p>
            <a:pPr algn="just">
              <a:spcBef>
                <a:spcPts val="600"/>
              </a:spcBef>
              <a:spcAft>
                <a:spcPts val="600"/>
              </a:spcAft>
            </a:pPr>
            <a:r>
              <a:rPr lang="en-IN" sz="2400" b="1" dirty="0">
                <a:latin typeface="Times New Roman" panose="02020603050405020304" pitchFamily="18" charset="0"/>
                <a:cs typeface="Times New Roman" panose="02020603050405020304" pitchFamily="18" charset="0"/>
              </a:rPr>
              <a:t>1. As we have the memory address of nodes, can we traverse backwards in a linked list?</a:t>
            </a:r>
          </a:p>
          <a:p>
            <a:pPr algn="just">
              <a:spcBef>
                <a:spcPts val="600"/>
              </a:spcBef>
              <a:spcAft>
                <a:spcPts val="600"/>
              </a:spcAft>
            </a:pPr>
            <a:r>
              <a:rPr lang="en-IN" sz="2400" b="1" dirty="0">
                <a:latin typeface="Times New Roman" panose="02020603050405020304" pitchFamily="18" charset="0"/>
                <a:cs typeface="Times New Roman" panose="02020603050405020304" pitchFamily="18" charset="0"/>
              </a:rPr>
              <a:t>2. What are the advantages of a linked list?</a:t>
            </a:r>
          </a:p>
          <a:p>
            <a:pPr marL="268288" algn="just">
              <a:spcBef>
                <a:spcPts val="600"/>
              </a:spcBef>
              <a:spcAft>
                <a:spcPts val="600"/>
              </a:spcAft>
            </a:pPr>
            <a:r>
              <a:rPr lang="en-IN" sz="2400" dirty="0">
                <a:latin typeface="Times New Roman" panose="02020603050405020304" pitchFamily="18" charset="0"/>
                <a:cs typeface="Times New Roman" panose="02020603050405020304" pitchFamily="18" charset="0"/>
              </a:rPr>
              <a:t>a: Dynamic Memory Allocation</a:t>
            </a:r>
          </a:p>
          <a:p>
            <a:pPr marL="268288" algn="just">
              <a:spcBef>
                <a:spcPts val="600"/>
              </a:spcBef>
              <a:spcAft>
                <a:spcPts val="600"/>
              </a:spcAft>
            </a:pPr>
            <a:r>
              <a:rPr lang="en-IN" sz="2400" dirty="0">
                <a:latin typeface="Times New Roman" panose="02020603050405020304" pitchFamily="18" charset="0"/>
                <a:cs typeface="Times New Roman" panose="02020603050405020304" pitchFamily="18" charset="0"/>
              </a:rPr>
              <a:t>b: They require less memory than an array to store the same data.</a:t>
            </a:r>
          </a:p>
          <a:p>
            <a:pPr marL="268288" algn="just">
              <a:spcBef>
                <a:spcPts val="600"/>
              </a:spcBef>
              <a:spcAft>
                <a:spcPts val="600"/>
              </a:spcAft>
            </a:pPr>
            <a:r>
              <a:rPr lang="en-IN" sz="2400" dirty="0">
                <a:latin typeface="Times New Roman" panose="02020603050405020304" pitchFamily="18" charset="0"/>
                <a:cs typeface="Times New Roman" panose="02020603050405020304" pitchFamily="18" charset="0"/>
              </a:rPr>
              <a:t>c: We can easily traverse back to previous elements.</a:t>
            </a:r>
          </a:p>
          <a:p>
            <a:pPr marL="268288" algn="just">
              <a:spcBef>
                <a:spcPts val="600"/>
              </a:spcBef>
              <a:spcAft>
                <a:spcPts val="600"/>
              </a:spcAft>
            </a:pPr>
            <a:r>
              <a:rPr lang="en-IN" sz="2400" dirty="0">
                <a:latin typeface="Times New Roman" panose="02020603050405020304" pitchFamily="18" charset="0"/>
                <a:cs typeface="Times New Roman" panose="02020603050405020304" pitchFamily="18" charset="0"/>
              </a:rPr>
              <a:t>d: None of the above.</a:t>
            </a:r>
          </a:p>
          <a:p>
            <a:pPr algn="just">
              <a:spcBef>
                <a:spcPts val="600"/>
              </a:spcBef>
              <a:spcAft>
                <a:spcPts val="600"/>
              </a:spcAft>
            </a:pPr>
            <a:r>
              <a:rPr lang="en-IN" sz="2400" b="1" dirty="0">
                <a:latin typeface="Times New Roman" panose="02020603050405020304" pitchFamily="18" charset="0"/>
                <a:cs typeface="Times New Roman" panose="02020603050405020304" pitchFamily="18" charset="0"/>
              </a:rPr>
              <a:t>3. What is the time complexity for the insertion of an element into a linked list?</a:t>
            </a:r>
            <a:endParaRPr lang="en-IN" sz="2400" dirty="0">
              <a:latin typeface="Times New Roman" panose="02020603050405020304" pitchFamily="18" charset="0"/>
              <a:cs typeface="Times New Roman" panose="02020603050405020304" pitchFamily="18" charset="0"/>
            </a:endParaRPr>
          </a:p>
          <a:p>
            <a:endParaRPr lang="en-IN" sz="2400" dirty="0"/>
          </a:p>
        </p:txBody>
      </p:sp>
    </p:spTree>
    <p:extLst>
      <p:ext uri="{BB962C8B-B14F-4D97-AF65-F5344CB8AC3E}">
        <p14:creationId xmlns:p14="http://schemas.microsoft.com/office/powerpoint/2010/main" val="25309413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DB55-3C53-1960-9802-231A64EC3F0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46D4054-DC68-23F6-F5BC-F7394AD9E28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cxnSp>
        <p:nvCxnSpPr>
          <p:cNvPr id="7" name="Straight Connector 6">
            <a:extLst>
              <a:ext uri="{FF2B5EF4-FFF2-40B4-BE49-F238E27FC236}">
                <a16:creationId xmlns:a16="http://schemas.microsoft.com/office/drawing/2014/main" id="{6550C769-3FF2-465E-2CF3-1703CA2E5E2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3B7A1180-1697-901D-882B-382076FF1CC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A03BD37-21B5-DEC3-9FF3-7821A9653240}"/>
              </a:ext>
            </a:extLst>
          </p:cNvPr>
          <p:cNvSpPr txBox="1"/>
          <p:nvPr/>
        </p:nvSpPr>
        <p:spPr>
          <a:xfrm>
            <a:off x="72008" y="1756092"/>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72008" y="53136"/>
            <a:ext cx="8751017" cy="1015663"/>
          </a:xfrm>
          <a:prstGeom prst="rect">
            <a:avLst/>
          </a:prstGeom>
          <a:noFill/>
        </p:spPr>
        <p:txBody>
          <a:bodyPr wrap="square" rtlCol="0">
            <a:spAutoFit/>
          </a:bodyPr>
          <a:lstStyle/>
          <a:p>
            <a:endParaRPr lang="en-US" sz="2400" b="1" u="sng" dirty="0"/>
          </a:p>
          <a:p>
            <a:r>
              <a:rPr lang="en-US" altLang="en-US" sz="3600" dirty="0">
                <a:solidFill>
                  <a:srgbClr val="FF0000"/>
                </a:solidFill>
              </a:rPr>
              <a:t>Quiz Answers</a:t>
            </a:r>
            <a:endParaRPr lang="en-IN" sz="3600" b="1" dirty="0">
              <a:solidFill>
                <a:srgbClr val="FF0000"/>
              </a:solidFill>
            </a:endParaRPr>
          </a:p>
        </p:txBody>
      </p:sp>
      <p:sp>
        <p:nvSpPr>
          <p:cNvPr id="3" name="Footer Placeholder 2"/>
          <p:cNvSpPr>
            <a:spLocks noGrp="1"/>
          </p:cNvSpPr>
          <p:nvPr>
            <p:ph type="ftr" sz="quarter" idx="11"/>
          </p:nvPr>
        </p:nvSpPr>
        <p:spPr/>
        <p:txBody>
          <a:bodyPr/>
          <a:lstStyle/>
          <a:p>
            <a:r>
              <a:rPr lang="en-IN"/>
              <a:t>Data  Structure         Unit2  </a:t>
            </a:r>
          </a:p>
        </p:txBody>
      </p:sp>
      <p:sp>
        <p:nvSpPr>
          <p:cNvPr id="5" name="Rectangle 4"/>
          <p:cNvSpPr/>
          <p:nvPr/>
        </p:nvSpPr>
        <p:spPr>
          <a:xfrm>
            <a:off x="301087" y="1537372"/>
            <a:ext cx="3790054" cy="2951064"/>
          </a:xfrm>
          <a:prstGeom prst="rect">
            <a:avLst/>
          </a:prstGeom>
        </p:spPr>
        <p:txBody>
          <a:bodyPr wrap="square">
            <a:spAutoFit/>
          </a:bodyPr>
          <a:lstStyle/>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Answer: </a:t>
            </a:r>
            <a:r>
              <a:rPr lang="en-IN" sz="2400" dirty="0">
                <a:latin typeface="Times New Roman" panose="02020603050405020304" pitchFamily="18" charset="0"/>
                <a:cs typeface="Times New Roman" panose="02020603050405020304" pitchFamily="18" charset="0"/>
              </a:rPr>
              <a:t>No, we can’t.</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Answer :a</a:t>
            </a:r>
          </a:p>
          <a:p>
            <a:pPr marL="457200" indent="-457200">
              <a:lnSpc>
                <a:spcPct val="150000"/>
              </a:lnSpc>
              <a:buFont typeface="+mj-lt"/>
              <a:buAutoNum type="arabicPeriod"/>
            </a:pPr>
            <a:r>
              <a:rPr lang="en-US" sz="2400" b="1" dirty="0">
                <a:latin typeface="Times New Roman" panose="02020603050405020304" pitchFamily="18" charset="0"/>
                <a:cs typeface="Times New Roman" panose="02020603050405020304" pitchFamily="18" charset="0"/>
              </a:rPr>
              <a:t>Answer : </a:t>
            </a:r>
            <a:r>
              <a:rPr lang="en-IN" sz="2400" dirty="0">
                <a:latin typeface="Times New Roman" panose="02020603050405020304" pitchFamily="18" charset="0"/>
                <a:cs typeface="Times New Roman" panose="02020603050405020304" pitchFamily="18" charset="0"/>
              </a:rPr>
              <a:t>O(n)</a:t>
            </a:r>
            <a:endParaRPr lang="en-IN" sz="2400" b="1" dirty="0">
              <a:latin typeface="Times New Roman" panose="02020603050405020304" pitchFamily="18" charset="0"/>
              <a:cs typeface="Times New Roman" panose="02020603050405020304" pitchFamily="18" charset="0"/>
            </a:endParaRPr>
          </a:p>
          <a:p>
            <a:pPr>
              <a:lnSpc>
                <a:spcPct val="150000"/>
              </a:lnSpc>
            </a:pPr>
            <a:endParaRPr lang="en-IN" b="1" dirty="0">
              <a:latin typeface="Times New Roman" panose="02020603050405020304" pitchFamily="18" charset="0"/>
              <a:cs typeface="Times New Roman" panose="02020603050405020304" pitchFamily="18" charset="0"/>
            </a:endParaRPr>
          </a:p>
          <a:p>
            <a:pPr>
              <a:lnSpc>
                <a:spcPct val="150000"/>
              </a:lnSpc>
            </a:pPr>
            <a:endParaRPr lang="en-US" b="1" dirty="0">
              <a:latin typeface="Times New Roman" panose="02020603050405020304" pitchFamily="18" charset="0"/>
              <a:cs typeface="Times New Roman" panose="02020603050405020304" pitchFamily="18" charset="0"/>
            </a:endParaRPr>
          </a:p>
          <a:p>
            <a:pPr>
              <a:lnSpc>
                <a:spcPct val="150000"/>
              </a:lnSpc>
            </a:pPr>
            <a:endParaRPr lang="en-IN" b="1" dirty="0">
              <a:latin typeface="Times New Roman" panose="02020603050405020304" pitchFamily="18" charset="0"/>
              <a:cs typeface="Times New Roman" panose="02020603050405020304" pitchFamily="18" charset="0"/>
            </a:endParaRPr>
          </a:p>
        </p:txBody>
      </p:sp>
      <p:sp>
        <p:nvSpPr>
          <p:cNvPr id="8" name="Rectangle 7"/>
          <p:cNvSpPr/>
          <p:nvPr/>
        </p:nvSpPr>
        <p:spPr>
          <a:xfrm>
            <a:off x="457200" y="3586906"/>
            <a:ext cx="8686800" cy="1200329"/>
          </a:xfrm>
          <a:prstGeom prst="rect">
            <a:avLst/>
          </a:prstGeom>
        </p:spPr>
        <p:txBody>
          <a:bodyPr wrap="square">
            <a:spAutoFit/>
          </a:bodyPr>
          <a:lstStyle/>
          <a:p>
            <a:r>
              <a:rPr lang="en-IN" dirty="0">
                <a:hlinkClick r:id="rId5"/>
              </a:rPr>
              <a:t>https://questions.examside.com/past-years/gate/question/pconsider-the-problem-of-reversing-a-singly-linked-list-t-gate-cse-theory-of-computation-finite-automata-and-regular-language-zpfpkf4re1g8xuff</a:t>
            </a:r>
            <a:endParaRPr lang="en-IN" dirty="0"/>
          </a:p>
          <a:p>
            <a:endParaRPr lang="en-IN" dirty="0"/>
          </a:p>
        </p:txBody>
      </p:sp>
    </p:spTree>
    <p:extLst>
      <p:ext uri="{BB962C8B-B14F-4D97-AF65-F5344CB8AC3E}">
        <p14:creationId xmlns:p14="http://schemas.microsoft.com/office/powerpoint/2010/main" val="8700505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D9C3D-3F30-A3F3-A545-26CB145F0829}"/>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3DC34CE-387F-2349-2368-E7AB329920C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AECC9169-F46C-9DFF-074B-9042CA367D1C}"/>
              </a:ext>
            </a:extLst>
          </p:cNvPr>
          <p:cNvSpPr>
            <a:spLocks noChangeArrowheads="1"/>
          </p:cNvSpPr>
          <p:nvPr/>
        </p:nvSpPr>
        <p:spPr bwMode="auto">
          <a:xfrm>
            <a:off x="103414" y="298973"/>
            <a:ext cx="835701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IN" sz="3200" b="1" dirty="0">
                <a:solidFill>
                  <a:srgbClr val="E31E24"/>
                </a:solidFill>
                <a:cs typeface="Times New Roman" panose="02020603050405020304" pitchFamily="18" charset="0"/>
                <a:sym typeface="Arial"/>
              </a:rPr>
              <a:t>References</a:t>
            </a:r>
            <a:endParaRPr lang="en-US"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29D4E920-65A2-CCE7-FEA5-14D91F60AAAE}"/>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BE0C2226-8947-177E-6706-83378DA8A4D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00291" y="6331528"/>
            <a:ext cx="2411760" cy="346691"/>
          </a:xfrm>
          <a:prstGeom prst="rect">
            <a:avLst/>
          </a:prstGeom>
        </p:spPr>
      </p:pic>
      <p:sp>
        <p:nvSpPr>
          <p:cNvPr id="6" name="TextBox 5">
            <a:extLst>
              <a:ext uri="{FF2B5EF4-FFF2-40B4-BE49-F238E27FC236}">
                <a16:creationId xmlns:a16="http://schemas.microsoft.com/office/drawing/2014/main" id="{9E818B84-F150-B1E2-D936-7FC20CE87C0A}"/>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5475B91-F517-A8A8-3443-03C2FD642B05}"/>
              </a:ext>
            </a:extLst>
          </p:cNvPr>
          <p:cNvSpPr txBox="1"/>
          <p:nvPr/>
        </p:nvSpPr>
        <p:spPr>
          <a:xfrm>
            <a:off x="216025" y="1144192"/>
            <a:ext cx="8748463" cy="5509200"/>
          </a:xfrm>
          <a:prstGeom prst="rect">
            <a:avLst/>
          </a:prstGeom>
          <a:noFill/>
        </p:spPr>
        <p:txBody>
          <a:bodyPr wrap="square" rtlCol="0">
            <a:spAutoFit/>
          </a:bodyPr>
          <a:lstStyle/>
          <a:p>
            <a:pPr algn="just">
              <a:spcBef>
                <a:spcPts val="600"/>
              </a:spcBef>
            </a:pPr>
            <a:r>
              <a:rPr lang="en-IN" b="1" dirty="0">
                <a:latin typeface="Times New Roman" panose="02020603050405020304" pitchFamily="18" charset="0"/>
                <a:cs typeface="Times New Roman" panose="02020603050405020304" pitchFamily="18" charset="0"/>
              </a:rPr>
              <a:t>Textbooks</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Cormen</a:t>
            </a:r>
            <a:r>
              <a:rPr lang="en-IN" dirty="0">
                <a:latin typeface="Times New Roman" panose="02020603050405020304" pitchFamily="18" charset="0"/>
                <a:cs typeface="Times New Roman" panose="02020603050405020304" pitchFamily="18" charset="0"/>
              </a:rPr>
              <a:t>, T. H., </a:t>
            </a:r>
            <a:r>
              <a:rPr lang="en-IN" dirty="0" err="1">
                <a:latin typeface="Times New Roman" panose="02020603050405020304" pitchFamily="18" charset="0"/>
                <a:cs typeface="Times New Roman" panose="02020603050405020304" pitchFamily="18" charset="0"/>
              </a:rPr>
              <a:t>Leiserson</a:t>
            </a:r>
            <a:r>
              <a:rPr lang="en-IN" dirty="0">
                <a:latin typeface="Times New Roman" panose="02020603050405020304" pitchFamily="18" charset="0"/>
                <a:cs typeface="Times New Roman" panose="02020603050405020304" pitchFamily="18" charset="0"/>
              </a:rPr>
              <a:t>, C. E., Rivest, R. L., &amp; Stein, C., </a:t>
            </a:r>
            <a:r>
              <a:rPr lang="en-IN" i="1" dirty="0">
                <a:latin typeface="Times New Roman" panose="02020603050405020304" pitchFamily="18" charset="0"/>
                <a:cs typeface="Times New Roman" panose="02020603050405020304" pitchFamily="18" charset="0"/>
              </a:rPr>
              <a:t>Introduction to Algorithms</a:t>
            </a:r>
            <a:r>
              <a:rPr lang="en-IN" dirty="0">
                <a:latin typeface="Times New Roman" panose="02020603050405020304" pitchFamily="18" charset="0"/>
                <a:cs typeface="Times New Roman" panose="02020603050405020304" pitchFamily="18" charset="0"/>
              </a:rPr>
              <a:t>, MIT Press.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Lipschutz, S., </a:t>
            </a:r>
            <a:r>
              <a:rPr lang="en-IN" i="1" dirty="0">
                <a:latin typeface="Times New Roman" panose="02020603050405020304" pitchFamily="18" charset="0"/>
                <a:cs typeface="Times New Roman" panose="02020603050405020304" pitchFamily="18" charset="0"/>
              </a:rPr>
              <a:t>Schaum’s Outline of Data Structures with C++</a:t>
            </a:r>
            <a:r>
              <a:rPr lang="en-IN" dirty="0">
                <a:latin typeface="Times New Roman" panose="02020603050405020304" pitchFamily="18" charset="0"/>
                <a:cs typeface="Times New Roman" panose="02020603050405020304" pitchFamily="18" charset="0"/>
              </a:rPr>
              <a:t>, McGraw-Hill Education.</a:t>
            </a:r>
          </a:p>
          <a:p>
            <a:pPr algn="just">
              <a:spcBef>
                <a:spcPts val="600"/>
              </a:spcBef>
            </a:pPr>
            <a:r>
              <a:rPr lang="en-IN" b="1" dirty="0">
                <a:latin typeface="Times New Roman" panose="02020603050405020304" pitchFamily="18" charset="0"/>
                <a:cs typeface="Times New Roman" panose="02020603050405020304" pitchFamily="18" charset="0"/>
              </a:rPr>
              <a:t>Reference Books</a:t>
            </a:r>
          </a:p>
          <a:p>
            <a:pPr marL="285750" indent="-285750" algn="just">
              <a:spcBef>
                <a:spcPts val="60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Weiss, M. A., </a:t>
            </a:r>
            <a:r>
              <a:rPr lang="en-IN" i="1" dirty="0">
                <a:latin typeface="Times New Roman" panose="02020603050405020304" pitchFamily="18" charset="0"/>
                <a:cs typeface="Times New Roman" panose="02020603050405020304" pitchFamily="18" charset="0"/>
              </a:rPr>
              <a:t>Data Structures and Algorithm Analysis in C++</a:t>
            </a:r>
            <a:r>
              <a:rPr lang="en-IN" dirty="0">
                <a:latin typeface="Times New Roman" panose="02020603050405020304" pitchFamily="18" charset="0"/>
                <a:cs typeface="Times New Roman" panose="02020603050405020304" pitchFamily="18" charset="0"/>
              </a:rPr>
              <a:t>, 5th Edition, Pearson Education.</a:t>
            </a:r>
          </a:p>
          <a:p>
            <a:pPr marL="285750" indent="-285750" algn="just">
              <a:spcBef>
                <a:spcPts val="600"/>
              </a:spcBef>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Skiena</a:t>
            </a:r>
            <a:r>
              <a:rPr lang="en-IN" dirty="0">
                <a:latin typeface="Times New Roman" panose="02020603050405020304" pitchFamily="18" charset="0"/>
                <a:cs typeface="Times New Roman" panose="02020603050405020304" pitchFamily="18" charset="0"/>
              </a:rPr>
              <a:t>, S. S., </a:t>
            </a:r>
            <a:r>
              <a:rPr lang="en-IN" i="1" dirty="0">
                <a:latin typeface="Times New Roman" panose="02020603050405020304" pitchFamily="18" charset="0"/>
                <a:cs typeface="Times New Roman" panose="02020603050405020304" pitchFamily="18" charset="0"/>
              </a:rPr>
              <a:t>The Algorithm Design Manual</a:t>
            </a:r>
            <a:r>
              <a:rPr lang="en-IN" dirty="0">
                <a:latin typeface="Times New Roman" panose="02020603050405020304" pitchFamily="18" charset="0"/>
                <a:cs typeface="Times New Roman" panose="02020603050405020304" pitchFamily="18" charset="0"/>
              </a:rPr>
              <a:t>, 3rd Edition, Springer.</a:t>
            </a:r>
          </a:p>
          <a:p>
            <a:pPr algn="just">
              <a:spcBef>
                <a:spcPts val="600"/>
              </a:spcBef>
            </a:pPr>
            <a:r>
              <a:rPr lang="en-IN" b="1" dirty="0">
                <a:latin typeface="Times New Roman" panose="02020603050405020304" pitchFamily="18" charset="0"/>
                <a:cs typeface="Times New Roman" panose="02020603050405020304" pitchFamily="18" charset="0"/>
              </a:rPr>
              <a:t>Online Resources</a:t>
            </a:r>
          </a:p>
          <a:p>
            <a:pPr marL="285750" lvl="0" indent="-285750" eaLnBrk="0" fontAlgn="base" hangingPunct="0">
              <a:spcBef>
                <a:spcPct val="0"/>
              </a:spcBef>
              <a:spcAft>
                <a:spcPct val="0"/>
              </a:spcAft>
              <a:buFont typeface="Wingdings" panose="05000000000000000000" pitchFamily="2" charset="2"/>
              <a:buChar char="v"/>
            </a:pPr>
            <a:r>
              <a:rPr lang="en-US" altLang="en-US" sz="1600" b="1" dirty="0" err="1">
                <a:latin typeface="Times New Roman" panose="02020603050405020304" pitchFamily="18" charset="0"/>
                <a:cs typeface="Times New Roman" panose="02020603050405020304" pitchFamily="18" charset="0"/>
              </a:rPr>
              <a:t>GeeksforGeeks</a:t>
            </a:r>
            <a:r>
              <a:rPr lang="en-US" altLang="en-US" sz="1600" b="1" dirty="0">
                <a:latin typeface="Times New Roman" panose="02020603050405020304" pitchFamily="18" charset="0"/>
                <a:cs typeface="Times New Roman" panose="02020603050405020304" pitchFamily="18" charset="0"/>
              </a:rPr>
              <a:t> – Linked List Introduction</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5"/>
              </a:rPr>
              <a:t>https://www.geeksforgeeks.org/what-is-linked-list/</a:t>
            </a:r>
            <a:endParaRPr lang="en-US" altLang="en-US" sz="16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Wingdings" panose="05000000000000000000" pitchFamily="2" charset="2"/>
              <a:buChar char="v"/>
            </a:pPr>
            <a:r>
              <a:rPr lang="en-US" altLang="en-US" sz="1600" b="1" dirty="0" err="1">
                <a:latin typeface="Times New Roman" panose="02020603050405020304" pitchFamily="18" charset="0"/>
                <a:cs typeface="Times New Roman" panose="02020603050405020304" pitchFamily="18" charset="0"/>
              </a:rPr>
              <a:t>GeeksforGeeks</a:t>
            </a:r>
            <a:r>
              <a:rPr lang="en-US" altLang="en-US" sz="1600" b="1" dirty="0">
                <a:latin typeface="Times New Roman" panose="02020603050405020304" pitchFamily="18" charset="0"/>
                <a:cs typeface="Times New Roman" panose="02020603050405020304" pitchFamily="18" charset="0"/>
              </a:rPr>
              <a:t> – Types of Linked Lists</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6"/>
              </a:rPr>
              <a:t>https://www.geeksforgeeks.org/types-of-linked-list/</a:t>
            </a:r>
            <a:endParaRPr lang="en-US" altLang="en-US" sz="16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Wingdings" panose="05000000000000000000" pitchFamily="2" charset="2"/>
              <a:buChar char="v"/>
            </a:pPr>
            <a:r>
              <a:rPr lang="en-US" altLang="en-US" sz="1600" b="1" dirty="0" err="1">
                <a:latin typeface="Times New Roman" panose="02020603050405020304" pitchFamily="18" charset="0"/>
                <a:cs typeface="Times New Roman" panose="02020603050405020304" pitchFamily="18" charset="0"/>
              </a:rPr>
              <a:t>TutorialsPoint</a:t>
            </a:r>
            <a:r>
              <a:rPr lang="en-US" altLang="en-US" sz="1600" b="1" dirty="0">
                <a:latin typeface="Times New Roman" panose="02020603050405020304" pitchFamily="18" charset="0"/>
                <a:cs typeface="Times New Roman" panose="02020603050405020304" pitchFamily="18" charset="0"/>
              </a:rPr>
              <a:t> – Data Structures: Linked List</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7"/>
              </a:rPr>
              <a:t>https://www.tutorialspoint.com/data_structures_algorithms/linked_list_algorithms.htm</a:t>
            </a:r>
            <a:endParaRPr lang="en-US" altLang="en-US" sz="16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Wingdings" panose="05000000000000000000" pitchFamily="2" charset="2"/>
              <a:buChar char="v"/>
            </a:pPr>
            <a:r>
              <a:rPr lang="en-US" altLang="en-US" sz="1600" b="1" dirty="0">
                <a:latin typeface="Times New Roman" panose="02020603050405020304" pitchFamily="18" charset="0"/>
                <a:cs typeface="Times New Roman" panose="02020603050405020304" pitchFamily="18" charset="0"/>
              </a:rPr>
              <a:t>MIT </a:t>
            </a:r>
            <a:r>
              <a:rPr lang="en-US" altLang="en-US" sz="1600" b="1" dirty="0" err="1">
                <a:latin typeface="Times New Roman" panose="02020603050405020304" pitchFamily="18" charset="0"/>
                <a:cs typeface="Times New Roman" panose="02020603050405020304" pitchFamily="18" charset="0"/>
              </a:rPr>
              <a:t>OpenCourseWare</a:t>
            </a:r>
            <a:r>
              <a:rPr lang="en-US" altLang="en-US" sz="1600" b="1" dirty="0">
                <a:latin typeface="Times New Roman" panose="02020603050405020304" pitchFamily="18" charset="0"/>
                <a:cs typeface="Times New Roman" panose="02020603050405020304" pitchFamily="18" charset="0"/>
              </a:rPr>
              <a:t> – Introduction to Algorithms</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8"/>
              </a:rPr>
              <a:t>https://ocw.mit.edu</a:t>
            </a:r>
            <a:endParaRPr lang="en-US" altLang="en-US" sz="16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Wingdings" panose="05000000000000000000" pitchFamily="2" charset="2"/>
              <a:buChar char="v"/>
            </a:pPr>
            <a:r>
              <a:rPr lang="en-US" altLang="en-US" sz="1600" b="1" dirty="0" err="1">
                <a:latin typeface="Times New Roman" panose="02020603050405020304" pitchFamily="18" charset="0"/>
                <a:cs typeface="Times New Roman" panose="02020603050405020304" pitchFamily="18" charset="0"/>
              </a:rPr>
              <a:t>Programiz</a:t>
            </a:r>
            <a:r>
              <a:rPr lang="en-US" altLang="en-US" sz="1600" b="1" dirty="0">
                <a:latin typeface="Times New Roman" panose="02020603050405020304" pitchFamily="18" charset="0"/>
                <a:cs typeface="Times New Roman" panose="02020603050405020304" pitchFamily="18" charset="0"/>
              </a:rPr>
              <a:t> – Linked List in Python</a:t>
            </a:r>
            <a:br>
              <a:rPr lang="en-US" altLang="en-US" sz="1600" dirty="0">
                <a:latin typeface="Times New Roman" panose="02020603050405020304" pitchFamily="18" charset="0"/>
                <a:cs typeface="Times New Roman" panose="02020603050405020304" pitchFamily="18" charset="0"/>
              </a:rPr>
            </a:br>
            <a:r>
              <a:rPr lang="en-US" altLang="en-US" sz="1600" dirty="0">
                <a:latin typeface="Times New Roman" panose="02020603050405020304" pitchFamily="18" charset="0"/>
                <a:cs typeface="Times New Roman" panose="02020603050405020304" pitchFamily="18" charset="0"/>
                <a:hlinkClick r:id="rId9"/>
              </a:rPr>
              <a:t>https://www.programiz.com/dsa/linked-list</a:t>
            </a:r>
            <a:endParaRPr lang="en-US" altLang="en-US" sz="16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B1399E0A-2CFF-1DD0-69C4-94E7F4E77087}"/>
              </a:ext>
            </a:extLst>
          </p:cNvPr>
          <p:cNvSpPr>
            <a:spLocks noGrp="1"/>
          </p:cNvSpPr>
          <p:nvPr>
            <p:ph type="sldNum" sz="quarter" idx="12"/>
          </p:nvPr>
        </p:nvSpPr>
        <p:spPr/>
        <p:txBody>
          <a:bodyPr/>
          <a:lstStyle/>
          <a:p>
            <a:fld id="{C421C46D-3F04-4F73-BF36-E6D9DA5AE143}" type="slidenum">
              <a:rPr lang="en-IN" smtClean="0"/>
              <a:t>44</a:t>
            </a:fld>
            <a:endParaRPr lang="en-IN"/>
          </a:p>
        </p:txBody>
      </p:sp>
      <p:sp>
        <p:nvSpPr>
          <p:cNvPr id="3" name="Rectangle 1">
            <a:extLst>
              <a:ext uri="{FF2B5EF4-FFF2-40B4-BE49-F238E27FC236}">
                <a16:creationId xmlns:a16="http://schemas.microsoft.com/office/drawing/2014/main" id="{DACD63A8-35FC-E8F0-BBC5-7CCA6D1598B3}"/>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328304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
        <p:nvSpPr>
          <p:cNvPr id="5" name="Slide Number Placeholder 4"/>
          <p:cNvSpPr>
            <a:spLocks noGrp="1"/>
          </p:cNvSpPr>
          <p:nvPr>
            <p:ph type="sldNum" sz="quarter" idx="12"/>
          </p:nvPr>
        </p:nvSpPr>
        <p:spPr/>
        <p:txBody>
          <a:bodyPr/>
          <a:lstStyle/>
          <a:p>
            <a:fld id="{C421C46D-3F04-4F73-BF36-E6D9DA5AE143}" type="slidenum">
              <a:rPr lang="en-IN" smtClean="0"/>
              <a:t>45</a:t>
            </a:fld>
            <a:endParaRPr lang="en-IN"/>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19665</TotalTime>
  <Words>3117</Words>
  <Application>Microsoft Office PowerPoint</Application>
  <PresentationFormat>On-screen Show (4:3)</PresentationFormat>
  <Paragraphs>616</Paragraphs>
  <Slides>45</Slides>
  <Notes>43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Garamond</vt:lpstr>
      <vt:lpstr>Sylfaen</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Aarti Sangwan</cp:lastModifiedBy>
  <cp:revision>1376</cp:revision>
  <cp:lastPrinted>2022-09-05T08:43:44Z</cp:lastPrinted>
  <dcterms:created xsi:type="dcterms:W3CDTF">2020-01-16T09:05:56Z</dcterms:created>
  <dcterms:modified xsi:type="dcterms:W3CDTF">2026-01-07T15:14:40Z</dcterms:modified>
</cp:coreProperties>
</file>